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67" r:id="rId4"/>
    <p:sldId id="271" r:id="rId5"/>
    <p:sldId id="266" r:id="rId6"/>
    <p:sldId id="257" r:id="rId7"/>
    <p:sldId id="269" r:id="rId8"/>
    <p:sldId id="283" r:id="rId9"/>
    <p:sldId id="268" r:id="rId10"/>
    <p:sldId id="258" r:id="rId11"/>
    <p:sldId id="275" r:id="rId12"/>
    <p:sldId id="276" r:id="rId13"/>
    <p:sldId id="284" r:id="rId14"/>
    <p:sldId id="277" r:id="rId15"/>
    <p:sldId id="281" r:id="rId16"/>
    <p:sldId id="278" r:id="rId17"/>
    <p:sldId id="279" r:id="rId18"/>
    <p:sldId id="280" r:id="rId19"/>
    <p:sldId id="261" r:id="rId20"/>
    <p:sldId id="262" r:id="rId21"/>
    <p:sldId id="259" r:id="rId2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56" y="38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660306A-B831-766B-933A-E6E34AB4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462FA6A9-C347-1BF2-7121-B2F55A453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962852F5-2EBD-2506-3FF9-AF524DB29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201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0BAD30E-A13A-4CDB-4E76-5F4DB5CC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6292EBD8-0F2D-6152-A5AF-6B49F972F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ED0AD320-8252-83D4-F11F-8890C832E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098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38122E2-DF6E-8AE0-B828-04011DA3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B0C419AA-1B5B-1E82-6AA1-0083A4573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658642A-C24E-783E-165F-895D9F090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51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D333C8C-B2D6-E854-1AE9-BC0A47B4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895A53CE-C3B4-BBDD-AB43-3E82048E3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E87ACBB-69D3-A4C9-9F42-2E3E3CEA7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948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A25A04E-DE91-C88C-039F-930C0B29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9F3D6A30-AF83-8C30-CC78-DA0062D0B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B7C86F31-9DDB-63F7-FFAC-B434CBA21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676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D7855DB-3A57-819D-FFF5-033526C5C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D0714534-0E6B-DB5E-56B0-0C89B1BED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3B624155-E2F8-053E-9647-4CFAE1396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877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4BDAB80-39C0-C055-C8D1-5CCBA9E7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85DC1FDB-5E1B-1906-5F0F-1F815EDBC5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ADD7C545-8598-672F-27A1-3F8293758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242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C12B14B0-6FC9-B7D1-FAA6-66B18E37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1D19A402-AF10-B165-1B2A-2BFC236E2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3F0A9721-4314-82E8-5B12-24895DCB4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518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68B90536-CE72-8A3A-A2CD-67FF14CF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6E42165F-01C8-F632-D8AC-AD1D3F99A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CC8223D6-5081-2059-2422-B8E132F3A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907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CCC7C8E-6AA5-7FF6-97D0-5EB4BF55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FC893316-144B-FA7E-DC3D-47C825F78B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699C75EC-465D-DC7E-E591-D475B47A0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806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19DC3D1-09A7-F5BB-8185-D4B74F68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3BF30D5F-D53D-484E-D41F-04F9EA578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FCFF78FF-0AD4-A81D-E79E-A4E31F0AF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260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4EC2DEC9-5B9C-C5ED-0D01-DA967BB7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238C62D5-A142-0997-9D78-AD77A9E61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40EE70F4-07E1-9FFE-B03F-27476FC5D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104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90F9339-46E4-2B89-2CB2-B9FD5E8E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0B1B8F32-0614-69B4-7B89-EF3CE3BBF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554E7A43-C394-3528-6765-106D3BFF7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239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C1EA1EE-4A7F-D697-6D1C-1170A69E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CB4220D-BB44-FFE8-619C-6B1B6D945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8276AB1B-8106-5A65-BA79-76ED404C0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32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49CFC8E-61B3-2CB0-5B4C-8780CC65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BDD6736-2D7B-CC23-750F-34DA6CC0A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1D595628-8C5A-ADA0-5D31-7202E966F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334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74533" y="1910456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&amp; nettoyez les données du stock d'une boutique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SECQUEVILLE Thomas</a:t>
            </a:r>
            <a:endParaRPr sz="2800" b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Cursus : Business Intelligence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24217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6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01-2026</a:t>
            </a:r>
            <a:endParaRPr sz="16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E8F9D23D-3A4D-6F01-9196-4BFA947D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A3D58B3-66B4-1CEF-156D-4CE367E0272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364FF88-903A-27DA-704B-82C217B344BF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E9C618D-FBA6-D33A-C87E-6EFD642E2659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204D837-B482-80F2-CB79-6D5DEEAB04D1}"/>
              </a:ext>
            </a:extLst>
          </p:cNvPr>
          <p:cNvGrpSpPr/>
          <p:nvPr/>
        </p:nvGrpSpPr>
        <p:grpSpPr>
          <a:xfrm>
            <a:off x="505655" y="2377886"/>
            <a:ext cx="1953335" cy="863249"/>
            <a:chOff x="593285" y="2440594"/>
            <a:chExt cx="2259919" cy="882297"/>
          </a:xfrm>
        </p:grpSpPr>
        <p:pic>
          <p:nvPicPr>
            <p:cNvPr id="5" name="Image 4" descr="Une image contenant texte, Police, capture d’écran, nombre&#10;&#10;Le contenu généré par l’IA peut être incorrect.">
              <a:extLst>
                <a:ext uri="{FF2B5EF4-FFF2-40B4-BE49-F238E27FC236}">
                  <a16:creationId xmlns:a16="http://schemas.microsoft.com/office/drawing/2014/main" id="{08920037-41C1-2C70-D1B0-AE779584C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85" y="2440594"/>
              <a:ext cx="2259919" cy="882297"/>
            </a:xfrm>
            <a:prstGeom prst="rect">
              <a:avLst/>
            </a:prstGeom>
          </p:spPr>
        </p:pic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9E617B0-7D2E-1461-0D43-94DB7A736867}"/>
                </a:ext>
              </a:extLst>
            </p:cNvPr>
            <p:cNvSpPr/>
            <p:nvPr/>
          </p:nvSpPr>
          <p:spPr>
            <a:xfrm>
              <a:off x="789410" y="2644524"/>
              <a:ext cx="700985" cy="160794"/>
            </a:xfrm>
            <a:prstGeom prst="roundRect">
              <a:avLst/>
            </a:prstGeom>
            <a:solidFill>
              <a:schemeClr val="accent6"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2E0DBBC-B2CB-EB6A-30EF-B1FC7602F570}"/>
              </a:ext>
            </a:extLst>
          </p:cNvPr>
          <p:cNvGrpSpPr/>
          <p:nvPr/>
        </p:nvGrpSpPr>
        <p:grpSpPr>
          <a:xfrm>
            <a:off x="3239786" y="2629294"/>
            <a:ext cx="2019837" cy="452438"/>
            <a:chOff x="3283087" y="2072792"/>
            <a:chExt cx="2195076" cy="4642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9EDE1AA9-D0DD-8D1A-AF13-870C1F0F8FD5}"/>
                </a:ext>
              </a:extLst>
            </p:cNvPr>
            <p:cNvGrpSpPr/>
            <p:nvPr/>
          </p:nvGrpSpPr>
          <p:grpSpPr>
            <a:xfrm>
              <a:off x="3283087" y="2072792"/>
              <a:ext cx="2195076" cy="464200"/>
              <a:chOff x="3290392" y="2417542"/>
              <a:chExt cx="2195076" cy="464200"/>
            </a:xfrm>
          </p:grpSpPr>
          <p:pic>
            <p:nvPicPr>
              <p:cNvPr id="7" name="Image 6" descr="Une image contenant texte, Police, blanc, capture d’écran&#10;&#10;Le contenu généré par l’IA peut être incorrect.">
                <a:extLst>
                  <a:ext uri="{FF2B5EF4-FFF2-40B4-BE49-F238E27FC236}">
                    <a16:creationId xmlns:a16="http://schemas.microsoft.com/office/drawing/2014/main" id="{2B845F83-35E6-F762-F24A-11E128ED2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0392" y="2417542"/>
                <a:ext cx="2195076" cy="464200"/>
              </a:xfrm>
              <a:prstGeom prst="rect">
                <a:avLst/>
              </a:prstGeom>
            </p:spPr>
          </p:pic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CD85C2F9-662F-8C0F-161C-E5F82C1F393B}"/>
                  </a:ext>
                </a:extLst>
              </p:cNvPr>
              <p:cNvSpPr/>
              <p:nvPr/>
            </p:nvSpPr>
            <p:spPr>
              <a:xfrm>
                <a:off x="3475534" y="2744274"/>
                <a:ext cx="646571" cy="135907"/>
              </a:xfrm>
              <a:prstGeom prst="roundRect">
                <a:avLst/>
              </a:prstGeom>
              <a:solidFill>
                <a:schemeClr val="accent6">
                  <a:alpha val="3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B32A3C5-0FA6-9985-97A4-5B13066512C9}"/>
                </a:ext>
              </a:extLst>
            </p:cNvPr>
            <p:cNvSpPr/>
            <p:nvPr/>
          </p:nvSpPr>
          <p:spPr>
            <a:xfrm>
              <a:off x="3468229" y="2263617"/>
              <a:ext cx="646571" cy="135907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58625C5B-DBDB-BB70-7E99-D41552A273C7}"/>
              </a:ext>
            </a:extLst>
          </p:cNvPr>
          <p:cNvGrpSpPr/>
          <p:nvPr/>
        </p:nvGrpSpPr>
        <p:grpSpPr>
          <a:xfrm>
            <a:off x="6040419" y="2038046"/>
            <a:ext cx="2828660" cy="2886182"/>
            <a:chOff x="5835774" y="2049275"/>
            <a:chExt cx="2703729" cy="2939976"/>
          </a:xfrm>
        </p:grpSpPr>
        <p:pic>
          <p:nvPicPr>
            <p:cNvPr id="14" name="Image 13" descr="Une image contenant texte, menu, document, Police&#10;&#10;Le contenu généré par l’IA peut être incorrect.">
              <a:extLst>
                <a:ext uri="{FF2B5EF4-FFF2-40B4-BE49-F238E27FC236}">
                  <a16:creationId xmlns:a16="http://schemas.microsoft.com/office/drawing/2014/main" id="{FEEC8F91-047E-4BCD-5677-F122C1886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35774" y="2049275"/>
              <a:ext cx="2703729" cy="2939976"/>
            </a:xfrm>
            <a:prstGeom prst="rect">
              <a:avLst/>
            </a:prstGeom>
          </p:spPr>
        </p:pic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3E679803-0C19-D1A6-3B41-ADE71AF7D118}"/>
                </a:ext>
              </a:extLst>
            </p:cNvPr>
            <p:cNvSpPr/>
            <p:nvPr/>
          </p:nvSpPr>
          <p:spPr>
            <a:xfrm>
              <a:off x="5946767" y="2217928"/>
              <a:ext cx="503910" cy="1416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E7FABC40-8B6B-E540-1831-7C30630199EC}"/>
              </a:ext>
            </a:extLst>
          </p:cNvPr>
          <p:cNvCxnSpPr>
            <a:cxnSpLocks/>
          </p:cNvCxnSpPr>
          <p:nvPr/>
        </p:nvCxnSpPr>
        <p:spPr>
          <a:xfrm>
            <a:off x="2544171" y="2656075"/>
            <a:ext cx="678571" cy="357901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0D9787A9-56D6-9BCA-57E8-11A30F2F440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259623" y="2292701"/>
            <a:ext cx="780796" cy="5628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11DA0A1-6275-0A33-9686-B2AABCA24ED7}"/>
              </a:ext>
            </a:extLst>
          </p:cNvPr>
          <p:cNvSpPr txBox="1"/>
          <p:nvPr/>
        </p:nvSpPr>
        <p:spPr>
          <a:xfrm>
            <a:off x="5888366" y="1641068"/>
            <a:ext cx="2933973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Données issues du site e-commerce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FE1FBA8-F139-2007-D86B-6AE764E813EF}"/>
              </a:ext>
            </a:extLst>
          </p:cNvPr>
          <p:cNvSpPr txBox="1"/>
          <p:nvPr/>
        </p:nvSpPr>
        <p:spPr>
          <a:xfrm>
            <a:off x="3222742" y="2219120"/>
            <a:ext cx="2036881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Table de correspondance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C31E39-ED4F-6E5C-2A42-F341EE124D6E}"/>
              </a:ext>
            </a:extLst>
          </p:cNvPr>
          <p:cNvSpPr txBox="1"/>
          <p:nvPr/>
        </p:nvSpPr>
        <p:spPr>
          <a:xfrm>
            <a:off x="505655" y="1906557"/>
            <a:ext cx="2036881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Données de l’ERP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F8B434D-715C-BA9C-DB85-4DF7BC2E68DA}"/>
              </a:ext>
            </a:extLst>
          </p:cNvPr>
          <p:cNvSpPr txBox="1"/>
          <p:nvPr/>
        </p:nvSpPr>
        <p:spPr>
          <a:xfrm>
            <a:off x="978117" y="3919317"/>
            <a:ext cx="4736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008080"/>
                </a:solidFill>
                <a:latin typeface="Montserrat" panose="00000500000000000000" pitchFamily="2" charset="0"/>
              </a:rPr>
              <a:t>Ces trois sources complémentaires nécessitent une phase de consolidation avant analyse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1223FF6-280A-410A-9848-CB9F6EF96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09" y="3966122"/>
            <a:ext cx="360708" cy="360708"/>
          </a:xfrm>
          <a:prstGeom prst="rect">
            <a:avLst/>
          </a:prstGeom>
        </p:spPr>
      </p:pic>
      <p:sp>
        <p:nvSpPr>
          <p:cNvPr id="10" name="Google Shape;63;p4">
            <a:extLst>
              <a:ext uri="{FF2B5EF4-FFF2-40B4-BE49-F238E27FC236}">
                <a16:creationId xmlns:a16="http://schemas.microsoft.com/office/drawing/2014/main" id="{3CB49193-7668-ADE5-71CF-6E1ECCE9B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54" y="956755"/>
            <a:ext cx="2305241" cy="51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marR="0" lvl="1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lang="fr" sz="1800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Larme 12">
            <a:extLst>
              <a:ext uri="{FF2B5EF4-FFF2-40B4-BE49-F238E27FC236}">
                <a16:creationId xmlns:a16="http://schemas.microsoft.com/office/drawing/2014/main" id="{AC46AB96-E9DF-F7BC-EF8B-07C4EA3989FD}"/>
              </a:ext>
            </a:extLst>
          </p:cNvPr>
          <p:cNvSpPr/>
          <p:nvPr/>
        </p:nvSpPr>
        <p:spPr>
          <a:xfrm>
            <a:off x="126884" y="1950921"/>
            <a:ext cx="320710" cy="304689"/>
          </a:xfrm>
          <a:prstGeom prst="teardrop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5" name="Larme 14">
            <a:extLst>
              <a:ext uri="{FF2B5EF4-FFF2-40B4-BE49-F238E27FC236}">
                <a16:creationId xmlns:a16="http://schemas.microsoft.com/office/drawing/2014/main" id="{011CA76A-31BF-F997-4875-ECD4B444E7F8}"/>
              </a:ext>
            </a:extLst>
          </p:cNvPr>
          <p:cNvSpPr/>
          <p:nvPr/>
        </p:nvSpPr>
        <p:spPr>
          <a:xfrm>
            <a:off x="2843971" y="2273134"/>
            <a:ext cx="320710" cy="304689"/>
          </a:xfrm>
          <a:prstGeom prst="teardrop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16" name="Larme 15">
            <a:extLst>
              <a:ext uri="{FF2B5EF4-FFF2-40B4-BE49-F238E27FC236}">
                <a16:creationId xmlns:a16="http://schemas.microsoft.com/office/drawing/2014/main" id="{30DE2EC1-8519-27AE-88F6-2433CCCD290E}"/>
              </a:ext>
            </a:extLst>
          </p:cNvPr>
          <p:cNvSpPr/>
          <p:nvPr/>
        </p:nvSpPr>
        <p:spPr>
          <a:xfrm>
            <a:off x="5489666" y="1673443"/>
            <a:ext cx="320710" cy="304689"/>
          </a:xfrm>
          <a:prstGeom prst="teardrop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263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" grpId="0" animBg="1"/>
      <p:bldP spid="30" grpId="0" animBg="1"/>
      <p:bldP spid="6" grpId="0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050548B-E25B-2E9D-2A25-EB0AB945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82462521-EC81-B0F7-4040-F632E3A095B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F1A41BDA-4C04-FD02-F483-EBBE7199E35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3B493ADC-9B09-6B92-C77D-0561D0C1F53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02A4844-A0E0-A47E-461B-72912DF1F321}"/>
              </a:ext>
            </a:extLst>
          </p:cNvPr>
          <p:cNvGrpSpPr/>
          <p:nvPr/>
        </p:nvGrpSpPr>
        <p:grpSpPr>
          <a:xfrm>
            <a:off x="4572000" y="2257582"/>
            <a:ext cx="3916545" cy="515028"/>
            <a:chOff x="3811349" y="1974360"/>
            <a:chExt cx="3916545" cy="515028"/>
          </a:xfrm>
        </p:grpSpPr>
        <p:sp>
          <p:nvSpPr>
            <p:cNvPr id="2" name="Google Shape;63;p4">
              <a:extLst>
                <a:ext uri="{FF2B5EF4-FFF2-40B4-BE49-F238E27FC236}">
                  <a16:creationId xmlns:a16="http://schemas.microsoft.com/office/drawing/2014/main" id="{AF03F52C-9AB6-7572-6971-A899D8CDCA35}"/>
                </a:ext>
              </a:extLst>
            </p:cNvPr>
            <p:cNvSpPr txBox="1">
              <a:spLocks/>
            </p:cNvSpPr>
            <p:nvPr/>
          </p:nvSpPr>
          <p:spPr>
            <a:xfrm>
              <a:off x="3811349" y="1974360"/>
              <a:ext cx="3916545" cy="515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 fontScale="70000" lnSpcReduction="2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●"/>
                <a:defRPr sz="1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1000" b="1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Observer les données </a:t>
              </a:r>
            </a:p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1000" b="1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 contiennent chaque dataframe</a:t>
              </a:r>
            </a:p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1000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leurs caractéristiques</a:t>
              </a:r>
            </a:p>
          </p:txBody>
        </p:sp>
        <p:sp>
          <p:nvSpPr>
            <p:cNvPr id="5" name="Flèche : pentagone 4">
              <a:extLst>
                <a:ext uri="{FF2B5EF4-FFF2-40B4-BE49-F238E27FC236}">
                  <a16:creationId xmlns:a16="http://schemas.microsoft.com/office/drawing/2014/main" id="{9A7750B4-B460-F9BE-AB66-1782BE1FECE9}"/>
                </a:ext>
              </a:extLst>
            </p:cNvPr>
            <p:cNvSpPr/>
            <p:nvPr/>
          </p:nvSpPr>
          <p:spPr>
            <a:xfrm>
              <a:off x="3975583" y="2024356"/>
              <a:ext cx="392948" cy="357447"/>
            </a:xfrm>
            <a:prstGeom prst="homePlate">
              <a:avLst/>
            </a:prstGeom>
            <a:solidFill>
              <a:srgbClr val="0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1</a:t>
              </a:r>
            </a:p>
          </p:txBody>
        </p:sp>
      </p:grp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8ED2AD2A-3DFD-A472-3CD1-A4CF296C7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9499" y="970528"/>
            <a:ext cx="3592600" cy="51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marR="0" lvl="1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</a:t>
            </a:r>
            <a:endParaRPr lang="fr" sz="1800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9F5F59-1517-2601-FB18-3B50E9EF2B12}"/>
              </a:ext>
            </a:extLst>
          </p:cNvPr>
          <p:cNvSpPr txBox="1"/>
          <p:nvPr/>
        </p:nvSpPr>
        <p:spPr>
          <a:xfrm>
            <a:off x="867208" y="2641420"/>
            <a:ext cx="3054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008080"/>
                </a:solidFill>
                <a:latin typeface="Montserrat" panose="00000500000000000000" pitchFamily="2" charset="0"/>
              </a:rPr>
              <a:t>…pour parvenir à la fusion des 3 datasets et aux analyses qui nous intéressent 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0A53227-9374-60B0-4D5B-47064ED4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00" y="2688225"/>
            <a:ext cx="360708" cy="360708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371772F4-E11B-040B-A635-0BCF055ABA55}"/>
              </a:ext>
            </a:extLst>
          </p:cNvPr>
          <p:cNvGrpSpPr/>
          <p:nvPr/>
        </p:nvGrpSpPr>
        <p:grpSpPr>
          <a:xfrm>
            <a:off x="4572000" y="2963559"/>
            <a:ext cx="3916545" cy="515028"/>
            <a:chOff x="3811349" y="1974360"/>
            <a:chExt cx="3916545" cy="515028"/>
          </a:xfrm>
        </p:grpSpPr>
        <p:sp>
          <p:nvSpPr>
            <p:cNvPr id="19" name="Google Shape;63;p4">
              <a:extLst>
                <a:ext uri="{FF2B5EF4-FFF2-40B4-BE49-F238E27FC236}">
                  <a16:creationId xmlns:a16="http://schemas.microsoft.com/office/drawing/2014/main" id="{1C490F7B-7129-2287-AEDF-DD87D1856287}"/>
                </a:ext>
              </a:extLst>
            </p:cNvPr>
            <p:cNvSpPr txBox="1">
              <a:spLocks/>
            </p:cNvSpPr>
            <p:nvPr/>
          </p:nvSpPr>
          <p:spPr>
            <a:xfrm>
              <a:off x="3811349" y="1974360"/>
              <a:ext cx="3916545" cy="515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 fontScale="925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●"/>
                <a:defRPr sz="1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700" b="1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Corriger tout ce qui pourrait poser problème à la fusion des données en un seul dataframe.</a:t>
              </a:r>
            </a:p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700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(ex: lignes vides, doublons,…)</a:t>
              </a:r>
            </a:p>
          </p:txBody>
        </p:sp>
        <p:sp>
          <p:nvSpPr>
            <p:cNvPr id="20" name="Flèche : pentagone 19">
              <a:extLst>
                <a:ext uri="{FF2B5EF4-FFF2-40B4-BE49-F238E27FC236}">
                  <a16:creationId xmlns:a16="http://schemas.microsoft.com/office/drawing/2014/main" id="{859BF0FC-C07A-776A-1AE6-3311392F877C}"/>
                </a:ext>
              </a:extLst>
            </p:cNvPr>
            <p:cNvSpPr/>
            <p:nvPr/>
          </p:nvSpPr>
          <p:spPr>
            <a:xfrm>
              <a:off x="3975583" y="2024356"/>
              <a:ext cx="392948" cy="357447"/>
            </a:xfrm>
            <a:prstGeom prst="homePlate">
              <a:avLst/>
            </a:prstGeom>
            <a:solidFill>
              <a:srgbClr val="0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2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BDB4BBC5-BEB1-05F4-516B-AEC3596B4CE3}"/>
              </a:ext>
            </a:extLst>
          </p:cNvPr>
          <p:cNvGrpSpPr/>
          <p:nvPr/>
        </p:nvGrpSpPr>
        <p:grpSpPr>
          <a:xfrm>
            <a:off x="4588184" y="3669536"/>
            <a:ext cx="3916545" cy="515028"/>
            <a:chOff x="3811349" y="1974360"/>
            <a:chExt cx="3916545" cy="515028"/>
          </a:xfrm>
        </p:grpSpPr>
        <p:sp>
          <p:nvSpPr>
            <p:cNvPr id="25" name="Google Shape;63;p4">
              <a:extLst>
                <a:ext uri="{FF2B5EF4-FFF2-40B4-BE49-F238E27FC236}">
                  <a16:creationId xmlns:a16="http://schemas.microsoft.com/office/drawing/2014/main" id="{29BD8D49-365E-0E99-1ADC-ED889E6B499F}"/>
                </a:ext>
              </a:extLst>
            </p:cNvPr>
            <p:cNvSpPr txBox="1">
              <a:spLocks/>
            </p:cNvSpPr>
            <p:nvPr/>
          </p:nvSpPr>
          <p:spPr>
            <a:xfrm>
              <a:off x="3811349" y="1974360"/>
              <a:ext cx="3916545" cy="515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 fontScale="925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●"/>
                <a:defRPr sz="1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914400" marR="0" lvl="1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1371600" marR="0" lvl="2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828800" marR="0" lvl="3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2286000" marR="0" lvl="4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743200" marR="0" lvl="5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700" b="1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Reprendre tout ce qui viendrait biaiser les analyses qui seront menées.</a:t>
              </a:r>
            </a:p>
            <a:p>
              <a:pPr marL="596900" lvl="1" indent="0">
                <a:buClr>
                  <a:srgbClr val="999999"/>
                </a:buClr>
                <a:buFont typeface="Arial"/>
                <a:buNone/>
              </a:pPr>
              <a:r>
                <a:rPr lang="fr" sz="700" i="1" dirty="0">
                  <a:solidFill>
                    <a:schemeClr val="tx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(exemple : prix négatifs,…)</a:t>
              </a:r>
            </a:p>
          </p:txBody>
        </p:sp>
        <p:sp>
          <p:nvSpPr>
            <p:cNvPr id="27" name="Flèche : pentagone 26">
              <a:extLst>
                <a:ext uri="{FF2B5EF4-FFF2-40B4-BE49-F238E27FC236}">
                  <a16:creationId xmlns:a16="http://schemas.microsoft.com/office/drawing/2014/main" id="{3131277D-B6C5-17A5-5C37-EE1893EA2AC3}"/>
                </a:ext>
              </a:extLst>
            </p:cNvPr>
            <p:cNvSpPr/>
            <p:nvPr/>
          </p:nvSpPr>
          <p:spPr>
            <a:xfrm>
              <a:off x="3975583" y="2024356"/>
              <a:ext cx="392948" cy="357447"/>
            </a:xfrm>
            <a:prstGeom prst="homePlate">
              <a:avLst/>
            </a:prstGeom>
            <a:solidFill>
              <a:srgbClr val="008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19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C0BF37C2-BF4A-E628-C72C-FF9B1578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C4E9E9EA-EEE8-2FDA-57A4-DC3A001976D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95908290-00AF-2807-1812-5D97A693C990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9EC75617-9BE8-B9BF-617A-99906BC4FD5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A3DF846-A1F5-EB9A-3F27-28BD6DC3ABA9}"/>
              </a:ext>
            </a:extLst>
          </p:cNvPr>
          <p:cNvSpPr txBox="1"/>
          <p:nvPr/>
        </p:nvSpPr>
        <p:spPr>
          <a:xfrm>
            <a:off x="4858439" y="2202322"/>
            <a:ext cx="1131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/>
              <a:t>Prix &lt; 0 € </a:t>
            </a:r>
          </a:p>
        </p:txBody>
      </p:sp>
      <p:pic>
        <p:nvPicPr>
          <p:cNvPr id="23" name="Image 2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75E892B-B910-9CFF-5538-9D1C68B5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638" y="1754506"/>
            <a:ext cx="1529185" cy="1019457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2CC385E1-7677-59BD-E5F8-82E96DA545B9}"/>
              </a:ext>
            </a:extLst>
          </p:cNvPr>
          <p:cNvSpPr txBox="1"/>
          <p:nvPr/>
        </p:nvSpPr>
        <p:spPr>
          <a:xfrm>
            <a:off x="4868730" y="3115612"/>
            <a:ext cx="1758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/>
              <a:t>Quantité  &lt; 0  </a:t>
            </a:r>
          </a:p>
        </p:txBody>
      </p:sp>
      <p:pic>
        <p:nvPicPr>
          <p:cNvPr id="26" name="Image 25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7B092A29-4F9E-926B-313E-C4457A515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648" y="2920191"/>
            <a:ext cx="1849933" cy="658645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0271D593-A0FF-97AC-E96F-3244ED973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25406"/>
            <a:ext cx="261610" cy="26161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ADBB8D15-C7EE-AA5A-079A-FD054832A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115612"/>
            <a:ext cx="261610" cy="261610"/>
          </a:xfrm>
          <a:prstGeom prst="rect">
            <a:avLst/>
          </a:prstGeom>
        </p:spPr>
      </p:pic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D2C6C42-AFC4-828B-F8EA-25055FF47A1F}"/>
              </a:ext>
            </a:extLst>
          </p:cNvPr>
          <p:cNvCxnSpPr/>
          <p:nvPr/>
        </p:nvCxnSpPr>
        <p:spPr>
          <a:xfrm>
            <a:off x="3789275" y="1979494"/>
            <a:ext cx="0" cy="2543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90FC640F-AEF4-6B03-0E31-678965D21294}"/>
              </a:ext>
            </a:extLst>
          </p:cNvPr>
          <p:cNvSpPr txBox="1"/>
          <p:nvPr/>
        </p:nvSpPr>
        <p:spPr>
          <a:xfrm>
            <a:off x="4868730" y="3901833"/>
            <a:ext cx="12499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/>
              <a:t>Stock_status  erroné 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50E621D-105C-33DD-40EB-3208C2CC2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948000"/>
            <a:ext cx="261610" cy="261610"/>
          </a:xfrm>
          <a:prstGeom prst="rect">
            <a:avLst/>
          </a:prstGeom>
        </p:spPr>
      </p:pic>
      <p:pic>
        <p:nvPicPr>
          <p:cNvPr id="11" name="Image 10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C53B304-95B5-F49E-65BC-40A78EB3A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648" y="3920485"/>
            <a:ext cx="1849931" cy="602703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CBB93C83-E1B8-64BE-2A58-EA4435381C38}"/>
              </a:ext>
            </a:extLst>
          </p:cNvPr>
          <p:cNvGrpSpPr/>
          <p:nvPr/>
        </p:nvGrpSpPr>
        <p:grpSpPr>
          <a:xfrm>
            <a:off x="830891" y="2858660"/>
            <a:ext cx="2259919" cy="882297"/>
            <a:chOff x="593285" y="2440594"/>
            <a:chExt cx="2259919" cy="882297"/>
          </a:xfrm>
        </p:grpSpPr>
        <p:pic>
          <p:nvPicPr>
            <p:cNvPr id="13" name="Image 12" descr="Une image contenant texte, Police, capture d’écran, nombre&#10;&#10;Le contenu généré par l’IA peut être incorrect.">
              <a:extLst>
                <a:ext uri="{FF2B5EF4-FFF2-40B4-BE49-F238E27FC236}">
                  <a16:creationId xmlns:a16="http://schemas.microsoft.com/office/drawing/2014/main" id="{0C3B669E-80A0-D2D2-729E-6AF02D684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3285" y="2440594"/>
              <a:ext cx="2259919" cy="882297"/>
            </a:xfrm>
            <a:prstGeom prst="rect">
              <a:avLst/>
            </a:prstGeom>
          </p:spPr>
        </p:pic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79140EB2-BFF6-534E-D7EB-B3F03B974D3F}"/>
                </a:ext>
              </a:extLst>
            </p:cNvPr>
            <p:cNvSpPr/>
            <p:nvPr/>
          </p:nvSpPr>
          <p:spPr>
            <a:xfrm>
              <a:off x="789410" y="2644524"/>
              <a:ext cx="700985" cy="160794"/>
            </a:xfrm>
            <a:prstGeom prst="roundRect">
              <a:avLst/>
            </a:prstGeom>
            <a:solidFill>
              <a:schemeClr val="accent6"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82049122-B7AD-0037-661D-2DE13D1D8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5524" y="966734"/>
            <a:ext cx="5907854" cy="51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marR="0" lvl="1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9F7A54-63D8-8157-10E7-DC27952B60F6}"/>
              </a:ext>
            </a:extLst>
          </p:cNvPr>
          <p:cNvSpPr txBox="1"/>
          <p:nvPr/>
        </p:nvSpPr>
        <p:spPr>
          <a:xfrm>
            <a:off x="830891" y="2356211"/>
            <a:ext cx="2259916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Données de l’ERP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5E28386-0AA5-734B-B55A-7556E10F599A}"/>
              </a:ext>
            </a:extLst>
          </p:cNvPr>
          <p:cNvSpPr txBox="1"/>
          <p:nvPr/>
        </p:nvSpPr>
        <p:spPr>
          <a:xfrm>
            <a:off x="7776437" y="2179239"/>
            <a:ext cx="611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dirty="0"/>
              <a:t>Exclu des analyses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D35BAF-AFCE-6DC0-C445-55E73B0B3FAF}"/>
              </a:ext>
            </a:extLst>
          </p:cNvPr>
          <p:cNvSpPr txBox="1"/>
          <p:nvPr/>
        </p:nvSpPr>
        <p:spPr>
          <a:xfrm>
            <a:off x="8116984" y="3175280"/>
            <a:ext cx="611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dirty="0"/>
              <a:t>Exclu des analyses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0CEA1E-3C2E-9E15-2563-0B1915F8A7EB}"/>
              </a:ext>
            </a:extLst>
          </p:cNvPr>
          <p:cNvSpPr txBox="1"/>
          <p:nvPr/>
        </p:nvSpPr>
        <p:spPr>
          <a:xfrm>
            <a:off x="8188487" y="4163100"/>
            <a:ext cx="6110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dirty="0"/>
              <a:t>Corrigé</a:t>
            </a:r>
          </a:p>
        </p:txBody>
      </p:sp>
    </p:spTree>
    <p:extLst>
      <p:ext uri="{BB962C8B-B14F-4D97-AF65-F5344CB8AC3E}">
        <p14:creationId xmlns:p14="http://schemas.microsoft.com/office/powerpoint/2010/main" val="325229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FC87E59-78B4-FC67-4B56-F5F0BBF8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477EADC2-C50F-D04E-827B-A3EBC985EF8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E1624609-34D5-776A-ECA8-653B83E1A55F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A2E017BB-CE01-7D36-93D0-6F24038A562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01E7D2-2A7F-0376-B4A2-0603BBE85F5A}"/>
              </a:ext>
            </a:extLst>
          </p:cNvPr>
          <p:cNvSpPr txBox="1"/>
          <p:nvPr/>
        </p:nvSpPr>
        <p:spPr>
          <a:xfrm>
            <a:off x="4467891" y="1976649"/>
            <a:ext cx="2342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Lignes entièrement vides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BBDED0-64A8-D4D4-7F8E-A227AE42BF24}"/>
              </a:ext>
            </a:extLst>
          </p:cNvPr>
          <p:cNvSpPr txBox="1"/>
          <p:nvPr/>
        </p:nvSpPr>
        <p:spPr>
          <a:xfrm>
            <a:off x="4453945" y="2374654"/>
            <a:ext cx="33625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Doublons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7C52872-6BE1-1F05-6BB6-8F9FAD0A605B}"/>
              </a:ext>
            </a:extLst>
          </p:cNvPr>
          <p:cNvSpPr txBox="1"/>
          <p:nvPr/>
        </p:nvSpPr>
        <p:spPr>
          <a:xfrm>
            <a:off x="4454364" y="3220131"/>
            <a:ext cx="33625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Colonnes inintéressantes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9173BF4-0991-DC30-E6C6-8FE5204393A7}"/>
              </a:ext>
            </a:extLst>
          </p:cNvPr>
          <p:cNvSpPr txBox="1"/>
          <p:nvPr/>
        </p:nvSpPr>
        <p:spPr>
          <a:xfrm>
            <a:off x="5974200" y="3210629"/>
            <a:ext cx="3061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(toujours vides, valeur à 0 par défaut ou pas utiles)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FFCC1B11-9E53-EDFF-8E7A-676DE90A6E5E}"/>
              </a:ext>
            </a:extLst>
          </p:cNvPr>
          <p:cNvGrpSpPr/>
          <p:nvPr/>
        </p:nvGrpSpPr>
        <p:grpSpPr>
          <a:xfrm>
            <a:off x="657754" y="1942791"/>
            <a:ext cx="2703729" cy="3052917"/>
            <a:chOff x="5577541" y="1949672"/>
            <a:chExt cx="2703729" cy="2939976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3AF058B1-9D29-D4C2-1C1C-91E17BEAE670}"/>
                </a:ext>
              </a:extLst>
            </p:cNvPr>
            <p:cNvGrpSpPr/>
            <p:nvPr/>
          </p:nvGrpSpPr>
          <p:grpSpPr>
            <a:xfrm>
              <a:off x="5577541" y="1949672"/>
              <a:ext cx="2703729" cy="2939976"/>
              <a:chOff x="5835774" y="2049275"/>
              <a:chExt cx="2703729" cy="2939976"/>
            </a:xfrm>
          </p:grpSpPr>
          <p:pic>
            <p:nvPicPr>
              <p:cNvPr id="6" name="Image 5" descr="Une image contenant texte, menu, document, Police&#10;&#10;Le contenu généré par l’IA peut être incorrect.">
                <a:extLst>
                  <a:ext uri="{FF2B5EF4-FFF2-40B4-BE49-F238E27FC236}">
                    <a16:creationId xmlns:a16="http://schemas.microsoft.com/office/drawing/2014/main" id="{7EA78689-4268-44A9-43FA-B23BCE987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5774" y="2049275"/>
                <a:ext cx="2703729" cy="2939976"/>
              </a:xfrm>
              <a:prstGeom prst="rect">
                <a:avLst/>
              </a:prstGeom>
            </p:spPr>
          </p:pic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B697A87A-B2F4-D2DA-FDB7-5008234B61AA}"/>
                  </a:ext>
                </a:extLst>
              </p:cNvPr>
              <p:cNvSpPr/>
              <p:nvPr/>
            </p:nvSpPr>
            <p:spPr>
              <a:xfrm>
                <a:off x="5946767" y="2217928"/>
                <a:ext cx="503910" cy="14163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  <a:alpha val="3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44554896-4C0E-F43E-A0D1-8362F6652801}"/>
                </a:ext>
              </a:extLst>
            </p:cNvPr>
            <p:cNvSpPr/>
            <p:nvPr/>
          </p:nvSpPr>
          <p:spPr>
            <a:xfrm>
              <a:off x="5736733" y="2797064"/>
              <a:ext cx="971100" cy="119455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705F680A-DDB9-C594-717F-B7C9FCF3283F}"/>
                </a:ext>
              </a:extLst>
            </p:cNvPr>
            <p:cNvSpPr/>
            <p:nvPr/>
          </p:nvSpPr>
          <p:spPr>
            <a:xfrm>
              <a:off x="5736733" y="3830200"/>
              <a:ext cx="971099" cy="119455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E293E28-87D9-6C7D-F3C2-E9C31B0A1A6E}"/>
                </a:ext>
              </a:extLst>
            </p:cNvPr>
            <p:cNvSpPr/>
            <p:nvPr/>
          </p:nvSpPr>
          <p:spPr>
            <a:xfrm>
              <a:off x="5736733" y="4218290"/>
              <a:ext cx="979831" cy="119455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2CD22237-63F6-BA3A-6869-CCABABB54293}"/>
                </a:ext>
              </a:extLst>
            </p:cNvPr>
            <p:cNvSpPr/>
            <p:nvPr/>
          </p:nvSpPr>
          <p:spPr>
            <a:xfrm>
              <a:off x="5728003" y="2243836"/>
              <a:ext cx="979831" cy="102600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DB27E43E-7DB3-3E52-46F2-FAB89C8E1D49}"/>
                </a:ext>
              </a:extLst>
            </p:cNvPr>
            <p:cNvSpPr/>
            <p:nvPr/>
          </p:nvSpPr>
          <p:spPr>
            <a:xfrm>
              <a:off x="5728841" y="2341750"/>
              <a:ext cx="979831" cy="102600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9F05DB44-747F-3CFB-B747-841B43D83BDA}"/>
                </a:ext>
              </a:extLst>
            </p:cNvPr>
            <p:cNvSpPr/>
            <p:nvPr/>
          </p:nvSpPr>
          <p:spPr>
            <a:xfrm>
              <a:off x="5729679" y="2439664"/>
              <a:ext cx="979831" cy="102600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D0508469-008B-6EEE-8247-F45BB711BCF0}"/>
                </a:ext>
              </a:extLst>
            </p:cNvPr>
            <p:cNvSpPr/>
            <p:nvPr/>
          </p:nvSpPr>
          <p:spPr>
            <a:xfrm>
              <a:off x="5730517" y="2531000"/>
              <a:ext cx="979831" cy="102600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F6553A08-2501-47B3-120F-231CCA6B7764}"/>
                </a:ext>
              </a:extLst>
            </p:cNvPr>
            <p:cNvSpPr/>
            <p:nvPr/>
          </p:nvSpPr>
          <p:spPr>
            <a:xfrm>
              <a:off x="5736733" y="3170705"/>
              <a:ext cx="971099" cy="119455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42" name="Image 4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B08372CC-2E5A-1C5B-E6A6-74834B6C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023" y="1976649"/>
            <a:ext cx="240760" cy="240760"/>
          </a:xfrm>
          <a:prstGeom prst="rect">
            <a:avLst/>
          </a:prstGeom>
        </p:spPr>
      </p:pic>
      <p:pic>
        <p:nvPicPr>
          <p:cNvPr id="43" name="Image 4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75AC6E8F-98E3-DE0D-9A7E-DF0DDFAAB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766" y="2377402"/>
            <a:ext cx="240760" cy="240760"/>
          </a:xfrm>
          <a:prstGeom prst="rect">
            <a:avLst/>
          </a:prstGeom>
        </p:spPr>
      </p:pic>
      <p:pic>
        <p:nvPicPr>
          <p:cNvPr id="44" name="Image 4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9D890032-AB20-F1F5-802F-B109FAD87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185" y="3228490"/>
            <a:ext cx="240760" cy="240760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3E2B5F96-804B-16A3-6566-3A4E72F19309}"/>
              </a:ext>
            </a:extLst>
          </p:cNvPr>
          <p:cNvSpPr txBox="1"/>
          <p:nvPr/>
        </p:nvSpPr>
        <p:spPr>
          <a:xfrm>
            <a:off x="4454783" y="2784307"/>
            <a:ext cx="41344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Lignes incohérentes (pas de « sku », ventes négatives)</a:t>
            </a:r>
          </a:p>
        </p:txBody>
      </p:sp>
      <p:pic>
        <p:nvPicPr>
          <p:cNvPr id="48" name="Image 47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455FD28A-6867-1B0D-B5E1-4EB73FD09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604" y="2787055"/>
            <a:ext cx="240760" cy="240760"/>
          </a:xfrm>
          <a:prstGeom prst="rect">
            <a:avLst/>
          </a:prstGeom>
        </p:spPr>
      </p:pic>
      <p:sp>
        <p:nvSpPr>
          <p:cNvPr id="50" name="Google Shape;63;p4">
            <a:extLst>
              <a:ext uri="{FF2B5EF4-FFF2-40B4-BE49-F238E27FC236}">
                <a16:creationId xmlns:a16="http://schemas.microsoft.com/office/drawing/2014/main" id="{634817DD-D40D-8544-32FD-3890A8A4CB63}"/>
              </a:ext>
            </a:extLst>
          </p:cNvPr>
          <p:cNvSpPr txBox="1">
            <a:spLocks/>
          </p:cNvSpPr>
          <p:nvPr/>
        </p:nvSpPr>
        <p:spPr>
          <a:xfrm>
            <a:off x="325524" y="966734"/>
            <a:ext cx="5907854" cy="51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 indent="0">
              <a:buClr>
                <a:srgbClr val="999999"/>
              </a:buClr>
              <a:buFont typeface="Arial"/>
              <a:buNone/>
            </a:pPr>
            <a:r>
              <a:rPr lang="fr" sz="1800" b="1" i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</a:t>
            </a:r>
            <a:endParaRPr lang="fr" sz="1800" b="1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6AD9226C-7566-7765-8705-8D755B52400D}"/>
              </a:ext>
            </a:extLst>
          </p:cNvPr>
          <p:cNvCxnSpPr/>
          <p:nvPr/>
        </p:nvCxnSpPr>
        <p:spPr>
          <a:xfrm>
            <a:off x="3789275" y="1979494"/>
            <a:ext cx="0" cy="2543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F05459E-B0AF-B51A-D829-86FC8FD3A8C5}"/>
              </a:ext>
            </a:extLst>
          </p:cNvPr>
          <p:cNvSpPr txBox="1"/>
          <p:nvPr/>
        </p:nvSpPr>
        <p:spPr>
          <a:xfrm>
            <a:off x="542631" y="1514610"/>
            <a:ext cx="2933973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Données issues du site e-commerce</a:t>
            </a:r>
          </a:p>
        </p:txBody>
      </p:sp>
      <p:pic>
        <p:nvPicPr>
          <p:cNvPr id="5" name="Image 4" descr="Une image contenant texte, Police, blanc, reçu&#10;&#10;Le contenu généré par l’IA peut être incorrect.">
            <a:extLst>
              <a:ext uri="{FF2B5EF4-FFF2-40B4-BE49-F238E27FC236}">
                <a16:creationId xmlns:a16="http://schemas.microsoft.com/office/drawing/2014/main" id="{DAF2A04D-EB4A-A1C9-829F-F016863D4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057" y="4245899"/>
            <a:ext cx="2516924" cy="55457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95D4BCE-4F8E-778A-8901-EB6C06380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6004" y="3914584"/>
            <a:ext cx="261824" cy="26182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C50A2C1-E651-6FAA-511B-7AF53438215E}"/>
              </a:ext>
            </a:extLst>
          </p:cNvPr>
          <p:cNvSpPr txBox="1"/>
          <p:nvPr/>
        </p:nvSpPr>
        <p:spPr>
          <a:xfrm>
            <a:off x="4333146" y="3912442"/>
            <a:ext cx="33625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En synthèse :</a:t>
            </a:r>
          </a:p>
        </p:txBody>
      </p:sp>
    </p:spTree>
    <p:extLst>
      <p:ext uri="{BB962C8B-B14F-4D97-AF65-F5344CB8AC3E}">
        <p14:creationId xmlns:p14="http://schemas.microsoft.com/office/powerpoint/2010/main" val="127686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7" grpId="0"/>
      <p:bldP spid="4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87D339D-1B33-CBAE-ADE3-9A48F8CE305F}"/>
              </a:ext>
            </a:extLst>
          </p:cNvPr>
          <p:cNvCxnSpPr/>
          <p:nvPr/>
        </p:nvCxnSpPr>
        <p:spPr>
          <a:xfrm>
            <a:off x="3857212" y="1913640"/>
            <a:ext cx="0" cy="2543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0E3408DE-2C4F-957D-E9C9-A6F82F44894C}"/>
              </a:ext>
            </a:extLst>
          </p:cNvPr>
          <p:cNvGrpSpPr/>
          <p:nvPr/>
        </p:nvGrpSpPr>
        <p:grpSpPr>
          <a:xfrm>
            <a:off x="1113974" y="2803536"/>
            <a:ext cx="2122804" cy="809542"/>
            <a:chOff x="3283087" y="1727450"/>
            <a:chExt cx="2122804" cy="809542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B3C4D87D-82A9-69EF-7477-AD8E5373108F}"/>
                </a:ext>
              </a:extLst>
            </p:cNvPr>
            <p:cNvGrpSpPr/>
            <p:nvPr/>
          </p:nvGrpSpPr>
          <p:grpSpPr>
            <a:xfrm>
              <a:off x="3283087" y="1727450"/>
              <a:ext cx="2122804" cy="809542"/>
              <a:chOff x="3290392" y="2072200"/>
              <a:chExt cx="2122804" cy="809542"/>
            </a:xfrm>
          </p:grpSpPr>
          <p:pic>
            <p:nvPicPr>
              <p:cNvPr id="35" name="Image 34" descr="Une image contenant texte, Police, blanc, capture d’écran&#10;&#10;Le contenu généré par l’IA peut être incorrect.">
                <a:extLst>
                  <a:ext uri="{FF2B5EF4-FFF2-40B4-BE49-F238E27FC236}">
                    <a16:creationId xmlns:a16="http://schemas.microsoft.com/office/drawing/2014/main" id="{63485E0A-91F4-C7FF-C50B-D8ED56231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0392" y="2417542"/>
                <a:ext cx="2122804" cy="464200"/>
              </a:xfrm>
              <a:prstGeom prst="rect">
                <a:avLst/>
              </a:prstGeom>
            </p:spPr>
          </p:pic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BA02BD68-EEA2-FFEE-28FD-7F5912E2A376}"/>
                  </a:ext>
                </a:extLst>
              </p:cNvPr>
              <p:cNvSpPr txBox="1"/>
              <p:nvPr/>
            </p:nvSpPr>
            <p:spPr>
              <a:xfrm>
                <a:off x="3290392" y="2072200"/>
                <a:ext cx="2011812" cy="26161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b="1" dirty="0">
                    <a:solidFill>
                      <a:schemeClr val="bg1"/>
                    </a:solidFill>
                  </a:rPr>
                  <a:t>liaison</a:t>
                </a:r>
              </a:p>
            </p:txBody>
          </p:sp>
          <p:sp>
            <p:nvSpPr>
              <p:cNvPr id="37" name="Rectangle : coins arrondis 36">
                <a:extLst>
                  <a:ext uri="{FF2B5EF4-FFF2-40B4-BE49-F238E27FC236}">
                    <a16:creationId xmlns:a16="http://schemas.microsoft.com/office/drawing/2014/main" id="{A9C31C5A-D7C2-0A80-26E3-E19F9A346477}"/>
                  </a:ext>
                </a:extLst>
              </p:cNvPr>
              <p:cNvSpPr/>
              <p:nvPr/>
            </p:nvSpPr>
            <p:spPr>
              <a:xfrm>
                <a:off x="3475534" y="2744274"/>
                <a:ext cx="646571" cy="135907"/>
              </a:xfrm>
              <a:prstGeom prst="roundRect">
                <a:avLst/>
              </a:prstGeom>
              <a:solidFill>
                <a:schemeClr val="accent6">
                  <a:alpha val="3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1D160DC2-ACEB-5AB1-6C29-A8155F2EBAAD}"/>
                </a:ext>
              </a:extLst>
            </p:cNvPr>
            <p:cNvSpPr/>
            <p:nvPr/>
          </p:nvSpPr>
          <p:spPr>
            <a:xfrm>
              <a:off x="3468229" y="2263617"/>
              <a:ext cx="646571" cy="135907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3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38" name="ZoneTexte 37">
            <a:extLst>
              <a:ext uri="{FF2B5EF4-FFF2-40B4-BE49-F238E27FC236}">
                <a16:creationId xmlns:a16="http://schemas.microsoft.com/office/drawing/2014/main" id="{70CDA28A-FF3B-5A20-F8BA-1CEC193F8D22}"/>
              </a:ext>
            </a:extLst>
          </p:cNvPr>
          <p:cNvSpPr txBox="1"/>
          <p:nvPr/>
        </p:nvSpPr>
        <p:spPr>
          <a:xfrm>
            <a:off x="4686783" y="2910390"/>
            <a:ext cx="38235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Pas d’erreur </a:t>
            </a:r>
          </a:p>
          <a:p>
            <a:endParaRPr lang="fr-FR" sz="1050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78EEAB89-AB83-FD36-708C-8ABA96EB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722" y="3331563"/>
            <a:ext cx="280231" cy="280231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353A637E-07FE-6897-A905-A41098DF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909" y="2862422"/>
            <a:ext cx="323065" cy="323065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92BCE8E7-B92E-CE53-2D70-FF457B8C8F3F}"/>
              </a:ext>
            </a:extLst>
          </p:cNvPr>
          <p:cNvSpPr txBox="1"/>
          <p:nvPr/>
        </p:nvSpPr>
        <p:spPr>
          <a:xfrm>
            <a:off x="4676095" y="3325888"/>
            <a:ext cx="47400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mais pas toujours de correspondance entre </a:t>
            </a:r>
            <a:r>
              <a:rPr lang="fr-FR" sz="1050" dirty="0" err="1"/>
              <a:t>id_web</a:t>
            </a:r>
            <a:r>
              <a:rPr lang="fr-FR" sz="1050" dirty="0"/>
              <a:t> et </a:t>
            </a:r>
            <a:r>
              <a:rPr lang="fr-FR" sz="1050" dirty="0" err="1"/>
              <a:t>product_id</a:t>
            </a:r>
            <a:r>
              <a:rPr lang="fr-FR" sz="1050" dirty="0"/>
              <a:t> </a:t>
            </a:r>
          </a:p>
        </p:txBody>
      </p:sp>
      <p:sp>
        <p:nvSpPr>
          <p:cNvPr id="47" name="Google Shape;63;p4">
            <a:extLst>
              <a:ext uri="{FF2B5EF4-FFF2-40B4-BE49-F238E27FC236}">
                <a16:creationId xmlns:a16="http://schemas.microsoft.com/office/drawing/2014/main" id="{914DC4BD-D471-1B32-FE96-49F0A7B9063A}"/>
              </a:ext>
            </a:extLst>
          </p:cNvPr>
          <p:cNvSpPr txBox="1">
            <a:spLocks/>
          </p:cNvSpPr>
          <p:nvPr/>
        </p:nvSpPr>
        <p:spPr>
          <a:xfrm>
            <a:off x="298201" y="966873"/>
            <a:ext cx="6689883" cy="51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96900" lvl="1" indent="0">
              <a:buClr>
                <a:srgbClr val="999999"/>
              </a:buClr>
              <a:buFont typeface="Arial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72464E3-DA3E-446D-06C8-A4B420189E00}"/>
              </a:ext>
            </a:extLst>
          </p:cNvPr>
          <p:cNvSpPr txBox="1"/>
          <p:nvPr/>
        </p:nvSpPr>
        <p:spPr>
          <a:xfrm>
            <a:off x="1088905" y="2357073"/>
            <a:ext cx="2036881" cy="327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Table de correspondance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448F140-1104-7896-E65B-8BDDC1E5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05E27CB-2A2B-B348-CE1A-19B0EA04A99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1329011B-DC22-6F48-BA03-160F10837C24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9A55FB83-CE9E-7221-AD2B-B9EEA4C0BE0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CE2B5C-7C81-5EDB-2DEF-A1332946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789" y="2218146"/>
            <a:ext cx="27261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Prix de vente HT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 Taux de marge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 Part de CA de chaque article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 Part de CA cumulée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11881A-12E8-E315-356A-159A57727C0A}"/>
              </a:ext>
            </a:extLst>
          </p:cNvPr>
          <p:cNvSpPr txBox="1"/>
          <p:nvPr/>
        </p:nvSpPr>
        <p:spPr>
          <a:xfrm>
            <a:off x="819848" y="2403050"/>
            <a:ext cx="19414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Le feature engineering a permis de transformer les données brutes en </a:t>
            </a:r>
            <a:r>
              <a:rPr lang="fr-FR" sz="1200" b="1" dirty="0"/>
              <a:t>indicateurs</a:t>
            </a:r>
            <a:r>
              <a:rPr lang="fr-FR" sz="1200" dirty="0"/>
              <a:t> économiques et analytiques exploitables.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86C4A1F-5B84-EE1E-0E83-32108BD783D7}"/>
              </a:ext>
            </a:extLst>
          </p:cNvPr>
          <p:cNvSpPr txBox="1"/>
          <p:nvPr/>
        </p:nvSpPr>
        <p:spPr>
          <a:xfrm>
            <a:off x="6413382" y="2411200"/>
            <a:ext cx="2160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Analyser le CA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8303FE2-CA93-F3A0-6CAD-5C904EF63C1C}"/>
              </a:ext>
            </a:extLst>
          </p:cNvPr>
          <p:cNvSpPr txBox="1"/>
          <p:nvPr/>
        </p:nvSpPr>
        <p:spPr>
          <a:xfrm>
            <a:off x="6432413" y="3271742"/>
            <a:ext cx="1865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Analyser les stocks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D0DC8C3-2FF5-DB98-DAA1-CF4DF46CFDA6}"/>
              </a:ext>
            </a:extLst>
          </p:cNvPr>
          <p:cNvSpPr txBox="1"/>
          <p:nvPr/>
        </p:nvSpPr>
        <p:spPr>
          <a:xfrm>
            <a:off x="6413382" y="4055305"/>
            <a:ext cx="2856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Analyser les prix de vente</a:t>
            </a:r>
          </a:p>
        </p:txBody>
      </p: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E1762A5F-70E0-071E-CB38-29E5877B4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848" y="1021321"/>
            <a:ext cx="8520600" cy="44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Features engineering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8E2C618-1D3F-0A1C-D2E6-C1EA111EC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24" y="2624049"/>
            <a:ext cx="609524" cy="609524"/>
          </a:xfrm>
          <a:prstGeom prst="rect">
            <a:avLst/>
          </a:prstGeom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134864CE-746F-FA98-9CD7-835192484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789" y="3228831"/>
            <a:ext cx="23026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Valeur stock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 Durée en stock (en mois) 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2ABFF2F-E196-72D5-C5DD-5F3E42479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789" y="3962973"/>
            <a:ext cx="27261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fr-FR" altLang="fr-FR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Z-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score </a:t>
            </a:r>
            <a:r>
              <a:rPr kumimoji="0" lang="fr-FR" altLang="fr-FR" sz="12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(prix de vente)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seuils IQR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(outliers)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F51AD2F5-0FDF-29FC-4AD0-D61BBF07A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854" y="1800921"/>
            <a:ext cx="17520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200" b="1" dirty="0">
                <a:solidFill>
                  <a:srgbClr val="008080"/>
                </a:solidFill>
                <a:latin typeface="Montserrat" panose="00000500000000000000" pitchFamily="2" charset="0"/>
              </a:rPr>
              <a:t>Variables créées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AB89BC14-FFEC-B15A-98B9-27A00558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413" y="1800920"/>
            <a:ext cx="17520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200" b="1" dirty="0">
                <a:solidFill>
                  <a:srgbClr val="008080"/>
                </a:solidFill>
                <a:latin typeface="Montserrat" panose="00000500000000000000" pitchFamily="2" charset="0"/>
              </a:rPr>
              <a:t>finalités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470F73CC-3D50-262B-639A-512E8F53AD79}"/>
              </a:ext>
            </a:extLst>
          </p:cNvPr>
          <p:cNvCxnSpPr>
            <a:cxnSpLocks/>
          </p:cNvCxnSpPr>
          <p:nvPr/>
        </p:nvCxnSpPr>
        <p:spPr>
          <a:xfrm>
            <a:off x="3370789" y="2118888"/>
            <a:ext cx="50568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78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225113D-E396-9F2A-D18C-15795AAB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5BC0105B-BC1F-E9EA-B19D-ECE8D02DC0B4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12BB73BA-88C9-8CFA-A5F5-DBA478D7BB9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2E428F1B-C7F8-1478-0DB0-26ED7455C635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7C389D3-D17C-1E8B-E4F3-EB9405630A34}"/>
              </a:ext>
            </a:extLst>
          </p:cNvPr>
          <p:cNvSpPr txBox="1"/>
          <p:nvPr/>
        </p:nvSpPr>
        <p:spPr>
          <a:xfrm>
            <a:off x="754076" y="1711001"/>
            <a:ext cx="2609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tx1"/>
                </a:solidFill>
              </a:rPr>
              <a:t>Aperçu </a:t>
            </a:r>
          </a:p>
          <a:p>
            <a:r>
              <a:rPr lang="fr-FR" sz="1200" b="1" dirty="0">
                <a:solidFill>
                  <a:schemeClr val="tx1"/>
                </a:solidFill>
              </a:rPr>
              <a:t>des éléments chiffrés</a:t>
            </a:r>
          </a:p>
        </p:txBody>
      </p: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3B3A51F0-76EB-43F6-AD04-83F142763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848" y="1021321"/>
            <a:ext cx="8520600" cy="44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8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Features engineering</a:t>
            </a:r>
          </a:p>
        </p:txBody>
      </p:sp>
      <p:pic>
        <p:nvPicPr>
          <p:cNvPr id="3" name="Image 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572DAEA-60AD-4E7B-B261-139251BA2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59" y="2794109"/>
            <a:ext cx="3281995" cy="20583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A9A6D58-89E8-460F-189E-9DFAA709E952}"/>
              </a:ext>
            </a:extLst>
          </p:cNvPr>
          <p:cNvSpPr txBox="1"/>
          <p:nvPr/>
        </p:nvSpPr>
        <p:spPr>
          <a:xfrm>
            <a:off x="264431" y="2575535"/>
            <a:ext cx="3350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chemeClr val="accent1"/>
                </a:solidFill>
              </a:rPr>
              <a:t>Aperçu du Z-score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E54BA9-8111-10F0-C175-7928CD011D4D}"/>
              </a:ext>
            </a:extLst>
          </p:cNvPr>
          <p:cNvSpPr txBox="1"/>
          <p:nvPr/>
        </p:nvSpPr>
        <p:spPr>
          <a:xfrm>
            <a:off x="4909527" y="1632843"/>
            <a:ext cx="3350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chemeClr val="accent1"/>
                </a:solidFill>
              </a:rPr>
              <a:t>Aperçu du </a:t>
            </a:r>
            <a:r>
              <a:rPr lang="fr-FR" sz="1000" b="1" i="1" dirty="0">
                <a:solidFill>
                  <a:schemeClr val="accent1"/>
                </a:solidFill>
              </a:rPr>
              <a:t>CA</a:t>
            </a:r>
            <a:r>
              <a:rPr lang="fr-FR" sz="1000" i="1" dirty="0">
                <a:solidFill>
                  <a:schemeClr val="accent1"/>
                </a:solidFill>
              </a:rPr>
              <a:t> /article et du ratio par rapport au CA total</a:t>
            </a:r>
          </a:p>
        </p:txBody>
      </p:sp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77386E4-EE43-EE1A-6A47-258A15851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600" y="3819525"/>
            <a:ext cx="3482623" cy="940620"/>
          </a:xfrm>
          <a:prstGeom prst="rect">
            <a:avLst/>
          </a:prstGeom>
        </p:spPr>
      </p:pic>
      <p:pic>
        <p:nvPicPr>
          <p:cNvPr id="11" name="Image 10" descr="Une image contenant texte, capture d’écran, Police, reçu&#10;&#10;Le contenu généré par l’IA peut être incorrect.">
            <a:extLst>
              <a:ext uri="{FF2B5EF4-FFF2-40B4-BE49-F238E27FC236}">
                <a16:creationId xmlns:a16="http://schemas.microsoft.com/office/drawing/2014/main" id="{5E8F4FD6-3711-D30B-EF3B-64DCE12D7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783" y="1917677"/>
            <a:ext cx="3482623" cy="107507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F47C251-416E-FDDF-FF03-B2277E34612B}"/>
              </a:ext>
            </a:extLst>
          </p:cNvPr>
          <p:cNvSpPr txBox="1"/>
          <p:nvPr/>
        </p:nvSpPr>
        <p:spPr>
          <a:xfrm>
            <a:off x="5031783" y="3554715"/>
            <a:ext cx="33508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chemeClr val="accent1"/>
                </a:solidFill>
              </a:rPr>
              <a:t>Aperçu des durées de </a:t>
            </a:r>
            <a:r>
              <a:rPr lang="fr-FR" sz="1000" b="1" i="1" dirty="0">
                <a:solidFill>
                  <a:schemeClr val="accent1"/>
                </a:solidFill>
              </a:rPr>
              <a:t>stockage</a:t>
            </a:r>
            <a:r>
              <a:rPr lang="fr-FR" sz="1000" i="1" dirty="0">
                <a:solidFill>
                  <a:schemeClr val="accent1"/>
                </a:solidFill>
              </a:rPr>
              <a:t> par article</a:t>
            </a:r>
          </a:p>
        </p:txBody>
      </p:sp>
      <p:pic>
        <p:nvPicPr>
          <p:cNvPr id="14" name="Image 13" descr="Une image contenant symbole, Bleu électrique, conception&#10;&#10;Le contenu généré par l’IA peut être incorrect.">
            <a:extLst>
              <a:ext uri="{FF2B5EF4-FFF2-40B4-BE49-F238E27FC236}">
                <a16:creationId xmlns:a16="http://schemas.microsoft.com/office/drawing/2014/main" id="{72E9A6C9-A9F5-2746-84E2-113E59F3B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431" y="1684249"/>
            <a:ext cx="489645" cy="489645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57CDB4C-2FD8-D6FD-6660-BF8CC3E42359}"/>
              </a:ext>
            </a:extLst>
          </p:cNvPr>
          <p:cNvSpPr/>
          <p:nvPr/>
        </p:nvSpPr>
        <p:spPr>
          <a:xfrm>
            <a:off x="3306305" y="2794109"/>
            <a:ext cx="308939" cy="2108522"/>
          </a:xfrm>
          <a:prstGeom prst="roundRect">
            <a:avLst/>
          </a:prstGeom>
          <a:solidFill>
            <a:srgbClr val="008080">
              <a:alpha val="30000"/>
            </a:srgbClr>
          </a:solidFill>
          <a:ln>
            <a:solidFill>
              <a:srgbClr val="00808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24F5DC4-6440-309E-FFED-C7CD1C543712}"/>
              </a:ext>
            </a:extLst>
          </p:cNvPr>
          <p:cNvSpPr/>
          <p:nvPr/>
        </p:nvSpPr>
        <p:spPr>
          <a:xfrm>
            <a:off x="7814137" y="1917677"/>
            <a:ext cx="700269" cy="1120297"/>
          </a:xfrm>
          <a:prstGeom prst="roundRect">
            <a:avLst>
              <a:gd name="adj" fmla="val 9795"/>
            </a:avLst>
          </a:prstGeom>
          <a:solidFill>
            <a:srgbClr val="008080">
              <a:alpha val="30000"/>
            </a:srgbClr>
          </a:solidFill>
          <a:ln>
            <a:solidFill>
              <a:srgbClr val="00808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C1D7A51-CCCB-BB4C-CF00-8BC074CAF29F}"/>
              </a:ext>
            </a:extLst>
          </p:cNvPr>
          <p:cNvSpPr/>
          <p:nvPr/>
        </p:nvSpPr>
        <p:spPr>
          <a:xfrm>
            <a:off x="8109441" y="3848371"/>
            <a:ext cx="392934" cy="930364"/>
          </a:xfrm>
          <a:prstGeom prst="roundRect">
            <a:avLst>
              <a:gd name="adj" fmla="val 9795"/>
            </a:avLst>
          </a:prstGeom>
          <a:solidFill>
            <a:srgbClr val="008080">
              <a:alpha val="30000"/>
            </a:srgbClr>
          </a:solidFill>
          <a:ln>
            <a:solidFill>
              <a:srgbClr val="00808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053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12" grpId="0" build="allAtOnce"/>
      <p:bldP spid="16" grpId="0" animBg="1"/>
      <p:bldP spid="17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DAB0F10-7D6D-62FE-00F4-F3098E07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D53B79DA-822E-FE91-572B-7737E5675F24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89F4FD7A-330D-8F02-D639-0416155DF055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4C90E28-3387-C414-F45D-1CBCF79A4BF5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F8C538-CADF-F2B7-CE71-F886B4C5CDBF}"/>
              </a:ext>
            </a:extLst>
          </p:cNvPr>
          <p:cNvSpPr txBox="1"/>
          <p:nvPr/>
        </p:nvSpPr>
        <p:spPr>
          <a:xfrm>
            <a:off x="584578" y="2225405"/>
            <a:ext cx="6575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Données erronées </a:t>
            </a:r>
            <a:r>
              <a:rPr lang="fr-FR" dirty="0"/>
              <a:t>(quantités négatives ou prix négatifs, statuts incohérents)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1EBB68-9244-4E31-AC11-8C7510A3F07A}"/>
              </a:ext>
            </a:extLst>
          </p:cNvPr>
          <p:cNvSpPr txBox="1"/>
          <p:nvPr/>
        </p:nvSpPr>
        <p:spPr>
          <a:xfrm>
            <a:off x="584578" y="2588642"/>
            <a:ext cx="4736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Colonnes inutiles : </a:t>
            </a:r>
            <a:r>
              <a:rPr lang="fr-FR" dirty="0"/>
              <a:t>gêne la lecture des tableaux</a:t>
            </a:r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F8FFDA-E6C9-27C6-9B27-C325A873259A}"/>
              </a:ext>
            </a:extLst>
          </p:cNvPr>
          <p:cNvSpPr txBox="1"/>
          <p:nvPr/>
        </p:nvSpPr>
        <p:spPr>
          <a:xfrm>
            <a:off x="584578" y="2951879"/>
            <a:ext cx="4736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Les doublons : </a:t>
            </a:r>
            <a:r>
              <a:rPr lang="fr-FR" dirty="0"/>
              <a:t>peut fausser les calculs</a:t>
            </a:r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FDDBAB7-8F11-DEAE-7E88-061168B15676}"/>
              </a:ext>
            </a:extLst>
          </p:cNvPr>
          <p:cNvSpPr txBox="1"/>
          <p:nvPr/>
        </p:nvSpPr>
        <p:spPr>
          <a:xfrm>
            <a:off x="584578" y="3315116"/>
            <a:ext cx="4736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Des lignes vides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41A331A-3877-0DB5-6128-7F0E5D3E5A32}"/>
              </a:ext>
            </a:extLst>
          </p:cNvPr>
          <p:cNvSpPr txBox="1"/>
          <p:nvPr/>
        </p:nvSpPr>
        <p:spPr>
          <a:xfrm>
            <a:off x="584578" y="4041590"/>
            <a:ext cx="4736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Absence d’identifiant unique </a:t>
            </a:r>
            <a:r>
              <a:rPr lang="fr-FR" dirty="0"/>
              <a:t>(ex: « sku »)</a:t>
            </a:r>
          </a:p>
        </p:txBody>
      </p: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DDA95C69-430D-DB05-A78E-8BDE55039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0659" y="985590"/>
            <a:ext cx="852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6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éventuelles, pièges ou difficultés rencontrées </a:t>
            </a:r>
            <a:endParaRPr sz="1600" b="1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6BBB2F-6C00-D0C8-C4F2-07C49E8759A6}"/>
              </a:ext>
            </a:extLst>
          </p:cNvPr>
          <p:cNvSpPr txBox="1"/>
          <p:nvPr/>
        </p:nvSpPr>
        <p:spPr>
          <a:xfrm>
            <a:off x="584578" y="3678353"/>
            <a:ext cx="4736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Des valeurs vides</a:t>
            </a:r>
          </a:p>
        </p:txBody>
      </p:sp>
    </p:spTree>
    <p:extLst>
      <p:ext uri="{BB962C8B-B14F-4D97-AF65-F5344CB8AC3E}">
        <p14:creationId xmlns:p14="http://schemas.microsoft.com/office/powerpoint/2010/main" val="256834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5073049" y="1602852"/>
            <a:ext cx="3442301" cy="35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400" b="1" dirty="0">
                <a:solidFill>
                  <a:srgbClr val="008080"/>
                </a:solidFill>
                <a:latin typeface="Montserrat"/>
                <a:ea typeface="Montserrat"/>
                <a:cs typeface="Montserrat"/>
                <a:sym typeface="Montserrat"/>
              </a:rPr>
              <a:t>Clés utilisés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" sz="1600" b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sz="1600" b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sz="16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5D9171-5035-519E-AF15-DAC0D5728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756" y="2318483"/>
            <a:ext cx="3995004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Id_web: 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Identifiant produit côté site web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fr-FR" altLang="fr-FR" sz="1050" b="1" dirty="0">
                <a:solidFill>
                  <a:schemeClr val="tx1"/>
                </a:solidFill>
                <a:latin typeface="Arial" panose="020B0604020202020204" pitchFamily="34" charset="0"/>
              </a:rPr>
              <a:t>Product_id / sku </a:t>
            </a: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Utilisés pour récupérer les coûts d’achat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de liaison :  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de relier les données web et ERP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A6B1C0-8807-4B5C-8885-1C6C3874F7C8}"/>
              </a:ext>
            </a:extLst>
          </p:cNvPr>
          <p:cNvSpPr txBox="1"/>
          <p:nvPr/>
        </p:nvSpPr>
        <p:spPr>
          <a:xfrm>
            <a:off x="5275891" y="3218729"/>
            <a:ext cx="3749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Une table de liaison a été utilisée afin d’assurer une correspondance fiable entre les identifiants issus du web et ceux de l’ERP.</a:t>
            </a: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36CEC65E-E297-4E81-9BE3-6DD2C2E650A1}"/>
              </a:ext>
            </a:extLst>
          </p:cNvPr>
          <p:cNvSpPr/>
          <p:nvPr/>
        </p:nvSpPr>
        <p:spPr>
          <a:xfrm>
            <a:off x="4762877" y="1640218"/>
            <a:ext cx="392948" cy="357447"/>
          </a:xfrm>
          <a:prstGeom prst="homePlat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2" name="Google Shape;71;p5">
            <a:extLst>
              <a:ext uri="{FF2B5EF4-FFF2-40B4-BE49-F238E27FC236}">
                <a16:creationId xmlns:a16="http://schemas.microsoft.com/office/drawing/2014/main" id="{5F802FA7-DA93-41DB-3AFB-914E61BC17DE}"/>
              </a:ext>
            </a:extLst>
          </p:cNvPr>
          <p:cNvSpPr txBox="1">
            <a:spLocks/>
          </p:cNvSpPr>
          <p:nvPr/>
        </p:nvSpPr>
        <p:spPr>
          <a:xfrm>
            <a:off x="558706" y="1652593"/>
            <a:ext cx="3056449" cy="422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Clr>
                <a:srgbClr val="999999"/>
              </a:buClr>
              <a:buFont typeface="Arial"/>
              <a:buNone/>
            </a:pPr>
            <a:r>
              <a:rPr lang="fr-FR" b="1" dirty="0">
                <a:solidFill>
                  <a:srgbClr val="008080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</a:t>
            </a:r>
            <a:endParaRPr lang="fr-FR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6AC75A-BC21-5F85-3B7C-A5E5B45124E4}"/>
              </a:ext>
            </a:extLst>
          </p:cNvPr>
          <p:cNvSpPr txBox="1"/>
          <p:nvPr/>
        </p:nvSpPr>
        <p:spPr>
          <a:xfrm>
            <a:off x="521366" y="2084897"/>
            <a:ext cx="334143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sz="900" dirty="0"/>
              <a:t>Les attributs ont été sélectionnés en fonction de leur pertinence métier pour l’analyse des ventes, des stocks et de la rentabilité.</a:t>
            </a:r>
            <a:endParaRPr lang="fr-FR" sz="9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984628AE-BB18-E6D3-B3AE-C622A23A010E}"/>
              </a:ext>
            </a:extLst>
          </p:cNvPr>
          <p:cNvSpPr/>
          <p:nvPr/>
        </p:nvSpPr>
        <p:spPr>
          <a:xfrm>
            <a:off x="283336" y="1673405"/>
            <a:ext cx="392948" cy="357447"/>
          </a:xfrm>
          <a:prstGeom prst="homePlat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CAEDA4-0C3E-2FBC-27B5-AC87AA34B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84" y="2611981"/>
            <a:ext cx="3031599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price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Prix de vente TTC, base des analyses de prix et de marge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purchase_price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Coût d’achat, indispensable pour le calcul de la marge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total_sales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Indicateur clé de performance commerciale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stock_quantity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Indicateur central pour l’analyse des stocks et de la rotation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post_date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Permet de calculer la durée de commercialisation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9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product_type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Arial" panose="020B0604020202020204" pitchFamily="34" charset="0"/>
              </a:rPr>
              <a:t> / catégories</a:t>
            </a: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Analyse comparative entre types de produits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uild="p"/>
      <p:bldP spid="7" grpId="0"/>
      <p:bldP spid="10" grpId="0" animBg="1"/>
      <p:bldP spid="2" grpId="0"/>
      <p:bldP spid="6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0A79CB1E-8285-8CCD-439E-D2B0E098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>
            <a:extLst>
              <a:ext uri="{FF2B5EF4-FFF2-40B4-BE49-F238E27FC236}">
                <a16:creationId xmlns:a16="http://schemas.microsoft.com/office/drawing/2014/main" id="{C116C44C-EF4B-32EB-C585-B3AF79820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3258" y="1592676"/>
            <a:ext cx="8520600" cy="52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600" i="1" dirty="0">
                <a:solidFill>
                  <a:srgbClr val="008080"/>
                </a:solidFill>
                <a:latin typeface="Montserrat"/>
                <a:ea typeface="Montserrat"/>
                <a:cs typeface="Montserrat"/>
                <a:sym typeface="Montserrat"/>
              </a:rPr>
              <a:t>Vigilances particulières au cours du traitements</a:t>
            </a:r>
            <a:endParaRPr sz="1600" i="1" dirty="0">
              <a:solidFill>
                <a:srgbClr val="00808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sz="1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06AC89C0-CB7F-A972-AB5B-22C58129BE3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152B95FE-7637-9CD0-9667-81EEDDD5C16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B1263206-53D4-EE3C-4D7C-A66963C11A2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4197FA-9173-2856-2B7A-AEA5E134CD74}"/>
              </a:ext>
            </a:extLst>
          </p:cNvPr>
          <p:cNvSpPr txBox="1"/>
          <p:nvPr/>
        </p:nvSpPr>
        <p:spPr>
          <a:xfrm>
            <a:off x="448968" y="2155135"/>
            <a:ext cx="26889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Les valeurs manquantes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FFBBB0-A927-4F91-3CB4-E8FF1191AC7E}"/>
              </a:ext>
            </a:extLst>
          </p:cNvPr>
          <p:cNvSpPr txBox="1"/>
          <p:nvPr/>
        </p:nvSpPr>
        <p:spPr>
          <a:xfrm>
            <a:off x="841911" y="3856999"/>
            <a:ext cx="4706856" cy="354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600" i="1" dirty="0">
                <a:solidFill>
                  <a:srgbClr val="008080"/>
                </a:solidFill>
                <a:latin typeface="Montserrat"/>
                <a:ea typeface="Montserrat"/>
                <a:cs typeface="Montserrat"/>
                <a:sym typeface="Montserrat"/>
              </a:rPr>
              <a:t>Difficultés ou pièges rencontrés</a:t>
            </a:r>
            <a:endParaRPr lang="fr-FR" sz="1600" dirty="0">
              <a:solidFill>
                <a:srgbClr val="00808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C4CEDEE-C310-881C-FAD0-B3944991B73C}"/>
              </a:ext>
            </a:extLst>
          </p:cNvPr>
          <p:cNvSpPr txBox="1"/>
          <p:nvPr/>
        </p:nvSpPr>
        <p:spPr>
          <a:xfrm>
            <a:off x="448966" y="2488300"/>
            <a:ext cx="16824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Les doublons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3ADB700-FD92-AADC-C535-7835578D0197}"/>
              </a:ext>
            </a:extLst>
          </p:cNvPr>
          <p:cNvSpPr txBox="1"/>
          <p:nvPr/>
        </p:nvSpPr>
        <p:spPr>
          <a:xfrm>
            <a:off x="448966" y="2821465"/>
            <a:ext cx="16824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Les jointures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638EAC2-30A1-7A2C-9DBF-7B65E30EFD16}"/>
              </a:ext>
            </a:extLst>
          </p:cNvPr>
          <p:cNvSpPr txBox="1"/>
          <p:nvPr/>
        </p:nvSpPr>
        <p:spPr>
          <a:xfrm>
            <a:off x="448963" y="3151364"/>
            <a:ext cx="6261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Le nombre de lignes avant et après fusion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991736D-949A-FFD1-9D2E-6730A4B1A645}"/>
              </a:ext>
            </a:extLst>
          </p:cNvPr>
          <p:cNvSpPr txBox="1"/>
          <p:nvPr/>
        </p:nvSpPr>
        <p:spPr>
          <a:xfrm>
            <a:off x="448963" y="4339173"/>
            <a:ext cx="7129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Contrôler la qualité et l’exhaustivité des données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F022B3C-485D-675E-86BC-321D72B0B416}"/>
              </a:ext>
            </a:extLst>
          </p:cNvPr>
          <p:cNvSpPr txBox="1"/>
          <p:nvPr/>
        </p:nvSpPr>
        <p:spPr>
          <a:xfrm>
            <a:off x="4757830" y="2533778"/>
            <a:ext cx="26889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rgbClr val="008080"/>
                </a:solidFill>
              </a:rPr>
              <a:t>.unique()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CC66817-D50A-F0A1-1276-1A291D37602E}"/>
              </a:ext>
            </a:extLst>
          </p:cNvPr>
          <p:cNvSpPr txBox="1"/>
          <p:nvPr/>
        </p:nvSpPr>
        <p:spPr>
          <a:xfrm>
            <a:off x="4757830" y="2217541"/>
            <a:ext cx="26889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rgbClr val="008080"/>
                </a:solidFill>
              </a:rPr>
              <a:t>.isna() ou isnull()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91C4B80-B119-4D48-85C0-4C3142FCFC28}"/>
              </a:ext>
            </a:extLst>
          </p:cNvPr>
          <p:cNvSpPr txBox="1"/>
          <p:nvPr/>
        </p:nvSpPr>
        <p:spPr>
          <a:xfrm>
            <a:off x="4757830" y="2844687"/>
            <a:ext cx="26889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rgbClr val="008080"/>
                </a:solidFill>
              </a:rPr>
              <a:t>.merge()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B5CEE36-7303-370B-5235-BAF369168CD0}"/>
              </a:ext>
            </a:extLst>
          </p:cNvPr>
          <p:cNvSpPr txBox="1"/>
          <p:nvPr/>
        </p:nvSpPr>
        <p:spPr>
          <a:xfrm>
            <a:off x="4757830" y="3152464"/>
            <a:ext cx="26889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rgbClr val="008080"/>
                </a:solidFill>
              </a:rPr>
              <a:t>.info()</a:t>
            </a:r>
          </a:p>
        </p:txBody>
      </p:sp>
      <p:sp>
        <p:nvSpPr>
          <p:cNvPr id="25" name="Flèche : pentagone 24">
            <a:extLst>
              <a:ext uri="{FF2B5EF4-FFF2-40B4-BE49-F238E27FC236}">
                <a16:creationId xmlns:a16="http://schemas.microsoft.com/office/drawing/2014/main" id="{6FA621FA-A35E-D405-1530-3AC7968DAAE7}"/>
              </a:ext>
            </a:extLst>
          </p:cNvPr>
          <p:cNvSpPr/>
          <p:nvPr/>
        </p:nvSpPr>
        <p:spPr>
          <a:xfrm>
            <a:off x="448963" y="1649293"/>
            <a:ext cx="392948" cy="357447"/>
          </a:xfrm>
          <a:prstGeom prst="homePlat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26" name="Flèche : pentagone 25">
            <a:extLst>
              <a:ext uri="{FF2B5EF4-FFF2-40B4-BE49-F238E27FC236}">
                <a16:creationId xmlns:a16="http://schemas.microsoft.com/office/drawing/2014/main" id="{C1FD7D59-3BEB-3643-10C8-9B2263B5D566}"/>
              </a:ext>
            </a:extLst>
          </p:cNvPr>
          <p:cNvSpPr/>
          <p:nvPr/>
        </p:nvSpPr>
        <p:spPr>
          <a:xfrm>
            <a:off x="448963" y="3841077"/>
            <a:ext cx="392948" cy="357447"/>
          </a:xfrm>
          <a:prstGeom prst="homePlate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791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24E04A9A-E85B-B903-D940-F571C378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7CB9A587-0DF8-EB72-B04E-9C4DEFEE3A2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8CF9367D-4DD6-822D-6101-99DA4D93851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93EDEE0C-958A-BAE5-C2BC-D0CDA7D23A6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D1CC0C19-D0D1-228C-296C-355E67D19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7421" y="1047037"/>
            <a:ext cx="6709500" cy="34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b="1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" name="Image 2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3421BB5-7A9B-69A5-BA5D-63ED726E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923" y="1880950"/>
            <a:ext cx="5012754" cy="2453144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24F00EDC-2617-43B2-BBE1-FCBF9CC38714}"/>
              </a:ext>
            </a:extLst>
          </p:cNvPr>
          <p:cNvGrpSpPr/>
          <p:nvPr/>
        </p:nvGrpSpPr>
        <p:grpSpPr>
          <a:xfrm>
            <a:off x="181815" y="3209606"/>
            <a:ext cx="2720839" cy="1832461"/>
            <a:chOff x="255304" y="3209606"/>
            <a:chExt cx="2720839" cy="1832461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05884333-860C-546F-E668-86786818D336}"/>
                </a:ext>
              </a:extLst>
            </p:cNvPr>
            <p:cNvGrpSpPr/>
            <p:nvPr/>
          </p:nvGrpSpPr>
          <p:grpSpPr>
            <a:xfrm>
              <a:off x="255304" y="3471153"/>
              <a:ext cx="2720839" cy="1570914"/>
              <a:chOff x="2957907" y="2118472"/>
              <a:chExt cx="2720839" cy="1570914"/>
            </a:xfrm>
          </p:grpSpPr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BA5CE9F9-109A-C647-7B6F-B71110E186CD}"/>
                  </a:ext>
                </a:extLst>
              </p:cNvPr>
              <p:cNvSpPr txBox="1"/>
              <p:nvPr/>
            </p:nvSpPr>
            <p:spPr>
              <a:xfrm>
                <a:off x="3999189" y="2524286"/>
                <a:ext cx="16795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fr-FR" altLang="fr-FR" sz="900" b="1" dirty="0">
                    <a:solidFill>
                      <a:srgbClr val="008080"/>
                    </a:solidFill>
                    <a:latin typeface="Arial" panose="020B0604020202020204" pitchFamily="34" charset="0"/>
                  </a:rPr>
                  <a:t>moyenne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fr-FR" altLang="fr-FR" sz="900" b="1" dirty="0">
                    <a:solidFill>
                      <a:srgbClr val="008080"/>
                    </a:solidFill>
                    <a:latin typeface="Arial" panose="020B0604020202020204" pitchFamily="34" charset="0"/>
                  </a:rPr>
                  <a:t>&amp; écart-type</a:t>
                </a:r>
              </a:p>
            </p:txBody>
          </p:sp>
          <p:pic>
            <p:nvPicPr>
              <p:cNvPr id="14" name="Image 13" descr="Une image contenant texte, capture d’écran, Police, nombre&#10;&#10;Le contenu généré par l’IA peut être incorrect.">
                <a:extLst>
                  <a:ext uri="{FF2B5EF4-FFF2-40B4-BE49-F238E27FC236}">
                    <a16:creationId xmlns:a16="http://schemas.microsoft.com/office/drawing/2014/main" id="{FC911E80-5EAE-9C6C-8293-EDDED376D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7907" y="2118472"/>
                <a:ext cx="877731" cy="1570914"/>
              </a:xfrm>
              <a:prstGeom prst="rect">
                <a:avLst/>
              </a:prstGeom>
            </p:spPr>
          </p:pic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A70C9FE-E3D2-D2E8-B6C0-3115F5E52124}"/>
                  </a:ext>
                </a:extLst>
              </p:cNvPr>
              <p:cNvSpPr txBox="1"/>
              <p:nvPr/>
            </p:nvSpPr>
            <p:spPr>
              <a:xfrm>
                <a:off x="3980314" y="2981413"/>
                <a:ext cx="14529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fr-FR" altLang="fr-FR" sz="900" b="1" i="0" u="none" strike="noStrike" cap="none" normalizeH="0" baseline="0" dirty="0">
                    <a:ln>
                      <a:noFill/>
                    </a:ln>
                    <a:solidFill>
                      <a:srgbClr val="008080"/>
                    </a:solidFill>
                    <a:effectLst/>
                    <a:latin typeface="Arial" panose="020B0604020202020204" pitchFamily="34" charset="0"/>
                  </a:rPr>
                  <a:t>Méthode de l’IQR </a:t>
                </a:r>
              </a:p>
              <a:p>
                <a:r>
                  <a:rPr kumimoji="0" lang="fr-FR" altLang="fr-FR" sz="900" b="1" i="0" u="none" strike="noStrike" cap="none" normalizeH="0" baseline="0" dirty="0">
                    <a:ln>
                      <a:noFill/>
                    </a:ln>
                    <a:solidFill>
                      <a:srgbClr val="008080"/>
                    </a:solidFill>
                    <a:effectLst/>
                    <a:latin typeface="Arial" panose="020B0604020202020204" pitchFamily="34" charset="0"/>
                  </a:rPr>
                  <a:t>(méthode de Tukey)</a:t>
                </a:r>
                <a:endParaRPr lang="fr-FR" sz="900" b="1" dirty="0">
                  <a:solidFill>
                    <a:srgbClr val="008080"/>
                  </a:solidFill>
                </a:endParaRPr>
              </a:p>
            </p:txBody>
          </p:sp>
          <p:sp>
            <p:nvSpPr>
              <p:cNvPr id="20" name="Accolade fermante 19">
                <a:extLst>
                  <a:ext uri="{FF2B5EF4-FFF2-40B4-BE49-F238E27FC236}">
                    <a16:creationId xmlns:a16="http://schemas.microsoft.com/office/drawing/2014/main" id="{7624AD94-35CC-06B0-D1D8-151442DE0F41}"/>
                  </a:ext>
                </a:extLst>
              </p:cNvPr>
              <p:cNvSpPr/>
              <p:nvPr/>
            </p:nvSpPr>
            <p:spPr>
              <a:xfrm>
                <a:off x="3893271" y="2524286"/>
                <a:ext cx="90542" cy="246222"/>
              </a:xfrm>
              <a:prstGeom prst="rightBrace">
                <a:avLst/>
              </a:prstGeom>
              <a:noFill/>
              <a:ln w="12700">
                <a:solidFill>
                  <a:srgbClr val="0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Accolade fermante 20">
                <a:extLst>
                  <a:ext uri="{FF2B5EF4-FFF2-40B4-BE49-F238E27FC236}">
                    <a16:creationId xmlns:a16="http://schemas.microsoft.com/office/drawing/2014/main" id="{51947087-A11D-7C6D-941E-2E87CABA4F43}"/>
                  </a:ext>
                </a:extLst>
              </p:cNvPr>
              <p:cNvSpPr/>
              <p:nvPr/>
            </p:nvSpPr>
            <p:spPr>
              <a:xfrm>
                <a:off x="3908450" y="2981413"/>
                <a:ext cx="71864" cy="530915"/>
              </a:xfrm>
              <a:prstGeom prst="rightBrace">
                <a:avLst/>
              </a:prstGeom>
              <a:noFill/>
              <a:ln w="12700">
                <a:solidFill>
                  <a:srgbClr val="0080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26C8AF-7C38-1999-AAD4-DD8C10E6E632}"/>
                </a:ext>
              </a:extLst>
            </p:cNvPr>
            <p:cNvSpPr/>
            <p:nvPr/>
          </p:nvSpPr>
          <p:spPr>
            <a:xfrm>
              <a:off x="272226" y="3209606"/>
              <a:ext cx="1277368" cy="1853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059EC7C4-9223-C656-5946-B56D66577D9F}"/>
              </a:ext>
            </a:extLst>
          </p:cNvPr>
          <p:cNvGrpSpPr/>
          <p:nvPr/>
        </p:nvGrpSpPr>
        <p:grpSpPr>
          <a:xfrm>
            <a:off x="487637" y="1444521"/>
            <a:ext cx="2652235" cy="1918119"/>
            <a:chOff x="487637" y="1444521"/>
            <a:chExt cx="2652235" cy="1918119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FCE5958E-B41F-C9BB-B4DA-23C3D2296C32}"/>
                </a:ext>
              </a:extLst>
            </p:cNvPr>
            <p:cNvSpPr txBox="1"/>
            <p:nvPr/>
          </p:nvSpPr>
          <p:spPr>
            <a:xfrm>
              <a:off x="895525" y="1444521"/>
              <a:ext cx="224434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fr-FR" sz="1000" b="1" dirty="0">
                  <a:solidFill>
                    <a:srgbClr val="008080"/>
                  </a:solidFill>
                </a:rPr>
                <a:t>Boite à moustache</a:t>
              </a:r>
            </a:p>
          </p:txBody>
        </p:sp>
        <p:pic>
          <p:nvPicPr>
            <p:cNvPr id="8" name="Image 7" descr="Une image contenant texte, capture d’écran, diagramme, ligne&#10;&#10;Le contenu généré par l’IA peut être incorrect.">
              <a:extLst>
                <a:ext uri="{FF2B5EF4-FFF2-40B4-BE49-F238E27FC236}">
                  <a16:creationId xmlns:a16="http://schemas.microsoft.com/office/drawing/2014/main" id="{230ED759-8835-5497-1351-237A2F1E6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637" y="1712319"/>
              <a:ext cx="2277909" cy="1650321"/>
            </a:xfrm>
            <a:prstGeom prst="rect">
              <a:avLst/>
            </a:prstGeom>
          </p:spPr>
        </p:pic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8F5CDC0-8978-1316-FFD5-BA4145A0824A}"/>
              </a:ext>
            </a:extLst>
          </p:cNvPr>
          <p:cNvCxnSpPr>
            <a:cxnSpLocks/>
          </p:cNvCxnSpPr>
          <p:nvPr/>
        </p:nvCxnSpPr>
        <p:spPr>
          <a:xfrm>
            <a:off x="-48861" y="3395003"/>
            <a:ext cx="337839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DE4C8EE3-C03C-1FBF-91A3-48B5363DA2BB}"/>
              </a:ext>
            </a:extLst>
          </p:cNvPr>
          <p:cNvCxnSpPr>
            <a:cxnSpLocks/>
          </p:cNvCxnSpPr>
          <p:nvPr/>
        </p:nvCxnSpPr>
        <p:spPr>
          <a:xfrm flipV="1">
            <a:off x="3302044" y="1390200"/>
            <a:ext cx="41449" cy="375330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C1B6F8FA-0FF7-D9CC-3C60-98059CAC8E1A}"/>
              </a:ext>
            </a:extLst>
          </p:cNvPr>
          <p:cNvSpPr txBox="1"/>
          <p:nvPr/>
        </p:nvSpPr>
        <p:spPr>
          <a:xfrm>
            <a:off x="3732221" y="1542939"/>
            <a:ext cx="32409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900" b="1" dirty="0">
                <a:solidFill>
                  <a:srgbClr val="008080"/>
                </a:solidFill>
                <a:latin typeface="Arial" panose="020B0604020202020204" pitchFamily="34" charset="0"/>
              </a:rPr>
              <a:t>Calcul des outliers (seuil, nb d’articles, Proportion,…)</a:t>
            </a:r>
          </a:p>
        </p:txBody>
      </p:sp>
    </p:spTree>
    <p:extLst>
      <p:ext uri="{BB962C8B-B14F-4D97-AF65-F5344CB8AC3E}">
        <p14:creationId xmlns:p14="http://schemas.microsoft.com/office/powerpoint/2010/main" val="73778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F1196F2-9B46-EC77-3F66-09A1083F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AC009641-7269-714C-CF55-D6C4C6B8C24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F69B2A13-8AD8-178A-0E7F-C9C071F7B059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D0565330-9156-D1A2-4CB6-1FB6B0F1C4F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58DF4483-2AE7-BD2D-C8B5-3FFA7ED08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3992" y="1018550"/>
            <a:ext cx="4762224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2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</a:p>
        </p:txBody>
      </p:sp>
      <p:sp>
        <p:nvSpPr>
          <p:cNvPr id="28" name="Larme 27">
            <a:extLst>
              <a:ext uri="{FF2B5EF4-FFF2-40B4-BE49-F238E27FC236}">
                <a16:creationId xmlns:a16="http://schemas.microsoft.com/office/drawing/2014/main" id="{5C198EDD-D6BF-6DDB-850E-36F49F772AEC}"/>
              </a:ext>
            </a:extLst>
          </p:cNvPr>
          <p:cNvSpPr/>
          <p:nvPr/>
        </p:nvSpPr>
        <p:spPr>
          <a:xfrm>
            <a:off x="174513" y="1542316"/>
            <a:ext cx="309954" cy="261610"/>
          </a:xfrm>
          <a:prstGeom prst="teardrop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E48B01E-340F-7904-872F-EF9CD1878222}"/>
              </a:ext>
            </a:extLst>
          </p:cNvPr>
          <p:cNvSpPr txBox="1"/>
          <p:nvPr/>
        </p:nvSpPr>
        <p:spPr>
          <a:xfrm>
            <a:off x="581053" y="1500346"/>
            <a:ext cx="17072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Stocks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D168732-7B2D-B7C3-526A-D59D8C0D0791}"/>
              </a:ext>
            </a:extLst>
          </p:cNvPr>
          <p:cNvGrpSpPr/>
          <p:nvPr/>
        </p:nvGrpSpPr>
        <p:grpSpPr>
          <a:xfrm>
            <a:off x="174513" y="1498464"/>
            <a:ext cx="5381701" cy="3160470"/>
            <a:chOff x="222327" y="1560803"/>
            <a:chExt cx="5381701" cy="3160470"/>
          </a:xfrm>
        </p:grpSpPr>
        <p:pic>
          <p:nvPicPr>
            <p:cNvPr id="15" name="Image 14" descr="Une image contenant texte, capture d’écran, nombre, Police&#10;&#10;Le contenu généré par l’IA peut être incorrect.">
              <a:extLst>
                <a:ext uri="{FF2B5EF4-FFF2-40B4-BE49-F238E27FC236}">
                  <a16:creationId xmlns:a16="http://schemas.microsoft.com/office/drawing/2014/main" id="{DCAA43C0-168B-FC70-CF30-BF5F157D6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327" y="1990839"/>
              <a:ext cx="5276841" cy="2410155"/>
            </a:xfrm>
            <a:prstGeom prst="rect">
              <a:avLst/>
            </a:prstGeom>
          </p:spPr>
        </p:pic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58DB7FE6-AF6E-586B-1061-60762F635886}"/>
                </a:ext>
              </a:extLst>
            </p:cNvPr>
            <p:cNvSpPr/>
            <p:nvPr/>
          </p:nvSpPr>
          <p:spPr>
            <a:xfrm>
              <a:off x="3452644" y="1560803"/>
              <a:ext cx="2151384" cy="3160470"/>
            </a:xfrm>
            <a:prstGeom prst="roundRect">
              <a:avLst>
                <a:gd name="adj" fmla="val 5514"/>
              </a:avLst>
            </a:prstGeom>
            <a:solidFill>
              <a:srgbClr val="008080">
                <a:alpha val="30000"/>
              </a:srgbClr>
            </a:solidFill>
            <a:ln>
              <a:solidFill>
                <a:srgbClr val="00808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7033B1ED-5D2D-7D01-8E5A-FD51BD88249F}"/>
              </a:ext>
            </a:extLst>
          </p:cNvPr>
          <p:cNvSpPr txBox="1"/>
          <p:nvPr/>
        </p:nvSpPr>
        <p:spPr>
          <a:xfrm>
            <a:off x="6009282" y="1438945"/>
            <a:ext cx="2553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Durées de stock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36BF11-0307-19EF-E6B0-F20791DBD1CD}"/>
              </a:ext>
            </a:extLst>
          </p:cNvPr>
          <p:cNvSpPr txBox="1"/>
          <p:nvPr/>
        </p:nvSpPr>
        <p:spPr>
          <a:xfrm>
            <a:off x="3644019" y="1608222"/>
            <a:ext cx="15681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Valorisation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5F65B1D-577B-ACD2-8444-E7F7473D9621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21940" y="1608222"/>
            <a:ext cx="687342" cy="191380"/>
          </a:xfrm>
          <a:prstGeom prst="straightConnector1">
            <a:avLst/>
          </a:prstGeom>
          <a:ln w="76200">
            <a:solidFill>
              <a:srgbClr val="0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B7A2252D-8C77-CAEA-946F-73CF6998A83E}"/>
              </a:ext>
            </a:extLst>
          </p:cNvPr>
          <p:cNvSpPr txBox="1"/>
          <p:nvPr/>
        </p:nvSpPr>
        <p:spPr>
          <a:xfrm>
            <a:off x="6110731" y="3894423"/>
            <a:ext cx="2553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Couverture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D1FDFA0-4931-C5EE-D83F-583B480279B2}"/>
              </a:ext>
            </a:extLst>
          </p:cNvPr>
          <p:cNvSpPr txBox="1"/>
          <p:nvPr/>
        </p:nvSpPr>
        <p:spPr>
          <a:xfrm>
            <a:off x="6110730" y="4222875"/>
            <a:ext cx="29294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les articles restent en vente en moyenne 90.5 en moyenne par article la couverture de stock est de 37.0 mois</a:t>
            </a:r>
            <a:endParaRPr lang="fr-FR" sz="1000" dirty="0"/>
          </a:p>
        </p:txBody>
      </p:sp>
      <p:pic>
        <p:nvPicPr>
          <p:cNvPr id="37" name="Image 36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4EBFB8E-9F56-F319-5018-EFD0A43F7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281" y="1758038"/>
            <a:ext cx="2838687" cy="1897468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3EAE548D-FF77-EC3D-0CCC-B28B5E86B5AD}"/>
              </a:ext>
            </a:extLst>
          </p:cNvPr>
          <p:cNvCxnSpPr>
            <a:cxnSpLocks/>
          </p:cNvCxnSpPr>
          <p:nvPr/>
        </p:nvCxnSpPr>
        <p:spPr>
          <a:xfrm>
            <a:off x="6789034" y="3565502"/>
            <a:ext cx="0" cy="394705"/>
          </a:xfrm>
          <a:prstGeom prst="straightConnector1">
            <a:avLst/>
          </a:prstGeom>
          <a:ln w="76200">
            <a:solidFill>
              <a:srgbClr val="0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631F4898-A21D-79F2-48AB-1C2EF17F6623}"/>
              </a:ext>
            </a:extLst>
          </p:cNvPr>
          <p:cNvSpPr txBox="1"/>
          <p:nvPr/>
        </p:nvSpPr>
        <p:spPr>
          <a:xfrm>
            <a:off x="3571517" y="4358113"/>
            <a:ext cx="9534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1" dirty="0">
                <a:solidFill>
                  <a:srgbClr val="008080"/>
                </a:solidFill>
              </a:rPr>
              <a:t>298555,76 €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7C41E67-6761-D6E8-F0C4-8F94973A1B44}"/>
              </a:ext>
            </a:extLst>
          </p:cNvPr>
          <p:cNvSpPr txBox="1"/>
          <p:nvPr/>
        </p:nvSpPr>
        <p:spPr>
          <a:xfrm>
            <a:off x="4602759" y="4356219"/>
            <a:ext cx="9534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b="1" dirty="0">
                <a:solidFill>
                  <a:srgbClr val="008080"/>
                </a:solidFill>
              </a:rPr>
              <a:t>531628,80 €</a:t>
            </a:r>
          </a:p>
        </p:txBody>
      </p:sp>
    </p:spTree>
    <p:extLst>
      <p:ext uri="{BB962C8B-B14F-4D97-AF65-F5344CB8AC3E}">
        <p14:creationId xmlns:p14="http://schemas.microsoft.com/office/powerpoint/2010/main" val="220927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D01708F-7184-EE30-385E-70BE0BB5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38325F6C-5330-0F51-F916-86BA13A02E7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F2F3EE6-1444-2DB1-62A6-C55F34572DA8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2C056B78-DE19-2326-28E6-D0EBA07C775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3196FF71-14CA-19AA-617B-B28544798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3992" y="1018550"/>
            <a:ext cx="4762224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2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97ABA52-BCD6-040E-9B2B-99825F16C57F}"/>
              </a:ext>
            </a:extLst>
          </p:cNvPr>
          <p:cNvSpPr txBox="1"/>
          <p:nvPr/>
        </p:nvSpPr>
        <p:spPr>
          <a:xfrm>
            <a:off x="3331364" y="1784573"/>
            <a:ext cx="2714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8080"/>
                </a:solidFill>
              </a:rPr>
              <a:t>Chiffre d’affaires de 143 K€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135A2A-FCC8-7EF9-61A7-46E7B4E536EE}"/>
              </a:ext>
            </a:extLst>
          </p:cNvPr>
          <p:cNvSpPr txBox="1"/>
          <p:nvPr/>
        </p:nvSpPr>
        <p:spPr>
          <a:xfrm>
            <a:off x="2142707" y="4747489"/>
            <a:ext cx="6012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tx1"/>
                </a:solidFill>
              </a:rPr>
              <a:t>La boutique en ligne vent majoritairement des vins, que ce soit en quantité ou en chiffre d’affaires.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9DC4595C-6565-4B08-54E2-8768311C2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259" y="4719114"/>
            <a:ext cx="256804" cy="256804"/>
          </a:xfrm>
          <a:prstGeom prst="rect">
            <a:avLst/>
          </a:prstGeom>
        </p:spPr>
      </p:pic>
      <p:sp>
        <p:nvSpPr>
          <p:cNvPr id="28" name="Larme 27">
            <a:extLst>
              <a:ext uri="{FF2B5EF4-FFF2-40B4-BE49-F238E27FC236}">
                <a16:creationId xmlns:a16="http://schemas.microsoft.com/office/drawing/2014/main" id="{8E3F0E68-976B-69A0-5BCF-E402409AB53D}"/>
              </a:ext>
            </a:extLst>
          </p:cNvPr>
          <p:cNvSpPr/>
          <p:nvPr/>
        </p:nvSpPr>
        <p:spPr>
          <a:xfrm>
            <a:off x="174513" y="1542316"/>
            <a:ext cx="309954" cy="261610"/>
          </a:xfrm>
          <a:prstGeom prst="teardrop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A8EAB9F-2493-D7F4-DF1F-50D4850CB209}"/>
              </a:ext>
            </a:extLst>
          </p:cNvPr>
          <p:cNvSpPr txBox="1"/>
          <p:nvPr/>
        </p:nvSpPr>
        <p:spPr>
          <a:xfrm>
            <a:off x="573878" y="1503844"/>
            <a:ext cx="6432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CA</a:t>
            </a:r>
          </a:p>
        </p:txBody>
      </p:sp>
      <p:pic>
        <p:nvPicPr>
          <p:cNvPr id="18" name="Image 17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4162D303-3791-1F60-8CA7-C60D0892F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13" y="2186267"/>
            <a:ext cx="4173387" cy="2409808"/>
          </a:xfrm>
          <a:prstGeom prst="rect">
            <a:avLst/>
          </a:prstGeom>
        </p:spPr>
      </p:pic>
      <p:pic>
        <p:nvPicPr>
          <p:cNvPr id="25" name="Image 2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605D8781-C4E7-A9B8-1776-927E41868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24" y="2200828"/>
            <a:ext cx="4032574" cy="240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4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A0C170F-13DB-8401-6F2D-02A1644B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58F6894-6599-5C18-F866-155399576BC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36E9D37C-1D35-7FF1-BF38-A02940019AA9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2E13066-FEB4-7782-4CCC-269CEA7C7F49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4618D690-D902-63C2-C837-83448EA83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0041" y="1006456"/>
            <a:ext cx="4762224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2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B0BBEE-BDC9-3774-0EE8-F02A625C023C}"/>
              </a:ext>
            </a:extLst>
          </p:cNvPr>
          <p:cNvSpPr txBox="1"/>
          <p:nvPr/>
        </p:nvSpPr>
        <p:spPr>
          <a:xfrm>
            <a:off x="5859256" y="1880145"/>
            <a:ext cx="24674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1" dirty="0"/>
              <a:t>Pareto</a:t>
            </a:r>
          </a:p>
        </p:txBody>
      </p:sp>
      <p:pic>
        <p:nvPicPr>
          <p:cNvPr id="14" name="Image 13" descr="Une image contenant texte, lign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42283722-1790-AE89-DA11-1273E8508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13" y="1916406"/>
            <a:ext cx="5086813" cy="3178658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5337BB9-003B-BAFC-BDAC-6DDC8F12C520}"/>
              </a:ext>
            </a:extLst>
          </p:cNvPr>
          <p:cNvCxnSpPr>
            <a:cxnSpLocks/>
          </p:cNvCxnSpPr>
          <p:nvPr/>
        </p:nvCxnSpPr>
        <p:spPr>
          <a:xfrm>
            <a:off x="5931619" y="2141755"/>
            <a:ext cx="24674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9B920662-9301-6F28-4311-009AA95280F1}"/>
              </a:ext>
            </a:extLst>
          </p:cNvPr>
          <p:cNvSpPr txBox="1"/>
          <p:nvPr/>
        </p:nvSpPr>
        <p:spPr>
          <a:xfrm>
            <a:off x="5859256" y="2271668"/>
            <a:ext cx="26861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900" dirty="0">
              <a:latin typeface="Montserrat" panose="00000500000000000000" pitchFamily="2" charset="0"/>
            </a:endParaRPr>
          </a:p>
          <a:p>
            <a:r>
              <a:rPr lang="fr-FR" sz="900" dirty="0">
                <a:latin typeface="Montserrat" panose="00000500000000000000" pitchFamily="2" charset="0"/>
              </a:rPr>
              <a:t>Bottleneck offre une diversité de produits à ses clients.</a:t>
            </a:r>
          </a:p>
          <a:p>
            <a:endParaRPr lang="fr-FR" sz="900" dirty="0">
              <a:latin typeface="Montserrat" panose="00000500000000000000" pitchFamily="2" charset="0"/>
            </a:endParaRPr>
          </a:p>
          <a:p>
            <a:r>
              <a:rPr lang="fr-FR" sz="900" dirty="0">
                <a:latin typeface="Montserrat" panose="00000500000000000000" pitchFamily="2" charset="0"/>
              </a:rPr>
              <a:t>52% du catalogue constitut 80% du CA</a:t>
            </a:r>
          </a:p>
          <a:p>
            <a:r>
              <a:rPr lang="fr-FR" sz="900" dirty="0">
                <a:latin typeface="Montserrat" panose="00000500000000000000" pitchFamily="2" charset="0"/>
              </a:rPr>
              <a:t>Ce sont les </a:t>
            </a:r>
            <a:r>
              <a:rPr lang="fr-FR" sz="900" dirty="0">
                <a:solidFill>
                  <a:schemeClr val="accent1"/>
                </a:solidFill>
                <a:latin typeface="Montserrat" panose="00000500000000000000" pitchFamily="2" charset="0"/>
              </a:rPr>
              <a:t>produits stratégiques</a:t>
            </a:r>
            <a:r>
              <a:rPr lang="fr-FR" sz="900" dirty="0">
                <a:latin typeface="Montserrat" panose="00000500000000000000" pitchFamily="2" charset="0"/>
              </a:rPr>
              <a:t>.</a:t>
            </a:r>
          </a:p>
          <a:p>
            <a:endParaRPr lang="fr-FR" sz="900" dirty="0">
              <a:latin typeface="Montserrat" panose="00000500000000000000" pitchFamily="2" charset="0"/>
            </a:endParaRPr>
          </a:p>
          <a:p>
            <a:r>
              <a:rPr lang="fr-FR" sz="900" dirty="0">
                <a:latin typeface="Montserrat" panose="00000500000000000000" pitchFamily="2" charset="0"/>
              </a:rPr>
              <a:t>Point positif : le CA n’est pas dépendant d’un nombre très restreint de référence, il reste diversifié.</a:t>
            </a:r>
          </a:p>
          <a:p>
            <a:endParaRPr lang="fr-FR" sz="900" dirty="0">
              <a:latin typeface="Montserrat" panose="00000500000000000000" pitchFamily="2" charset="0"/>
            </a:endParaRPr>
          </a:p>
          <a:p>
            <a:r>
              <a:rPr lang="fr-FR" sz="900" dirty="0">
                <a:latin typeface="Montserrat" panose="00000500000000000000" pitchFamily="2" charset="0"/>
              </a:rPr>
              <a:t>Point négatif : la moitié du catalogue n’apporte que 20% du CA.</a:t>
            </a:r>
          </a:p>
          <a:p>
            <a:endParaRPr lang="fr-FR" sz="900" dirty="0">
              <a:latin typeface="Montserrat" panose="00000500000000000000" pitchFamily="2" charset="0"/>
            </a:endParaRPr>
          </a:p>
        </p:txBody>
      </p:sp>
      <p:sp>
        <p:nvSpPr>
          <p:cNvPr id="6" name="Larme 5">
            <a:extLst>
              <a:ext uri="{FF2B5EF4-FFF2-40B4-BE49-F238E27FC236}">
                <a16:creationId xmlns:a16="http://schemas.microsoft.com/office/drawing/2014/main" id="{1A74BD80-28E7-D3C9-1D21-4DDC1E296B6E}"/>
              </a:ext>
            </a:extLst>
          </p:cNvPr>
          <p:cNvSpPr/>
          <p:nvPr/>
        </p:nvSpPr>
        <p:spPr>
          <a:xfrm>
            <a:off x="132336" y="1558299"/>
            <a:ext cx="309954" cy="261610"/>
          </a:xfrm>
          <a:prstGeom prst="teardrop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274CE4-85BA-221B-8B9E-296BEB8E3E27}"/>
              </a:ext>
            </a:extLst>
          </p:cNvPr>
          <p:cNvSpPr txBox="1"/>
          <p:nvPr/>
        </p:nvSpPr>
        <p:spPr>
          <a:xfrm>
            <a:off x="476960" y="1519827"/>
            <a:ext cx="24674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Pareto</a:t>
            </a:r>
          </a:p>
        </p:txBody>
      </p:sp>
    </p:spTree>
    <p:extLst>
      <p:ext uri="{BB962C8B-B14F-4D97-AF65-F5344CB8AC3E}">
        <p14:creationId xmlns:p14="http://schemas.microsoft.com/office/powerpoint/2010/main" val="1186973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3CF7389-DE87-8B6D-475E-7F158E47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5EBC7DD3-ECA0-5E16-95F7-02936D4D1BE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4E73E04C-019B-B195-6EEF-2547A8870188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B2E67173-CE16-F2C5-E3FA-5F86D84D20F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E8501653-06D2-DFFB-98ED-062E34571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0886" y="1025427"/>
            <a:ext cx="6709500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200" b="1" i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</a:p>
        </p:txBody>
      </p:sp>
      <p:pic>
        <p:nvPicPr>
          <p:cNvPr id="6" name="Image 5" descr="Une image contenant capture d’écran, texte, ligne, Bleu électrique&#10;&#10;Le contenu généré par l’IA peut être incorrect.">
            <a:extLst>
              <a:ext uri="{FF2B5EF4-FFF2-40B4-BE49-F238E27FC236}">
                <a16:creationId xmlns:a16="http://schemas.microsoft.com/office/drawing/2014/main" id="{8D48D72F-A076-8818-6397-28E98F9C5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28" y="1926253"/>
            <a:ext cx="4630293" cy="2886687"/>
          </a:xfrm>
          <a:prstGeom prst="rect">
            <a:avLst/>
          </a:prstGeom>
        </p:spPr>
      </p:pic>
      <p:sp>
        <p:nvSpPr>
          <p:cNvPr id="43" name="Larme 42">
            <a:extLst>
              <a:ext uri="{FF2B5EF4-FFF2-40B4-BE49-F238E27FC236}">
                <a16:creationId xmlns:a16="http://schemas.microsoft.com/office/drawing/2014/main" id="{C41BD345-5733-EE50-5A40-177AAB984903}"/>
              </a:ext>
            </a:extLst>
          </p:cNvPr>
          <p:cNvSpPr/>
          <p:nvPr/>
        </p:nvSpPr>
        <p:spPr>
          <a:xfrm>
            <a:off x="173214" y="1626171"/>
            <a:ext cx="309954" cy="261610"/>
          </a:xfrm>
          <a:prstGeom prst="teardrop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F090151-B8B2-9592-03E4-3C651E1ACAB8}"/>
              </a:ext>
            </a:extLst>
          </p:cNvPr>
          <p:cNvSpPr txBox="1"/>
          <p:nvPr/>
        </p:nvSpPr>
        <p:spPr>
          <a:xfrm>
            <a:off x="602007" y="1587699"/>
            <a:ext cx="3262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8080"/>
                </a:solidFill>
                <a:latin typeface="Montserrat" panose="00000500000000000000" pitchFamily="2" charset="0"/>
              </a:rPr>
              <a:t>Analyse des taux de marge</a:t>
            </a:r>
          </a:p>
        </p:txBody>
      </p:sp>
      <p:pic>
        <p:nvPicPr>
          <p:cNvPr id="46" name="Image 4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A2969146-6710-416E-02A8-A6B88641C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231" y="3257850"/>
            <a:ext cx="3452854" cy="1389735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27CD25EA-105B-3A33-E410-2DDCD77D615A}"/>
              </a:ext>
            </a:extLst>
          </p:cNvPr>
          <p:cNvSpPr txBox="1"/>
          <p:nvPr/>
        </p:nvSpPr>
        <p:spPr>
          <a:xfrm>
            <a:off x="5326818" y="2282314"/>
            <a:ext cx="34528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Les écarts de taux de marge sont cohérents.</a:t>
            </a:r>
          </a:p>
          <a:p>
            <a:r>
              <a:rPr lang="fr-FR" sz="900" dirty="0"/>
              <a:t>Ils s’expliquent par le positionnement produit :</a:t>
            </a:r>
          </a:p>
          <a:p>
            <a:r>
              <a:rPr lang="fr-FR" sz="900" dirty="0"/>
              <a:t>Les </a:t>
            </a:r>
            <a:r>
              <a:rPr lang="fr-FR" sz="900" b="1" dirty="0"/>
              <a:t>spiritueux premium </a:t>
            </a:r>
            <a:r>
              <a:rPr lang="fr-FR" sz="900" dirty="0"/>
              <a:t>bénéficient d’une forte valeur perçue, tandis que les </a:t>
            </a:r>
            <a:r>
              <a:rPr lang="fr-FR" sz="900" b="1" dirty="0"/>
              <a:t>produits plus standardisés </a:t>
            </a:r>
            <a:r>
              <a:rPr lang="fr-FR" sz="900" dirty="0"/>
              <a:t>subissent une pression concurrentielle plus forte sur les prix.</a:t>
            </a:r>
          </a:p>
        </p:txBody>
      </p:sp>
    </p:spTree>
    <p:extLst>
      <p:ext uri="{BB962C8B-B14F-4D97-AF65-F5344CB8AC3E}">
        <p14:creationId xmlns:p14="http://schemas.microsoft.com/office/powerpoint/2010/main" val="118649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B7169C1-AF8D-580D-8055-B45427DD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8C2FDEFC-4B90-7A85-3769-31F0B6D908B8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8D4FAD5D-1E31-2E35-6DE9-03C8A632D164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243D6EB5-3F9D-84B5-7D27-37E71706B20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419938CE-881D-2E81-CABE-FCAF4CE4F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5199" y="1564774"/>
            <a:ext cx="6709500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200" b="1" i="1" dirty="0">
                <a:solidFill>
                  <a:srgbClr val="008080"/>
                </a:solidFill>
                <a:latin typeface="Montserrat"/>
                <a:ea typeface="Montserrat"/>
                <a:cs typeface="Montserrat"/>
                <a:sym typeface="Montserrat"/>
              </a:rPr>
              <a:t>Heatmap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974778-3379-0245-B818-3AD3B38A6EDB}"/>
              </a:ext>
            </a:extLst>
          </p:cNvPr>
          <p:cNvSpPr txBox="1"/>
          <p:nvPr/>
        </p:nvSpPr>
        <p:spPr>
          <a:xfrm>
            <a:off x="425199" y="1933894"/>
            <a:ext cx="30495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Identification des produits concentrant le CA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ACDA29B-F34E-4B35-5F88-EA09FE68D47E}"/>
              </a:ext>
            </a:extLst>
          </p:cNvPr>
          <p:cNvCxnSpPr/>
          <p:nvPr/>
        </p:nvCxnSpPr>
        <p:spPr>
          <a:xfrm>
            <a:off x="495663" y="2195504"/>
            <a:ext cx="38553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Image 9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25AEE0CD-5F0E-1788-4CD3-8233424C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63" y="2370079"/>
            <a:ext cx="3375111" cy="243617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0FBB293-975A-B8C2-8813-44744BB9EDDC}"/>
              </a:ext>
            </a:extLst>
          </p:cNvPr>
          <p:cNvSpPr txBox="1"/>
          <p:nvPr/>
        </p:nvSpPr>
        <p:spPr>
          <a:xfrm>
            <a:off x="4572064" y="1994517"/>
            <a:ext cx="4414520" cy="294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800" b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Corrélation stock_quantity &amp; total_sales </a:t>
            </a: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- Corrélation positive modérée (+0,44)</a:t>
            </a:r>
          </a:p>
          <a:p>
            <a:pPr>
              <a:lnSpc>
                <a:spcPts val="1425"/>
              </a:lnSpc>
              <a:buNone/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Les produits qui se vendent le plus ont également le plus de stock.</a:t>
            </a:r>
          </a:p>
          <a:p>
            <a:pPr>
              <a:lnSpc>
                <a:spcPts val="1425"/>
              </a:lnSpc>
              <a:buNone/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      C'est plutôt logique, le stock suit la demande.</a:t>
            </a:r>
          </a:p>
          <a:p>
            <a:pPr>
              <a:lnSpc>
                <a:spcPts val="1425"/>
              </a:lnSpc>
              <a:buNone/>
            </a:pPr>
            <a:endParaRPr lang="fr-FR" sz="800" b="0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800" b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Corrélation price ↔ total_sales </a:t>
            </a: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- Corrélation négative relativement forte (-0,52)</a:t>
            </a:r>
          </a:p>
          <a:p>
            <a:pPr>
              <a:lnSpc>
                <a:spcPts val="1425"/>
              </a:lnSpc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Plus le prix est élevé, moins les ventes sont importantes</a:t>
            </a:r>
          </a:p>
          <a:p>
            <a:pPr>
              <a:lnSpc>
                <a:spcPts val="1425"/>
              </a:lnSpc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        La société vend d'avantage de vins &amp; spiritueux grand public</a:t>
            </a:r>
          </a:p>
          <a:p>
            <a:pPr>
              <a:lnSpc>
                <a:spcPts val="1425"/>
              </a:lnSpc>
              <a:buNone/>
            </a:pPr>
            <a:endParaRPr lang="fr-FR" sz="800" b="0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800" b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Corrélation price ↔ stock_quantity </a:t>
            </a: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- Corrélation très faible (-0,09)</a:t>
            </a:r>
          </a:p>
          <a:p>
            <a:pPr>
              <a:lnSpc>
                <a:spcPts val="1425"/>
              </a:lnSpc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Le niveau de stock n’est pas directement lié au prix des articles</a:t>
            </a:r>
          </a:p>
          <a:p>
            <a:pPr>
              <a:lnSpc>
                <a:spcPts val="1425"/>
              </a:lnSpc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        Le stock est davantage piloté par les quantités vendues.</a:t>
            </a:r>
          </a:p>
          <a:p>
            <a:pPr>
              <a:lnSpc>
                <a:spcPts val="1425"/>
              </a:lnSpc>
              <a:buNone/>
            </a:pPr>
            <a:endParaRPr lang="fr-FR" sz="800" b="0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800" b="1" dirty="0">
                <a:solidFill>
                  <a:schemeClr val="tx1"/>
                </a:solidFill>
                <a:latin typeface="Montserrat" panose="00000500000000000000" pitchFamily="2" charset="0"/>
              </a:rPr>
              <a:t>Conclusions</a:t>
            </a:r>
            <a:endParaRPr lang="fr-FR" sz="800" b="1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Les ventes sont fortement influencées par le prix</a:t>
            </a:r>
            <a:r>
              <a:rPr lang="fr-FR" sz="800" dirty="0">
                <a:solidFill>
                  <a:schemeClr val="tx1"/>
                </a:solidFill>
                <a:latin typeface="Montserrat" panose="00000500000000000000" pitchFamily="2" charset="0"/>
              </a:rPr>
              <a:t>,</a:t>
            </a:r>
            <a:endParaRPr lang="fr-FR" sz="800" b="0" dirty="0"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800" b="0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tandis que le stock semble principalement ajusté en fonction des volumes de vente plutôt que du niveau de prix.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28E6FB-399B-19EE-E0A4-F81366434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481" y="2382068"/>
            <a:ext cx="190127" cy="1901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17E855D-AA67-6A05-E8F4-5C8A97473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561" y="3101768"/>
            <a:ext cx="190127" cy="1901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2ED183C-0482-F26C-E70B-E9A0FE985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481" y="3801148"/>
            <a:ext cx="190127" cy="190127"/>
          </a:xfrm>
          <a:prstGeom prst="rect">
            <a:avLst/>
          </a:prstGeom>
        </p:spPr>
      </p:pic>
      <p:sp>
        <p:nvSpPr>
          <p:cNvPr id="2" name="Larme 1">
            <a:extLst>
              <a:ext uri="{FF2B5EF4-FFF2-40B4-BE49-F238E27FC236}">
                <a16:creationId xmlns:a16="http://schemas.microsoft.com/office/drawing/2014/main" id="{877D46F0-C916-2C41-F38F-F59CC6D8EFF8}"/>
              </a:ext>
            </a:extLst>
          </p:cNvPr>
          <p:cNvSpPr/>
          <p:nvPr/>
        </p:nvSpPr>
        <p:spPr>
          <a:xfrm>
            <a:off x="173214" y="1626171"/>
            <a:ext cx="309954" cy="261610"/>
          </a:xfrm>
          <a:prstGeom prst="teardrop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" name="Google Shape;90;p7">
            <a:extLst>
              <a:ext uri="{FF2B5EF4-FFF2-40B4-BE49-F238E27FC236}">
                <a16:creationId xmlns:a16="http://schemas.microsoft.com/office/drawing/2014/main" id="{E6E50F1C-D6B7-1ED0-B17F-0E01BCCCC643}"/>
              </a:ext>
            </a:extLst>
          </p:cNvPr>
          <p:cNvSpPr txBox="1">
            <a:spLocks/>
          </p:cNvSpPr>
          <p:nvPr/>
        </p:nvSpPr>
        <p:spPr>
          <a:xfrm>
            <a:off x="790886" y="1025427"/>
            <a:ext cx="6709500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Clr>
                <a:srgbClr val="999999"/>
              </a:buClr>
              <a:buFont typeface="Arial"/>
              <a:buNone/>
            </a:pPr>
            <a:r>
              <a:rPr lang="fr" sz="1200" b="1" i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  <a:endParaRPr lang="fr" sz="1200" b="1" i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91457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1BA6201-E409-8B78-65E2-EE590F45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75672959-1B6D-CB84-128E-9514D7E8203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11CC6097-5ABE-8E82-C0AD-6F7215B18435}"/>
              </a:ext>
            </a:extLst>
          </p:cNvPr>
          <p:cNvSpPr txBox="1"/>
          <p:nvPr/>
        </p:nvSpPr>
        <p:spPr>
          <a:xfrm>
            <a:off x="895525" y="337250"/>
            <a:ext cx="7142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6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900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A46EACF-8A4F-5A65-B478-743FB740971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A532704-2AA3-0F96-3A15-4D31668DDA59}"/>
              </a:ext>
            </a:extLst>
          </p:cNvPr>
          <p:cNvSpPr txBox="1"/>
          <p:nvPr/>
        </p:nvSpPr>
        <p:spPr>
          <a:xfrm>
            <a:off x="730340" y="1621817"/>
            <a:ext cx="60097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rgbClr val="008080"/>
                </a:solidFill>
              </a:rPr>
              <a:t>Temporalité</a:t>
            </a:r>
            <a:r>
              <a:rPr lang="fr-FR" sz="900" dirty="0"/>
              <a:t> : on analyse ici un jeu de données au regard des ventes cumulées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C7D304-6866-57A6-257F-A9D55EA3EFE9}"/>
              </a:ext>
            </a:extLst>
          </p:cNvPr>
          <p:cNvSpPr txBox="1"/>
          <p:nvPr/>
        </p:nvSpPr>
        <p:spPr>
          <a:xfrm>
            <a:off x="773669" y="1984177"/>
            <a:ext cx="60097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Certains articles ont été </a:t>
            </a:r>
            <a:r>
              <a:rPr lang="fr-FR" sz="900" b="1" dirty="0"/>
              <a:t>mis en vente récemment</a:t>
            </a:r>
          </a:p>
          <a:p>
            <a:r>
              <a:rPr lang="fr-FR" sz="900" dirty="0"/>
              <a:t>• Durée de commercialisation courte</a:t>
            </a:r>
          </a:p>
          <a:p>
            <a:r>
              <a:rPr lang="fr-FR" sz="900" dirty="0"/>
              <a:t>• Rotation peu sembler lente et la comparaison avec des produits anciens peut être biaisée.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B426506-B38D-A3A4-A989-4746840A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90" y="1881091"/>
            <a:ext cx="406350" cy="40635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B1D6027-5AB0-C69F-6790-DB474D661823}"/>
              </a:ext>
            </a:extLst>
          </p:cNvPr>
          <p:cNvSpPr txBox="1"/>
          <p:nvPr/>
        </p:nvSpPr>
        <p:spPr>
          <a:xfrm>
            <a:off x="773669" y="1825688"/>
            <a:ext cx="6113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Absence de détail par mois / par saison ou par campagne promotionnelle.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C97586-F564-493D-87E5-53DAE0EC148C}"/>
              </a:ext>
            </a:extLst>
          </p:cNvPr>
          <p:cNvSpPr txBox="1"/>
          <p:nvPr/>
        </p:nvSpPr>
        <p:spPr>
          <a:xfrm>
            <a:off x="835142" y="3059663"/>
            <a:ext cx="391711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dirty="0">
                <a:solidFill>
                  <a:srgbClr val="008080"/>
                </a:solidFill>
              </a:rPr>
              <a:t>Limites d’interprétation métier</a:t>
            </a:r>
          </a:p>
          <a:p>
            <a:endParaRPr lang="fr-FR" sz="900" dirty="0"/>
          </a:p>
          <a:p>
            <a:r>
              <a:rPr lang="fr-FR" sz="900" dirty="0"/>
              <a:t>Un produit à rotation lente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900" dirty="0"/>
              <a:t>n’est pas forcément un “mauvais produit”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900" dirty="0"/>
              <a:t>peut être stratégique (image, gamme premium)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900" dirty="0"/>
          </a:p>
          <a:p>
            <a:r>
              <a:rPr lang="fr-FR" sz="900" dirty="0"/>
              <a:t>Un stock élevé peut être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900" dirty="0"/>
              <a:t>volontaire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900" dirty="0"/>
              <a:t>lié à des contraintes fournisseurs</a:t>
            </a:r>
          </a:p>
          <a:p>
            <a:pPr>
              <a:buNone/>
            </a:pPr>
            <a:endParaRPr lang="fr-FR" sz="900" b="1" dirty="0"/>
          </a:p>
          <a:p>
            <a:r>
              <a:rPr lang="fr-FR" sz="900" dirty="0"/>
              <a:t>Les résultats doivent être bien interprétés, avec le contexte métier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CB7A58-200E-330E-2066-32E389EE1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11" y="2947799"/>
            <a:ext cx="437102" cy="437102"/>
          </a:xfrm>
          <a:prstGeom prst="rect">
            <a:avLst/>
          </a:prstGeom>
        </p:spPr>
      </p:pic>
      <p:sp>
        <p:nvSpPr>
          <p:cNvPr id="5" name="Google Shape;90;p7">
            <a:extLst>
              <a:ext uri="{FF2B5EF4-FFF2-40B4-BE49-F238E27FC236}">
                <a16:creationId xmlns:a16="http://schemas.microsoft.com/office/drawing/2014/main" id="{4E09054F-FA22-0CC1-82D5-358D710AB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0886" y="1025427"/>
            <a:ext cx="6709500" cy="37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sz="12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 éventuelles de l’analyse </a:t>
            </a:r>
            <a:endParaRPr lang="fr-FR" sz="1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0365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9C1AF6-D35E-D431-FF2E-5C9133BE5F8B}"/>
              </a:ext>
            </a:extLst>
          </p:cNvPr>
          <p:cNvSpPr txBox="1"/>
          <p:nvPr/>
        </p:nvSpPr>
        <p:spPr>
          <a:xfrm>
            <a:off x="473646" y="1697976"/>
            <a:ext cx="76309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Corriger les données qui se sont révélées erronées</a:t>
            </a:r>
          </a:p>
          <a:p>
            <a:r>
              <a:rPr lang="fr-FR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prix de vente &lt; prix d’achat.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Articles sans sku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Quantité en stock négatives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CE5B7D-4CB9-3D1C-1148-4DC0E16DC1DF}"/>
              </a:ext>
            </a:extLst>
          </p:cNvPr>
          <p:cNvSpPr txBox="1"/>
          <p:nvPr/>
        </p:nvSpPr>
        <p:spPr>
          <a:xfrm>
            <a:off x="473646" y="3082500"/>
            <a:ext cx="7630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Proposer de mettre en place un tableau de bord </a:t>
            </a:r>
          </a:p>
          <a:p>
            <a:r>
              <a:rPr lang="fr-FR" dirty="0"/>
              <a:t>Avec des indicateurs validés par le management de Bottleneck.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11225" y="1870677"/>
            <a:ext cx="8316000" cy="279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Tx/>
              <a:buChar char="-"/>
            </a:pP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Contrôler les résultats en parallèle grâce au fichier au format Excel</a:t>
            </a:r>
            <a:r>
              <a:rPr lang="fr-FR" sz="16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Tx/>
              <a:buChar char="-"/>
            </a:pP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Voir les résultats immédiatement grâce au Jupiter notebook.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sz="16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2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</a:t>
            </a:r>
          </a:p>
          <a:p>
            <a:pPr>
              <a:buClr>
                <a:srgbClr val="999999"/>
              </a:buClr>
              <a:buFontTx/>
              <a:buChar char="-"/>
            </a:pP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 familiariser avec le langage python.</a:t>
            </a:r>
          </a:p>
          <a:p>
            <a:pPr>
              <a:buClr>
                <a:srgbClr val="999999"/>
              </a:buClr>
              <a:buFontTx/>
              <a:buChar char="-"/>
            </a:pP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S’assurer que les résultats avant et après fusion sont cohérents.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4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L</a:t>
            </a:r>
            <a:r>
              <a:rPr lang="fr" sz="12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 langage python (syntaxe) et mémoriser les package existants.</a:t>
            </a:r>
            <a:endParaRPr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Annexe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C984C59-AB89-2191-CB48-0146B555182F}"/>
              </a:ext>
            </a:extLst>
          </p:cNvPr>
          <p:cNvGrpSpPr/>
          <p:nvPr/>
        </p:nvGrpSpPr>
        <p:grpSpPr>
          <a:xfrm>
            <a:off x="895525" y="1814192"/>
            <a:ext cx="2880271" cy="884858"/>
            <a:chOff x="5529408" y="2571750"/>
            <a:chExt cx="2880271" cy="884858"/>
          </a:xfrm>
        </p:grpSpPr>
        <p:pic>
          <p:nvPicPr>
            <p:cNvPr id="8" name="Image 7" descr="Une image contenant Police, texte, horloge, nombre&#10;&#10;Le contenu généré par l’IA peut être incorrect.">
              <a:extLst>
                <a:ext uri="{FF2B5EF4-FFF2-40B4-BE49-F238E27FC236}">
                  <a16:creationId xmlns:a16="http://schemas.microsoft.com/office/drawing/2014/main" id="{3061B8C1-E158-170F-FECE-D3938F81F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8410" y="2857706"/>
              <a:ext cx="921269" cy="485311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1ACD7C60-ACC1-B031-82A2-B75D8CA71630}"/>
                </a:ext>
              </a:extLst>
            </p:cNvPr>
            <p:cNvSpPr txBox="1"/>
            <p:nvPr/>
          </p:nvSpPr>
          <p:spPr>
            <a:xfrm>
              <a:off x="5529408" y="2879527"/>
              <a:ext cx="2051799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050" dirty="0"/>
                <a:t>mesure </a:t>
              </a:r>
              <a:r>
                <a:rPr lang="fr-FR" sz="1050" b="1" dirty="0"/>
                <a:t>à combien d’écarts-types</a:t>
              </a:r>
              <a:r>
                <a:rPr lang="fr-FR" sz="1050" dirty="0"/>
                <a:t> une valeur est éloignée de la moyenne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7B39C77C-2060-BF13-F0FD-09CF5A80B690}"/>
                </a:ext>
              </a:extLst>
            </p:cNvPr>
            <p:cNvSpPr txBox="1"/>
            <p:nvPr/>
          </p:nvSpPr>
          <p:spPr>
            <a:xfrm>
              <a:off x="5529408" y="2571750"/>
              <a:ext cx="26248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>
                  <a:solidFill>
                    <a:schemeClr val="accent5"/>
                  </a:solidFill>
                  <a:latin typeface="+mj-lt"/>
                  <a:ea typeface="Montserrat"/>
                  <a:cs typeface="Montserrat"/>
                  <a:sym typeface="Montserrat"/>
                </a:rPr>
                <a:t>le Z-score</a:t>
              </a:r>
              <a:endParaRPr lang="fr-FR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89AA357-BD58-A634-D2DB-B25542D860DC}"/>
              </a:ext>
            </a:extLst>
          </p:cNvPr>
          <p:cNvGrpSpPr/>
          <p:nvPr/>
        </p:nvGrpSpPr>
        <p:grpSpPr>
          <a:xfrm>
            <a:off x="895525" y="3058151"/>
            <a:ext cx="4202839" cy="1960372"/>
            <a:chOff x="5461461" y="2627315"/>
            <a:chExt cx="3899909" cy="1960372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65E4567-4ED0-D89E-BA04-A182D0A2AC7E}"/>
                </a:ext>
              </a:extLst>
            </p:cNvPr>
            <p:cNvSpPr txBox="1"/>
            <p:nvPr/>
          </p:nvSpPr>
          <p:spPr>
            <a:xfrm>
              <a:off x="5461461" y="2879527"/>
              <a:ext cx="3899909" cy="1708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050" dirty="0"/>
                <a:t>Q1 = 25 % des valeurs sont inférieures ou égales à Q1</a:t>
              </a:r>
            </a:p>
            <a:p>
              <a:r>
                <a:rPr lang="fr-FR" sz="1050" dirty="0"/>
                <a:t>Q3 = 75 % des valeurs sont inférieures ou égales à Q3</a:t>
              </a:r>
            </a:p>
            <a:p>
              <a:r>
                <a:rPr lang="fr-FR" sz="1050" dirty="0"/>
                <a:t>IQR = Q3 − Q1</a:t>
              </a:r>
            </a:p>
            <a:p>
              <a:endParaRPr lang="fr-FR" sz="1050" dirty="0"/>
            </a:p>
            <a:p>
              <a:r>
                <a:rPr lang="fr-FR" sz="1050" dirty="0"/>
                <a:t>L’IQR permet de mesurer l’étendue de la moitié centrale des données.</a:t>
              </a:r>
            </a:p>
            <a:p>
              <a:r>
                <a:rPr lang="fr-FR" sz="1050" dirty="0"/>
                <a:t>C’est-à-dire l’intervalle contenant 50% des valeurs.</a:t>
              </a:r>
            </a:p>
            <a:p>
              <a:r>
                <a:rPr lang="fr-FR" sz="1050" dirty="0"/>
                <a:t>Entre le 1</a:t>
              </a:r>
              <a:r>
                <a:rPr lang="fr-FR" sz="1050" baseline="30000" dirty="0"/>
                <a:t>er</a:t>
              </a:r>
              <a:r>
                <a:rPr lang="fr-FR" sz="1050" dirty="0"/>
                <a:t> quartile (Q1) et le 3</a:t>
              </a:r>
              <a:r>
                <a:rPr lang="fr-FR" sz="1050" baseline="30000" dirty="0"/>
                <a:t>ème</a:t>
              </a:r>
              <a:r>
                <a:rPr lang="fr-FR" sz="1050" dirty="0"/>
                <a:t> quartile (Q3).</a:t>
              </a:r>
            </a:p>
            <a:p>
              <a:r>
                <a:rPr lang="fr-FR" sz="1050" dirty="0"/>
                <a:t>Il représente la dispersion “normale” des données.</a:t>
              </a:r>
            </a:p>
            <a:p>
              <a:endParaRPr lang="fr-FR" sz="1050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C2DC984-B9DA-A3A2-C9F4-0DFAEA71CA6E}"/>
                </a:ext>
              </a:extLst>
            </p:cNvPr>
            <p:cNvSpPr txBox="1"/>
            <p:nvPr/>
          </p:nvSpPr>
          <p:spPr>
            <a:xfrm>
              <a:off x="5461461" y="2627315"/>
              <a:ext cx="31377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>
                  <a:solidFill>
                    <a:schemeClr val="accent5"/>
                  </a:solidFill>
                  <a:latin typeface="+mj-lt"/>
                  <a:ea typeface="Montserrat"/>
                  <a:cs typeface="Montserrat"/>
                  <a:sym typeface="Montserrat"/>
                </a:rPr>
                <a:t>l’IQR</a:t>
              </a:r>
              <a:endParaRPr lang="fr-FR" b="1" dirty="0">
                <a:solidFill>
                  <a:schemeClr val="accent5"/>
                </a:solidFill>
              </a:endParaRPr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31AEF518-B27C-1816-018F-0BE51873A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21" y="1814192"/>
            <a:ext cx="323599" cy="3235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C9F30DD-85AB-2E37-75C2-D9E8CDE69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21" y="3073973"/>
            <a:ext cx="323599" cy="323599"/>
          </a:xfrm>
          <a:prstGeom prst="rect">
            <a:avLst/>
          </a:prstGeom>
        </p:spPr>
      </p:pic>
      <p:pic>
        <p:nvPicPr>
          <p:cNvPr id="9" name="Image 8" descr="Une image contenant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5770ECD-AECA-0A2B-A118-C3F113DA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673" y="2550008"/>
            <a:ext cx="1324062" cy="13240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13223</TotalTime>
  <Words>1413</Words>
  <Application>Microsoft Office PowerPoint</Application>
  <PresentationFormat>Affichage à l'écran (16:9)</PresentationFormat>
  <Paragraphs>240</Paragraphs>
  <Slides>21</Slides>
  <Notes>21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Courier New</vt:lpstr>
      <vt:lpstr>Arial</vt:lpstr>
      <vt:lpstr>Wingdings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Thomas SECQUEVILLE</cp:lastModifiedBy>
  <cp:revision>131</cp:revision>
  <dcterms:modified xsi:type="dcterms:W3CDTF">2026-01-30T08:19:09Z</dcterms:modified>
</cp:coreProperties>
</file>
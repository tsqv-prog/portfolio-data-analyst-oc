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94" r:id="rId2"/>
    <p:sldId id="268" r:id="rId3"/>
    <p:sldId id="274" r:id="rId4"/>
    <p:sldId id="262" r:id="rId5"/>
    <p:sldId id="277" r:id="rId6"/>
    <p:sldId id="275" r:id="rId7"/>
    <p:sldId id="278" r:id="rId8"/>
    <p:sldId id="291" r:id="rId9"/>
    <p:sldId id="288" r:id="rId10"/>
    <p:sldId id="295" r:id="rId11"/>
    <p:sldId id="296" r:id="rId12"/>
    <p:sldId id="289" r:id="rId13"/>
    <p:sldId id="297" r:id="rId14"/>
    <p:sldId id="261" r:id="rId15"/>
    <p:sldId id="298" r:id="rId16"/>
    <p:sldId id="258" r:id="rId17"/>
    <p:sldId id="259" r:id="rId18"/>
    <p:sldId id="299" r:id="rId1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A998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1" autoAdjust="0"/>
    <p:restoredTop sz="94660"/>
  </p:normalViewPr>
  <p:slideViewPr>
    <p:cSldViewPr snapToGrid="0">
      <p:cViewPr varScale="1">
        <p:scale>
          <a:sx n="110" d="100"/>
          <a:sy n="110" d="100"/>
        </p:scale>
        <p:origin x="114" y="10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B845C4C-C0DC-41AC-938A-AF3C623934C5}" type="doc">
      <dgm:prSet loTypeId="urn:microsoft.com/office/officeart/2009/layout/CircleArrowProcess" loCatId="process" qsTypeId="urn:microsoft.com/office/officeart/2005/8/quickstyle/simple1" qsCatId="simple" csTypeId="urn:microsoft.com/office/officeart/2005/8/colors/accent1_2" csCatId="accent1" phldr="1"/>
      <dgm:spPr/>
      <dgm:t>
        <a:bodyPr/>
        <a:lstStyle/>
        <a:p>
          <a:endParaRPr lang="fr-FR"/>
        </a:p>
      </dgm:t>
    </dgm:pt>
    <dgm:pt modelId="{A9229559-4E0D-4E01-AEAE-ED5693102055}">
      <dgm:prSet phldrT="[Texte]" phldr="0"/>
      <dgm:spPr/>
      <dgm:t>
        <a:bodyPr/>
        <a:lstStyle/>
        <a:p>
          <a:r>
            <a:rPr lang="fr-FR" dirty="0"/>
            <a:t>Préparation des données (dataset d’entrainement)</a:t>
          </a:r>
        </a:p>
      </dgm:t>
    </dgm:pt>
    <dgm:pt modelId="{CF4B17B7-06DE-4E50-B2FD-F6AB78D8F781}" type="parTrans" cxnId="{2D91A923-F2C3-4145-9EED-B52AC6CB7A81}">
      <dgm:prSet/>
      <dgm:spPr/>
      <dgm:t>
        <a:bodyPr/>
        <a:lstStyle/>
        <a:p>
          <a:endParaRPr lang="fr-FR"/>
        </a:p>
      </dgm:t>
    </dgm:pt>
    <dgm:pt modelId="{950073E2-1805-4FEC-972D-AFB8EBA1C6A4}" type="sibTrans" cxnId="{2D91A923-F2C3-4145-9EED-B52AC6CB7A81}">
      <dgm:prSet/>
      <dgm:spPr/>
      <dgm:t>
        <a:bodyPr/>
        <a:lstStyle/>
        <a:p>
          <a:endParaRPr lang="fr-FR"/>
        </a:p>
      </dgm:t>
    </dgm:pt>
    <dgm:pt modelId="{AF666B84-E637-468D-8B42-F39687EB0055}">
      <dgm:prSet phldrT="[Texte]" phldr="0"/>
      <dgm:spPr/>
      <dgm:t>
        <a:bodyPr/>
        <a:lstStyle/>
        <a:p>
          <a:r>
            <a:rPr lang="fr-FR" dirty="0"/>
            <a:t>Entraînement du modèle</a:t>
          </a:r>
        </a:p>
      </dgm:t>
    </dgm:pt>
    <dgm:pt modelId="{F4FC92DE-EF6B-4464-9A46-68A2D273536D}" type="parTrans" cxnId="{933F1F98-09A7-4507-B063-F123E1A73307}">
      <dgm:prSet/>
      <dgm:spPr/>
      <dgm:t>
        <a:bodyPr/>
        <a:lstStyle/>
        <a:p>
          <a:endParaRPr lang="fr-FR"/>
        </a:p>
      </dgm:t>
    </dgm:pt>
    <dgm:pt modelId="{8034FA11-8AA3-4DE2-8A71-39E2F10FFDA6}" type="sibTrans" cxnId="{933F1F98-09A7-4507-B063-F123E1A73307}">
      <dgm:prSet/>
      <dgm:spPr/>
      <dgm:t>
        <a:bodyPr/>
        <a:lstStyle/>
        <a:p>
          <a:endParaRPr lang="fr-FR"/>
        </a:p>
      </dgm:t>
    </dgm:pt>
    <dgm:pt modelId="{DAB26492-A7A6-4675-8BF9-F2B8F5BA8EFC}">
      <dgm:prSet phldrT="[Texte]"/>
      <dgm:spPr/>
      <dgm:t>
        <a:bodyPr/>
        <a:lstStyle/>
        <a:p>
          <a:pPr>
            <a:buNone/>
          </a:pPr>
          <a:r>
            <a:rPr lang="fr-FR" b="0" i="0" dirty="0"/>
            <a:t>Préparation des données (dataset à prédire)</a:t>
          </a:r>
          <a:endParaRPr lang="fr-FR" dirty="0"/>
        </a:p>
      </dgm:t>
    </dgm:pt>
    <dgm:pt modelId="{69285454-BD00-44FD-B2A1-91A8119F15E9}" type="parTrans" cxnId="{6DFDD474-51BF-473C-92FB-C870F7A413B1}">
      <dgm:prSet/>
      <dgm:spPr/>
      <dgm:t>
        <a:bodyPr/>
        <a:lstStyle/>
        <a:p>
          <a:endParaRPr lang="fr-FR"/>
        </a:p>
      </dgm:t>
    </dgm:pt>
    <dgm:pt modelId="{D8675AE7-2DB7-409A-B205-D4B6AC74DE89}" type="sibTrans" cxnId="{6DFDD474-51BF-473C-92FB-C870F7A413B1}">
      <dgm:prSet/>
      <dgm:spPr/>
      <dgm:t>
        <a:bodyPr/>
        <a:lstStyle/>
        <a:p>
          <a:endParaRPr lang="fr-FR"/>
        </a:p>
      </dgm:t>
    </dgm:pt>
    <dgm:pt modelId="{004AC770-6582-4F42-B647-13418A5CED5F}">
      <dgm:prSet phldrT="[Texte]"/>
      <dgm:spPr/>
      <dgm:t>
        <a:bodyPr/>
        <a:lstStyle/>
        <a:p>
          <a:pPr>
            <a:buNone/>
          </a:pPr>
          <a:r>
            <a:rPr lang="fr-FR" dirty="0"/>
            <a:t>Exécution du modèle de prédiction</a:t>
          </a:r>
        </a:p>
      </dgm:t>
    </dgm:pt>
    <dgm:pt modelId="{56D573B9-755E-4981-B8D6-6679B145DEF4}" type="parTrans" cxnId="{B60A4EDF-A89F-456E-8010-BB37F892C327}">
      <dgm:prSet/>
      <dgm:spPr/>
      <dgm:t>
        <a:bodyPr/>
        <a:lstStyle/>
        <a:p>
          <a:endParaRPr lang="fr-FR"/>
        </a:p>
      </dgm:t>
    </dgm:pt>
    <dgm:pt modelId="{7A64FAC7-48ED-47C3-B5C1-B13CB661E33F}" type="sibTrans" cxnId="{B60A4EDF-A89F-456E-8010-BB37F892C327}">
      <dgm:prSet/>
      <dgm:spPr/>
      <dgm:t>
        <a:bodyPr/>
        <a:lstStyle/>
        <a:p>
          <a:endParaRPr lang="fr-FR"/>
        </a:p>
      </dgm:t>
    </dgm:pt>
    <dgm:pt modelId="{02F7331D-3985-47AE-A773-D70783373B42}" type="pres">
      <dgm:prSet presAssocID="{FB845C4C-C0DC-41AC-938A-AF3C623934C5}" presName="Name0" presStyleCnt="0">
        <dgm:presLayoutVars>
          <dgm:chMax val="7"/>
          <dgm:chPref val="7"/>
          <dgm:dir/>
          <dgm:animLvl val="lvl"/>
        </dgm:presLayoutVars>
      </dgm:prSet>
      <dgm:spPr/>
    </dgm:pt>
    <dgm:pt modelId="{02E47C0A-2B29-4D03-86DB-AE5710B3C4A7}" type="pres">
      <dgm:prSet presAssocID="{A9229559-4E0D-4E01-AEAE-ED5693102055}" presName="Accent1" presStyleCnt="0"/>
      <dgm:spPr/>
    </dgm:pt>
    <dgm:pt modelId="{4C6AD3C2-525E-49AB-AC35-7E5E885A89E5}" type="pres">
      <dgm:prSet presAssocID="{A9229559-4E0D-4E01-AEAE-ED5693102055}" presName="Accent" presStyleLbl="node1" presStyleIdx="0" presStyleCnt="4"/>
      <dgm:spPr>
        <a:solidFill>
          <a:schemeClr val="accent4">
            <a:lumMod val="40000"/>
            <a:lumOff val="60000"/>
          </a:schemeClr>
        </a:solidFill>
      </dgm:spPr>
    </dgm:pt>
    <dgm:pt modelId="{C1F87C07-6395-4D09-BBAC-DD587B9C502A}" type="pres">
      <dgm:prSet presAssocID="{A9229559-4E0D-4E01-AEAE-ED5693102055}" presName="Parent1" presStyleLbl="revTx" presStyleIdx="0" presStyleCnt="4">
        <dgm:presLayoutVars>
          <dgm:chMax val="1"/>
          <dgm:chPref val="1"/>
          <dgm:bulletEnabled val="1"/>
        </dgm:presLayoutVars>
      </dgm:prSet>
      <dgm:spPr/>
    </dgm:pt>
    <dgm:pt modelId="{B9F5FE17-B70D-4733-BDAE-84F2C4697C79}" type="pres">
      <dgm:prSet presAssocID="{AF666B84-E637-468D-8B42-F39687EB0055}" presName="Accent2" presStyleCnt="0"/>
      <dgm:spPr/>
    </dgm:pt>
    <dgm:pt modelId="{98436481-73C8-4220-B034-6BE607FCF692}" type="pres">
      <dgm:prSet presAssocID="{AF666B84-E637-468D-8B42-F39687EB0055}" presName="Accent" presStyleLbl="node1" presStyleIdx="1" presStyleCnt="4"/>
      <dgm:spPr>
        <a:solidFill>
          <a:schemeClr val="tx2">
            <a:lumMod val="50000"/>
            <a:lumOff val="50000"/>
          </a:schemeClr>
        </a:solidFill>
      </dgm:spPr>
    </dgm:pt>
    <dgm:pt modelId="{41BBDE20-BA71-4A40-A87A-C2342C89D547}" type="pres">
      <dgm:prSet presAssocID="{AF666B84-E637-468D-8B42-F39687EB0055}" presName="Parent2" presStyleLbl="revTx" presStyleIdx="1" presStyleCnt="4">
        <dgm:presLayoutVars>
          <dgm:chMax val="1"/>
          <dgm:chPref val="1"/>
          <dgm:bulletEnabled val="1"/>
        </dgm:presLayoutVars>
      </dgm:prSet>
      <dgm:spPr/>
    </dgm:pt>
    <dgm:pt modelId="{A859F4EF-FBF8-497A-8940-55439EFB8986}" type="pres">
      <dgm:prSet presAssocID="{DAB26492-A7A6-4675-8BF9-F2B8F5BA8EFC}" presName="Accent3" presStyleCnt="0"/>
      <dgm:spPr/>
    </dgm:pt>
    <dgm:pt modelId="{DAF46435-A1D7-4198-B435-859918CA3261}" type="pres">
      <dgm:prSet presAssocID="{DAB26492-A7A6-4675-8BF9-F2B8F5BA8EFC}" presName="Accent" presStyleLbl="node1" presStyleIdx="2" presStyleCnt="4"/>
      <dgm:spPr>
        <a:solidFill>
          <a:schemeClr val="tx2">
            <a:lumMod val="75000"/>
            <a:lumOff val="25000"/>
          </a:schemeClr>
        </a:solidFill>
      </dgm:spPr>
    </dgm:pt>
    <dgm:pt modelId="{0628DBD5-8E8B-44D3-BC8E-317C2FC79B37}" type="pres">
      <dgm:prSet presAssocID="{DAB26492-A7A6-4675-8BF9-F2B8F5BA8EFC}" presName="Parent3" presStyleLbl="revTx" presStyleIdx="2" presStyleCnt="4">
        <dgm:presLayoutVars>
          <dgm:chMax val="1"/>
          <dgm:chPref val="1"/>
          <dgm:bulletEnabled val="1"/>
        </dgm:presLayoutVars>
      </dgm:prSet>
      <dgm:spPr/>
    </dgm:pt>
    <dgm:pt modelId="{19957754-6F4F-4B57-AF0E-328AE5E69DD6}" type="pres">
      <dgm:prSet presAssocID="{004AC770-6582-4F42-B647-13418A5CED5F}" presName="Accent4" presStyleCnt="0"/>
      <dgm:spPr/>
    </dgm:pt>
    <dgm:pt modelId="{77022B94-9FAB-44E9-A0E1-E6B267821F24}" type="pres">
      <dgm:prSet presAssocID="{004AC770-6582-4F42-B647-13418A5CED5F}" presName="Accent" presStyleLbl="node1" presStyleIdx="3" presStyleCnt="4"/>
      <dgm:spPr>
        <a:solidFill>
          <a:schemeClr val="tx2">
            <a:lumMod val="90000"/>
            <a:lumOff val="10000"/>
          </a:schemeClr>
        </a:solidFill>
      </dgm:spPr>
    </dgm:pt>
    <dgm:pt modelId="{A3B373E7-C526-4413-BACB-79451B097EE6}" type="pres">
      <dgm:prSet presAssocID="{004AC770-6582-4F42-B647-13418A5CED5F}" presName="Parent4" presStyleLbl="revTx" presStyleIdx="3" presStyleCnt="4">
        <dgm:presLayoutVars>
          <dgm:chMax val="1"/>
          <dgm:chPref val="1"/>
          <dgm:bulletEnabled val="1"/>
        </dgm:presLayoutVars>
      </dgm:prSet>
      <dgm:spPr/>
    </dgm:pt>
  </dgm:ptLst>
  <dgm:cxnLst>
    <dgm:cxn modelId="{360EEB16-B971-4562-8650-2DC414A47C4F}" type="presOf" srcId="{AF666B84-E637-468D-8B42-F39687EB0055}" destId="{41BBDE20-BA71-4A40-A87A-C2342C89D547}" srcOrd="0" destOrd="0" presId="urn:microsoft.com/office/officeart/2009/layout/CircleArrowProcess"/>
    <dgm:cxn modelId="{2D91A923-F2C3-4145-9EED-B52AC6CB7A81}" srcId="{FB845C4C-C0DC-41AC-938A-AF3C623934C5}" destId="{A9229559-4E0D-4E01-AEAE-ED5693102055}" srcOrd="0" destOrd="0" parTransId="{CF4B17B7-06DE-4E50-B2FD-F6AB78D8F781}" sibTransId="{950073E2-1805-4FEC-972D-AFB8EBA1C6A4}"/>
    <dgm:cxn modelId="{6DFDD474-51BF-473C-92FB-C870F7A413B1}" srcId="{FB845C4C-C0DC-41AC-938A-AF3C623934C5}" destId="{DAB26492-A7A6-4675-8BF9-F2B8F5BA8EFC}" srcOrd="2" destOrd="0" parTransId="{69285454-BD00-44FD-B2A1-91A8119F15E9}" sibTransId="{D8675AE7-2DB7-409A-B205-D4B6AC74DE89}"/>
    <dgm:cxn modelId="{933F1F98-09A7-4507-B063-F123E1A73307}" srcId="{FB845C4C-C0DC-41AC-938A-AF3C623934C5}" destId="{AF666B84-E637-468D-8B42-F39687EB0055}" srcOrd="1" destOrd="0" parTransId="{F4FC92DE-EF6B-4464-9A46-68A2D273536D}" sibTransId="{8034FA11-8AA3-4DE2-8A71-39E2F10FFDA6}"/>
    <dgm:cxn modelId="{FB53159B-6AEB-47D6-A84D-58DA99836111}" type="presOf" srcId="{004AC770-6582-4F42-B647-13418A5CED5F}" destId="{A3B373E7-C526-4413-BACB-79451B097EE6}" srcOrd="0" destOrd="0" presId="urn:microsoft.com/office/officeart/2009/layout/CircleArrowProcess"/>
    <dgm:cxn modelId="{F0E65D9E-4C57-48C0-AEC2-9C3643CE71A6}" type="presOf" srcId="{A9229559-4E0D-4E01-AEAE-ED5693102055}" destId="{C1F87C07-6395-4D09-BBAC-DD587B9C502A}" srcOrd="0" destOrd="0" presId="urn:microsoft.com/office/officeart/2009/layout/CircleArrowProcess"/>
    <dgm:cxn modelId="{366C33AD-E447-4B9C-A915-EDAFB06D474D}" type="presOf" srcId="{FB845C4C-C0DC-41AC-938A-AF3C623934C5}" destId="{02F7331D-3985-47AE-A773-D70783373B42}" srcOrd="0" destOrd="0" presId="urn:microsoft.com/office/officeart/2009/layout/CircleArrowProcess"/>
    <dgm:cxn modelId="{B60A4EDF-A89F-456E-8010-BB37F892C327}" srcId="{FB845C4C-C0DC-41AC-938A-AF3C623934C5}" destId="{004AC770-6582-4F42-B647-13418A5CED5F}" srcOrd="3" destOrd="0" parTransId="{56D573B9-755E-4981-B8D6-6679B145DEF4}" sibTransId="{7A64FAC7-48ED-47C3-B5C1-B13CB661E33F}"/>
    <dgm:cxn modelId="{D2B10CF8-22FE-4095-9F1C-145270103793}" type="presOf" srcId="{DAB26492-A7A6-4675-8BF9-F2B8F5BA8EFC}" destId="{0628DBD5-8E8B-44D3-BC8E-317C2FC79B37}" srcOrd="0" destOrd="0" presId="urn:microsoft.com/office/officeart/2009/layout/CircleArrowProcess"/>
    <dgm:cxn modelId="{09868DD4-F90D-47F7-99F9-D1D840C483F6}" type="presParOf" srcId="{02F7331D-3985-47AE-A773-D70783373B42}" destId="{02E47C0A-2B29-4D03-86DB-AE5710B3C4A7}" srcOrd="0" destOrd="0" presId="urn:microsoft.com/office/officeart/2009/layout/CircleArrowProcess"/>
    <dgm:cxn modelId="{51976B91-C217-4D83-A465-F2331DE6DAFE}" type="presParOf" srcId="{02E47C0A-2B29-4D03-86DB-AE5710B3C4A7}" destId="{4C6AD3C2-525E-49AB-AC35-7E5E885A89E5}" srcOrd="0" destOrd="0" presId="urn:microsoft.com/office/officeart/2009/layout/CircleArrowProcess"/>
    <dgm:cxn modelId="{1928074F-8505-4C15-B9EF-8587277ADF7C}" type="presParOf" srcId="{02F7331D-3985-47AE-A773-D70783373B42}" destId="{C1F87C07-6395-4D09-BBAC-DD587B9C502A}" srcOrd="1" destOrd="0" presId="urn:microsoft.com/office/officeart/2009/layout/CircleArrowProcess"/>
    <dgm:cxn modelId="{2B74EABF-D7CA-4445-AEA8-9FD785C59064}" type="presParOf" srcId="{02F7331D-3985-47AE-A773-D70783373B42}" destId="{B9F5FE17-B70D-4733-BDAE-84F2C4697C79}" srcOrd="2" destOrd="0" presId="urn:microsoft.com/office/officeart/2009/layout/CircleArrowProcess"/>
    <dgm:cxn modelId="{92E73C7E-80D6-4F9E-B0A6-879AF736EB38}" type="presParOf" srcId="{B9F5FE17-B70D-4733-BDAE-84F2C4697C79}" destId="{98436481-73C8-4220-B034-6BE607FCF692}" srcOrd="0" destOrd="0" presId="urn:microsoft.com/office/officeart/2009/layout/CircleArrowProcess"/>
    <dgm:cxn modelId="{E35F4E9B-EA1A-4324-9AE9-0E209AB06407}" type="presParOf" srcId="{02F7331D-3985-47AE-A773-D70783373B42}" destId="{41BBDE20-BA71-4A40-A87A-C2342C89D547}" srcOrd="3" destOrd="0" presId="urn:microsoft.com/office/officeart/2009/layout/CircleArrowProcess"/>
    <dgm:cxn modelId="{F4DA2008-90B7-46E8-9684-B275AE3BF832}" type="presParOf" srcId="{02F7331D-3985-47AE-A773-D70783373B42}" destId="{A859F4EF-FBF8-497A-8940-55439EFB8986}" srcOrd="4" destOrd="0" presId="urn:microsoft.com/office/officeart/2009/layout/CircleArrowProcess"/>
    <dgm:cxn modelId="{1C77605A-560D-4E9F-B039-E3A00AE774BB}" type="presParOf" srcId="{A859F4EF-FBF8-497A-8940-55439EFB8986}" destId="{DAF46435-A1D7-4198-B435-859918CA3261}" srcOrd="0" destOrd="0" presId="urn:microsoft.com/office/officeart/2009/layout/CircleArrowProcess"/>
    <dgm:cxn modelId="{4851B20E-5CB5-4AC3-8004-13ABA0185F59}" type="presParOf" srcId="{02F7331D-3985-47AE-A773-D70783373B42}" destId="{0628DBD5-8E8B-44D3-BC8E-317C2FC79B37}" srcOrd="5" destOrd="0" presId="urn:microsoft.com/office/officeart/2009/layout/CircleArrowProcess"/>
    <dgm:cxn modelId="{507F457B-4E62-4A11-A54D-6A2F604E7D3B}" type="presParOf" srcId="{02F7331D-3985-47AE-A773-D70783373B42}" destId="{19957754-6F4F-4B57-AF0E-328AE5E69DD6}" srcOrd="6" destOrd="0" presId="urn:microsoft.com/office/officeart/2009/layout/CircleArrowProcess"/>
    <dgm:cxn modelId="{E6EC384A-A43D-4F06-B33E-A4E98100270F}" type="presParOf" srcId="{19957754-6F4F-4B57-AF0E-328AE5E69DD6}" destId="{77022B94-9FAB-44E9-A0E1-E6B267821F24}" srcOrd="0" destOrd="0" presId="urn:microsoft.com/office/officeart/2009/layout/CircleArrowProcess"/>
    <dgm:cxn modelId="{EBF356EC-010B-4A09-B51B-815D2B712F20}" type="presParOf" srcId="{02F7331D-3985-47AE-A773-D70783373B42}" destId="{A3B373E7-C526-4413-BACB-79451B097EE6}" srcOrd="7" destOrd="0" presId="urn:microsoft.com/office/officeart/2009/layout/CircleArrow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6AD3C2-525E-49AB-AC35-7E5E885A89E5}">
      <dsp:nvSpPr>
        <dsp:cNvPr id="0" name=""/>
        <dsp:cNvSpPr/>
      </dsp:nvSpPr>
      <dsp:spPr>
        <a:xfrm>
          <a:off x="1181002" y="0"/>
          <a:ext cx="1967852" cy="1968052"/>
        </a:xfrm>
        <a:prstGeom prst="circularArrow">
          <a:avLst>
            <a:gd name="adj1" fmla="val 10980"/>
            <a:gd name="adj2" fmla="val 1142322"/>
            <a:gd name="adj3" fmla="val 4500000"/>
            <a:gd name="adj4" fmla="val 10800000"/>
            <a:gd name="adj5" fmla="val 12500"/>
          </a:avLst>
        </a:prstGeom>
        <a:solidFill>
          <a:schemeClr val="accent4">
            <a:lumMod val="40000"/>
            <a:lumOff val="6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1F87C07-6395-4D09-BBAC-DD587B9C502A}">
      <dsp:nvSpPr>
        <dsp:cNvPr id="0" name=""/>
        <dsp:cNvSpPr/>
      </dsp:nvSpPr>
      <dsp:spPr>
        <a:xfrm>
          <a:off x="1615473" y="712381"/>
          <a:ext cx="1098173" cy="5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fr-FR" sz="1100" kern="1200" dirty="0"/>
            <a:t>Préparation des données (dataset d’entrainement)</a:t>
          </a:r>
        </a:p>
      </dsp:txBody>
      <dsp:txXfrm>
        <a:off x="1615473" y="712381"/>
        <a:ext cx="1098173" cy="549029"/>
      </dsp:txXfrm>
    </dsp:sp>
    <dsp:sp modelId="{98436481-73C8-4220-B034-6BE607FCF692}">
      <dsp:nvSpPr>
        <dsp:cNvPr id="0" name=""/>
        <dsp:cNvSpPr/>
      </dsp:nvSpPr>
      <dsp:spPr>
        <a:xfrm>
          <a:off x="634315" y="1130938"/>
          <a:ext cx="1967852" cy="1968052"/>
        </a:xfrm>
        <a:prstGeom prst="leftCircularArrow">
          <a:avLst>
            <a:gd name="adj1" fmla="val 10980"/>
            <a:gd name="adj2" fmla="val 1142322"/>
            <a:gd name="adj3" fmla="val 6300000"/>
            <a:gd name="adj4" fmla="val 18900000"/>
            <a:gd name="adj5" fmla="val 12500"/>
          </a:avLst>
        </a:prstGeom>
        <a:solidFill>
          <a:schemeClr val="tx2">
            <a:lumMod val="50000"/>
            <a:lumOff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1BBDE20-BA71-4A40-A87A-C2342C89D547}">
      <dsp:nvSpPr>
        <dsp:cNvPr id="0" name=""/>
        <dsp:cNvSpPr/>
      </dsp:nvSpPr>
      <dsp:spPr>
        <a:xfrm>
          <a:off x="1066571" y="1845407"/>
          <a:ext cx="1098173" cy="5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fr-FR" sz="1100" kern="1200" dirty="0"/>
            <a:t>Entraînement du modèle</a:t>
          </a:r>
        </a:p>
      </dsp:txBody>
      <dsp:txXfrm>
        <a:off x="1066571" y="1845407"/>
        <a:ext cx="1098173" cy="549029"/>
      </dsp:txXfrm>
    </dsp:sp>
    <dsp:sp modelId="{DAF46435-A1D7-4198-B435-859918CA3261}">
      <dsp:nvSpPr>
        <dsp:cNvPr id="0" name=""/>
        <dsp:cNvSpPr/>
      </dsp:nvSpPr>
      <dsp:spPr>
        <a:xfrm>
          <a:off x="1181002" y="2266052"/>
          <a:ext cx="1967852" cy="1968052"/>
        </a:xfrm>
        <a:prstGeom prst="circularArrow">
          <a:avLst>
            <a:gd name="adj1" fmla="val 10980"/>
            <a:gd name="adj2" fmla="val 1142322"/>
            <a:gd name="adj3" fmla="val 4500000"/>
            <a:gd name="adj4" fmla="val 13500000"/>
            <a:gd name="adj5" fmla="val 12500"/>
          </a:avLst>
        </a:prstGeom>
        <a:solidFill>
          <a:schemeClr val="tx2">
            <a:lumMod val="75000"/>
            <a:lumOff val="2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628DBD5-8E8B-44D3-BC8E-317C2FC79B37}">
      <dsp:nvSpPr>
        <dsp:cNvPr id="0" name=""/>
        <dsp:cNvSpPr/>
      </dsp:nvSpPr>
      <dsp:spPr>
        <a:xfrm>
          <a:off x="1615473" y="2978434"/>
          <a:ext cx="1098173" cy="5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fr-FR" sz="1100" b="0" i="0" kern="1200" dirty="0"/>
            <a:t>Préparation des données (dataset à prédire)</a:t>
          </a:r>
          <a:endParaRPr lang="fr-FR" sz="1100" kern="1200" dirty="0"/>
        </a:p>
      </dsp:txBody>
      <dsp:txXfrm>
        <a:off x="1615473" y="2978434"/>
        <a:ext cx="1098173" cy="549029"/>
      </dsp:txXfrm>
    </dsp:sp>
    <dsp:sp modelId="{77022B94-9FAB-44E9-A0E1-E6B267821F24}">
      <dsp:nvSpPr>
        <dsp:cNvPr id="0" name=""/>
        <dsp:cNvSpPr/>
      </dsp:nvSpPr>
      <dsp:spPr>
        <a:xfrm>
          <a:off x="774586" y="3527463"/>
          <a:ext cx="1690632" cy="1691450"/>
        </a:xfrm>
        <a:prstGeom prst="blockArc">
          <a:avLst>
            <a:gd name="adj1" fmla="val 0"/>
            <a:gd name="adj2" fmla="val 18900000"/>
            <a:gd name="adj3" fmla="val 12740"/>
          </a:avLst>
        </a:prstGeom>
        <a:solidFill>
          <a:schemeClr val="tx2">
            <a:lumMod val="90000"/>
            <a:lumOff val="1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3B373E7-C526-4413-BACB-79451B097EE6}">
      <dsp:nvSpPr>
        <dsp:cNvPr id="0" name=""/>
        <dsp:cNvSpPr/>
      </dsp:nvSpPr>
      <dsp:spPr>
        <a:xfrm>
          <a:off x="1066571" y="4111460"/>
          <a:ext cx="1098173" cy="5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fr-FR" sz="1100" kern="1200" dirty="0"/>
            <a:t>Exécution du modèle de prédiction</a:t>
          </a:r>
        </a:p>
      </dsp:txBody>
      <dsp:txXfrm>
        <a:off x="1066571" y="4111460"/>
        <a:ext cx="1098173" cy="549029"/>
      </dsp:txXfrm>
    </dsp:sp>
  </dsp:spTree>
</dsp:drawing>
</file>

<file path=ppt/diagrams/layout1.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17AB22-408C-4B3B-8106-6E1D305F9D83}" type="datetimeFigureOut">
              <a:rPr lang="fr-FR" smtClean="0"/>
              <a:t>19/04/2026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73E052-4C77-4586-921B-039BDF859269}" type="slidenum">
              <a:rPr lang="fr-FR" smtClean="0"/>
              <a:t>‹N°›</a:t>
            </a:fld>
            <a:endParaRPr lang="fr-FR"/>
          </a:p>
        </p:txBody>
      </p:sp>
    </p:spTree>
    <p:extLst>
      <p:ext uri="{BB962C8B-B14F-4D97-AF65-F5344CB8AC3E}">
        <p14:creationId xmlns:p14="http://schemas.microsoft.com/office/powerpoint/2010/main" val="41120856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136c227a4f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136c227a4f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136c227a4fd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136c227a4f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BCB385A-9A95-82CA-2E47-A46E1DBEFE8D}"/>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C8305DD0-61A3-8BC8-7A8D-3EB17396CE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70B45DD6-5AB4-6A2D-0A95-5122F7887D66}"/>
              </a:ext>
            </a:extLst>
          </p:cNvPr>
          <p:cNvSpPr>
            <a:spLocks noGrp="1"/>
          </p:cNvSpPr>
          <p:nvPr>
            <p:ph type="dt" sz="half" idx="10"/>
          </p:nvPr>
        </p:nvSpPr>
        <p:spPr/>
        <p:txBody>
          <a:bodyPr/>
          <a:lstStyle/>
          <a:p>
            <a:fld id="{4BCFB875-2FB8-444C-813B-1EA40656B6E0}" type="datetimeFigureOut">
              <a:rPr lang="fr-FR" smtClean="0"/>
              <a:t>19/04/2026</a:t>
            </a:fld>
            <a:endParaRPr lang="fr-FR"/>
          </a:p>
        </p:txBody>
      </p:sp>
      <p:sp>
        <p:nvSpPr>
          <p:cNvPr id="5" name="Espace réservé du pied de page 4">
            <a:extLst>
              <a:ext uri="{FF2B5EF4-FFF2-40B4-BE49-F238E27FC236}">
                <a16:creationId xmlns:a16="http://schemas.microsoft.com/office/drawing/2014/main" id="{170AA236-F51D-D2E5-8AA7-162107AEA17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C29411A-4A5F-A7B6-73C1-A46605CF8F9C}"/>
              </a:ext>
            </a:extLst>
          </p:cNvPr>
          <p:cNvSpPr>
            <a:spLocks noGrp="1"/>
          </p:cNvSpPr>
          <p:nvPr>
            <p:ph type="sldNum" sz="quarter" idx="12"/>
          </p:nvPr>
        </p:nvSpPr>
        <p:spPr/>
        <p:txBody>
          <a:bodyPr/>
          <a:lstStyle/>
          <a:p>
            <a:fld id="{CBC7EED5-FF69-45B0-AA12-F0BA2D16990D}" type="slidenum">
              <a:rPr lang="fr-FR" smtClean="0"/>
              <a:t>‹N°›</a:t>
            </a:fld>
            <a:endParaRPr lang="fr-FR"/>
          </a:p>
        </p:txBody>
      </p:sp>
    </p:spTree>
    <p:extLst>
      <p:ext uri="{BB962C8B-B14F-4D97-AF65-F5344CB8AC3E}">
        <p14:creationId xmlns:p14="http://schemas.microsoft.com/office/powerpoint/2010/main" val="35339785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82D3271-BC04-52C9-EA8B-5C725B8DAAE1}"/>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2BF4F3E0-7422-1AD4-E742-53F1167A6304}"/>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2CC9CDF-2F4D-6E99-3647-39DCCAB7EEDC}"/>
              </a:ext>
            </a:extLst>
          </p:cNvPr>
          <p:cNvSpPr>
            <a:spLocks noGrp="1"/>
          </p:cNvSpPr>
          <p:nvPr>
            <p:ph type="dt" sz="half" idx="10"/>
          </p:nvPr>
        </p:nvSpPr>
        <p:spPr/>
        <p:txBody>
          <a:bodyPr/>
          <a:lstStyle/>
          <a:p>
            <a:fld id="{4BCFB875-2FB8-444C-813B-1EA40656B6E0}" type="datetimeFigureOut">
              <a:rPr lang="fr-FR" smtClean="0"/>
              <a:t>19/04/2026</a:t>
            </a:fld>
            <a:endParaRPr lang="fr-FR"/>
          </a:p>
        </p:txBody>
      </p:sp>
      <p:sp>
        <p:nvSpPr>
          <p:cNvPr id="5" name="Espace réservé du pied de page 4">
            <a:extLst>
              <a:ext uri="{FF2B5EF4-FFF2-40B4-BE49-F238E27FC236}">
                <a16:creationId xmlns:a16="http://schemas.microsoft.com/office/drawing/2014/main" id="{29C4486E-A3E1-74E2-1219-752F99CA5AD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B234D3F-6E8E-430C-0EFD-CD486746D1E3}"/>
              </a:ext>
            </a:extLst>
          </p:cNvPr>
          <p:cNvSpPr>
            <a:spLocks noGrp="1"/>
          </p:cNvSpPr>
          <p:nvPr>
            <p:ph type="sldNum" sz="quarter" idx="12"/>
          </p:nvPr>
        </p:nvSpPr>
        <p:spPr/>
        <p:txBody>
          <a:bodyPr/>
          <a:lstStyle/>
          <a:p>
            <a:fld id="{CBC7EED5-FF69-45B0-AA12-F0BA2D16990D}" type="slidenum">
              <a:rPr lang="fr-FR" smtClean="0"/>
              <a:t>‹N°›</a:t>
            </a:fld>
            <a:endParaRPr lang="fr-FR"/>
          </a:p>
        </p:txBody>
      </p:sp>
    </p:spTree>
    <p:extLst>
      <p:ext uri="{BB962C8B-B14F-4D97-AF65-F5344CB8AC3E}">
        <p14:creationId xmlns:p14="http://schemas.microsoft.com/office/powerpoint/2010/main" val="2185882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E76A82-089B-7139-2EFA-BD42294AEF37}"/>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12CEEA50-A2E4-D3C4-216A-AEEBC4B6847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CB7A8924-BAE6-7888-2D0B-B9E27242ADF1}"/>
              </a:ext>
            </a:extLst>
          </p:cNvPr>
          <p:cNvSpPr>
            <a:spLocks noGrp="1"/>
          </p:cNvSpPr>
          <p:nvPr>
            <p:ph type="dt" sz="half" idx="10"/>
          </p:nvPr>
        </p:nvSpPr>
        <p:spPr/>
        <p:txBody>
          <a:bodyPr/>
          <a:lstStyle/>
          <a:p>
            <a:fld id="{4BCFB875-2FB8-444C-813B-1EA40656B6E0}" type="datetimeFigureOut">
              <a:rPr lang="fr-FR" smtClean="0"/>
              <a:t>19/04/2026</a:t>
            </a:fld>
            <a:endParaRPr lang="fr-FR"/>
          </a:p>
        </p:txBody>
      </p:sp>
      <p:sp>
        <p:nvSpPr>
          <p:cNvPr id="5" name="Espace réservé du pied de page 4">
            <a:extLst>
              <a:ext uri="{FF2B5EF4-FFF2-40B4-BE49-F238E27FC236}">
                <a16:creationId xmlns:a16="http://schemas.microsoft.com/office/drawing/2014/main" id="{209BCCEE-DE5D-AAD6-C09A-1E8BA1FA5DF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9E6574C-5166-873C-C63B-9935B859DD6E}"/>
              </a:ext>
            </a:extLst>
          </p:cNvPr>
          <p:cNvSpPr>
            <a:spLocks noGrp="1"/>
          </p:cNvSpPr>
          <p:nvPr>
            <p:ph type="sldNum" sz="quarter" idx="12"/>
          </p:nvPr>
        </p:nvSpPr>
        <p:spPr/>
        <p:txBody>
          <a:bodyPr/>
          <a:lstStyle/>
          <a:p>
            <a:fld id="{CBC7EED5-FF69-45B0-AA12-F0BA2D16990D}" type="slidenum">
              <a:rPr lang="fr-FR" smtClean="0"/>
              <a:t>‹N°›</a:t>
            </a:fld>
            <a:endParaRPr lang="fr-FR"/>
          </a:p>
        </p:txBody>
      </p:sp>
    </p:spTree>
    <p:extLst>
      <p:ext uri="{BB962C8B-B14F-4D97-AF65-F5344CB8AC3E}">
        <p14:creationId xmlns:p14="http://schemas.microsoft.com/office/powerpoint/2010/main" val="3279786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492FF1E-E15E-817E-3FB7-8D5E7B871D16}"/>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C506E621-3C9A-9510-F62A-BF97DAA4ABEA}"/>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FC66FDBF-7CE4-DBDE-C873-88F3CF61BA6B}"/>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DB03FA35-61FF-2899-BCBD-C41E186B3E15}"/>
              </a:ext>
            </a:extLst>
          </p:cNvPr>
          <p:cNvSpPr>
            <a:spLocks noGrp="1"/>
          </p:cNvSpPr>
          <p:nvPr>
            <p:ph type="dt" sz="half" idx="10"/>
          </p:nvPr>
        </p:nvSpPr>
        <p:spPr/>
        <p:txBody>
          <a:bodyPr/>
          <a:lstStyle/>
          <a:p>
            <a:fld id="{4BCFB875-2FB8-444C-813B-1EA40656B6E0}" type="datetimeFigureOut">
              <a:rPr lang="fr-FR" smtClean="0"/>
              <a:t>19/04/2026</a:t>
            </a:fld>
            <a:endParaRPr lang="fr-FR"/>
          </a:p>
        </p:txBody>
      </p:sp>
      <p:sp>
        <p:nvSpPr>
          <p:cNvPr id="6" name="Espace réservé du pied de page 5">
            <a:extLst>
              <a:ext uri="{FF2B5EF4-FFF2-40B4-BE49-F238E27FC236}">
                <a16:creationId xmlns:a16="http://schemas.microsoft.com/office/drawing/2014/main" id="{CE1C283E-7793-E09B-F14B-28E6AA6E38F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099C72A-700F-6E03-52D5-109230956671}"/>
              </a:ext>
            </a:extLst>
          </p:cNvPr>
          <p:cNvSpPr>
            <a:spLocks noGrp="1"/>
          </p:cNvSpPr>
          <p:nvPr>
            <p:ph type="sldNum" sz="quarter" idx="12"/>
          </p:nvPr>
        </p:nvSpPr>
        <p:spPr/>
        <p:txBody>
          <a:bodyPr/>
          <a:lstStyle/>
          <a:p>
            <a:fld id="{CBC7EED5-FF69-45B0-AA12-F0BA2D16990D}" type="slidenum">
              <a:rPr lang="fr-FR" smtClean="0"/>
              <a:t>‹N°›</a:t>
            </a:fld>
            <a:endParaRPr lang="fr-FR"/>
          </a:p>
        </p:txBody>
      </p:sp>
    </p:spTree>
    <p:extLst>
      <p:ext uri="{BB962C8B-B14F-4D97-AF65-F5344CB8AC3E}">
        <p14:creationId xmlns:p14="http://schemas.microsoft.com/office/powerpoint/2010/main" val="3993861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C937452-0BDA-92E8-0009-EF772B86BA4F}"/>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D023CA21-4A85-8284-67A2-DAD2E99951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8BC160B4-DCF8-3A15-02F5-480A93F66A52}"/>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D5734350-859F-29FD-7231-B320A488AB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1A0D2324-4E2F-1B18-3707-4B5B79125870}"/>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28218BFD-5685-F907-599C-7AFC3292D015}"/>
              </a:ext>
            </a:extLst>
          </p:cNvPr>
          <p:cNvSpPr>
            <a:spLocks noGrp="1"/>
          </p:cNvSpPr>
          <p:nvPr>
            <p:ph type="dt" sz="half" idx="10"/>
          </p:nvPr>
        </p:nvSpPr>
        <p:spPr/>
        <p:txBody>
          <a:bodyPr/>
          <a:lstStyle/>
          <a:p>
            <a:fld id="{4BCFB875-2FB8-444C-813B-1EA40656B6E0}" type="datetimeFigureOut">
              <a:rPr lang="fr-FR" smtClean="0"/>
              <a:t>19/04/2026</a:t>
            </a:fld>
            <a:endParaRPr lang="fr-FR"/>
          </a:p>
        </p:txBody>
      </p:sp>
      <p:sp>
        <p:nvSpPr>
          <p:cNvPr id="8" name="Espace réservé du pied de page 7">
            <a:extLst>
              <a:ext uri="{FF2B5EF4-FFF2-40B4-BE49-F238E27FC236}">
                <a16:creationId xmlns:a16="http://schemas.microsoft.com/office/drawing/2014/main" id="{BCB842AA-CD12-36BB-5163-F727AB101992}"/>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09F09604-D569-CB89-8319-56E7E18955D2}"/>
              </a:ext>
            </a:extLst>
          </p:cNvPr>
          <p:cNvSpPr>
            <a:spLocks noGrp="1"/>
          </p:cNvSpPr>
          <p:nvPr>
            <p:ph type="sldNum" sz="quarter" idx="12"/>
          </p:nvPr>
        </p:nvSpPr>
        <p:spPr/>
        <p:txBody>
          <a:bodyPr/>
          <a:lstStyle/>
          <a:p>
            <a:fld id="{CBC7EED5-FF69-45B0-AA12-F0BA2D16990D}" type="slidenum">
              <a:rPr lang="fr-FR" smtClean="0"/>
              <a:t>‹N°›</a:t>
            </a:fld>
            <a:endParaRPr lang="fr-FR"/>
          </a:p>
        </p:txBody>
      </p:sp>
    </p:spTree>
    <p:extLst>
      <p:ext uri="{BB962C8B-B14F-4D97-AF65-F5344CB8AC3E}">
        <p14:creationId xmlns:p14="http://schemas.microsoft.com/office/powerpoint/2010/main" val="4165347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1BBCFD9-5860-2EB4-D712-6C81F4E32F4C}"/>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3A77612C-634A-66E4-864D-A167CD2DF5C4}"/>
              </a:ext>
            </a:extLst>
          </p:cNvPr>
          <p:cNvSpPr>
            <a:spLocks noGrp="1"/>
          </p:cNvSpPr>
          <p:nvPr>
            <p:ph type="dt" sz="half" idx="10"/>
          </p:nvPr>
        </p:nvSpPr>
        <p:spPr/>
        <p:txBody>
          <a:bodyPr/>
          <a:lstStyle/>
          <a:p>
            <a:fld id="{4BCFB875-2FB8-444C-813B-1EA40656B6E0}" type="datetimeFigureOut">
              <a:rPr lang="fr-FR" smtClean="0"/>
              <a:t>19/04/2026</a:t>
            </a:fld>
            <a:endParaRPr lang="fr-FR"/>
          </a:p>
        </p:txBody>
      </p:sp>
      <p:sp>
        <p:nvSpPr>
          <p:cNvPr id="4" name="Espace réservé du pied de page 3">
            <a:extLst>
              <a:ext uri="{FF2B5EF4-FFF2-40B4-BE49-F238E27FC236}">
                <a16:creationId xmlns:a16="http://schemas.microsoft.com/office/drawing/2014/main" id="{ADFD862C-62B1-268E-5FD7-F9734CD81B72}"/>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029CB1D5-5270-C046-E389-829AA7E882BC}"/>
              </a:ext>
            </a:extLst>
          </p:cNvPr>
          <p:cNvSpPr>
            <a:spLocks noGrp="1"/>
          </p:cNvSpPr>
          <p:nvPr>
            <p:ph type="sldNum" sz="quarter" idx="12"/>
          </p:nvPr>
        </p:nvSpPr>
        <p:spPr/>
        <p:txBody>
          <a:bodyPr/>
          <a:lstStyle/>
          <a:p>
            <a:fld id="{CBC7EED5-FF69-45B0-AA12-F0BA2D16990D}" type="slidenum">
              <a:rPr lang="fr-FR" smtClean="0"/>
              <a:t>‹N°›</a:t>
            </a:fld>
            <a:endParaRPr lang="fr-FR"/>
          </a:p>
        </p:txBody>
      </p:sp>
    </p:spTree>
    <p:extLst>
      <p:ext uri="{BB962C8B-B14F-4D97-AF65-F5344CB8AC3E}">
        <p14:creationId xmlns:p14="http://schemas.microsoft.com/office/powerpoint/2010/main" val="193005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19D2C90D-4850-1245-6E5C-94B32017EC4C}"/>
              </a:ext>
            </a:extLst>
          </p:cNvPr>
          <p:cNvSpPr>
            <a:spLocks noGrp="1"/>
          </p:cNvSpPr>
          <p:nvPr>
            <p:ph type="dt" sz="half" idx="10"/>
          </p:nvPr>
        </p:nvSpPr>
        <p:spPr/>
        <p:txBody>
          <a:bodyPr/>
          <a:lstStyle/>
          <a:p>
            <a:fld id="{4BCFB875-2FB8-444C-813B-1EA40656B6E0}" type="datetimeFigureOut">
              <a:rPr lang="fr-FR" smtClean="0"/>
              <a:t>19/04/2026</a:t>
            </a:fld>
            <a:endParaRPr lang="fr-FR"/>
          </a:p>
        </p:txBody>
      </p:sp>
      <p:sp>
        <p:nvSpPr>
          <p:cNvPr id="3" name="Espace réservé du pied de page 2">
            <a:extLst>
              <a:ext uri="{FF2B5EF4-FFF2-40B4-BE49-F238E27FC236}">
                <a16:creationId xmlns:a16="http://schemas.microsoft.com/office/drawing/2014/main" id="{8C973585-894C-6439-990F-0AE8102A08E2}"/>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8F7D7F86-A1F6-2FA5-A6C1-54D55775BF1F}"/>
              </a:ext>
            </a:extLst>
          </p:cNvPr>
          <p:cNvSpPr>
            <a:spLocks noGrp="1"/>
          </p:cNvSpPr>
          <p:nvPr>
            <p:ph type="sldNum" sz="quarter" idx="12"/>
          </p:nvPr>
        </p:nvSpPr>
        <p:spPr/>
        <p:txBody>
          <a:bodyPr/>
          <a:lstStyle/>
          <a:p>
            <a:fld id="{CBC7EED5-FF69-45B0-AA12-F0BA2D16990D}" type="slidenum">
              <a:rPr lang="fr-FR" smtClean="0"/>
              <a:t>‹N°›</a:t>
            </a:fld>
            <a:endParaRPr lang="fr-FR"/>
          </a:p>
        </p:txBody>
      </p:sp>
    </p:spTree>
    <p:extLst>
      <p:ext uri="{BB962C8B-B14F-4D97-AF65-F5344CB8AC3E}">
        <p14:creationId xmlns:p14="http://schemas.microsoft.com/office/powerpoint/2010/main" val="1554237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47ACF3A-3053-A32D-F760-3A6C4CEA324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8C703385-2B7B-5522-393F-D59B8044B5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470D810A-D6A7-E153-445E-E14A6D9EA8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7D7F7F37-CDA0-9B02-A82F-A3839D1B01FA}"/>
              </a:ext>
            </a:extLst>
          </p:cNvPr>
          <p:cNvSpPr>
            <a:spLocks noGrp="1"/>
          </p:cNvSpPr>
          <p:nvPr>
            <p:ph type="dt" sz="half" idx="10"/>
          </p:nvPr>
        </p:nvSpPr>
        <p:spPr/>
        <p:txBody>
          <a:bodyPr/>
          <a:lstStyle/>
          <a:p>
            <a:fld id="{4BCFB875-2FB8-444C-813B-1EA40656B6E0}" type="datetimeFigureOut">
              <a:rPr lang="fr-FR" smtClean="0"/>
              <a:t>19/04/2026</a:t>
            </a:fld>
            <a:endParaRPr lang="fr-FR"/>
          </a:p>
        </p:txBody>
      </p:sp>
      <p:sp>
        <p:nvSpPr>
          <p:cNvPr id="6" name="Espace réservé du pied de page 5">
            <a:extLst>
              <a:ext uri="{FF2B5EF4-FFF2-40B4-BE49-F238E27FC236}">
                <a16:creationId xmlns:a16="http://schemas.microsoft.com/office/drawing/2014/main" id="{0C981BC7-EC4C-2CB1-39F9-D2A2B1453B7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C413FA7C-8A23-0CE2-F7CD-8E906FA5714A}"/>
              </a:ext>
            </a:extLst>
          </p:cNvPr>
          <p:cNvSpPr>
            <a:spLocks noGrp="1"/>
          </p:cNvSpPr>
          <p:nvPr>
            <p:ph type="sldNum" sz="quarter" idx="12"/>
          </p:nvPr>
        </p:nvSpPr>
        <p:spPr/>
        <p:txBody>
          <a:bodyPr/>
          <a:lstStyle/>
          <a:p>
            <a:fld id="{CBC7EED5-FF69-45B0-AA12-F0BA2D16990D}" type="slidenum">
              <a:rPr lang="fr-FR" smtClean="0"/>
              <a:t>‹N°›</a:t>
            </a:fld>
            <a:endParaRPr lang="fr-FR"/>
          </a:p>
        </p:txBody>
      </p:sp>
    </p:spTree>
    <p:extLst>
      <p:ext uri="{BB962C8B-B14F-4D97-AF65-F5344CB8AC3E}">
        <p14:creationId xmlns:p14="http://schemas.microsoft.com/office/powerpoint/2010/main" val="7527340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096851C-5DD9-6CBD-D53D-AB195809FD4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77CC627A-D250-19E0-9588-481558D076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2E2D7080-4060-CE5A-D9F2-57994A3F9A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13A828AE-2AE3-BE60-477A-807E6C85805E}"/>
              </a:ext>
            </a:extLst>
          </p:cNvPr>
          <p:cNvSpPr>
            <a:spLocks noGrp="1"/>
          </p:cNvSpPr>
          <p:nvPr>
            <p:ph type="dt" sz="half" idx="10"/>
          </p:nvPr>
        </p:nvSpPr>
        <p:spPr/>
        <p:txBody>
          <a:bodyPr/>
          <a:lstStyle/>
          <a:p>
            <a:fld id="{4BCFB875-2FB8-444C-813B-1EA40656B6E0}" type="datetimeFigureOut">
              <a:rPr lang="fr-FR" smtClean="0"/>
              <a:t>19/04/2026</a:t>
            </a:fld>
            <a:endParaRPr lang="fr-FR"/>
          </a:p>
        </p:txBody>
      </p:sp>
      <p:sp>
        <p:nvSpPr>
          <p:cNvPr id="6" name="Espace réservé du pied de page 5">
            <a:extLst>
              <a:ext uri="{FF2B5EF4-FFF2-40B4-BE49-F238E27FC236}">
                <a16:creationId xmlns:a16="http://schemas.microsoft.com/office/drawing/2014/main" id="{DA6827DC-7318-6903-C8F9-801C871A319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891E9CA-AB55-88DF-328D-365F81D9E22F}"/>
              </a:ext>
            </a:extLst>
          </p:cNvPr>
          <p:cNvSpPr>
            <a:spLocks noGrp="1"/>
          </p:cNvSpPr>
          <p:nvPr>
            <p:ph type="sldNum" sz="quarter" idx="12"/>
          </p:nvPr>
        </p:nvSpPr>
        <p:spPr/>
        <p:txBody>
          <a:bodyPr/>
          <a:lstStyle/>
          <a:p>
            <a:fld id="{CBC7EED5-FF69-45B0-AA12-F0BA2D16990D}" type="slidenum">
              <a:rPr lang="fr-FR" smtClean="0"/>
              <a:t>‹N°›</a:t>
            </a:fld>
            <a:endParaRPr lang="fr-FR"/>
          </a:p>
        </p:txBody>
      </p:sp>
    </p:spTree>
    <p:extLst>
      <p:ext uri="{BB962C8B-B14F-4D97-AF65-F5344CB8AC3E}">
        <p14:creationId xmlns:p14="http://schemas.microsoft.com/office/powerpoint/2010/main" val="22491214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9B80A0-A8F1-50E4-B2ED-2767E96A45D2}"/>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2D925C79-4F35-4A76-0DEB-3A99542EE734}"/>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0052A92-EF0F-9469-14DA-759D7E9E9C30}"/>
              </a:ext>
            </a:extLst>
          </p:cNvPr>
          <p:cNvSpPr>
            <a:spLocks noGrp="1"/>
          </p:cNvSpPr>
          <p:nvPr>
            <p:ph type="dt" sz="half" idx="10"/>
          </p:nvPr>
        </p:nvSpPr>
        <p:spPr/>
        <p:txBody>
          <a:bodyPr/>
          <a:lstStyle/>
          <a:p>
            <a:fld id="{4BCFB875-2FB8-444C-813B-1EA40656B6E0}" type="datetimeFigureOut">
              <a:rPr lang="fr-FR" smtClean="0"/>
              <a:t>19/04/2026</a:t>
            </a:fld>
            <a:endParaRPr lang="fr-FR"/>
          </a:p>
        </p:txBody>
      </p:sp>
      <p:sp>
        <p:nvSpPr>
          <p:cNvPr id="5" name="Espace réservé du pied de page 4">
            <a:extLst>
              <a:ext uri="{FF2B5EF4-FFF2-40B4-BE49-F238E27FC236}">
                <a16:creationId xmlns:a16="http://schemas.microsoft.com/office/drawing/2014/main" id="{CA824BFE-9645-7B0A-DA55-821A07AD20E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5993A68-9357-64E2-C704-DF8A6B90DEE9}"/>
              </a:ext>
            </a:extLst>
          </p:cNvPr>
          <p:cNvSpPr>
            <a:spLocks noGrp="1"/>
          </p:cNvSpPr>
          <p:nvPr>
            <p:ph type="sldNum" sz="quarter" idx="12"/>
          </p:nvPr>
        </p:nvSpPr>
        <p:spPr/>
        <p:txBody>
          <a:bodyPr/>
          <a:lstStyle/>
          <a:p>
            <a:fld id="{CBC7EED5-FF69-45B0-AA12-F0BA2D16990D}" type="slidenum">
              <a:rPr lang="fr-FR" smtClean="0"/>
              <a:t>‹N°›</a:t>
            </a:fld>
            <a:endParaRPr lang="fr-FR"/>
          </a:p>
        </p:txBody>
      </p:sp>
    </p:spTree>
    <p:extLst>
      <p:ext uri="{BB962C8B-B14F-4D97-AF65-F5344CB8AC3E}">
        <p14:creationId xmlns:p14="http://schemas.microsoft.com/office/powerpoint/2010/main" val="26176296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0E0E70BF-0AE1-9138-0887-76AC7F7B1560}"/>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A5339620-A397-DD67-E18B-4C3EDD0351FF}"/>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93D6675-1775-20D8-C99A-6E1EE12E8041}"/>
              </a:ext>
            </a:extLst>
          </p:cNvPr>
          <p:cNvSpPr>
            <a:spLocks noGrp="1"/>
          </p:cNvSpPr>
          <p:nvPr>
            <p:ph type="dt" sz="half" idx="10"/>
          </p:nvPr>
        </p:nvSpPr>
        <p:spPr/>
        <p:txBody>
          <a:bodyPr/>
          <a:lstStyle/>
          <a:p>
            <a:fld id="{4BCFB875-2FB8-444C-813B-1EA40656B6E0}" type="datetimeFigureOut">
              <a:rPr lang="fr-FR" smtClean="0"/>
              <a:t>19/04/2026</a:t>
            </a:fld>
            <a:endParaRPr lang="fr-FR"/>
          </a:p>
        </p:txBody>
      </p:sp>
      <p:sp>
        <p:nvSpPr>
          <p:cNvPr id="5" name="Espace réservé du pied de page 4">
            <a:extLst>
              <a:ext uri="{FF2B5EF4-FFF2-40B4-BE49-F238E27FC236}">
                <a16:creationId xmlns:a16="http://schemas.microsoft.com/office/drawing/2014/main" id="{9BE3C6C7-7BBD-784C-AF73-EDE82EF3E84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46C8EF7-5632-D691-B249-671C93F4872B}"/>
              </a:ext>
            </a:extLst>
          </p:cNvPr>
          <p:cNvSpPr>
            <a:spLocks noGrp="1"/>
          </p:cNvSpPr>
          <p:nvPr>
            <p:ph type="sldNum" sz="quarter" idx="12"/>
          </p:nvPr>
        </p:nvSpPr>
        <p:spPr/>
        <p:txBody>
          <a:bodyPr/>
          <a:lstStyle/>
          <a:p>
            <a:fld id="{CBC7EED5-FF69-45B0-AA12-F0BA2D16990D}" type="slidenum">
              <a:rPr lang="fr-FR" smtClean="0"/>
              <a:t>‹N°›</a:t>
            </a:fld>
            <a:endParaRPr lang="fr-FR"/>
          </a:p>
        </p:txBody>
      </p:sp>
    </p:spTree>
    <p:extLst>
      <p:ext uri="{BB962C8B-B14F-4D97-AF65-F5344CB8AC3E}">
        <p14:creationId xmlns:p14="http://schemas.microsoft.com/office/powerpoint/2010/main" val="30439482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1107190" y="1588342"/>
            <a:ext cx="994351" cy="61101"/>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1" name="Google Shape;21;p3"/>
          <p:cNvSpPr txBox="1">
            <a:spLocks noGrp="1"/>
          </p:cNvSpPr>
          <p:nvPr>
            <p:ph type="title"/>
          </p:nvPr>
        </p:nvSpPr>
        <p:spPr>
          <a:xfrm>
            <a:off x="972600" y="1763267"/>
            <a:ext cx="10251200" cy="20248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4800">
                <a:solidFill>
                  <a:schemeClr val="lt1"/>
                </a:solidFill>
              </a:defRPr>
            </a:lvl1pPr>
            <a:lvl2pPr lvl="1">
              <a:spcBef>
                <a:spcPts val="0"/>
              </a:spcBef>
              <a:spcAft>
                <a:spcPts val="0"/>
              </a:spcAft>
              <a:buClr>
                <a:schemeClr val="lt1"/>
              </a:buClr>
              <a:buSzPts val="3600"/>
              <a:buNone/>
              <a:defRPr sz="4800">
                <a:solidFill>
                  <a:schemeClr val="lt1"/>
                </a:solidFill>
              </a:defRPr>
            </a:lvl2pPr>
            <a:lvl3pPr lvl="2">
              <a:spcBef>
                <a:spcPts val="0"/>
              </a:spcBef>
              <a:spcAft>
                <a:spcPts val="0"/>
              </a:spcAft>
              <a:buClr>
                <a:schemeClr val="lt1"/>
              </a:buClr>
              <a:buSzPts val="3600"/>
              <a:buNone/>
              <a:defRPr sz="4800">
                <a:solidFill>
                  <a:schemeClr val="lt1"/>
                </a:solidFill>
              </a:defRPr>
            </a:lvl3pPr>
            <a:lvl4pPr lvl="3">
              <a:spcBef>
                <a:spcPts val="0"/>
              </a:spcBef>
              <a:spcAft>
                <a:spcPts val="0"/>
              </a:spcAft>
              <a:buClr>
                <a:schemeClr val="lt1"/>
              </a:buClr>
              <a:buSzPts val="3600"/>
              <a:buNone/>
              <a:defRPr sz="4800">
                <a:solidFill>
                  <a:schemeClr val="lt1"/>
                </a:solidFill>
              </a:defRPr>
            </a:lvl4pPr>
            <a:lvl5pPr lvl="4">
              <a:spcBef>
                <a:spcPts val="0"/>
              </a:spcBef>
              <a:spcAft>
                <a:spcPts val="0"/>
              </a:spcAft>
              <a:buClr>
                <a:schemeClr val="lt1"/>
              </a:buClr>
              <a:buSzPts val="3600"/>
              <a:buNone/>
              <a:defRPr sz="4800">
                <a:solidFill>
                  <a:schemeClr val="lt1"/>
                </a:solidFill>
              </a:defRPr>
            </a:lvl5pPr>
            <a:lvl6pPr lvl="5">
              <a:spcBef>
                <a:spcPts val="0"/>
              </a:spcBef>
              <a:spcAft>
                <a:spcPts val="0"/>
              </a:spcAft>
              <a:buClr>
                <a:schemeClr val="lt1"/>
              </a:buClr>
              <a:buSzPts val="3600"/>
              <a:buNone/>
              <a:defRPr sz="4800">
                <a:solidFill>
                  <a:schemeClr val="lt1"/>
                </a:solidFill>
              </a:defRPr>
            </a:lvl6pPr>
            <a:lvl7pPr lvl="6">
              <a:spcBef>
                <a:spcPts val="0"/>
              </a:spcBef>
              <a:spcAft>
                <a:spcPts val="0"/>
              </a:spcAft>
              <a:buClr>
                <a:schemeClr val="lt1"/>
              </a:buClr>
              <a:buSzPts val="3600"/>
              <a:buNone/>
              <a:defRPr sz="4800">
                <a:solidFill>
                  <a:schemeClr val="lt1"/>
                </a:solidFill>
              </a:defRPr>
            </a:lvl7pPr>
            <a:lvl8pPr lvl="7">
              <a:spcBef>
                <a:spcPts val="0"/>
              </a:spcBef>
              <a:spcAft>
                <a:spcPts val="0"/>
              </a:spcAft>
              <a:buClr>
                <a:schemeClr val="lt1"/>
              </a:buClr>
              <a:buSzPts val="3600"/>
              <a:buNone/>
              <a:defRPr sz="4800">
                <a:solidFill>
                  <a:schemeClr val="lt1"/>
                </a:solidFill>
              </a:defRPr>
            </a:lvl8pPr>
            <a:lvl9pPr lvl="8">
              <a:spcBef>
                <a:spcPts val="0"/>
              </a:spcBef>
              <a:spcAft>
                <a:spcPts val="0"/>
              </a:spcAft>
              <a:buClr>
                <a:schemeClr val="lt1"/>
              </a:buClr>
              <a:buSzPts val="3600"/>
              <a:buNone/>
              <a:defRPr sz="4800">
                <a:solidFill>
                  <a:schemeClr val="lt1"/>
                </a:solidFill>
              </a:defRPr>
            </a:lvl9pPr>
          </a:lstStyle>
          <a:p>
            <a:endParaRPr/>
          </a:p>
        </p:txBody>
      </p:sp>
      <p:sp>
        <p:nvSpPr>
          <p:cNvPr id="22" name="Google Shape;22;p3"/>
          <p:cNvSpPr txBox="1">
            <a:spLocks noGrp="1"/>
          </p:cNvSpPr>
          <p:nvPr>
            <p:ph type="sldNum" idx="12"/>
          </p:nvPr>
        </p:nvSpPr>
        <p:spPr>
          <a:xfrm>
            <a:off x="11381736" y="6333135"/>
            <a:ext cx="731600" cy="5248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fld id="{00000000-1234-1234-1234-123412341234}" type="slidenum">
              <a:rPr lang="fr-FR" smtClean="0"/>
              <a:pPr/>
              <a:t>‹N°›</a:t>
            </a:fld>
            <a:endParaRPr lang="fr-FR"/>
          </a:p>
        </p:txBody>
      </p:sp>
    </p:spTree>
    <p:extLst>
      <p:ext uri="{BB962C8B-B14F-4D97-AF65-F5344CB8AC3E}">
        <p14:creationId xmlns:p14="http://schemas.microsoft.com/office/powerpoint/2010/main" val="562156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8B8BB5AB-A850-4AF3-F808-80145DFD42A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982D55D6-D411-A329-748D-F49023BA51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FB8BC71-0D0E-B396-8721-D3FED9FBF8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BCFB875-2FB8-444C-813B-1EA40656B6E0}" type="datetimeFigureOut">
              <a:rPr lang="fr-FR" smtClean="0"/>
              <a:t>19/04/2026</a:t>
            </a:fld>
            <a:endParaRPr lang="fr-FR"/>
          </a:p>
        </p:txBody>
      </p:sp>
      <p:sp>
        <p:nvSpPr>
          <p:cNvPr id="5" name="Espace réservé du pied de page 4">
            <a:extLst>
              <a:ext uri="{FF2B5EF4-FFF2-40B4-BE49-F238E27FC236}">
                <a16:creationId xmlns:a16="http://schemas.microsoft.com/office/drawing/2014/main" id="{BBAE3B1E-396F-E7C8-B3DD-0394E5D254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C6215C7A-57DA-C3EC-5A59-34C5C606B7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C7EED5-FF69-45B0-AA12-F0BA2D16990D}" type="slidenum">
              <a:rPr lang="fr-FR" smtClean="0"/>
              <a:t>‹N°›</a:t>
            </a:fld>
            <a:endParaRPr lang="fr-FR"/>
          </a:p>
        </p:txBody>
      </p:sp>
    </p:spTree>
    <p:extLst>
      <p:ext uri="{BB962C8B-B14F-4D97-AF65-F5344CB8AC3E}">
        <p14:creationId xmlns:p14="http://schemas.microsoft.com/office/powerpoint/2010/main" val="42093355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1.png"/><Relationship Id="rId7" Type="http://schemas.openxmlformats.org/officeDocument/2006/relationships/diagramColors" Target="../diagrams/colors1.xml"/><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10" Type="http://schemas.openxmlformats.org/officeDocument/2006/relationships/image" Target="../media/image10.png"/><Relationship Id="rId4" Type="http://schemas.openxmlformats.org/officeDocument/2006/relationships/diagramData" Target="../diagrams/data1.xml"/><Relationship Id="rId9" Type="http://schemas.openxmlformats.org/officeDocument/2006/relationships/image" Target="../media/image22.png"/></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14.png"/><Relationship Id="rId2" Type="http://schemas.openxmlformats.org/officeDocument/2006/relationships/image" Target="../media/image28.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9988"/>
        </a:solidFill>
        <a:effectLst/>
      </p:bgPr>
    </p:bg>
    <p:spTree>
      <p:nvGrpSpPr>
        <p:cNvPr id="1" name="Shape 85"/>
        <p:cNvGrpSpPr/>
        <p:nvPr/>
      </p:nvGrpSpPr>
      <p:grpSpPr>
        <a:xfrm>
          <a:off x="0" y="0"/>
          <a:ext cx="0" cy="0"/>
          <a:chOff x="0" y="0"/>
          <a:chExt cx="0" cy="0"/>
        </a:xfrm>
      </p:grpSpPr>
      <p:sp>
        <p:nvSpPr>
          <p:cNvPr id="86" name="Google Shape;86;p13"/>
          <p:cNvSpPr txBox="1">
            <a:spLocks noGrp="1"/>
          </p:cNvSpPr>
          <p:nvPr>
            <p:ph type="title"/>
          </p:nvPr>
        </p:nvSpPr>
        <p:spPr>
          <a:xfrm>
            <a:off x="972600" y="1763267"/>
            <a:ext cx="10251200" cy="2024800"/>
          </a:xfrm>
          <a:prstGeom prst="rect">
            <a:avLst/>
          </a:prstGeom>
        </p:spPr>
        <p:txBody>
          <a:bodyPr spcFirstLastPara="1" vert="horz" wrap="square" lIns="121900" tIns="121900" rIns="121900" bIns="121900" rtlCol="0" anchor="t" anchorCtr="0">
            <a:normAutofit/>
          </a:bodyPr>
          <a:lstStyle/>
          <a:p>
            <a:r>
              <a:rPr lang="fr" dirty="0"/>
              <a:t>Les Plus Beaux Logis de Paris</a:t>
            </a:r>
            <a:endParaRPr dirty="0"/>
          </a:p>
          <a:p>
            <a:r>
              <a:rPr lang="fr" dirty="0"/>
              <a:t>Partie 1</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891B5-373A-B672-305C-6A9013707CA1}"/>
            </a:ext>
          </a:extLst>
        </p:cNvPr>
        <p:cNvGrpSpPr/>
        <p:nvPr/>
      </p:nvGrpSpPr>
      <p:grpSpPr>
        <a:xfrm>
          <a:off x="0" y="0"/>
          <a:ext cx="0" cy="0"/>
          <a:chOff x="0" y="0"/>
          <a:chExt cx="0" cy="0"/>
        </a:xfrm>
      </p:grpSpPr>
      <p:sp>
        <p:nvSpPr>
          <p:cNvPr id="71" name="Rectangle 70">
            <a:extLst>
              <a:ext uri="{FF2B5EF4-FFF2-40B4-BE49-F238E27FC236}">
                <a16:creationId xmlns:a16="http://schemas.microsoft.com/office/drawing/2014/main" id="{A7198A1F-3700-B311-2D7A-7A628B6CB620}"/>
              </a:ext>
            </a:extLst>
          </p:cNvPr>
          <p:cNvSpPr/>
          <p:nvPr/>
        </p:nvSpPr>
        <p:spPr>
          <a:xfrm>
            <a:off x="0" y="0"/>
            <a:ext cx="12192000" cy="918734"/>
          </a:xfrm>
          <a:prstGeom prst="rect">
            <a:avLst/>
          </a:prstGeom>
          <a:solidFill>
            <a:srgbClr val="1A99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ZoneTexte 6">
            <a:extLst>
              <a:ext uri="{FF2B5EF4-FFF2-40B4-BE49-F238E27FC236}">
                <a16:creationId xmlns:a16="http://schemas.microsoft.com/office/drawing/2014/main" id="{3D97F581-069E-795B-0E40-0918C9FA81F3}"/>
              </a:ext>
            </a:extLst>
          </p:cNvPr>
          <p:cNvSpPr txBox="1"/>
          <p:nvPr/>
        </p:nvSpPr>
        <p:spPr>
          <a:xfrm>
            <a:off x="6596190" y="1657146"/>
            <a:ext cx="4492804" cy="338554"/>
          </a:xfrm>
          <a:prstGeom prst="rect">
            <a:avLst/>
          </a:prstGeom>
          <a:noFill/>
        </p:spPr>
        <p:txBody>
          <a:bodyPr wrap="square" rtlCol="0">
            <a:spAutoFit/>
          </a:bodyPr>
          <a:lstStyle/>
          <a:p>
            <a:r>
              <a:rPr lang="fr-FR" sz="1600" b="1" dirty="0"/>
              <a:t>Intervalle de l'historique des données</a:t>
            </a:r>
          </a:p>
        </p:txBody>
      </p:sp>
      <p:grpSp>
        <p:nvGrpSpPr>
          <p:cNvPr id="8" name="Groupe 7">
            <a:extLst>
              <a:ext uri="{FF2B5EF4-FFF2-40B4-BE49-F238E27FC236}">
                <a16:creationId xmlns:a16="http://schemas.microsoft.com/office/drawing/2014/main" id="{E3CF525D-908E-25E6-1E78-6DD59D27BCDC}"/>
              </a:ext>
            </a:extLst>
          </p:cNvPr>
          <p:cNvGrpSpPr/>
          <p:nvPr/>
        </p:nvGrpSpPr>
        <p:grpSpPr>
          <a:xfrm>
            <a:off x="7001705" y="2215218"/>
            <a:ext cx="3225291" cy="698863"/>
            <a:chOff x="8398378" y="1627825"/>
            <a:chExt cx="3499816" cy="813717"/>
          </a:xfrm>
        </p:grpSpPr>
        <p:sp>
          <p:nvSpPr>
            <p:cNvPr id="10" name="ZoneTexte 9">
              <a:extLst>
                <a:ext uri="{FF2B5EF4-FFF2-40B4-BE49-F238E27FC236}">
                  <a16:creationId xmlns:a16="http://schemas.microsoft.com/office/drawing/2014/main" id="{61737A6B-7CCD-485B-6C26-DC1C143A3F80}"/>
                </a:ext>
              </a:extLst>
            </p:cNvPr>
            <p:cNvSpPr txBox="1"/>
            <p:nvPr/>
          </p:nvSpPr>
          <p:spPr>
            <a:xfrm>
              <a:off x="8398378" y="1664954"/>
              <a:ext cx="1706251" cy="261610"/>
            </a:xfrm>
            <a:prstGeom prst="rect">
              <a:avLst/>
            </a:prstGeom>
            <a:noFill/>
          </p:spPr>
          <p:txBody>
            <a:bodyPr wrap="square" rtlCol="0">
              <a:spAutoFit/>
            </a:bodyPr>
            <a:lstStyle/>
            <a:p>
              <a:r>
                <a:rPr lang="fr-FR" sz="1100" dirty="0"/>
                <a:t>01/02/2017</a:t>
              </a:r>
            </a:p>
          </p:txBody>
        </p:sp>
        <p:cxnSp>
          <p:nvCxnSpPr>
            <p:cNvPr id="9" name="Connecteur droit 8">
              <a:extLst>
                <a:ext uri="{FF2B5EF4-FFF2-40B4-BE49-F238E27FC236}">
                  <a16:creationId xmlns:a16="http://schemas.microsoft.com/office/drawing/2014/main" id="{A5ACE430-DD5C-0A8D-58BC-87B95BF04B96}"/>
                </a:ext>
              </a:extLst>
            </p:cNvPr>
            <p:cNvCxnSpPr/>
            <p:nvPr/>
          </p:nvCxnSpPr>
          <p:spPr>
            <a:xfrm>
              <a:off x="8710369" y="2356701"/>
              <a:ext cx="2846895" cy="0"/>
            </a:xfrm>
            <a:prstGeom prst="line">
              <a:avLst/>
            </a:prstGeom>
            <a:ln w="57150"/>
          </p:spPr>
          <p:style>
            <a:lnRef idx="2">
              <a:schemeClr val="dk1"/>
            </a:lnRef>
            <a:fillRef idx="0">
              <a:schemeClr val="dk1"/>
            </a:fillRef>
            <a:effectRef idx="1">
              <a:schemeClr val="dk1"/>
            </a:effectRef>
            <a:fontRef idx="minor">
              <a:schemeClr val="tx1"/>
            </a:fontRef>
          </p:style>
        </p:cxnSp>
        <p:sp>
          <p:nvSpPr>
            <p:cNvPr id="11" name="Rectangle : coins arrondis 10">
              <a:extLst>
                <a:ext uri="{FF2B5EF4-FFF2-40B4-BE49-F238E27FC236}">
                  <a16:creationId xmlns:a16="http://schemas.microsoft.com/office/drawing/2014/main" id="{46F57829-1540-0879-9973-25632F12982D}"/>
                </a:ext>
              </a:extLst>
            </p:cNvPr>
            <p:cNvSpPr/>
            <p:nvPr/>
          </p:nvSpPr>
          <p:spPr>
            <a:xfrm>
              <a:off x="8766928" y="2262433"/>
              <a:ext cx="179109" cy="179109"/>
            </a:xfrm>
            <a:prstGeom prst="round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id="{DC082970-F4BB-56DC-6123-8887E3A17845}"/>
                </a:ext>
              </a:extLst>
            </p:cNvPr>
            <p:cNvSpPr/>
            <p:nvPr/>
          </p:nvSpPr>
          <p:spPr>
            <a:xfrm>
              <a:off x="9194276" y="2262433"/>
              <a:ext cx="179109" cy="17910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 coins arrondis 13">
              <a:extLst>
                <a:ext uri="{FF2B5EF4-FFF2-40B4-BE49-F238E27FC236}">
                  <a16:creationId xmlns:a16="http://schemas.microsoft.com/office/drawing/2014/main" id="{DF15EDE7-FDB8-3BF6-F027-68E218935FB8}"/>
                </a:ext>
              </a:extLst>
            </p:cNvPr>
            <p:cNvSpPr/>
            <p:nvPr/>
          </p:nvSpPr>
          <p:spPr>
            <a:xfrm>
              <a:off x="9621624" y="2262433"/>
              <a:ext cx="179109" cy="17910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Rectangle : coins arrondis 25">
              <a:extLst>
                <a:ext uri="{FF2B5EF4-FFF2-40B4-BE49-F238E27FC236}">
                  <a16:creationId xmlns:a16="http://schemas.microsoft.com/office/drawing/2014/main" id="{D8BA8CAD-F0C6-A0D9-E069-F526FCD2D000}"/>
                </a:ext>
              </a:extLst>
            </p:cNvPr>
            <p:cNvSpPr/>
            <p:nvPr/>
          </p:nvSpPr>
          <p:spPr>
            <a:xfrm>
              <a:off x="10048972" y="2262433"/>
              <a:ext cx="179109" cy="17910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 coins arrondis 14">
              <a:extLst>
                <a:ext uri="{FF2B5EF4-FFF2-40B4-BE49-F238E27FC236}">
                  <a16:creationId xmlns:a16="http://schemas.microsoft.com/office/drawing/2014/main" id="{5CAC139C-EA99-9AC1-2141-53602DF2A301}"/>
                </a:ext>
              </a:extLst>
            </p:cNvPr>
            <p:cNvSpPr/>
            <p:nvPr/>
          </p:nvSpPr>
          <p:spPr>
            <a:xfrm>
              <a:off x="10476320" y="2262433"/>
              <a:ext cx="179109" cy="17910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 coins arrondis 17">
              <a:extLst>
                <a:ext uri="{FF2B5EF4-FFF2-40B4-BE49-F238E27FC236}">
                  <a16:creationId xmlns:a16="http://schemas.microsoft.com/office/drawing/2014/main" id="{0D7A2582-A19E-62F7-C29C-7340755F56E5}"/>
                </a:ext>
              </a:extLst>
            </p:cNvPr>
            <p:cNvSpPr/>
            <p:nvPr/>
          </p:nvSpPr>
          <p:spPr>
            <a:xfrm>
              <a:off x="10903668" y="2262433"/>
              <a:ext cx="179109" cy="17910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Rectangle : coins arrondis 29">
              <a:extLst>
                <a:ext uri="{FF2B5EF4-FFF2-40B4-BE49-F238E27FC236}">
                  <a16:creationId xmlns:a16="http://schemas.microsoft.com/office/drawing/2014/main" id="{EAF8D0F6-BAA8-5943-39EF-5C78B62EDA10}"/>
                </a:ext>
              </a:extLst>
            </p:cNvPr>
            <p:cNvSpPr/>
            <p:nvPr/>
          </p:nvSpPr>
          <p:spPr>
            <a:xfrm>
              <a:off x="11331016" y="2262433"/>
              <a:ext cx="179109" cy="179109"/>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32" name="Connecteur droit 31">
              <a:extLst>
                <a:ext uri="{FF2B5EF4-FFF2-40B4-BE49-F238E27FC236}">
                  <a16:creationId xmlns:a16="http://schemas.microsoft.com/office/drawing/2014/main" id="{10BA66CA-7AEC-B4DD-95ED-C57E037EECAA}"/>
                </a:ext>
              </a:extLst>
            </p:cNvPr>
            <p:cNvCxnSpPr/>
            <p:nvPr/>
          </p:nvCxnSpPr>
          <p:spPr>
            <a:xfrm flipV="1">
              <a:off x="8861196" y="1915389"/>
              <a:ext cx="0" cy="347044"/>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Connecteur droit 32">
              <a:extLst>
                <a:ext uri="{FF2B5EF4-FFF2-40B4-BE49-F238E27FC236}">
                  <a16:creationId xmlns:a16="http://schemas.microsoft.com/office/drawing/2014/main" id="{004A39C4-8254-D3E5-445B-511D81EB3C96}"/>
                </a:ext>
              </a:extLst>
            </p:cNvPr>
            <p:cNvCxnSpPr/>
            <p:nvPr/>
          </p:nvCxnSpPr>
          <p:spPr>
            <a:xfrm flipV="1">
              <a:off x="11431568" y="1926564"/>
              <a:ext cx="0" cy="347044"/>
            </a:xfrm>
            <a:prstGeom prst="line">
              <a:avLst/>
            </a:prstGeom>
          </p:spPr>
          <p:style>
            <a:lnRef idx="2">
              <a:schemeClr val="accent1"/>
            </a:lnRef>
            <a:fillRef idx="0">
              <a:schemeClr val="accent1"/>
            </a:fillRef>
            <a:effectRef idx="1">
              <a:schemeClr val="accent1"/>
            </a:effectRef>
            <a:fontRef idx="minor">
              <a:schemeClr val="tx1"/>
            </a:fontRef>
          </p:style>
        </p:cxnSp>
        <p:sp>
          <p:nvSpPr>
            <p:cNvPr id="34" name="ZoneTexte 33">
              <a:extLst>
                <a:ext uri="{FF2B5EF4-FFF2-40B4-BE49-F238E27FC236}">
                  <a16:creationId xmlns:a16="http://schemas.microsoft.com/office/drawing/2014/main" id="{0AB69064-1CF8-CD52-88D7-E60E7EAD8A1A}"/>
                </a:ext>
              </a:extLst>
            </p:cNvPr>
            <p:cNvSpPr txBox="1"/>
            <p:nvPr/>
          </p:nvSpPr>
          <p:spPr>
            <a:xfrm>
              <a:off x="10942946" y="1627825"/>
              <a:ext cx="955248" cy="261610"/>
            </a:xfrm>
            <a:prstGeom prst="rect">
              <a:avLst/>
            </a:prstGeom>
            <a:noFill/>
          </p:spPr>
          <p:txBody>
            <a:bodyPr wrap="square" rtlCol="0">
              <a:spAutoFit/>
            </a:bodyPr>
            <a:lstStyle/>
            <a:p>
              <a:pPr algn="ctr"/>
              <a:r>
                <a:rPr lang="fr-FR" sz="1100" dirty="0"/>
                <a:t>31/12/2021</a:t>
              </a:r>
            </a:p>
          </p:txBody>
        </p:sp>
      </p:grpSp>
      <p:pic>
        <p:nvPicPr>
          <p:cNvPr id="24" name="Image 23">
            <a:extLst>
              <a:ext uri="{FF2B5EF4-FFF2-40B4-BE49-F238E27FC236}">
                <a16:creationId xmlns:a16="http://schemas.microsoft.com/office/drawing/2014/main" id="{2B3C1A88-395F-5ED8-141E-409FE7FDBC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21372" y="1667078"/>
            <a:ext cx="407898" cy="407898"/>
          </a:xfrm>
          <a:prstGeom prst="rect">
            <a:avLst/>
          </a:prstGeom>
        </p:spPr>
      </p:pic>
      <p:pic>
        <p:nvPicPr>
          <p:cNvPr id="5" name="Image 4">
            <a:extLst>
              <a:ext uri="{FF2B5EF4-FFF2-40B4-BE49-F238E27FC236}">
                <a16:creationId xmlns:a16="http://schemas.microsoft.com/office/drawing/2014/main" id="{006AD11E-9B89-B784-0ABB-7B33089388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5919" y="4158360"/>
            <a:ext cx="431800" cy="431800"/>
          </a:xfrm>
          <a:prstGeom prst="rect">
            <a:avLst/>
          </a:prstGeom>
        </p:spPr>
      </p:pic>
      <p:sp>
        <p:nvSpPr>
          <p:cNvPr id="6" name="Titre 3">
            <a:extLst>
              <a:ext uri="{FF2B5EF4-FFF2-40B4-BE49-F238E27FC236}">
                <a16:creationId xmlns:a16="http://schemas.microsoft.com/office/drawing/2014/main" id="{B1DF9335-097D-EC8B-67F0-5A70E48F7C5B}"/>
              </a:ext>
            </a:extLst>
          </p:cNvPr>
          <p:cNvSpPr txBox="1">
            <a:spLocks/>
          </p:cNvSpPr>
          <p:nvPr/>
        </p:nvSpPr>
        <p:spPr>
          <a:xfrm>
            <a:off x="6596191" y="4242453"/>
            <a:ext cx="2320464" cy="287515"/>
          </a:xfrm>
          <a:prstGeom prst="rect">
            <a:avLst/>
          </a:prstGeom>
          <a:no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1400" b="1" dirty="0"/>
              <a:t>26 196 ventes enregistrées</a:t>
            </a:r>
          </a:p>
        </p:txBody>
      </p:sp>
      <p:sp>
        <p:nvSpPr>
          <p:cNvPr id="17" name="Titre 3">
            <a:extLst>
              <a:ext uri="{FF2B5EF4-FFF2-40B4-BE49-F238E27FC236}">
                <a16:creationId xmlns:a16="http://schemas.microsoft.com/office/drawing/2014/main" id="{19AC933F-7F81-2DBC-3D6B-8436813518AA}"/>
              </a:ext>
            </a:extLst>
          </p:cNvPr>
          <p:cNvSpPr txBox="1">
            <a:spLocks noGrp="1"/>
          </p:cNvSpPr>
          <p:nvPr>
            <p:ph type="title"/>
          </p:nvPr>
        </p:nvSpPr>
        <p:spPr>
          <a:xfrm>
            <a:off x="165062" y="144508"/>
            <a:ext cx="9310478" cy="649922"/>
          </a:xfrm>
          <a:prstGeom prst="rect">
            <a:avLst/>
          </a:prstGeom>
          <a:noFill/>
          <a:ln w="19050">
            <a:noFill/>
            <a:prstDash val="sysDash"/>
          </a:ln>
        </p:spPr>
        <p:txBody>
          <a:bodyPr wrap="square">
            <a:spAutoFit/>
          </a:bodyPr>
          <a:lstStyle/>
          <a:p>
            <a:r>
              <a:rPr lang="fr-FR" sz="4000" dirty="0">
                <a:solidFill>
                  <a:schemeClr val="bg1"/>
                </a:solidFill>
              </a:rPr>
              <a:t>I. Analyse du marché immobilier parisien</a:t>
            </a:r>
            <a:endParaRPr lang="fr-FR" sz="2400" dirty="0">
              <a:solidFill>
                <a:schemeClr val="bg1"/>
              </a:solidFill>
            </a:endParaRPr>
          </a:p>
        </p:txBody>
      </p:sp>
      <p:sp>
        <p:nvSpPr>
          <p:cNvPr id="19" name="ZoneTexte 18">
            <a:extLst>
              <a:ext uri="{FF2B5EF4-FFF2-40B4-BE49-F238E27FC236}">
                <a16:creationId xmlns:a16="http://schemas.microsoft.com/office/drawing/2014/main" id="{54C242FA-AB3C-8516-296F-C033FF5FBF51}"/>
              </a:ext>
            </a:extLst>
          </p:cNvPr>
          <p:cNvSpPr txBox="1"/>
          <p:nvPr/>
        </p:nvSpPr>
        <p:spPr>
          <a:xfrm>
            <a:off x="1350784" y="3255801"/>
            <a:ext cx="2684044" cy="584775"/>
          </a:xfrm>
          <a:prstGeom prst="rect">
            <a:avLst/>
          </a:prstGeom>
          <a:noFill/>
        </p:spPr>
        <p:txBody>
          <a:bodyPr wrap="square" rtlCol="0">
            <a:spAutoFit/>
          </a:bodyPr>
          <a:lstStyle/>
          <a:p>
            <a:r>
              <a:rPr lang="fr-FR" sz="1600" dirty="0"/>
              <a:t>Liste des transactions immobilières réalisées</a:t>
            </a:r>
          </a:p>
        </p:txBody>
      </p:sp>
      <p:pic>
        <p:nvPicPr>
          <p:cNvPr id="20" name="Image 19">
            <a:extLst>
              <a:ext uri="{FF2B5EF4-FFF2-40B4-BE49-F238E27FC236}">
                <a16:creationId xmlns:a16="http://schemas.microsoft.com/office/drawing/2014/main" id="{E0DB62A4-0886-F629-07C5-52677D2949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6997" y="3309449"/>
            <a:ext cx="407898" cy="414529"/>
          </a:xfrm>
          <a:prstGeom prst="rect">
            <a:avLst/>
          </a:prstGeom>
        </p:spPr>
      </p:pic>
      <p:cxnSp>
        <p:nvCxnSpPr>
          <p:cNvPr id="31" name="Connecteur : en angle 30">
            <a:extLst>
              <a:ext uri="{FF2B5EF4-FFF2-40B4-BE49-F238E27FC236}">
                <a16:creationId xmlns:a16="http://schemas.microsoft.com/office/drawing/2014/main" id="{209B257A-03D6-CC7E-58D3-05B299CBB9D2}"/>
              </a:ext>
            </a:extLst>
          </p:cNvPr>
          <p:cNvCxnSpPr>
            <a:stCxn id="19" idx="3"/>
            <a:endCxn id="24" idx="1"/>
          </p:cNvCxnSpPr>
          <p:nvPr/>
        </p:nvCxnSpPr>
        <p:spPr>
          <a:xfrm flipV="1">
            <a:off x="4034828" y="1871027"/>
            <a:ext cx="1986544" cy="1677162"/>
          </a:xfrm>
          <a:prstGeom prst="bentConnector3">
            <a:avLst/>
          </a:prstGeom>
          <a:ln>
            <a:tailEnd type="triangle"/>
          </a:ln>
        </p:spPr>
        <p:style>
          <a:lnRef idx="2">
            <a:schemeClr val="dk1"/>
          </a:lnRef>
          <a:fillRef idx="0">
            <a:schemeClr val="dk1"/>
          </a:fillRef>
          <a:effectRef idx="1">
            <a:schemeClr val="dk1"/>
          </a:effectRef>
          <a:fontRef idx="minor">
            <a:schemeClr val="tx1"/>
          </a:fontRef>
        </p:style>
      </p:cxnSp>
      <p:cxnSp>
        <p:nvCxnSpPr>
          <p:cNvPr id="35" name="Connecteur : en angle 34">
            <a:extLst>
              <a:ext uri="{FF2B5EF4-FFF2-40B4-BE49-F238E27FC236}">
                <a16:creationId xmlns:a16="http://schemas.microsoft.com/office/drawing/2014/main" id="{B42A1C16-01CF-9149-31F4-7F4B6618AD13}"/>
              </a:ext>
            </a:extLst>
          </p:cNvPr>
          <p:cNvCxnSpPr>
            <a:cxnSpLocks/>
            <a:stCxn id="19" idx="3"/>
            <a:endCxn id="5" idx="1"/>
          </p:cNvCxnSpPr>
          <p:nvPr/>
        </p:nvCxnSpPr>
        <p:spPr>
          <a:xfrm>
            <a:off x="4034828" y="3548189"/>
            <a:ext cx="1981091" cy="826071"/>
          </a:xfrm>
          <a:prstGeom prst="bentConnector3">
            <a:avLst/>
          </a:prstGeom>
          <a:ln>
            <a:tailEnd type="triangle"/>
          </a:ln>
        </p:spPr>
        <p:style>
          <a:lnRef idx="2">
            <a:schemeClr val="dk1"/>
          </a:lnRef>
          <a:fillRef idx="0">
            <a:schemeClr val="dk1"/>
          </a:fillRef>
          <a:effectRef idx="1">
            <a:schemeClr val="dk1"/>
          </a:effectRef>
          <a:fontRef idx="minor">
            <a:schemeClr val="tx1"/>
          </a:fontRef>
        </p:style>
      </p:cxnSp>
      <p:grpSp>
        <p:nvGrpSpPr>
          <p:cNvPr id="39" name="Groupe 38">
            <a:extLst>
              <a:ext uri="{FF2B5EF4-FFF2-40B4-BE49-F238E27FC236}">
                <a16:creationId xmlns:a16="http://schemas.microsoft.com/office/drawing/2014/main" id="{6B68215A-171D-E6C8-1BF8-A413EE27AB9B}"/>
              </a:ext>
            </a:extLst>
          </p:cNvPr>
          <p:cNvGrpSpPr/>
          <p:nvPr/>
        </p:nvGrpSpPr>
        <p:grpSpPr>
          <a:xfrm>
            <a:off x="8112852" y="5243726"/>
            <a:ext cx="1095769" cy="754117"/>
            <a:chOff x="2397993" y="6739284"/>
            <a:chExt cx="1131216" cy="1189531"/>
          </a:xfrm>
        </p:grpSpPr>
        <p:pic>
          <p:nvPicPr>
            <p:cNvPr id="40" name="Image 39">
              <a:extLst>
                <a:ext uri="{FF2B5EF4-FFF2-40B4-BE49-F238E27FC236}">
                  <a16:creationId xmlns:a16="http://schemas.microsoft.com/office/drawing/2014/main" id="{A3DB85AB-D3A2-202B-9FFD-611476CF47B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68392" y="6739284"/>
              <a:ext cx="674793" cy="811180"/>
            </a:xfrm>
            <a:prstGeom prst="rect">
              <a:avLst/>
            </a:prstGeom>
          </p:spPr>
        </p:pic>
        <p:sp>
          <p:nvSpPr>
            <p:cNvPr id="44" name="ZoneTexte 43">
              <a:extLst>
                <a:ext uri="{FF2B5EF4-FFF2-40B4-BE49-F238E27FC236}">
                  <a16:creationId xmlns:a16="http://schemas.microsoft.com/office/drawing/2014/main" id="{B60DFDDB-FA2A-6510-915B-8C64C276BE09}"/>
                </a:ext>
              </a:extLst>
            </p:cNvPr>
            <p:cNvSpPr txBox="1"/>
            <p:nvPr/>
          </p:nvSpPr>
          <p:spPr>
            <a:xfrm>
              <a:off x="2397993" y="7548336"/>
              <a:ext cx="1131216" cy="380479"/>
            </a:xfrm>
            <a:prstGeom prst="rect">
              <a:avLst/>
            </a:prstGeom>
            <a:noFill/>
          </p:spPr>
          <p:txBody>
            <a:bodyPr wrap="square" rtlCol="0">
              <a:spAutoFit/>
            </a:bodyPr>
            <a:lstStyle/>
            <a:p>
              <a:r>
                <a:rPr lang="fr-FR" sz="1100" b="1" dirty="0"/>
                <a:t>Appartements</a:t>
              </a:r>
            </a:p>
          </p:txBody>
        </p:sp>
      </p:grpSp>
      <p:grpSp>
        <p:nvGrpSpPr>
          <p:cNvPr id="46" name="Groupe 45">
            <a:extLst>
              <a:ext uri="{FF2B5EF4-FFF2-40B4-BE49-F238E27FC236}">
                <a16:creationId xmlns:a16="http://schemas.microsoft.com/office/drawing/2014/main" id="{7C44D888-E101-693F-365C-555D10410BB4}"/>
              </a:ext>
            </a:extLst>
          </p:cNvPr>
          <p:cNvGrpSpPr/>
          <p:nvPr/>
        </p:nvGrpSpPr>
        <p:grpSpPr>
          <a:xfrm>
            <a:off x="6015919" y="5243726"/>
            <a:ext cx="1598068" cy="793381"/>
            <a:chOff x="2132869" y="3359030"/>
            <a:chExt cx="1680604" cy="889747"/>
          </a:xfrm>
        </p:grpSpPr>
        <p:pic>
          <p:nvPicPr>
            <p:cNvPr id="47" name="Image 46">
              <a:extLst>
                <a:ext uri="{FF2B5EF4-FFF2-40B4-BE49-F238E27FC236}">
                  <a16:creationId xmlns:a16="http://schemas.microsoft.com/office/drawing/2014/main" id="{20BB90CD-A16E-4E3B-96BE-B78BC8EABD2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680706" y="3359030"/>
              <a:ext cx="658315" cy="627339"/>
            </a:xfrm>
            <a:prstGeom prst="rect">
              <a:avLst/>
            </a:prstGeom>
          </p:spPr>
        </p:pic>
        <p:sp>
          <p:nvSpPr>
            <p:cNvPr id="48" name="ZoneTexte 47">
              <a:extLst>
                <a:ext uri="{FF2B5EF4-FFF2-40B4-BE49-F238E27FC236}">
                  <a16:creationId xmlns:a16="http://schemas.microsoft.com/office/drawing/2014/main" id="{8E5339B1-86EA-1666-B128-AD49B45A476C}"/>
                </a:ext>
              </a:extLst>
            </p:cNvPr>
            <p:cNvSpPr txBox="1"/>
            <p:nvPr/>
          </p:nvSpPr>
          <p:spPr>
            <a:xfrm>
              <a:off x="2132869" y="3955391"/>
              <a:ext cx="1680604" cy="293386"/>
            </a:xfrm>
            <a:prstGeom prst="rect">
              <a:avLst/>
            </a:prstGeom>
            <a:noFill/>
          </p:spPr>
          <p:txBody>
            <a:bodyPr wrap="square" rtlCol="0">
              <a:spAutoFit/>
            </a:bodyPr>
            <a:lstStyle/>
            <a:p>
              <a:pPr algn="ctr"/>
              <a:r>
                <a:rPr lang="fr-FR" sz="1100" b="1" dirty="0"/>
                <a:t>Locaux commerciaux</a:t>
              </a:r>
            </a:p>
          </p:txBody>
        </p:sp>
      </p:grpSp>
      <p:cxnSp>
        <p:nvCxnSpPr>
          <p:cNvPr id="42" name="Connecteur : en angle 41">
            <a:extLst>
              <a:ext uri="{FF2B5EF4-FFF2-40B4-BE49-F238E27FC236}">
                <a16:creationId xmlns:a16="http://schemas.microsoft.com/office/drawing/2014/main" id="{FEDA5942-AD05-531C-B4E5-10BCBA2535C0}"/>
              </a:ext>
            </a:extLst>
          </p:cNvPr>
          <p:cNvCxnSpPr>
            <a:cxnSpLocks/>
            <a:stCxn id="6" idx="2"/>
            <a:endCxn id="47" idx="0"/>
          </p:cNvCxnSpPr>
          <p:nvPr/>
        </p:nvCxnSpPr>
        <p:spPr>
          <a:xfrm rot="5400000">
            <a:off x="6946255" y="4433558"/>
            <a:ext cx="713758" cy="906579"/>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61" name="Connecteur : en angle 60">
            <a:extLst>
              <a:ext uri="{FF2B5EF4-FFF2-40B4-BE49-F238E27FC236}">
                <a16:creationId xmlns:a16="http://schemas.microsoft.com/office/drawing/2014/main" id="{0301701A-B4B8-9BEB-02B5-7B8C36C966BE}"/>
              </a:ext>
            </a:extLst>
          </p:cNvPr>
          <p:cNvCxnSpPr>
            <a:cxnSpLocks/>
            <a:stCxn id="6" idx="2"/>
            <a:endCxn id="40" idx="0"/>
          </p:cNvCxnSpPr>
          <p:nvPr/>
        </p:nvCxnSpPr>
        <p:spPr>
          <a:xfrm rot="16200000" flipH="1">
            <a:off x="7823700" y="4462691"/>
            <a:ext cx="713758" cy="848312"/>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sp>
        <p:nvSpPr>
          <p:cNvPr id="69" name="ZoneTexte 68">
            <a:extLst>
              <a:ext uri="{FF2B5EF4-FFF2-40B4-BE49-F238E27FC236}">
                <a16:creationId xmlns:a16="http://schemas.microsoft.com/office/drawing/2014/main" id="{B705ADB2-6D32-617C-6945-CD0BF2064E27}"/>
              </a:ext>
            </a:extLst>
          </p:cNvPr>
          <p:cNvSpPr txBox="1"/>
          <p:nvPr/>
        </p:nvSpPr>
        <p:spPr>
          <a:xfrm>
            <a:off x="8023623" y="6039021"/>
            <a:ext cx="2116182" cy="261610"/>
          </a:xfrm>
          <a:prstGeom prst="rect">
            <a:avLst/>
          </a:prstGeom>
          <a:noFill/>
        </p:spPr>
        <p:txBody>
          <a:bodyPr wrap="square" rtlCol="0">
            <a:spAutoFit/>
          </a:bodyPr>
          <a:lstStyle/>
          <a:p>
            <a:r>
              <a:rPr lang="fr-FR" sz="1100" dirty="0"/>
              <a:t>24 353 transactions</a:t>
            </a:r>
          </a:p>
        </p:txBody>
      </p:sp>
      <p:sp>
        <p:nvSpPr>
          <p:cNvPr id="70" name="ZoneTexte 69">
            <a:extLst>
              <a:ext uri="{FF2B5EF4-FFF2-40B4-BE49-F238E27FC236}">
                <a16:creationId xmlns:a16="http://schemas.microsoft.com/office/drawing/2014/main" id="{2740F084-3835-8F3D-61D3-CBEC805A9D6B}"/>
              </a:ext>
            </a:extLst>
          </p:cNvPr>
          <p:cNvSpPr txBox="1"/>
          <p:nvPr/>
        </p:nvSpPr>
        <p:spPr>
          <a:xfrm>
            <a:off x="6161729" y="6039021"/>
            <a:ext cx="2116182" cy="261610"/>
          </a:xfrm>
          <a:prstGeom prst="rect">
            <a:avLst/>
          </a:prstGeom>
          <a:noFill/>
        </p:spPr>
        <p:txBody>
          <a:bodyPr wrap="square" rtlCol="0">
            <a:spAutoFit/>
          </a:bodyPr>
          <a:lstStyle/>
          <a:p>
            <a:r>
              <a:rPr lang="fr-FR" sz="1100" dirty="0"/>
              <a:t>1 843 transactions</a:t>
            </a:r>
          </a:p>
        </p:txBody>
      </p:sp>
    </p:spTree>
    <p:extLst>
      <p:ext uri="{BB962C8B-B14F-4D97-AF65-F5344CB8AC3E}">
        <p14:creationId xmlns:p14="http://schemas.microsoft.com/office/powerpoint/2010/main" val="1074611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fade">
                                      <p:cBhvr>
                                        <p:cTn id="15" dur="500"/>
                                        <p:tgtEl>
                                          <p:spTgt spid="31"/>
                                        </p:tgtEl>
                                      </p:cBhvr>
                                    </p:animEffect>
                                  </p:childTnLst>
                                </p:cTn>
                              </p:par>
                              <p:par>
                                <p:cTn id="16" presetID="10" presetClass="entr" presetSubtype="0" fill="hold" nodeType="with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500"/>
                                        <p:tgtEl>
                                          <p:spTgt spid="2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5"/>
                                        </p:tgtEl>
                                        <p:attrNameLst>
                                          <p:attrName>style.visibility</p:attrName>
                                        </p:attrNameLst>
                                      </p:cBhvr>
                                      <p:to>
                                        <p:strVal val="visible"/>
                                      </p:to>
                                    </p:set>
                                    <p:animEffect transition="in" filter="fade">
                                      <p:cBhvr>
                                        <p:cTn id="29" dur="500"/>
                                        <p:tgtEl>
                                          <p:spTgt spid="35"/>
                                        </p:tgtEl>
                                      </p:cBhvr>
                                    </p:animEffect>
                                  </p:childTnLst>
                                </p:cTn>
                              </p:par>
                              <p:par>
                                <p:cTn id="30" presetID="10" presetClass="entr" presetSubtype="0" fill="hold" nodeType="with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500"/>
                                        <p:tgtEl>
                                          <p:spTgt spid="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500"/>
                                        <p:tgtEl>
                                          <p:spTgt spid="6"/>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61"/>
                                        </p:tgtEl>
                                        <p:attrNameLst>
                                          <p:attrName>style.visibility</p:attrName>
                                        </p:attrNameLst>
                                      </p:cBhvr>
                                      <p:to>
                                        <p:strVal val="visible"/>
                                      </p:to>
                                    </p:set>
                                    <p:animEffect transition="in" filter="fade">
                                      <p:cBhvr>
                                        <p:cTn id="40" dur="500"/>
                                        <p:tgtEl>
                                          <p:spTgt spid="61"/>
                                        </p:tgtEl>
                                      </p:cBhvr>
                                    </p:animEffect>
                                  </p:childTnLst>
                                </p:cTn>
                              </p:par>
                              <p:par>
                                <p:cTn id="41" presetID="10" presetClass="entr" presetSubtype="0" fill="hold" nodeType="withEffect">
                                  <p:stCondLst>
                                    <p:cond delay="0"/>
                                  </p:stCondLst>
                                  <p:childTnLst>
                                    <p:set>
                                      <p:cBhvr>
                                        <p:cTn id="42" dur="1" fill="hold">
                                          <p:stCondLst>
                                            <p:cond delay="0"/>
                                          </p:stCondLst>
                                        </p:cTn>
                                        <p:tgtEl>
                                          <p:spTgt spid="42"/>
                                        </p:tgtEl>
                                        <p:attrNameLst>
                                          <p:attrName>style.visibility</p:attrName>
                                        </p:attrNameLst>
                                      </p:cBhvr>
                                      <p:to>
                                        <p:strVal val="visible"/>
                                      </p:to>
                                    </p:set>
                                    <p:animEffect transition="in" filter="fade">
                                      <p:cBhvr>
                                        <p:cTn id="43" dur="500"/>
                                        <p:tgtEl>
                                          <p:spTgt spid="42"/>
                                        </p:tgtEl>
                                      </p:cBhvr>
                                    </p:animEffect>
                                  </p:childTnLst>
                                </p:cTn>
                              </p:par>
                              <p:par>
                                <p:cTn id="44" presetID="10" presetClass="entr" presetSubtype="0" fill="hold" nodeType="withEffect">
                                  <p:stCondLst>
                                    <p:cond delay="0"/>
                                  </p:stCondLst>
                                  <p:childTnLst>
                                    <p:set>
                                      <p:cBhvr>
                                        <p:cTn id="45" dur="1" fill="hold">
                                          <p:stCondLst>
                                            <p:cond delay="0"/>
                                          </p:stCondLst>
                                        </p:cTn>
                                        <p:tgtEl>
                                          <p:spTgt spid="46"/>
                                        </p:tgtEl>
                                        <p:attrNameLst>
                                          <p:attrName>style.visibility</p:attrName>
                                        </p:attrNameLst>
                                      </p:cBhvr>
                                      <p:to>
                                        <p:strVal val="visible"/>
                                      </p:to>
                                    </p:set>
                                    <p:animEffect transition="in" filter="fade">
                                      <p:cBhvr>
                                        <p:cTn id="46" dur="500"/>
                                        <p:tgtEl>
                                          <p:spTgt spid="46"/>
                                        </p:tgtEl>
                                      </p:cBhvr>
                                    </p:animEffect>
                                  </p:childTnLst>
                                </p:cTn>
                              </p:par>
                              <p:par>
                                <p:cTn id="47" presetID="10" presetClass="entr" presetSubtype="0" fill="hold" nodeType="with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fade">
                                      <p:cBhvr>
                                        <p:cTn id="49"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p:bldP spid="1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FADA2-369F-7522-F7F5-B0576B219541}"/>
            </a:ext>
          </a:extLst>
        </p:cNvPr>
        <p:cNvGrpSpPr/>
        <p:nvPr/>
      </p:nvGrpSpPr>
      <p:grpSpPr>
        <a:xfrm>
          <a:off x="0" y="0"/>
          <a:ext cx="0" cy="0"/>
          <a:chOff x="0" y="0"/>
          <a:chExt cx="0" cy="0"/>
        </a:xfrm>
      </p:grpSpPr>
      <p:grpSp>
        <p:nvGrpSpPr>
          <p:cNvPr id="24" name="Groupe 23">
            <a:extLst>
              <a:ext uri="{FF2B5EF4-FFF2-40B4-BE49-F238E27FC236}">
                <a16:creationId xmlns:a16="http://schemas.microsoft.com/office/drawing/2014/main" id="{199008E5-E069-2290-4451-C7CF4C4F7424}"/>
              </a:ext>
            </a:extLst>
          </p:cNvPr>
          <p:cNvGrpSpPr/>
          <p:nvPr/>
        </p:nvGrpSpPr>
        <p:grpSpPr>
          <a:xfrm>
            <a:off x="750909" y="1242212"/>
            <a:ext cx="6799639" cy="4754880"/>
            <a:chOff x="750909" y="1244803"/>
            <a:chExt cx="6799639" cy="4754880"/>
          </a:xfrm>
        </p:grpSpPr>
        <p:pic>
          <p:nvPicPr>
            <p:cNvPr id="61" name="Image 60">
              <a:extLst>
                <a:ext uri="{FF2B5EF4-FFF2-40B4-BE49-F238E27FC236}">
                  <a16:creationId xmlns:a16="http://schemas.microsoft.com/office/drawing/2014/main" id="{7261912B-532E-4185-09A9-DEB8702E4A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8017" y="1379896"/>
              <a:ext cx="316202" cy="316202"/>
            </a:xfrm>
            <a:prstGeom prst="rect">
              <a:avLst/>
            </a:prstGeom>
          </p:spPr>
        </p:pic>
        <p:sp>
          <p:nvSpPr>
            <p:cNvPr id="62" name="ZoneTexte 61">
              <a:extLst>
                <a:ext uri="{FF2B5EF4-FFF2-40B4-BE49-F238E27FC236}">
                  <a16:creationId xmlns:a16="http://schemas.microsoft.com/office/drawing/2014/main" id="{6187314D-0BE3-42B5-DB80-E892B94430F4}"/>
                </a:ext>
              </a:extLst>
            </p:cNvPr>
            <p:cNvSpPr txBox="1"/>
            <p:nvPr/>
          </p:nvSpPr>
          <p:spPr>
            <a:xfrm>
              <a:off x="1371082" y="1398407"/>
              <a:ext cx="2262908" cy="338554"/>
            </a:xfrm>
            <a:prstGeom prst="rect">
              <a:avLst/>
            </a:prstGeom>
            <a:noFill/>
          </p:spPr>
          <p:txBody>
            <a:bodyPr wrap="square" rtlCol="0">
              <a:spAutoFit/>
            </a:bodyPr>
            <a:lstStyle/>
            <a:p>
              <a:r>
                <a:rPr lang="fr-FR" sz="1600" b="1" dirty="0"/>
                <a:t>Proportionnalité</a:t>
              </a:r>
            </a:p>
          </p:txBody>
        </p:sp>
        <p:grpSp>
          <p:nvGrpSpPr>
            <p:cNvPr id="21" name="Groupe 20">
              <a:extLst>
                <a:ext uri="{FF2B5EF4-FFF2-40B4-BE49-F238E27FC236}">
                  <a16:creationId xmlns:a16="http://schemas.microsoft.com/office/drawing/2014/main" id="{DBC1E7A2-E5BB-4DCA-24F5-E662F48D9684}"/>
                </a:ext>
              </a:extLst>
            </p:cNvPr>
            <p:cNvGrpSpPr/>
            <p:nvPr/>
          </p:nvGrpSpPr>
          <p:grpSpPr>
            <a:xfrm>
              <a:off x="750909" y="1244803"/>
              <a:ext cx="6799639" cy="4754880"/>
              <a:chOff x="922977" y="966651"/>
              <a:chExt cx="6799639" cy="4754880"/>
            </a:xfrm>
          </p:grpSpPr>
          <p:sp>
            <p:nvSpPr>
              <p:cNvPr id="20" name="Rectangle : coins arrondis 19">
                <a:extLst>
                  <a:ext uri="{FF2B5EF4-FFF2-40B4-BE49-F238E27FC236}">
                    <a16:creationId xmlns:a16="http://schemas.microsoft.com/office/drawing/2014/main" id="{D2280D4A-0923-61CC-8313-769D286D30E3}"/>
                  </a:ext>
                </a:extLst>
              </p:cNvPr>
              <p:cNvSpPr/>
              <p:nvPr/>
            </p:nvSpPr>
            <p:spPr>
              <a:xfrm>
                <a:off x="922977" y="966651"/>
                <a:ext cx="6799639" cy="4754880"/>
              </a:xfrm>
              <a:prstGeom prst="roundRect">
                <a:avLst>
                  <a:gd name="adj" fmla="val 2209"/>
                </a:avLst>
              </a:prstGeom>
              <a:no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7" name="Image 36">
                <a:extLst>
                  <a:ext uri="{FF2B5EF4-FFF2-40B4-BE49-F238E27FC236}">
                    <a16:creationId xmlns:a16="http://schemas.microsoft.com/office/drawing/2014/main" id="{E9FCCC0A-F07E-2F1F-5E0F-3A6F1442F5B1}"/>
                  </a:ext>
                </a:extLst>
              </p:cNvPr>
              <p:cNvPicPr>
                <a:picLocks noChangeAspect="1"/>
              </p:cNvPicPr>
              <p:nvPr/>
            </p:nvPicPr>
            <p:blipFill>
              <a:blip r:embed="rId3"/>
              <a:stretch>
                <a:fillRect/>
              </a:stretch>
            </p:blipFill>
            <p:spPr>
              <a:xfrm>
                <a:off x="3415842" y="1393097"/>
                <a:ext cx="3578879" cy="3891597"/>
              </a:xfrm>
              <a:prstGeom prst="rect">
                <a:avLst/>
              </a:prstGeom>
            </p:spPr>
          </p:pic>
          <p:grpSp>
            <p:nvGrpSpPr>
              <p:cNvPr id="8" name="Groupe 7">
                <a:extLst>
                  <a:ext uri="{FF2B5EF4-FFF2-40B4-BE49-F238E27FC236}">
                    <a16:creationId xmlns:a16="http://schemas.microsoft.com/office/drawing/2014/main" id="{BFF6CEB3-CE24-7F65-B56F-DC7E13420EB9}"/>
                  </a:ext>
                </a:extLst>
              </p:cNvPr>
              <p:cNvGrpSpPr/>
              <p:nvPr/>
            </p:nvGrpSpPr>
            <p:grpSpPr>
              <a:xfrm>
                <a:off x="1558821" y="3731918"/>
                <a:ext cx="1095769" cy="755466"/>
                <a:chOff x="2381773" y="6360345"/>
                <a:chExt cx="1131216" cy="1191659"/>
              </a:xfrm>
            </p:grpSpPr>
            <p:pic>
              <p:nvPicPr>
                <p:cNvPr id="9" name="Image 8">
                  <a:extLst>
                    <a:ext uri="{FF2B5EF4-FFF2-40B4-BE49-F238E27FC236}">
                      <a16:creationId xmlns:a16="http://schemas.microsoft.com/office/drawing/2014/main" id="{A7D937D4-B0E5-4514-1C0B-B9AB16A836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11701" y="6360345"/>
                  <a:ext cx="674793" cy="811180"/>
                </a:xfrm>
                <a:prstGeom prst="rect">
                  <a:avLst/>
                </a:prstGeom>
              </p:spPr>
            </p:pic>
            <p:sp>
              <p:nvSpPr>
                <p:cNvPr id="10" name="ZoneTexte 9">
                  <a:extLst>
                    <a:ext uri="{FF2B5EF4-FFF2-40B4-BE49-F238E27FC236}">
                      <a16:creationId xmlns:a16="http://schemas.microsoft.com/office/drawing/2014/main" id="{E04E8519-2FA0-940A-6F3F-CA42E8FF0067}"/>
                    </a:ext>
                  </a:extLst>
                </p:cNvPr>
                <p:cNvSpPr txBox="1"/>
                <p:nvPr/>
              </p:nvSpPr>
              <p:spPr>
                <a:xfrm>
                  <a:off x="2381773" y="7171525"/>
                  <a:ext cx="1131216" cy="380479"/>
                </a:xfrm>
                <a:prstGeom prst="rect">
                  <a:avLst/>
                </a:prstGeom>
                <a:noFill/>
              </p:spPr>
              <p:txBody>
                <a:bodyPr wrap="square" rtlCol="0">
                  <a:spAutoFit/>
                </a:bodyPr>
                <a:lstStyle/>
                <a:p>
                  <a:r>
                    <a:rPr lang="fr-FR" sz="1100" b="1" dirty="0"/>
                    <a:t>Appartements</a:t>
                  </a:r>
                </a:p>
              </p:txBody>
            </p:sp>
          </p:grpSp>
          <p:grpSp>
            <p:nvGrpSpPr>
              <p:cNvPr id="11" name="Groupe 10">
                <a:extLst>
                  <a:ext uri="{FF2B5EF4-FFF2-40B4-BE49-F238E27FC236}">
                    <a16:creationId xmlns:a16="http://schemas.microsoft.com/office/drawing/2014/main" id="{014288BF-F6D3-E555-17F0-AD0A2BEFEB86}"/>
                  </a:ext>
                </a:extLst>
              </p:cNvPr>
              <p:cNvGrpSpPr/>
              <p:nvPr/>
            </p:nvGrpSpPr>
            <p:grpSpPr>
              <a:xfrm>
                <a:off x="1309334" y="1815274"/>
                <a:ext cx="1598068" cy="793380"/>
                <a:chOff x="2161684" y="3828543"/>
                <a:chExt cx="1680604" cy="889745"/>
              </a:xfrm>
            </p:grpSpPr>
            <p:pic>
              <p:nvPicPr>
                <p:cNvPr id="12" name="Image 11">
                  <a:extLst>
                    <a:ext uri="{FF2B5EF4-FFF2-40B4-BE49-F238E27FC236}">
                      <a16:creationId xmlns:a16="http://schemas.microsoft.com/office/drawing/2014/main" id="{C6A44593-3665-E2CB-F349-D0D3F9FBA4C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09521" y="3828543"/>
                  <a:ext cx="658315" cy="627339"/>
                </a:xfrm>
                <a:prstGeom prst="rect">
                  <a:avLst/>
                </a:prstGeom>
              </p:spPr>
            </p:pic>
            <p:sp>
              <p:nvSpPr>
                <p:cNvPr id="13" name="ZoneTexte 12">
                  <a:extLst>
                    <a:ext uri="{FF2B5EF4-FFF2-40B4-BE49-F238E27FC236}">
                      <a16:creationId xmlns:a16="http://schemas.microsoft.com/office/drawing/2014/main" id="{2CD98FEE-5CE8-8B30-E944-CBA547E03E32}"/>
                    </a:ext>
                  </a:extLst>
                </p:cNvPr>
                <p:cNvSpPr txBox="1"/>
                <p:nvPr/>
              </p:nvSpPr>
              <p:spPr>
                <a:xfrm>
                  <a:off x="2161684" y="4424902"/>
                  <a:ext cx="1680604" cy="293386"/>
                </a:xfrm>
                <a:prstGeom prst="rect">
                  <a:avLst/>
                </a:prstGeom>
                <a:noFill/>
              </p:spPr>
              <p:txBody>
                <a:bodyPr wrap="square" rtlCol="0">
                  <a:spAutoFit/>
                </a:bodyPr>
                <a:lstStyle/>
                <a:p>
                  <a:pPr algn="ctr"/>
                  <a:r>
                    <a:rPr lang="fr-FR" sz="1100" b="1" dirty="0"/>
                    <a:t>Locaux commerciaux</a:t>
                  </a:r>
                </a:p>
              </p:txBody>
            </p:sp>
          </p:grpSp>
          <p:sp>
            <p:nvSpPr>
              <p:cNvPr id="14" name="ZoneTexte 13">
                <a:extLst>
                  <a:ext uri="{FF2B5EF4-FFF2-40B4-BE49-F238E27FC236}">
                    <a16:creationId xmlns:a16="http://schemas.microsoft.com/office/drawing/2014/main" id="{71026E2D-450C-0CAE-A9DF-79B0B73733F5}"/>
                  </a:ext>
                </a:extLst>
              </p:cNvPr>
              <p:cNvSpPr txBox="1"/>
              <p:nvPr/>
            </p:nvSpPr>
            <p:spPr>
              <a:xfrm>
                <a:off x="1407318" y="4498822"/>
                <a:ext cx="1471880" cy="261610"/>
              </a:xfrm>
              <a:prstGeom prst="rect">
                <a:avLst/>
              </a:prstGeom>
              <a:noFill/>
            </p:spPr>
            <p:txBody>
              <a:bodyPr wrap="square" rtlCol="0">
                <a:spAutoFit/>
              </a:bodyPr>
              <a:lstStyle/>
              <a:p>
                <a:r>
                  <a:rPr lang="fr-FR" sz="1100" dirty="0"/>
                  <a:t>24 353 transactions</a:t>
                </a:r>
              </a:p>
            </p:txBody>
          </p:sp>
          <p:sp>
            <p:nvSpPr>
              <p:cNvPr id="15" name="ZoneTexte 14">
                <a:extLst>
                  <a:ext uri="{FF2B5EF4-FFF2-40B4-BE49-F238E27FC236}">
                    <a16:creationId xmlns:a16="http://schemas.microsoft.com/office/drawing/2014/main" id="{ED1A84BD-9235-6BEB-C290-C7218FF29673}"/>
                  </a:ext>
                </a:extLst>
              </p:cNvPr>
              <p:cNvSpPr txBox="1"/>
              <p:nvPr/>
            </p:nvSpPr>
            <p:spPr>
              <a:xfrm>
                <a:off x="1455144" y="2610566"/>
                <a:ext cx="2116182" cy="261610"/>
              </a:xfrm>
              <a:prstGeom prst="rect">
                <a:avLst/>
              </a:prstGeom>
              <a:noFill/>
            </p:spPr>
            <p:txBody>
              <a:bodyPr wrap="square" rtlCol="0">
                <a:spAutoFit/>
              </a:bodyPr>
              <a:lstStyle/>
              <a:p>
                <a:r>
                  <a:rPr lang="fr-FR" sz="1100" dirty="0"/>
                  <a:t>1 843 transactions</a:t>
                </a:r>
              </a:p>
            </p:txBody>
          </p:sp>
          <p:cxnSp>
            <p:nvCxnSpPr>
              <p:cNvPr id="16" name="Connecteur droit 15">
                <a:extLst>
                  <a:ext uri="{FF2B5EF4-FFF2-40B4-BE49-F238E27FC236}">
                    <a16:creationId xmlns:a16="http://schemas.microsoft.com/office/drawing/2014/main" id="{0E1AC42E-C78B-473C-18EB-C7BC6C81F222}"/>
                  </a:ext>
                </a:extLst>
              </p:cNvPr>
              <p:cNvCxnSpPr>
                <a:cxnSpLocks/>
              </p:cNvCxnSpPr>
              <p:nvPr/>
            </p:nvCxnSpPr>
            <p:spPr>
              <a:xfrm>
                <a:off x="1155767" y="3338896"/>
                <a:ext cx="1933302" cy="0"/>
              </a:xfrm>
              <a:prstGeom prst="line">
                <a:avLst/>
              </a:prstGeom>
              <a:ln w="12700"/>
            </p:spPr>
            <p:style>
              <a:lnRef idx="2">
                <a:schemeClr val="dk1"/>
              </a:lnRef>
              <a:fillRef idx="0">
                <a:schemeClr val="dk1"/>
              </a:fillRef>
              <a:effectRef idx="1">
                <a:schemeClr val="dk1"/>
              </a:effectRef>
              <a:fontRef idx="minor">
                <a:schemeClr val="tx1"/>
              </a:fontRef>
            </p:style>
          </p:cxnSp>
        </p:grpSp>
      </p:grpSp>
      <p:grpSp>
        <p:nvGrpSpPr>
          <p:cNvPr id="26" name="Groupe 25">
            <a:extLst>
              <a:ext uri="{FF2B5EF4-FFF2-40B4-BE49-F238E27FC236}">
                <a16:creationId xmlns:a16="http://schemas.microsoft.com/office/drawing/2014/main" id="{55752239-A25E-BD1F-33A8-6AF3C0D05C40}"/>
              </a:ext>
            </a:extLst>
          </p:cNvPr>
          <p:cNvGrpSpPr/>
          <p:nvPr/>
        </p:nvGrpSpPr>
        <p:grpSpPr>
          <a:xfrm>
            <a:off x="7773271" y="1242212"/>
            <a:ext cx="4009242" cy="4754880"/>
            <a:chOff x="7877321" y="1242212"/>
            <a:chExt cx="4009242" cy="4754880"/>
          </a:xfrm>
        </p:grpSpPr>
        <p:sp>
          <p:nvSpPr>
            <p:cNvPr id="57" name="ZoneTexte 56">
              <a:extLst>
                <a:ext uri="{FF2B5EF4-FFF2-40B4-BE49-F238E27FC236}">
                  <a16:creationId xmlns:a16="http://schemas.microsoft.com/office/drawing/2014/main" id="{BB285ABB-E592-E9B3-28A2-9F1A4BC6B868}"/>
                </a:ext>
              </a:extLst>
            </p:cNvPr>
            <p:cNvSpPr txBox="1"/>
            <p:nvPr/>
          </p:nvSpPr>
          <p:spPr>
            <a:xfrm>
              <a:off x="8438689" y="1379896"/>
              <a:ext cx="2059256" cy="307777"/>
            </a:xfrm>
            <a:prstGeom prst="rect">
              <a:avLst/>
            </a:prstGeom>
            <a:noFill/>
          </p:spPr>
          <p:txBody>
            <a:bodyPr wrap="square" rtlCol="0">
              <a:spAutoFit/>
            </a:bodyPr>
            <a:lstStyle/>
            <a:p>
              <a:r>
                <a:rPr lang="fr-FR" sz="1400" b="1" dirty="0"/>
                <a:t>Prix moyens (m²)</a:t>
              </a:r>
            </a:p>
          </p:txBody>
        </p:sp>
        <p:pic>
          <p:nvPicPr>
            <p:cNvPr id="41" name="Image 40">
              <a:extLst>
                <a:ext uri="{FF2B5EF4-FFF2-40B4-BE49-F238E27FC236}">
                  <a16:creationId xmlns:a16="http://schemas.microsoft.com/office/drawing/2014/main" id="{12A7D08A-EC54-C841-00B2-CA065A424BF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99083" y="1403654"/>
              <a:ext cx="260262" cy="260262"/>
            </a:xfrm>
            <a:prstGeom prst="rect">
              <a:avLst/>
            </a:prstGeom>
          </p:spPr>
        </p:pic>
        <p:grpSp>
          <p:nvGrpSpPr>
            <p:cNvPr id="23" name="Groupe 22">
              <a:extLst>
                <a:ext uri="{FF2B5EF4-FFF2-40B4-BE49-F238E27FC236}">
                  <a16:creationId xmlns:a16="http://schemas.microsoft.com/office/drawing/2014/main" id="{4AD98D84-3994-AF61-2250-0D54937F1ED3}"/>
                </a:ext>
              </a:extLst>
            </p:cNvPr>
            <p:cNvGrpSpPr/>
            <p:nvPr/>
          </p:nvGrpSpPr>
          <p:grpSpPr>
            <a:xfrm>
              <a:off x="7877321" y="1242212"/>
              <a:ext cx="4009242" cy="4754880"/>
              <a:chOff x="7986723" y="1234012"/>
              <a:chExt cx="4009242" cy="4754880"/>
            </a:xfrm>
          </p:grpSpPr>
          <p:pic>
            <p:nvPicPr>
              <p:cNvPr id="39" name="Image 38">
                <a:extLst>
                  <a:ext uri="{FF2B5EF4-FFF2-40B4-BE49-F238E27FC236}">
                    <a16:creationId xmlns:a16="http://schemas.microsoft.com/office/drawing/2014/main" id="{66879330-BADA-A708-1813-1AD0CEF17CB7}"/>
                  </a:ext>
                </a:extLst>
              </p:cNvPr>
              <p:cNvPicPr>
                <a:picLocks noChangeAspect="1"/>
              </p:cNvPicPr>
              <p:nvPr/>
            </p:nvPicPr>
            <p:blipFill>
              <a:blip r:embed="rId7"/>
              <a:stretch>
                <a:fillRect/>
              </a:stretch>
            </p:blipFill>
            <p:spPr>
              <a:xfrm>
                <a:off x="8420936" y="1951795"/>
                <a:ext cx="3399950" cy="3949010"/>
              </a:xfrm>
              <a:prstGeom prst="rect">
                <a:avLst/>
              </a:prstGeom>
            </p:spPr>
          </p:pic>
          <p:sp>
            <p:nvSpPr>
              <p:cNvPr id="22" name="Rectangle : coins arrondis 21">
                <a:extLst>
                  <a:ext uri="{FF2B5EF4-FFF2-40B4-BE49-F238E27FC236}">
                    <a16:creationId xmlns:a16="http://schemas.microsoft.com/office/drawing/2014/main" id="{4BF57A7B-9F56-FC47-E8EF-7C7209B0DF7B}"/>
                  </a:ext>
                </a:extLst>
              </p:cNvPr>
              <p:cNvSpPr/>
              <p:nvPr/>
            </p:nvSpPr>
            <p:spPr>
              <a:xfrm>
                <a:off x="7986723" y="1234012"/>
                <a:ext cx="4009242" cy="4754880"/>
              </a:xfrm>
              <a:prstGeom prst="roundRect">
                <a:avLst>
                  <a:gd name="adj" fmla="val 2209"/>
                </a:avLst>
              </a:prstGeom>
              <a:no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grpSp>
      <p:sp>
        <p:nvSpPr>
          <p:cNvPr id="29" name="Rectangle 28">
            <a:extLst>
              <a:ext uri="{FF2B5EF4-FFF2-40B4-BE49-F238E27FC236}">
                <a16:creationId xmlns:a16="http://schemas.microsoft.com/office/drawing/2014/main" id="{0FAE2AFC-565B-F2D7-BA0F-9CC3802D18A7}"/>
              </a:ext>
            </a:extLst>
          </p:cNvPr>
          <p:cNvSpPr/>
          <p:nvPr/>
        </p:nvSpPr>
        <p:spPr>
          <a:xfrm>
            <a:off x="0" y="0"/>
            <a:ext cx="12192000" cy="918734"/>
          </a:xfrm>
          <a:prstGeom prst="rect">
            <a:avLst/>
          </a:prstGeom>
          <a:solidFill>
            <a:srgbClr val="1A99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Titre 3">
            <a:extLst>
              <a:ext uri="{FF2B5EF4-FFF2-40B4-BE49-F238E27FC236}">
                <a16:creationId xmlns:a16="http://schemas.microsoft.com/office/drawing/2014/main" id="{C8D386D8-7BC2-28E7-762B-924E8E1ACF57}"/>
              </a:ext>
            </a:extLst>
          </p:cNvPr>
          <p:cNvSpPr txBox="1">
            <a:spLocks noGrp="1"/>
          </p:cNvSpPr>
          <p:nvPr>
            <p:ph type="title"/>
          </p:nvPr>
        </p:nvSpPr>
        <p:spPr>
          <a:xfrm>
            <a:off x="165062" y="144508"/>
            <a:ext cx="9310478" cy="649922"/>
          </a:xfrm>
          <a:prstGeom prst="rect">
            <a:avLst/>
          </a:prstGeom>
          <a:noFill/>
          <a:ln w="19050">
            <a:noFill/>
            <a:prstDash val="sysDash"/>
          </a:ln>
        </p:spPr>
        <p:txBody>
          <a:bodyPr wrap="square">
            <a:spAutoFit/>
          </a:bodyPr>
          <a:lstStyle/>
          <a:p>
            <a:r>
              <a:rPr lang="fr-FR" sz="4000" dirty="0">
                <a:solidFill>
                  <a:schemeClr val="bg1"/>
                </a:solidFill>
              </a:rPr>
              <a:t>I. Analyse du marché immobilier parisien</a:t>
            </a:r>
            <a:endParaRPr lang="fr-FR" sz="2400" dirty="0">
              <a:solidFill>
                <a:schemeClr val="bg1"/>
              </a:solidFill>
            </a:endParaRPr>
          </a:p>
        </p:txBody>
      </p:sp>
      <p:pic>
        <p:nvPicPr>
          <p:cNvPr id="32" name="Image 31">
            <a:extLst>
              <a:ext uri="{FF2B5EF4-FFF2-40B4-BE49-F238E27FC236}">
                <a16:creationId xmlns:a16="http://schemas.microsoft.com/office/drawing/2014/main" id="{749C5FD6-8210-7292-0DEF-3C9087808278}"/>
              </a:ext>
            </a:extLst>
          </p:cNvPr>
          <p:cNvPicPr>
            <a:picLocks noChangeAspect="1"/>
          </p:cNvPicPr>
          <p:nvPr/>
        </p:nvPicPr>
        <p:blipFill>
          <a:blip r:embed="rId8"/>
          <a:stretch>
            <a:fillRect/>
          </a:stretch>
        </p:blipFill>
        <p:spPr>
          <a:xfrm>
            <a:off x="1367941" y="1706942"/>
            <a:ext cx="1114581" cy="200053"/>
          </a:xfrm>
          <a:prstGeom prst="rect">
            <a:avLst/>
          </a:prstGeom>
        </p:spPr>
      </p:pic>
      <p:pic>
        <p:nvPicPr>
          <p:cNvPr id="33" name="Image 32">
            <a:extLst>
              <a:ext uri="{FF2B5EF4-FFF2-40B4-BE49-F238E27FC236}">
                <a16:creationId xmlns:a16="http://schemas.microsoft.com/office/drawing/2014/main" id="{CDD3E3B1-A5BC-7E8E-4E1E-0CC70683D3E4}"/>
              </a:ext>
            </a:extLst>
          </p:cNvPr>
          <p:cNvPicPr>
            <a:picLocks noChangeAspect="1"/>
          </p:cNvPicPr>
          <p:nvPr/>
        </p:nvPicPr>
        <p:blipFill>
          <a:blip r:embed="rId8"/>
          <a:stretch>
            <a:fillRect/>
          </a:stretch>
        </p:blipFill>
        <p:spPr>
          <a:xfrm>
            <a:off x="8311800" y="1606915"/>
            <a:ext cx="1114581" cy="200053"/>
          </a:xfrm>
          <a:prstGeom prst="rect">
            <a:avLst/>
          </a:prstGeom>
        </p:spPr>
      </p:pic>
    </p:spTree>
    <p:extLst>
      <p:ext uri="{BB962C8B-B14F-4D97-AF65-F5344CB8AC3E}">
        <p14:creationId xmlns:p14="http://schemas.microsoft.com/office/powerpoint/2010/main" val="778729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C8A87-490D-0530-50EF-9BA6B9310E42}"/>
            </a:ext>
          </a:extLst>
        </p:cNvPr>
        <p:cNvGrpSpPr/>
        <p:nvPr/>
      </p:nvGrpSpPr>
      <p:grpSpPr>
        <a:xfrm>
          <a:off x="0" y="0"/>
          <a:ext cx="0" cy="0"/>
          <a:chOff x="0" y="0"/>
          <a:chExt cx="0" cy="0"/>
        </a:xfrm>
      </p:grpSpPr>
      <p:pic>
        <p:nvPicPr>
          <p:cNvPr id="9" name="Image 8">
            <a:extLst>
              <a:ext uri="{FF2B5EF4-FFF2-40B4-BE49-F238E27FC236}">
                <a16:creationId xmlns:a16="http://schemas.microsoft.com/office/drawing/2014/main" id="{7DF5E3BD-50AB-02FA-8BE5-D33D0C1E9DF0}"/>
              </a:ext>
            </a:extLst>
          </p:cNvPr>
          <p:cNvPicPr>
            <a:picLocks noChangeAspect="1"/>
          </p:cNvPicPr>
          <p:nvPr/>
        </p:nvPicPr>
        <p:blipFill>
          <a:blip r:embed="rId2"/>
          <a:stretch>
            <a:fillRect/>
          </a:stretch>
        </p:blipFill>
        <p:spPr>
          <a:xfrm>
            <a:off x="568583" y="1695289"/>
            <a:ext cx="3586177" cy="2346463"/>
          </a:xfrm>
          <a:prstGeom prst="rect">
            <a:avLst/>
          </a:prstGeom>
          <a:ln>
            <a:noFill/>
          </a:ln>
          <a:effectLst>
            <a:outerShdw blurRad="292100" dist="139700" dir="2700000" algn="tl" rotWithShape="0">
              <a:srgbClr val="333333">
                <a:alpha val="65000"/>
              </a:srgbClr>
            </a:outerShdw>
          </a:effectLst>
        </p:spPr>
      </p:pic>
      <p:sp>
        <p:nvSpPr>
          <p:cNvPr id="10" name="ZoneTexte 9">
            <a:extLst>
              <a:ext uri="{FF2B5EF4-FFF2-40B4-BE49-F238E27FC236}">
                <a16:creationId xmlns:a16="http://schemas.microsoft.com/office/drawing/2014/main" id="{568FC3B0-A589-DB2F-9C0B-672CB3E58233}"/>
              </a:ext>
            </a:extLst>
          </p:cNvPr>
          <p:cNvSpPr txBox="1"/>
          <p:nvPr/>
        </p:nvSpPr>
        <p:spPr>
          <a:xfrm>
            <a:off x="568583" y="1055017"/>
            <a:ext cx="2607442" cy="400110"/>
          </a:xfrm>
          <a:prstGeom prst="rect">
            <a:avLst/>
          </a:prstGeom>
          <a:noFill/>
        </p:spPr>
        <p:txBody>
          <a:bodyPr wrap="square" rtlCol="0">
            <a:spAutoFit/>
          </a:bodyPr>
          <a:lstStyle/>
          <a:p>
            <a:r>
              <a:rPr lang="fr-FR" sz="2000" b="1" dirty="0"/>
              <a:t>Tendance</a:t>
            </a:r>
          </a:p>
        </p:txBody>
      </p:sp>
      <p:sp>
        <p:nvSpPr>
          <p:cNvPr id="12" name="ZoneTexte 11">
            <a:extLst>
              <a:ext uri="{FF2B5EF4-FFF2-40B4-BE49-F238E27FC236}">
                <a16:creationId xmlns:a16="http://schemas.microsoft.com/office/drawing/2014/main" id="{1B21C539-5E0C-EC48-B057-C1FA7FDA283C}"/>
              </a:ext>
            </a:extLst>
          </p:cNvPr>
          <p:cNvSpPr txBox="1"/>
          <p:nvPr/>
        </p:nvSpPr>
        <p:spPr>
          <a:xfrm>
            <a:off x="5139532" y="2945529"/>
            <a:ext cx="5492044" cy="2031325"/>
          </a:xfrm>
          <a:prstGeom prst="rect">
            <a:avLst/>
          </a:prstGeom>
          <a:noFill/>
        </p:spPr>
        <p:txBody>
          <a:bodyPr wrap="square">
            <a:spAutoFit/>
          </a:bodyPr>
          <a:lstStyle/>
          <a:p>
            <a:r>
              <a:rPr lang="fr-FR" sz="1400" dirty="0"/>
              <a:t>La </a:t>
            </a:r>
            <a:r>
              <a:rPr lang="fr-FR" sz="1400" dirty="0">
                <a:solidFill>
                  <a:srgbClr val="0070C0"/>
                </a:solidFill>
              </a:rPr>
              <a:t>valeur foncière </a:t>
            </a:r>
            <a:r>
              <a:rPr lang="fr-FR" sz="1400" dirty="0"/>
              <a:t>augmente entre 2017 et 2020 mais la </a:t>
            </a:r>
            <a:r>
              <a:rPr lang="fr-FR" sz="1400" dirty="0">
                <a:solidFill>
                  <a:srgbClr val="0070C0"/>
                </a:solidFill>
              </a:rPr>
              <a:t>moyenne des surfaces</a:t>
            </a:r>
            <a:r>
              <a:rPr lang="fr-FR" sz="1400" dirty="0"/>
              <a:t> reste à peu près identique.</a:t>
            </a:r>
          </a:p>
          <a:p>
            <a:endParaRPr lang="fr-FR" sz="1400" dirty="0"/>
          </a:p>
          <a:p>
            <a:r>
              <a:rPr lang="fr-FR" sz="1400" dirty="0"/>
              <a:t>Cela montre une hausse progressive du marché immobilier parisien sur cette période.</a:t>
            </a:r>
          </a:p>
          <a:p>
            <a:endParaRPr lang="fr-FR" sz="1400" dirty="0"/>
          </a:p>
          <a:p>
            <a:r>
              <a:rPr lang="fr-FR" sz="1400" dirty="0"/>
              <a:t>En 2021, on observe une légère baisse du prix moyen.</a:t>
            </a:r>
          </a:p>
          <a:p>
            <a:r>
              <a:rPr lang="fr-FR" sz="1400" dirty="0"/>
              <a:t>La </a:t>
            </a:r>
            <a:r>
              <a:rPr lang="fr-FR" sz="1400" dirty="0">
                <a:solidFill>
                  <a:srgbClr val="0070C0"/>
                </a:solidFill>
              </a:rPr>
              <a:t>surface moyenne </a:t>
            </a:r>
            <a:r>
              <a:rPr lang="fr-FR" sz="1400" dirty="0"/>
              <a:t>des appartements vendus diminue légèrement puis remonte légèrement en 2021 (43.48 m²).</a:t>
            </a:r>
          </a:p>
        </p:txBody>
      </p:sp>
      <p:pic>
        <p:nvPicPr>
          <p:cNvPr id="14" name="Image 13">
            <a:extLst>
              <a:ext uri="{FF2B5EF4-FFF2-40B4-BE49-F238E27FC236}">
                <a16:creationId xmlns:a16="http://schemas.microsoft.com/office/drawing/2014/main" id="{9BC3D58C-57B1-1DA7-71DC-C07778D5E3D5}"/>
              </a:ext>
            </a:extLst>
          </p:cNvPr>
          <p:cNvPicPr>
            <a:picLocks noChangeAspect="1"/>
          </p:cNvPicPr>
          <p:nvPr/>
        </p:nvPicPr>
        <p:blipFill>
          <a:blip r:embed="rId3"/>
          <a:stretch>
            <a:fillRect/>
          </a:stretch>
        </p:blipFill>
        <p:spPr>
          <a:xfrm>
            <a:off x="568584" y="4388631"/>
            <a:ext cx="3586176" cy="2185342"/>
          </a:xfrm>
          <a:prstGeom prst="rect">
            <a:avLst/>
          </a:prstGeom>
          <a:ln>
            <a:noFill/>
          </a:ln>
          <a:effectLst>
            <a:outerShdw blurRad="292100" dist="139700" dir="2700000" algn="tl" rotWithShape="0">
              <a:srgbClr val="333333">
                <a:alpha val="65000"/>
              </a:srgbClr>
            </a:outerShdw>
          </a:effectLst>
        </p:spPr>
      </p:pic>
      <p:cxnSp>
        <p:nvCxnSpPr>
          <p:cNvPr id="3" name="Connecteur : en angle 2">
            <a:extLst>
              <a:ext uri="{FF2B5EF4-FFF2-40B4-BE49-F238E27FC236}">
                <a16:creationId xmlns:a16="http://schemas.microsoft.com/office/drawing/2014/main" id="{41F744FE-1311-B585-D625-B88FDB317AA7}"/>
              </a:ext>
            </a:extLst>
          </p:cNvPr>
          <p:cNvCxnSpPr>
            <a:stCxn id="9" idx="3"/>
            <a:endCxn id="12" idx="1"/>
          </p:cNvCxnSpPr>
          <p:nvPr/>
        </p:nvCxnSpPr>
        <p:spPr>
          <a:xfrm>
            <a:off x="4154760" y="2868521"/>
            <a:ext cx="984772" cy="1092671"/>
          </a:xfrm>
          <a:prstGeom prst="bentConnector3">
            <a:avLst/>
          </a:prstGeom>
          <a:ln>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 name="Connecteur : en angle 3">
            <a:extLst>
              <a:ext uri="{FF2B5EF4-FFF2-40B4-BE49-F238E27FC236}">
                <a16:creationId xmlns:a16="http://schemas.microsoft.com/office/drawing/2014/main" id="{86EDBAE1-7623-7402-A729-CC3CFF010E0B}"/>
              </a:ext>
            </a:extLst>
          </p:cNvPr>
          <p:cNvCxnSpPr>
            <a:cxnSpLocks/>
            <a:stCxn id="14" idx="3"/>
            <a:endCxn id="12" idx="1"/>
          </p:cNvCxnSpPr>
          <p:nvPr/>
        </p:nvCxnSpPr>
        <p:spPr>
          <a:xfrm flipV="1">
            <a:off x="4154760" y="3961192"/>
            <a:ext cx="984772" cy="1520110"/>
          </a:xfrm>
          <a:prstGeom prst="bentConnector3">
            <a:avLst>
              <a:gd name="adj1" fmla="val 50000"/>
            </a:avLst>
          </a:prstGeom>
          <a:ln>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067EF1FE-F3ED-CFE7-C990-4ABF89675A1A}"/>
              </a:ext>
            </a:extLst>
          </p:cNvPr>
          <p:cNvSpPr/>
          <p:nvPr/>
        </p:nvSpPr>
        <p:spPr>
          <a:xfrm>
            <a:off x="0" y="0"/>
            <a:ext cx="12192000" cy="918734"/>
          </a:xfrm>
          <a:prstGeom prst="rect">
            <a:avLst/>
          </a:prstGeom>
          <a:solidFill>
            <a:srgbClr val="1A99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Titre 3">
            <a:extLst>
              <a:ext uri="{FF2B5EF4-FFF2-40B4-BE49-F238E27FC236}">
                <a16:creationId xmlns:a16="http://schemas.microsoft.com/office/drawing/2014/main" id="{E416B16B-5C1E-8742-76B3-B03EA536A2B3}"/>
              </a:ext>
            </a:extLst>
          </p:cNvPr>
          <p:cNvSpPr txBox="1">
            <a:spLocks noGrp="1"/>
          </p:cNvSpPr>
          <p:nvPr>
            <p:ph type="title"/>
          </p:nvPr>
        </p:nvSpPr>
        <p:spPr>
          <a:xfrm>
            <a:off x="165062" y="144508"/>
            <a:ext cx="9310478" cy="649922"/>
          </a:xfrm>
          <a:prstGeom prst="rect">
            <a:avLst/>
          </a:prstGeom>
          <a:noFill/>
          <a:ln w="19050">
            <a:noFill/>
            <a:prstDash val="sysDash"/>
          </a:ln>
        </p:spPr>
        <p:txBody>
          <a:bodyPr wrap="square">
            <a:spAutoFit/>
          </a:bodyPr>
          <a:lstStyle/>
          <a:p>
            <a:r>
              <a:rPr lang="fr-FR" sz="4000" dirty="0">
                <a:solidFill>
                  <a:schemeClr val="bg1"/>
                </a:solidFill>
              </a:rPr>
              <a:t>Analyse du marché immobilier parisien</a:t>
            </a:r>
            <a:endParaRPr lang="fr-FR" sz="2400" dirty="0">
              <a:solidFill>
                <a:schemeClr val="bg1"/>
              </a:solidFill>
            </a:endParaRPr>
          </a:p>
        </p:txBody>
      </p:sp>
      <p:pic>
        <p:nvPicPr>
          <p:cNvPr id="24" name="Image 23">
            <a:extLst>
              <a:ext uri="{FF2B5EF4-FFF2-40B4-BE49-F238E27FC236}">
                <a16:creationId xmlns:a16="http://schemas.microsoft.com/office/drawing/2014/main" id="{FF9EC1AC-4909-7DB4-D8F7-504783420FE2}"/>
              </a:ext>
            </a:extLst>
          </p:cNvPr>
          <p:cNvPicPr>
            <a:picLocks noChangeAspect="1"/>
          </p:cNvPicPr>
          <p:nvPr/>
        </p:nvPicPr>
        <p:blipFill>
          <a:blip r:embed="rId4"/>
          <a:stretch>
            <a:fillRect/>
          </a:stretch>
        </p:blipFill>
        <p:spPr>
          <a:xfrm>
            <a:off x="568583" y="1358952"/>
            <a:ext cx="1114581" cy="200053"/>
          </a:xfrm>
          <a:prstGeom prst="rect">
            <a:avLst/>
          </a:prstGeom>
        </p:spPr>
      </p:pic>
    </p:spTree>
    <p:extLst>
      <p:ext uri="{BB962C8B-B14F-4D97-AF65-F5344CB8AC3E}">
        <p14:creationId xmlns:p14="http://schemas.microsoft.com/office/powerpoint/2010/main" val="1661241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xEl>
                                              <p:pRg st="2" end="2"/>
                                            </p:txEl>
                                          </p:spTgt>
                                        </p:tgtEl>
                                        <p:attrNameLst>
                                          <p:attrName>style.visibility</p:attrName>
                                        </p:attrNameLst>
                                      </p:cBhvr>
                                      <p:to>
                                        <p:strVal val="visible"/>
                                      </p:to>
                                    </p:set>
                                    <p:animEffect transition="in" filter="fade">
                                      <p:cBhvr>
                                        <p:cTn id="12" dur="500"/>
                                        <p:tgtEl>
                                          <p:spTgt spid="1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xEl>
                                              <p:pRg st="4" end="4"/>
                                            </p:txEl>
                                          </p:spTgt>
                                        </p:tgtEl>
                                        <p:attrNameLst>
                                          <p:attrName>style.visibility</p:attrName>
                                        </p:attrNameLst>
                                      </p:cBhvr>
                                      <p:to>
                                        <p:strVal val="visible"/>
                                      </p:to>
                                    </p:set>
                                    <p:animEffect transition="in" filter="fade">
                                      <p:cBhvr>
                                        <p:cTn id="17" dur="500"/>
                                        <p:tgtEl>
                                          <p:spTgt spid="12">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xEl>
                                              <p:pRg st="5" end="5"/>
                                            </p:txEl>
                                          </p:spTgt>
                                        </p:tgtEl>
                                        <p:attrNameLst>
                                          <p:attrName>style.visibility</p:attrName>
                                        </p:attrNameLst>
                                      </p:cBhvr>
                                      <p:to>
                                        <p:strVal val="visible"/>
                                      </p:to>
                                    </p:set>
                                    <p:animEffect transition="in" filter="fade">
                                      <p:cBhvr>
                                        <p:cTn id="22" dur="500"/>
                                        <p:tgtEl>
                                          <p:spTgt spid="1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2114C-445E-0457-E191-B2681C2CAECB}"/>
            </a:ext>
          </a:extLst>
        </p:cNvPr>
        <p:cNvGrpSpPr/>
        <p:nvPr/>
      </p:nvGrpSpPr>
      <p:grpSpPr>
        <a:xfrm>
          <a:off x="0" y="0"/>
          <a:ext cx="0" cy="0"/>
          <a:chOff x="0" y="0"/>
          <a:chExt cx="0" cy="0"/>
        </a:xfrm>
      </p:grpSpPr>
      <p:sp>
        <p:nvSpPr>
          <p:cNvPr id="8" name="ZoneTexte 7">
            <a:extLst>
              <a:ext uri="{FF2B5EF4-FFF2-40B4-BE49-F238E27FC236}">
                <a16:creationId xmlns:a16="http://schemas.microsoft.com/office/drawing/2014/main" id="{DF3655F9-EA97-17AF-30A7-32F038CB4767}"/>
              </a:ext>
            </a:extLst>
          </p:cNvPr>
          <p:cNvSpPr txBox="1"/>
          <p:nvPr/>
        </p:nvSpPr>
        <p:spPr>
          <a:xfrm>
            <a:off x="7058482" y="2413337"/>
            <a:ext cx="4787822" cy="2462213"/>
          </a:xfrm>
          <a:prstGeom prst="rect">
            <a:avLst/>
          </a:prstGeom>
          <a:noFill/>
        </p:spPr>
        <p:txBody>
          <a:bodyPr wrap="square">
            <a:spAutoFit/>
          </a:bodyPr>
          <a:lstStyle/>
          <a:p>
            <a:r>
              <a:rPr lang="fr-FR" sz="1400" b="1" dirty="0"/>
              <a:t>corrélation de Spearman </a:t>
            </a:r>
            <a:r>
              <a:rPr lang="fr-FR" sz="1400" dirty="0"/>
              <a:t>élevée :0,998.</a:t>
            </a:r>
          </a:p>
          <a:p>
            <a:r>
              <a:rPr lang="fr-FR" sz="1400" b="1" dirty="0"/>
              <a:t>p-value</a:t>
            </a:r>
            <a:r>
              <a:rPr lang="fr-FR" sz="1400" dirty="0"/>
              <a:t> extrêmement faible (proche de 0,0).</a:t>
            </a:r>
          </a:p>
          <a:p>
            <a:endParaRPr lang="fr-FR" sz="1400" dirty="0"/>
          </a:p>
          <a:p>
            <a:r>
              <a:rPr lang="fr-FR" sz="1400" b="1" dirty="0"/>
              <a:t>Corrélation de Pearson </a:t>
            </a:r>
            <a:r>
              <a:rPr lang="fr-FR" sz="1400" dirty="0"/>
              <a:t>: 0,998</a:t>
            </a:r>
          </a:p>
          <a:p>
            <a:r>
              <a:rPr lang="fr-FR" sz="1400" b="1" dirty="0"/>
              <a:t>p-value</a:t>
            </a:r>
            <a:r>
              <a:rPr lang="fr-FR" sz="1400" dirty="0"/>
              <a:t> extrêmement faible (proche de 0,0).</a:t>
            </a:r>
          </a:p>
          <a:p>
            <a:endParaRPr lang="fr-FR" sz="1400" dirty="0"/>
          </a:p>
          <a:p>
            <a:endParaRPr lang="fr-FR" sz="1400" dirty="0"/>
          </a:p>
          <a:p>
            <a:r>
              <a:rPr lang="fr-FR" sz="1400" b="1" dirty="0"/>
              <a:t>Conclusion : </a:t>
            </a:r>
          </a:p>
          <a:p>
            <a:r>
              <a:rPr lang="fr-FR" sz="1400" dirty="0"/>
              <a:t>La surface a une relation très forte sur la valeur foncière. Cette relation est statistiquement fiable et n’est pas due au hasard.</a:t>
            </a:r>
          </a:p>
        </p:txBody>
      </p:sp>
      <p:sp>
        <p:nvSpPr>
          <p:cNvPr id="11" name="Flèche : droite 10">
            <a:extLst>
              <a:ext uri="{FF2B5EF4-FFF2-40B4-BE49-F238E27FC236}">
                <a16:creationId xmlns:a16="http://schemas.microsoft.com/office/drawing/2014/main" id="{50B1A02F-8A86-D37D-0FD4-F79DC267A945}"/>
              </a:ext>
            </a:extLst>
          </p:cNvPr>
          <p:cNvSpPr/>
          <p:nvPr/>
        </p:nvSpPr>
        <p:spPr>
          <a:xfrm>
            <a:off x="6728411" y="2578690"/>
            <a:ext cx="194158" cy="131975"/>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a:p>
        </p:txBody>
      </p:sp>
      <p:sp>
        <p:nvSpPr>
          <p:cNvPr id="12" name="Flèche : droite 11">
            <a:extLst>
              <a:ext uri="{FF2B5EF4-FFF2-40B4-BE49-F238E27FC236}">
                <a16:creationId xmlns:a16="http://schemas.microsoft.com/office/drawing/2014/main" id="{637600F3-9FE0-08F5-420B-CA7766D179BD}"/>
              </a:ext>
            </a:extLst>
          </p:cNvPr>
          <p:cNvSpPr/>
          <p:nvPr/>
        </p:nvSpPr>
        <p:spPr>
          <a:xfrm>
            <a:off x="6728411" y="3171000"/>
            <a:ext cx="194158" cy="131975"/>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a:p>
        </p:txBody>
      </p:sp>
      <p:sp>
        <p:nvSpPr>
          <p:cNvPr id="4" name="ZoneTexte 3">
            <a:extLst>
              <a:ext uri="{FF2B5EF4-FFF2-40B4-BE49-F238E27FC236}">
                <a16:creationId xmlns:a16="http://schemas.microsoft.com/office/drawing/2014/main" id="{3550604F-A520-A5FC-45E4-9CBD52F5DCDC}"/>
              </a:ext>
            </a:extLst>
          </p:cNvPr>
          <p:cNvSpPr txBox="1"/>
          <p:nvPr/>
        </p:nvSpPr>
        <p:spPr>
          <a:xfrm>
            <a:off x="735983" y="2832446"/>
            <a:ext cx="4795346" cy="338554"/>
          </a:xfrm>
          <a:prstGeom prst="rect">
            <a:avLst/>
          </a:prstGeom>
          <a:noFill/>
        </p:spPr>
        <p:txBody>
          <a:bodyPr wrap="square" rtlCol="0">
            <a:spAutoFit/>
          </a:bodyPr>
          <a:lstStyle/>
          <a:p>
            <a:r>
              <a:rPr lang="fr-FR" sz="1600" b="1" dirty="0"/>
              <a:t>Corrélation entre la valeur foncière et la surface</a:t>
            </a:r>
          </a:p>
        </p:txBody>
      </p:sp>
      <p:cxnSp>
        <p:nvCxnSpPr>
          <p:cNvPr id="5" name="Connecteur droit 4">
            <a:extLst>
              <a:ext uri="{FF2B5EF4-FFF2-40B4-BE49-F238E27FC236}">
                <a16:creationId xmlns:a16="http://schemas.microsoft.com/office/drawing/2014/main" id="{01F73196-D02D-1B61-93C2-94E958B124A1}"/>
              </a:ext>
            </a:extLst>
          </p:cNvPr>
          <p:cNvCxnSpPr/>
          <p:nvPr/>
        </p:nvCxnSpPr>
        <p:spPr>
          <a:xfrm>
            <a:off x="6005683" y="665399"/>
            <a:ext cx="0" cy="5844619"/>
          </a:xfrm>
          <a:prstGeom prst="line">
            <a:avLst/>
          </a:prstGeom>
          <a:ln w="9525"/>
        </p:spPr>
        <p:style>
          <a:lnRef idx="2">
            <a:schemeClr val="dk1"/>
          </a:lnRef>
          <a:fillRef idx="0">
            <a:schemeClr val="dk1"/>
          </a:fillRef>
          <a:effectRef idx="1">
            <a:schemeClr val="dk1"/>
          </a:effectRef>
          <a:fontRef idx="minor">
            <a:schemeClr val="tx1"/>
          </a:fontRef>
        </p:style>
      </p:cxnSp>
      <p:sp>
        <p:nvSpPr>
          <p:cNvPr id="9" name="ZoneTexte 8">
            <a:extLst>
              <a:ext uri="{FF2B5EF4-FFF2-40B4-BE49-F238E27FC236}">
                <a16:creationId xmlns:a16="http://schemas.microsoft.com/office/drawing/2014/main" id="{94751949-AA0A-7B5A-FB73-3B6E1F4438E5}"/>
              </a:ext>
            </a:extLst>
          </p:cNvPr>
          <p:cNvSpPr txBox="1"/>
          <p:nvPr/>
        </p:nvSpPr>
        <p:spPr>
          <a:xfrm>
            <a:off x="224498" y="1192593"/>
            <a:ext cx="4447149" cy="400110"/>
          </a:xfrm>
          <a:prstGeom prst="rect">
            <a:avLst/>
          </a:prstGeom>
          <a:noFill/>
        </p:spPr>
        <p:txBody>
          <a:bodyPr wrap="square">
            <a:spAutoFit/>
          </a:bodyPr>
          <a:lstStyle/>
          <a:p>
            <a:pPr algn="l">
              <a:buNone/>
            </a:pPr>
            <a:r>
              <a:rPr lang="fr-FR" sz="2000" b="1" dirty="0">
                <a:latin typeface="Google Sans Text"/>
              </a:rPr>
              <a:t>Corrélations</a:t>
            </a:r>
          </a:p>
        </p:txBody>
      </p:sp>
      <p:pic>
        <p:nvPicPr>
          <p:cNvPr id="15" name="Image 14">
            <a:extLst>
              <a:ext uri="{FF2B5EF4-FFF2-40B4-BE49-F238E27FC236}">
                <a16:creationId xmlns:a16="http://schemas.microsoft.com/office/drawing/2014/main" id="{D95FA998-474F-185B-8475-F6DAAD1E16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010" y="3722912"/>
            <a:ext cx="1219048" cy="1219048"/>
          </a:xfrm>
          <a:prstGeom prst="rect">
            <a:avLst/>
          </a:prstGeom>
        </p:spPr>
      </p:pic>
      <p:pic>
        <p:nvPicPr>
          <p:cNvPr id="17" name="Image 16">
            <a:extLst>
              <a:ext uri="{FF2B5EF4-FFF2-40B4-BE49-F238E27FC236}">
                <a16:creationId xmlns:a16="http://schemas.microsoft.com/office/drawing/2014/main" id="{8519CAFB-9B43-24AC-A6C0-F6E614B992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9553" y="3722912"/>
            <a:ext cx="1219048" cy="1219048"/>
          </a:xfrm>
          <a:prstGeom prst="rect">
            <a:avLst/>
          </a:prstGeom>
        </p:spPr>
      </p:pic>
      <p:sp>
        <p:nvSpPr>
          <p:cNvPr id="18" name="Flèche : double flèche horizontale 17">
            <a:extLst>
              <a:ext uri="{FF2B5EF4-FFF2-40B4-BE49-F238E27FC236}">
                <a16:creationId xmlns:a16="http://schemas.microsoft.com/office/drawing/2014/main" id="{DCFC13EC-A905-57FD-49D2-36FF9BF4A0BF}"/>
              </a:ext>
            </a:extLst>
          </p:cNvPr>
          <p:cNvSpPr/>
          <p:nvPr/>
        </p:nvSpPr>
        <p:spPr>
          <a:xfrm>
            <a:off x="2583626" y="4275385"/>
            <a:ext cx="618309" cy="338554"/>
          </a:xfrm>
          <a:prstGeom prst="leftRightArrow">
            <a:avLst/>
          </a:prstGeom>
          <a:solidFill>
            <a:schemeClr val="tx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18">
            <a:extLst>
              <a:ext uri="{FF2B5EF4-FFF2-40B4-BE49-F238E27FC236}">
                <a16:creationId xmlns:a16="http://schemas.microsoft.com/office/drawing/2014/main" id="{9806717F-E0A9-B49C-B71A-1FC926A61CA2}"/>
              </a:ext>
            </a:extLst>
          </p:cNvPr>
          <p:cNvSpPr/>
          <p:nvPr/>
        </p:nvSpPr>
        <p:spPr>
          <a:xfrm>
            <a:off x="0" y="0"/>
            <a:ext cx="12192000" cy="918734"/>
          </a:xfrm>
          <a:prstGeom prst="rect">
            <a:avLst/>
          </a:prstGeom>
          <a:solidFill>
            <a:srgbClr val="1A99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Titre 3">
            <a:extLst>
              <a:ext uri="{FF2B5EF4-FFF2-40B4-BE49-F238E27FC236}">
                <a16:creationId xmlns:a16="http://schemas.microsoft.com/office/drawing/2014/main" id="{0C4FC114-5336-D3C9-E269-A9CB5BC255FA}"/>
              </a:ext>
            </a:extLst>
          </p:cNvPr>
          <p:cNvSpPr txBox="1">
            <a:spLocks noGrp="1"/>
          </p:cNvSpPr>
          <p:nvPr>
            <p:ph type="title"/>
          </p:nvPr>
        </p:nvSpPr>
        <p:spPr>
          <a:xfrm>
            <a:off x="165062" y="144508"/>
            <a:ext cx="9310478" cy="649922"/>
          </a:xfrm>
          <a:prstGeom prst="rect">
            <a:avLst/>
          </a:prstGeom>
          <a:noFill/>
          <a:ln w="19050">
            <a:noFill/>
            <a:prstDash val="sysDash"/>
          </a:ln>
        </p:spPr>
        <p:txBody>
          <a:bodyPr wrap="square">
            <a:spAutoFit/>
          </a:bodyPr>
          <a:lstStyle/>
          <a:p>
            <a:r>
              <a:rPr lang="fr-FR" sz="4000" dirty="0">
                <a:solidFill>
                  <a:schemeClr val="bg1"/>
                </a:solidFill>
              </a:rPr>
              <a:t>I. Analyse du marché immobilier parisien</a:t>
            </a:r>
            <a:endParaRPr lang="fr-FR" sz="2400" dirty="0">
              <a:solidFill>
                <a:schemeClr val="bg1"/>
              </a:solidFill>
            </a:endParaRPr>
          </a:p>
        </p:txBody>
      </p:sp>
      <p:pic>
        <p:nvPicPr>
          <p:cNvPr id="23" name="Image 22">
            <a:extLst>
              <a:ext uri="{FF2B5EF4-FFF2-40B4-BE49-F238E27FC236}">
                <a16:creationId xmlns:a16="http://schemas.microsoft.com/office/drawing/2014/main" id="{FDD1C566-EB6D-5580-A66A-50BAF8D3CBA2}"/>
              </a:ext>
            </a:extLst>
          </p:cNvPr>
          <p:cNvPicPr>
            <a:picLocks noChangeAspect="1"/>
          </p:cNvPicPr>
          <p:nvPr/>
        </p:nvPicPr>
        <p:blipFill>
          <a:blip r:embed="rId4"/>
          <a:stretch>
            <a:fillRect/>
          </a:stretch>
        </p:blipFill>
        <p:spPr>
          <a:xfrm>
            <a:off x="224498" y="1528008"/>
            <a:ext cx="1114581" cy="200053"/>
          </a:xfrm>
          <a:prstGeom prst="rect">
            <a:avLst/>
          </a:prstGeom>
        </p:spPr>
      </p:pic>
    </p:spTree>
    <p:extLst>
      <p:ext uri="{BB962C8B-B14F-4D97-AF65-F5344CB8AC3E}">
        <p14:creationId xmlns:p14="http://schemas.microsoft.com/office/powerpoint/2010/main" val="4117396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fade">
                                      <p:cBhvr>
                                        <p:cTn id="10" dur="500"/>
                                        <p:tgtEl>
                                          <p:spTgt spid="8">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animEffect transition="in" filter="fade">
                                      <p:cBhvr>
                                        <p:cTn id="15" dur="500"/>
                                        <p:tgtEl>
                                          <p:spTgt spid="8">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8">
                                            <p:txEl>
                                              <p:pRg st="4" end="4"/>
                                            </p:txEl>
                                          </p:spTgt>
                                        </p:tgtEl>
                                        <p:attrNameLst>
                                          <p:attrName>style.visibility</p:attrName>
                                        </p:attrNameLst>
                                      </p:cBhvr>
                                      <p:to>
                                        <p:strVal val="visible"/>
                                      </p:to>
                                    </p:set>
                                    <p:animEffect transition="in" filter="fade">
                                      <p:cBhvr>
                                        <p:cTn id="18" dur="500"/>
                                        <p:tgtEl>
                                          <p:spTgt spid="8">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8">
                                            <p:txEl>
                                              <p:pRg st="7" end="7"/>
                                            </p:txEl>
                                          </p:spTgt>
                                        </p:tgtEl>
                                        <p:attrNameLst>
                                          <p:attrName>style.visibility</p:attrName>
                                        </p:attrNameLst>
                                      </p:cBhvr>
                                      <p:to>
                                        <p:strVal val="visible"/>
                                      </p:to>
                                    </p:set>
                                    <p:animEffect transition="in" filter="fade">
                                      <p:cBhvr>
                                        <p:cTn id="23" dur="500"/>
                                        <p:tgtEl>
                                          <p:spTgt spid="8">
                                            <p:txEl>
                                              <p:pRg st="7" end="7"/>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8">
                                            <p:txEl>
                                              <p:pRg st="8" end="8"/>
                                            </p:txEl>
                                          </p:spTgt>
                                        </p:tgtEl>
                                        <p:attrNameLst>
                                          <p:attrName>style.visibility</p:attrName>
                                        </p:attrNameLst>
                                      </p:cBhvr>
                                      <p:to>
                                        <p:strVal val="visible"/>
                                      </p:to>
                                    </p:set>
                                    <p:animEffect transition="in" filter="fade">
                                      <p:cBhvr>
                                        <p:cTn id="26" dur="500"/>
                                        <p:tgtEl>
                                          <p:spTgt spid="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2783D-3C09-7F84-AF23-C5C854E18BC8}"/>
            </a:ext>
          </a:extLst>
        </p:cNvPr>
        <p:cNvGrpSpPr/>
        <p:nvPr/>
      </p:nvGrpSpPr>
      <p:grpSpPr>
        <a:xfrm>
          <a:off x="0" y="0"/>
          <a:ext cx="0" cy="0"/>
          <a:chOff x="0" y="0"/>
          <a:chExt cx="0" cy="0"/>
        </a:xfrm>
      </p:grpSpPr>
      <p:sp>
        <p:nvSpPr>
          <p:cNvPr id="8" name="ZoneTexte 7">
            <a:extLst>
              <a:ext uri="{FF2B5EF4-FFF2-40B4-BE49-F238E27FC236}">
                <a16:creationId xmlns:a16="http://schemas.microsoft.com/office/drawing/2014/main" id="{062C381A-1F82-1074-410C-82AC62077F32}"/>
              </a:ext>
            </a:extLst>
          </p:cNvPr>
          <p:cNvSpPr txBox="1"/>
          <p:nvPr/>
        </p:nvSpPr>
        <p:spPr>
          <a:xfrm>
            <a:off x="7004020" y="2305615"/>
            <a:ext cx="5118310" cy="2462213"/>
          </a:xfrm>
          <a:prstGeom prst="rect">
            <a:avLst/>
          </a:prstGeom>
          <a:noFill/>
        </p:spPr>
        <p:txBody>
          <a:bodyPr wrap="square">
            <a:spAutoFit/>
          </a:bodyPr>
          <a:lstStyle/>
          <a:p>
            <a:r>
              <a:rPr lang="fr-FR" sz="1400" b="1" dirty="0"/>
              <a:t>corrélation de Spearman </a:t>
            </a:r>
            <a:r>
              <a:rPr lang="fr-FR" sz="1400" dirty="0"/>
              <a:t>élevée : 0.898.</a:t>
            </a:r>
          </a:p>
          <a:p>
            <a:r>
              <a:rPr lang="fr-FR" sz="1400" dirty="0"/>
              <a:t>Une </a:t>
            </a:r>
            <a:r>
              <a:rPr lang="fr-FR" sz="1400" b="1" dirty="0"/>
              <a:t>p-value</a:t>
            </a:r>
            <a:r>
              <a:rPr lang="fr-FR" sz="1400" dirty="0"/>
              <a:t> extrêmement faible (proche de 0).</a:t>
            </a:r>
          </a:p>
          <a:p>
            <a:endParaRPr lang="fr-FR" sz="1400" dirty="0"/>
          </a:p>
          <a:p>
            <a:r>
              <a:rPr lang="fr-FR" sz="1400" b="1" dirty="0"/>
              <a:t>Corrélation de de Pearson </a:t>
            </a:r>
            <a:r>
              <a:rPr lang="fr-FR" sz="1400" dirty="0"/>
              <a:t>de 0,892</a:t>
            </a:r>
          </a:p>
          <a:p>
            <a:r>
              <a:rPr lang="fr-FR" sz="1400" dirty="0"/>
              <a:t>Une </a:t>
            </a:r>
            <a:r>
              <a:rPr lang="fr-FR" sz="1400" b="1" dirty="0"/>
              <a:t>p-value</a:t>
            </a:r>
            <a:r>
              <a:rPr lang="fr-FR" sz="1400" dirty="0"/>
              <a:t> extrêmement faible (proche de 0).</a:t>
            </a:r>
          </a:p>
          <a:p>
            <a:endParaRPr lang="fr-FR" sz="1400" dirty="0"/>
          </a:p>
          <a:p>
            <a:r>
              <a:rPr lang="fr-FR" sz="1400" b="1" dirty="0"/>
              <a:t>Conclusion : </a:t>
            </a:r>
          </a:p>
          <a:p>
            <a:r>
              <a:rPr lang="fr-FR" sz="1400" dirty="0"/>
              <a:t>le temps exerce une influence sur l’évolution des prix</a:t>
            </a:r>
          </a:p>
          <a:p>
            <a:r>
              <a:rPr lang="fr-FR" sz="1400" dirty="0"/>
              <a:t>La corrélation est positive et forte</a:t>
            </a:r>
          </a:p>
          <a:p>
            <a:r>
              <a:rPr lang="fr-FR" sz="1400" dirty="0"/>
              <a:t>La p-value obtenue indique une grande fiabilité statistique.</a:t>
            </a:r>
          </a:p>
        </p:txBody>
      </p:sp>
      <p:sp>
        <p:nvSpPr>
          <p:cNvPr id="11" name="Flèche : droite 10">
            <a:extLst>
              <a:ext uri="{FF2B5EF4-FFF2-40B4-BE49-F238E27FC236}">
                <a16:creationId xmlns:a16="http://schemas.microsoft.com/office/drawing/2014/main" id="{F7583B11-E629-3871-077B-794F2992A4C3}"/>
              </a:ext>
            </a:extLst>
          </p:cNvPr>
          <p:cNvSpPr/>
          <p:nvPr/>
        </p:nvSpPr>
        <p:spPr>
          <a:xfrm>
            <a:off x="6723017" y="2470968"/>
            <a:ext cx="165295" cy="131975"/>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a:p>
        </p:txBody>
      </p:sp>
      <p:sp>
        <p:nvSpPr>
          <p:cNvPr id="12" name="Flèche : droite 11">
            <a:extLst>
              <a:ext uri="{FF2B5EF4-FFF2-40B4-BE49-F238E27FC236}">
                <a16:creationId xmlns:a16="http://schemas.microsoft.com/office/drawing/2014/main" id="{E84FA302-E5F0-C432-000A-49A3D67E44D9}"/>
              </a:ext>
            </a:extLst>
          </p:cNvPr>
          <p:cNvSpPr/>
          <p:nvPr/>
        </p:nvSpPr>
        <p:spPr>
          <a:xfrm>
            <a:off x="6723017" y="3063278"/>
            <a:ext cx="165295" cy="131975"/>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a:p>
        </p:txBody>
      </p:sp>
      <p:sp>
        <p:nvSpPr>
          <p:cNvPr id="4" name="ZoneTexte 3">
            <a:extLst>
              <a:ext uri="{FF2B5EF4-FFF2-40B4-BE49-F238E27FC236}">
                <a16:creationId xmlns:a16="http://schemas.microsoft.com/office/drawing/2014/main" id="{FE77027C-623F-E737-CE62-23D0FAEDBAC0}"/>
              </a:ext>
            </a:extLst>
          </p:cNvPr>
          <p:cNvSpPr txBox="1"/>
          <p:nvPr/>
        </p:nvSpPr>
        <p:spPr>
          <a:xfrm>
            <a:off x="1111827" y="2959988"/>
            <a:ext cx="4490623" cy="338554"/>
          </a:xfrm>
          <a:prstGeom prst="rect">
            <a:avLst/>
          </a:prstGeom>
          <a:noFill/>
        </p:spPr>
        <p:txBody>
          <a:bodyPr wrap="square" rtlCol="0">
            <a:spAutoFit/>
          </a:bodyPr>
          <a:lstStyle/>
          <a:p>
            <a:r>
              <a:rPr lang="fr-FR" sz="1600" b="1" dirty="0"/>
              <a:t>Corrélation entre le prix au m² et l’année</a:t>
            </a:r>
          </a:p>
        </p:txBody>
      </p:sp>
      <p:cxnSp>
        <p:nvCxnSpPr>
          <p:cNvPr id="5" name="Connecteur droit 4">
            <a:extLst>
              <a:ext uri="{FF2B5EF4-FFF2-40B4-BE49-F238E27FC236}">
                <a16:creationId xmlns:a16="http://schemas.microsoft.com/office/drawing/2014/main" id="{2BA6DFF9-DA9F-D0D8-630E-24DD4C963E2F}"/>
              </a:ext>
            </a:extLst>
          </p:cNvPr>
          <p:cNvCxnSpPr/>
          <p:nvPr/>
        </p:nvCxnSpPr>
        <p:spPr>
          <a:xfrm>
            <a:off x="6014391" y="658850"/>
            <a:ext cx="0" cy="5844619"/>
          </a:xfrm>
          <a:prstGeom prst="line">
            <a:avLst/>
          </a:prstGeom>
          <a:ln w="9525"/>
        </p:spPr>
        <p:style>
          <a:lnRef idx="2">
            <a:schemeClr val="dk1"/>
          </a:lnRef>
          <a:fillRef idx="0">
            <a:schemeClr val="dk1"/>
          </a:fillRef>
          <a:effectRef idx="1">
            <a:schemeClr val="dk1"/>
          </a:effectRef>
          <a:fontRef idx="minor">
            <a:schemeClr val="tx1"/>
          </a:fontRef>
        </p:style>
      </p:cxnSp>
      <p:pic>
        <p:nvPicPr>
          <p:cNvPr id="15" name="Image 14">
            <a:extLst>
              <a:ext uri="{FF2B5EF4-FFF2-40B4-BE49-F238E27FC236}">
                <a16:creationId xmlns:a16="http://schemas.microsoft.com/office/drawing/2014/main" id="{CEED5970-C787-036B-7431-4DBD00BBAE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3137" y="3672671"/>
            <a:ext cx="1219048" cy="1219048"/>
          </a:xfrm>
          <a:prstGeom prst="rect">
            <a:avLst/>
          </a:prstGeom>
        </p:spPr>
      </p:pic>
      <p:pic>
        <p:nvPicPr>
          <p:cNvPr id="16" name="Image 15">
            <a:extLst>
              <a:ext uri="{FF2B5EF4-FFF2-40B4-BE49-F238E27FC236}">
                <a16:creationId xmlns:a16="http://schemas.microsoft.com/office/drawing/2014/main" id="{E049C52E-B6F2-56F1-4D4B-4D4E9D5B20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4592" y="3559459"/>
            <a:ext cx="1219048" cy="1219048"/>
          </a:xfrm>
          <a:prstGeom prst="rect">
            <a:avLst/>
          </a:prstGeom>
        </p:spPr>
      </p:pic>
      <p:sp>
        <p:nvSpPr>
          <p:cNvPr id="17" name="Flèche : double flèche horizontale 16">
            <a:extLst>
              <a:ext uri="{FF2B5EF4-FFF2-40B4-BE49-F238E27FC236}">
                <a16:creationId xmlns:a16="http://schemas.microsoft.com/office/drawing/2014/main" id="{EC99B87D-0064-3C24-6F63-689871C5FE62}"/>
              </a:ext>
            </a:extLst>
          </p:cNvPr>
          <p:cNvSpPr/>
          <p:nvPr/>
        </p:nvSpPr>
        <p:spPr>
          <a:xfrm>
            <a:off x="2738829" y="4112918"/>
            <a:ext cx="618309" cy="338554"/>
          </a:xfrm>
          <a:prstGeom prst="leftRightArrow">
            <a:avLst/>
          </a:prstGeom>
          <a:solidFill>
            <a:schemeClr val="tx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ZoneTexte 17">
            <a:extLst>
              <a:ext uri="{FF2B5EF4-FFF2-40B4-BE49-F238E27FC236}">
                <a16:creationId xmlns:a16="http://schemas.microsoft.com/office/drawing/2014/main" id="{9A4227A6-03AE-41D6-84AA-965ABE9C3A90}"/>
              </a:ext>
            </a:extLst>
          </p:cNvPr>
          <p:cNvSpPr txBox="1"/>
          <p:nvPr/>
        </p:nvSpPr>
        <p:spPr>
          <a:xfrm>
            <a:off x="224498" y="1192593"/>
            <a:ext cx="4447149" cy="400110"/>
          </a:xfrm>
          <a:prstGeom prst="rect">
            <a:avLst/>
          </a:prstGeom>
          <a:noFill/>
        </p:spPr>
        <p:txBody>
          <a:bodyPr wrap="square">
            <a:spAutoFit/>
          </a:bodyPr>
          <a:lstStyle/>
          <a:p>
            <a:pPr algn="l">
              <a:buNone/>
            </a:pPr>
            <a:r>
              <a:rPr lang="fr-FR" sz="2000" b="1" dirty="0">
                <a:latin typeface="Google Sans Text"/>
              </a:rPr>
              <a:t>Corrélations</a:t>
            </a:r>
          </a:p>
        </p:txBody>
      </p:sp>
      <p:sp>
        <p:nvSpPr>
          <p:cNvPr id="19" name="Rectangle 18">
            <a:extLst>
              <a:ext uri="{FF2B5EF4-FFF2-40B4-BE49-F238E27FC236}">
                <a16:creationId xmlns:a16="http://schemas.microsoft.com/office/drawing/2014/main" id="{AEBDB39D-DD10-4253-E595-5323CE84433D}"/>
              </a:ext>
            </a:extLst>
          </p:cNvPr>
          <p:cNvSpPr/>
          <p:nvPr/>
        </p:nvSpPr>
        <p:spPr>
          <a:xfrm>
            <a:off x="0" y="0"/>
            <a:ext cx="12192000" cy="918734"/>
          </a:xfrm>
          <a:prstGeom prst="rect">
            <a:avLst/>
          </a:prstGeom>
          <a:solidFill>
            <a:srgbClr val="1A99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Titre 3">
            <a:extLst>
              <a:ext uri="{FF2B5EF4-FFF2-40B4-BE49-F238E27FC236}">
                <a16:creationId xmlns:a16="http://schemas.microsoft.com/office/drawing/2014/main" id="{E063219D-CDE8-31F0-B98E-5ABC0BEAD3C3}"/>
              </a:ext>
            </a:extLst>
          </p:cNvPr>
          <p:cNvSpPr txBox="1">
            <a:spLocks noGrp="1"/>
          </p:cNvSpPr>
          <p:nvPr>
            <p:ph type="title"/>
          </p:nvPr>
        </p:nvSpPr>
        <p:spPr>
          <a:xfrm>
            <a:off x="165062" y="144508"/>
            <a:ext cx="9310478" cy="649922"/>
          </a:xfrm>
          <a:prstGeom prst="rect">
            <a:avLst/>
          </a:prstGeom>
          <a:noFill/>
          <a:ln w="19050">
            <a:noFill/>
            <a:prstDash val="sysDash"/>
          </a:ln>
        </p:spPr>
        <p:txBody>
          <a:bodyPr wrap="square">
            <a:spAutoFit/>
          </a:bodyPr>
          <a:lstStyle/>
          <a:p>
            <a:r>
              <a:rPr lang="fr-FR" sz="4000" dirty="0">
                <a:solidFill>
                  <a:schemeClr val="bg1"/>
                </a:solidFill>
              </a:rPr>
              <a:t>I. Analyse du marché immobilier parisien</a:t>
            </a:r>
            <a:endParaRPr lang="fr-FR" sz="2400" dirty="0">
              <a:solidFill>
                <a:schemeClr val="bg1"/>
              </a:solidFill>
            </a:endParaRPr>
          </a:p>
        </p:txBody>
      </p:sp>
      <p:pic>
        <p:nvPicPr>
          <p:cNvPr id="21" name="Image 20">
            <a:extLst>
              <a:ext uri="{FF2B5EF4-FFF2-40B4-BE49-F238E27FC236}">
                <a16:creationId xmlns:a16="http://schemas.microsoft.com/office/drawing/2014/main" id="{CFE3F3A5-B2B4-2DE9-3B9A-3BCBAE897BF1}"/>
              </a:ext>
            </a:extLst>
          </p:cNvPr>
          <p:cNvPicPr>
            <a:picLocks noChangeAspect="1"/>
          </p:cNvPicPr>
          <p:nvPr/>
        </p:nvPicPr>
        <p:blipFill>
          <a:blip r:embed="rId4"/>
          <a:stretch>
            <a:fillRect/>
          </a:stretch>
        </p:blipFill>
        <p:spPr>
          <a:xfrm>
            <a:off x="224498" y="1528008"/>
            <a:ext cx="1114581" cy="200053"/>
          </a:xfrm>
          <a:prstGeom prst="rect">
            <a:avLst/>
          </a:prstGeom>
        </p:spPr>
      </p:pic>
    </p:spTree>
    <p:extLst>
      <p:ext uri="{BB962C8B-B14F-4D97-AF65-F5344CB8AC3E}">
        <p14:creationId xmlns:p14="http://schemas.microsoft.com/office/powerpoint/2010/main" val="3417479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fade">
                                      <p:cBhvr>
                                        <p:cTn id="10" dur="500"/>
                                        <p:tgtEl>
                                          <p:spTgt spid="8">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animEffect transition="in" filter="fade">
                                      <p:cBhvr>
                                        <p:cTn id="15" dur="500"/>
                                        <p:tgtEl>
                                          <p:spTgt spid="8">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8">
                                            <p:txEl>
                                              <p:pRg st="4" end="4"/>
                                            </p:txEl>
                                          </p:spTgt>
                                        </p:tgtEl>
                                        <p:attrNameLst>
                                          <p:attrName>style.visibility</p:attrName>
                                        </p:attrNameLst>
                                      </p:cBhvr>
                                      <p:to>
                                        <p:strVal val="visible"/>
                                      </p:to>
                                    </p:set>
                                    <p:animEffect transition="in" filter="fade">
                                      <p:cBhvr>
                                        <p:cTn id="18" dur="500"/>
                                        <p:tgtEl>
                                          <p:spTgt spid="8">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8">
                                            <p:txEl>
                                              <p:pRg st="6" end="6"/>
                                            </p:txEl>
                                          </p:spTgt>
                                        </p:tgtEl>
                                        <p:attrNameLst>
                                          <p:attrName>style.visibility</p:attrName>
                                        </p:attrNameLst>
                                      </p:cBhvr>
                                      <p:to>
                                        <p:strVal val="visible"/>
                                      </p:to>
                                    </p:set>
                                    <p:animEffect transition="in" filter="fade">
                                      <p:cBhvr>
                                        <p:cTn id="23" dur="500"/>
                                        <p:tgtEl>
                                          <p:spTgt spid="8">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8">
                                            <p:txEl>
                                              <p:pRg st="7" end="7"/>
                                            </p:txEl>
                                          </p:spTgt>
                                        </p:tgtEl>
                                        <p:attrNameLst>
                                          <p:attrName>style.visibility</p:attrName>
                                        </p:attrNameLst>
                                      </p:cBhvr>
                                      <p:to>
                                        <p:strVal val="visible"/>
                                      </p:to>
                                    </p:set>
                                    <p:animEffect transition="in" filter="fade">
                                      <p:cBhvr>
                                        <p:cTn id="26" dur="500"/>
                                        <p:tgtEl>
                                          <p:spTgt spid="8">
                                            <p:txEl>
                                              <p:pRg st="7" end="7"/>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8">
                                            <p:txEl>
                                              <p:pRg st="8" end="8"/>
                                            </p:txEl>
                                          </p:spTgt>
                                        </p:tgtEl>
                                        <p:attrNameLst>
                                          <p:attrName>style.visibility</p:attrName>
                                        </p:attrNameLst>
                                      </p:cBhvr>
                                      <p:to>
                                        <p:strVal val="visible"/>
                                      </p:to>
                                    </p:set>
                                    <p:animEffect transition="in" filter="fade">
                                      <p:cBhvr>
                                        <p:cTn id="29" dur="500"/>
                                        <p:tgtEl>
                                          <p:spTgt spid="8">
                                            <p:txEl>
                                              <p:pRg st="8" end="8"/>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8">
                                            <p:txEl>
                                              <p:pRg st="9" end="9"/>
                                            </p:txEl>
                                          </p:spTgt>
                                        </p:tgtEl>
                                        <p:attrNameLst>
                                          <p:attrName>style.visibility</p:attrName>
                                        </p:attrNameLst>
                                      </p:cBhvr>
                                      <p:to>
                                        <p:strVal val="visible"/>
                                      </p:to>
                                    </p:set>
                                    <p:animEffect transition="in" filter="fade">
                                      <p:cBhvr>
                                        <p:cTn id="32" dur="500"/>
                                        <p:tgtEl>
                                          <p:spTgt spid="8">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71F84-2145-81D5-C9D0-65D855174FBF}"/>
            </a:ext>
          </a:extLst>
        </p:cNvPr>
        <p:cNvGrpSpPr/>
        <p:nvPr/>
      </p:nvGrpSpPr>
      <p:grpSpPr>
        <a:xfrm>
          <a:off x="0" y="0"/>
          <a:ext cx="0" cy="0"/>
          <a:chOff x="0" y="0"/>
          <a:chExt cx="0" cy="0"/>
        </a:xfrm>
      </p:grpSpPr>
      <p:pic>
        <p:nvPicPr>
          <p:cNvPr id="10" name="Image 9">
            <a:extLst>
              <a:ext uri="{FF2B5EF4-FFF2-40B4-BE49-F238E27FC236}">
                <a16:creationId xmlns:a16="http://schemas.microsoft.com/office/drawing/2014/main" id="{462F3CA5-0517-1928-BBD7-7FFE2F5CB241}"/>
              </a:ext>
            </a:extLst>
          </p:cNvPr>
          <p:cNvPicPr>
            <a:picLocks noChangeAspect="1"/>
          </p:cNvPicPr>
          <p:nvPr/>
        </p:nvPicPr>
        <p:blipFill>
          <a:blip r:embed="rId2"/>
          <a:stretch>
            <a:fillRect/>
          </a:stretch>
        </p:blipFill>
        <p:spPr>
          <a:xfrm>
            <a:off x="386604" y="2028830"/>
            <a:ext cx="5466810" cy="3498246"/>
          </a:xfrm>
          <a:prstGeom prst="rect">
            <a:avLst/>
          </a:prstGeom>
        </p:spPr>
      </p:pic>
      <p:sp>
        <p:nvSpPr>
          <p:cNvPr id="3" name="ZoneTexte 2">
            <a:extLst>
              <a:ext uri="{FF2B5EF4-FFF2-40B4-BE49-F238E27FC236}">
                <a16:creationId xmlns:a16="http://schemas.microsoft.com/office/drawing/2014/main" id="{E0A2C214-2E8B-C20C-70BA-000805015F93}"/>
              </a:ext>
            </a:extLst>
          </p:cNvPr>
          <p:cNvSpPr txBox="1"/>
          <p:nvPr/>
        </p:nvSpPr>
        <p:spPr>
          <a:xfrm>
            <a:off x="6605978" y="2392958"/>
            <a:ext cx="4954555" cy="1384995"/>
          </a:xfrm>
          <a:prstGeom prst="rect">
            <a:avLst/>
          </a:prstGeom>
          <a:noFill/>
        </p:spPr>
        <p:txBody>
          <a:bodyPr wrap="square">
            <a:spAutoFit/>
          </a:bodyPr>
          <a:lstStyle/>
          <a:p>
            <a:r>
              <a:rPr lang="fr-FR" sz="1400" dirty="0"/>
              <a:t>Déplacement progressif de la distribution des prix au m² vers le haut </a:t>
            </a:r>
            <a:r>
              <a:rPr lang="fr-FR" sz="1400" dirty="0">
                <a:solidFill>
                  <a:schemeClr val="tx1">
                    <a:lumMod val="75000"/>
                    <a:lumOff val="25000"/>
                  </a:schemeClr>
                </a:solidFill>
              </a:rPr>
              <a:t>au fil des années.  </a:t>
            </a:r>
          </a:p>
          <a:p>
            <a:endParaRPr lang="fr-FR" sz="1400" dirty="0">
              <a:solidFill>
                <a:schemeClr val="tx1">
                  <a:lumMod val="75000"/>
                  <a:lumOff val="25000"/>
                </a:schemeClr>
              </a:solidFill>
            </a:endParaRPr>
          </a:p>
          <a:p>
            <a:r>
              <a:rPr lang="fr-FR" sz="1400" dirty="0"/>
              <a:t>La médiane augmente de manière continue, ce qui met en évidence une </a:t>
            </a:r>
            <a:r>
              <a:rPr lang="fr-FR" sz="1400" b="1" dirty="0"/>
              <a:t>corrélation positive entre le temps et les prix du m².</a:t>
            </a:r>
            <a:endParaRPr lang="fr-FR" sz="1400" dirty="0"/>
          </a:p>
        </p:txBody>
      </p:sp>
      <p:cxnSp>
        <p:nvCxnSpPr>
          <p:cNvPr id="2" name="Connecteur droit 1">
            <a:extLst>
              <a:ext uri="{FF2B5EF4-FFF2-40B4-BE49-F238E27FC236}">
                <a16:creationId xmlns:a16="http://schemas.microsoft.com/office/drawing/2014/main" id="{328447F4-1925-71E1-7967-D043C028A056}"/>
              </a:ext>
            </a:extLst>
          </p:cNvPr>
          <p:cNvCxnSpPr/>
          <p:nvPr/>
        </p:nvCxnSpPr>
        <p:spPr>
          <a:xfrm>
            <a:off x="6074956" y="665399"/>
            <a:ext cx="0" cy="5844619"/>
          </a:xfrm>
          <a:prstGeom prst="line">
            <a:avLst/>
          </a:prstGeom>
          <a:ln w="9525"/>
        </p:spPr>
        <p:style>
          <a:lnRef idx="2">
            <a:schemeClr val="dk1"/>
          </a:lnRef>
          <a:fillRef idx="0">
            <a:schemeClr val="dk1"/>
          </a:fillRef>
          <a:effectRef idx="1">
            <a:schemeClr val="dk1"/>
          </a:effectRef>
          <a:fontRef idx="minor">
            <a:schemeClr val="tx1"/>
          </a:fontRef>
        </p:style>
      </p:cxnSp>
      <p:sp>
        <p:nvSpPr>
          <p:cNvPr id="13" name="ZoneTexte 12">
            <a:extLst>
              <a:ext uri="{FF2B5EF4-FFF2-40B4-BE49-F238E27FC236}">
                <a16:creationId xmlns:a16="http://schemas.microsoft.com/office/drawing/2014/main" id="{F7D2D825-2903-82CD-8FD9-690F3D66297B}"/>
              </a:ext>
            </a:extLst>
          </p:cNvPr>
          <p:cNvSpPr txBox="1"/>
          <p:nvPr/>
        </p:nvSpPr>
        <p:spPr>
          <a:xfrm>
            <a:off x="224498" y="1192593"/>
            <a:ext cx="4447149" cy="400110"/>
          </a:xfrm>
          <a:prstGeom prst="rect">
            <a:avLst/>
          </a:prstGeom>
          <a:noFill/>
        </p:spPr>
        <p:txBody>
          <a:bodyPr wrap="square">
            <a:spAutoFit/>
          </a:bodyPr>
          <a:lstStyle/>
          <a:p>
            <a:pPr algn="l">
              <a:buNone/>
            </a:pPr>
            <a:r>
              <a:rPr lang="fr-FR" sz="2000" b="1" dirty="0">
                <a:latin typeface="Google Sans Text"/>
              </a:rPr>
              <a:t>Corrélations</a:t>
            </a:r>
          </a:p>
        </p:txBody>
      </p:sp>
      <p:sp>
        <p:nvSpPr>
          <p:cNvPr id="14" name="Rectangle 13">
            <a:extLst>
              <a:ext uri="{FF2B5EF4-FFF2-40B4-BE49-F238E27FC236}">
                <a16:creationId xmlns:a16="http://schemas.microsoft.com/office/drawing/2014/main" id="{56A3F3DD-938D-D3EB-DB1F-8973E9C0A415}"/>
              </a:ext>
            </a:extLst>
          </p:cNvPr>
          <p:cNvSpPr/>
          <p:nvPr/>
        </p:nvSpPr>
        <p:spPr>
          <a:xfrm>
            <a:off x="0" y="0"/>
            <a:ext cx="12192000" cy="918734"/>
          </a:xfrm>
          <a:prstGeom prst="rect">
            <a:avLst/>
          </a:prstGeom>
          <a:solidFill>
            <a:srgbClr val="1A99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Titre 3">
            <a:extLst>
              <a:ext uri="{FF2B5EF4-FFF2-40B4-BE49-F238E27FC236}">
                <a16:creationId xmlns:a16="http://schemas.microsoft.com/office/drawing/2014/main" id="{30631BE4-EC96-7B74-A8A1-F2734F2645A3}"/>
              </a:ext>
            </a:extLst>
          </p:cNvPr>
          <p:cNvSpPr txBox="1">
            <a:spLocks noGrp="1"/>
          </p:cNvSpPr>
          <p:nvPr>
            <p:ph type="title"/>
          </p:nvPr>
        </p:nvSpPr>
        <p:spPr>
          <a:xfrm>
            <a:off x="165062" y="144508"/>
            <a:ext cx="9310478" cy="649922"/>
          </a:xfrm>
          <a:prstGeom prst="rect">
            <a:avLst/>
          </a:prstGeom>
          <a:noFill/>
          <a:ln w="19050">
            <a:noFill/>
            <a:prstDash val="sysDash"/>
          </a:ln>
        </p:spPr>
        <p:txBody>
          <a:bodyPr wrap="square">
            <a:spAutoFit/>
          </a:bodyPr>
          <a:lstStyle/>
          <a:p>
            <a:r>
              <a:rPr lang="fr-FR" sz="4000" dirty="0">
                <a:solidFill>
                  <a:schemeClr val="bg1"/>
                </a:solidFill>
              </a:rPr>
              <a:t>I. Analyse du marché immobilier parisien</a:t>
            </a:r>
            <a:endParaRPr lang="fr-FR" sz="2400" dirty="0">
              <a:solidFill>
                <a:schemeClr val="bg1"/>
              </a:solidFill>
            </a:endParaRPr>
          </a:p>
        </p:txBody>
      </p:sp>
      <p:pic>
        <p:nvPicPr>
          <p:cNvPr id="16" name="Image 15">
            <a:extLst>
              <a:ext uri="{FF2B5EF4-FFF2-40B4-BE49-F238E27FC236}">
                <a16:creationId xmlns:a16="http://schemas.microsoft.com/office/drawing/2014/main" id="{46899D07-1872-943A-7028-48EACC6D42E9}"/>
              </a:ext>
            </a:extLst>
          </p:cNvPr>
          <p:cNvPicPr>
            <a:picLocks noChangeAspect="1"/>
          </p:cNvPicPr>
          <p:nvPr/>
        </p:nvPicPr>
        <p:blipFill>
          <a:blip r:embed="rId3"/>
          <a:stretch>
            <a:fillRect/>
          </a:stretch>
        </p:blipFill>
        <p:spPr>
          <a:xfrm>
            <a:off x="224498" y="1528008"/>
            <a:ext cx="1114581" cy="200053"/>
          </a:xfrm>
          <a:prstGeom prst="rect">
            <a:avLst/>
          </a:prstGeom>
        </p:spPr>
      </p:pic>
    </p:spTree>
    <p:extLst>
      <p:ext uri="{BB962C8B-B14F-4D97-AF65-F5344CB8AC3E}">
        <p14:creationId xmlns:p14="http://schemas.microsoft.com/office/powerpoint/2010/main" val="41712148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FF3B1-EE66-A19E-E8B7-5E8F66A82A20}"/>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5F2285F9-3111-21BE-86D3-EB1584A0FDAF}"/>
              </a:ext>
            </a:extLst>
          </p:cNvPr>
          <p:cNvSpPr txBox="1"/>
          <p:nvPr/>
        </p:nvSpPr>
        <p:spPr>
          <a:xfrm>
            <a:off x="602718" y="2085317"/>
            <a:ext cx="4795346" cy="338554"/>
          </a:xfrm>
          <a:prstGeom prst="rect">
            <a:avLst/>
          </a:prstGeom>
          <a:noFill/>
        </p:spPr>
        <p:txBody>
          <a:bodyPr wrap="square" rtlCol="0">
            <a:spAutoFit/>
          </a:bodyPr>
          <a:lstStyle/>
          <a:p>
            <a:r>
              <a:rPr lang="fr-FR" sz="1600" b="1" dirty="0"/>
              <a:t>Corrélation entre la localisation et le prix au ²</a:t>
            </a:r>
          </a:p>
        </p:txBody>
      </p:sp>
      <p:cxnSp>
        <p:nvCxnSpPr>
          <p:cNvPr id="5" name="Connecteur droit 4">
            <a:extLst>
              <a:ext uri="{FF2B5EF4-FFF2-40B4-BE49-F238E27FC236}">
                <a16:creationId xmlns:a16="http://schemas.microsoft.com/office/drawing/2014/main" id="{BC87895D-D1E2-36C3-504F-724244AEF837}"/>
              </a:ext>
            </a:extLst>
          </p:cNvPr>
          <p:cNvCxnSpPr>
            <a:cxnSpLocks/>
          </p:cNvCxnSpPr>
          <p:nvPr/>
        </p:nvCxnSpPr>
        <p:spPr>
          <a:xfrm>
            <a:off x="5779259" y="1213788"/>
            <a:ext cx="0" cy="4832705"/>
          </a:xfrm>
          <a:prstGeom prst="line">
            <a:avLst/>
          </a:prstGeom>
          <a:ln w="9525"/>
        </p:spPr>
        <p:style>
          <a:lnRef idx="2">
            <a:schemeClr val="dk1"/>
          </a:lnRef>
          <a:fillRef idx="0">
            <a:schemeClr val="dk1"/>
          </a:fillRef>
          <a:effectRef idx="1">
            <a:schemeClr val="dk1"/>
          </a:effectRef>
          <a:fontRef idx="minor">
            <a:schemeClr val="tx1"/>
          </a:fontRef>
        </p:style>
      </p:cxnSp>
      <p:pic>
        <p:nvPicPr>
          <p:cNvPr id="17" name="Image 16">
            <a:extLst>
              <a:ext uri="{FF2B5EF4-FFF2-40B4-BE49-F238E27FC236}">
                <a16:creationId xmlns:a16="http://schemas.microsoft.com/office/drawing/2014/main" id="{A7796E4F-27C1-B365-A878-D9C3F23FE3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99411" y="3304097"/>
            <a:ext cx="858771" cy="858771"/>
          </a:xfrm>
          <a:prstGeom prst="rect">
            <a:avLst/>
          </a:prstGeom>
        </p:spPr>
      </p:pic>
      <p:sp>
        <p:nvSpPr>
          <p:cNvPr id="18" name="Flèche : double flèche horizontale 17">
            <a:extLst>
              <a:ext uri="{FF2B5EF4-FFF2-40B4-BE49-F238E27FC236}">
                <a16:creationId xmlns:a16="http://schemas.microsoft.com/office/drawing/2014/main" id="{FBBCBCC3-2058-9151-3ED8-7B13D35858C7}"/>
              </a:ext>
            </a:extLst>
          </p:cNvPr>
          <p:cNvSpPr/>
          <p:nvPr/>
        </p:nvSpPr>
        <p:spPr>
          <a:xfrm>
            <a:off x="2937883" y="3564206"/>
            <a:ext cx="618309" cy="338554"/>
          </a:xfrm>
          <a:prstGeom prst="leftRightArrow">
            <a:avLst/>
          </a:prstGeom>
          <a:solidFill>
            <a:schemeClr val="tx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pic>
        <p:nvPicPr>
          <p:cNvPr id="8" name="Image 7">
            <a:extLst>
              <a:ext uri="{FF2B5EF4-FFF2-40B4-BE49-F238E27FC236}">
                <a16:creationId xmlns:a16="http://schemas.microsoft.com/office/drawing/2014/main" id="{E4EFACFF-FF86-2AC1-2C26-3D3504CCD20F}"/>
              </a:ext>
            </a:extLst>
          </p:cNvPr>
          <p:cNvPicPr>
            <a:picLocks noChangeAspect="1"/>
          </p:cNvPicPr>
          <p:nvPr/>
        </p:nvPicPr>
        <p:blipFill>
          <a:blip r:embed="rId3"/>
          <a:stretch>
            <a:fillRect/>
          </a:stretch>
        </p:blipFill>
        <p:spPr>
          <a:xfrm>
            <a:off x="6299793" y="1213788"/>
            <a:ext cx="5547354" cy="4726700"/>
          </a:xfrm>
          <a:prstGeom prst="rect">
            <a:avLst/>
          </a:prstGeom>
          <a:ln>
            <a:noFill/>
          </a:ln>
          <a:effectLst>
            <a:outerShdw blurRad="292100" dist="139700" dir="2700000" algn="tl" rotWithShape="0">
              <a:srgbClr val="333333">
                <a:alpha val="65000"/>
              </a:srgbClr>
            </a:outerShdw>
          </a:effectLst>
        </p:spPr>
      </p:pic>
      <p:pic>
        <p:nvPicPr>
          <p:cNvPr id="5122" name="Picture 2" descr="Your Best Guide To Each Paris Arrondissement - Dreamer at Heart">
            <a:extLst>
              <a:ext uri="{FF2B5EF4-FFF2-40B4-BE49-F238E27FC236}">
                <a16:creationId xmlns:a16="http://schemas.microsoft.com/office/drawing/2014/main" id="{0596AFBD-8906-73BD-8131-BC527A3ACA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689" y="2449888"/>
            <a:ext cx="2630130" cy="2630130"/>
          </a:xfrm>
          <a:prstGeom prst="rect">
            <a:avLst/>
          </a:prstGeom>
          <a:noFill/>
          <a:extLst>
            <a:ext uri="{909E8E84-426E-40DD-AFC4-6F175D3DCCD1}">
              <a14:hiddenFill xmlns:a14="http://schemas.microsoft.com/office/drawing/2010/main">
                <a:solidFill>
                  <a:srgbClr val="FFFFFF"/>
                </a:solidFill>
              </a14:hiddenFill>
            </a:ext>
          </a:extLst>
        </p:spPr>
      </p:pic>
      <p:sp>
        <p:nvSpPr>
          <p:cNvPr id="15" name="ZoneTexte 14">
            <a:extLst>
              <a:ext uri="{FF2B5EF4-FFF2-40B4-BE49-F238E27FC236}">
                <a16:creationId xmlns:a16="http://schemas.microsoft.com/office/drawing/2014/main" id="{1ECFF7FC-61F3-C5F2-F146-766E083EE883}"/>
              </a:ext>
            </a:extLst>
          </p:cNvPr>
          <p:cNvSpPr txBox="1"/>
          <p:nvPr/>
        </p:nvSpPr>
        <p:spPr>
          <a:xfrm>
            <a:off x="224498" y="1192593"/>
            <a:ext cx="4447149" cy="400110"/>
          </a:xfrm>
          <a:prstGeom prst="rect">
            <a:avLst/>
          </a:prstGeom>
          <a:noFill/>
        </p:spPr>
        <p:txBody>
          <a:bodyPr wrap="square">
            <a:spAutoFit/>
          </a:bodyPr>
          <a:lstStyle/>
          <a:p>
            <a:pPr algn="l">
              <a:buNone/>
            </a:pPr>
            <a:r>
              <a:rPr lang="fr-FR" sz="2000" b="1" dirty="0">
                <a:latin typeface="Google Sans Text"/>
              </a:rPr>
              <a:t>Corrélations</a:t>
            </a:r>
          </a:p>
        </p:txBody>
      </p:sp>
      <p:sp>
        <p:nvSpPr>
          <p:cNvPr id="20" name="Rectangle 19">
            <a:extLst>
              <a:ext uri="{FF2B5EF4-FFF2-40B4-BE49-F238E27FC236}">
                <a16:creationId xmlns:a16="http://schemas.microsoft.com/office/drawing/2014/main" id="{ABF00A4F-115E-C228-4A05-AADC36C6FA00}"/>
              </a:ext>
            </a:extLst>
          </p:cNvPr>
          <p:cNvSpPr/>
          <p:nvPr/>
        </p:nvSpPr>
        <p:spPr>
          <a:xfrm>
            <a:off x="0" y="0"/>
            <a:ext cx="12192000" cy="918734"/>
          </a:xfrm>
          <a:prstGeom prst="rect">
            <a:avLst/>
          </a:prstGeom>
          <a:solidFill>
            <a:srgbClr val="1A99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Titre 3">
            <a:extLst>
              <a:ext uri="{FF2B5EF4-FFF2-40B4-BE49-F238E27FC236}">
                <a16:creationId xmlns:a16="http://schemas.microsoft.com/office/drawing/2014/main" id="{4196ED23-BFA4-9995-A652-61E39777B476}"/>
              </a:ext>
            </a:extLst>
          </p:cNvPr>
          <p:cNvSpPr txBox="1">
            <a:spLocks noGrp="1"/>
          </p:cNvSpPr>
          <p:nvPr>
            <p:ph type="title"/>
          </p:nvPr>
        </p:nvSpPr>
        <p:spPr>
          <a:xfrm>
            <a:off x="165062" y="144508"/>
            <a:ext cx="9310478" cy="649922"/>
          </a:xfrm>
          <a:prstGeom prst="rect">
            <a:avLst/>
          </a:prstGeom>
          <a:noFill/>
          <a:ln w="19050">
            <a:noFill/>
            <a:prstDash val="sysDash"/>
          </a:ln>
        </p:spPr>
        <p:txBody>
          <a:bodyPr wrap="square">
            <a:spAutoFit/>
          </a:bodyPr>
          <a:lstStyle/>
          <a:p>
            <a:r>
              <a:rPr lang="fr-FR" sz="4000" dirty="0">
                <a:solidFill>
                  <a:schemeClr val="bg1"/>
                </a:solidFill>
              </a:rPr>
              <a:t>I. Analyse du marché immobilier parisien</a:t>
            </a:r>
            <a:endParaRPr lang="fr-FR" sz="2400" dirty="0">
              <a:solidFill>
                <a:schemeClr val="bg1"/>
              </a:solidFill>
            </a:endParaRPr>
          </a:p>
        </p:txBody>
      </p:sp>
      <p:pic>
        <p:nvPicPr>
          <p:cNvPr id="24" name="Image 23">
            <a:extLst>
              <a:ext uri="{FF2B5EF4-FFF2-40B4-BE49-F238E27FC236}">
                <a16:creationId xmlns:a16="http://schemas.microsoft.com/office/drawing/2014/main" id="{734BDB28-96DD-0E76-9EAA-7F86FF27B622}"/>
              </a:ext>
            </a:extLst>
          </p:cNvPr>
          <p:cNvPicPr>
            <a:picLocks noChangeAspect="1"/>
          </p:cNvPicPr>
          <p:nvPr/>
        </p:nvPicPr>
        <p:blipFill>
          <a:blip r:embed="rId5"/>
          <a:stretch>
            <a:fillRect/>
          </a:stretch>
        </p:blipFill>
        <p:spPr>
          <a:xfrm>
            <a:off x="224498" y="1528008"/>
            <a:ext cx="1114581" cy="200053"/>
          </a:xfrm>
          <a:prstGeom prst="rect">
            <a:avLst/>
          </a:prstGeom>
        </p:spPr>
      </p:pic>
    </p:spTree>
    <p:extLst>
      <p:ext uri="{BB962C8B-B14F-4D97-AF65-F5344CB8AC3E}">
        <p14:creationId xmlns:p14="http://schemas.microsoft.com/office/powerpoint/2010/main" val="8567334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9FD36-F0E0-734C-4747-D2E4478B1868}"/>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C6D4ECA9-A2E4-19F4-3DC5-BA63FD00194F}"/>
              </a:ext>
            </a:extLst>
          </p:cNvPr>
          <p:cNvSpPr txBox="1"/>
          <p:nvPr/>
        </p:nvSpPr>
        <p:spPr>
          <a:xfrm>
            <a:off x="602718" y="2085317"/>
            <a:ext cx="4795346" cy="338554"/>
          </a:xfrm>
          <a:prstGeom prst="rect">
            <a:avLst/>
          </a:prstGeom>
          <a:noFill/>
        </p:spPr>
        <p:txBody>
          <a:bodyPr wrap="square" rtlCol="0">
            <a:spAutoFit/>
          </a:bodyPr>
          <a:lstStyle/>
          <a:p>
            <a:r>
              <a:rPr lang="fr-FR" sz="1600" b="1" dirty="0"/>
              <a:t>Corrélation entre le type de biens et le prix au m²</a:t>
            </a:r>
          </a:p>
        </p:txBody>
      </p:sp>
      <p:cxnSp>
        <p:nvCxnSpPr>
          <p:cNvPr id="5" name="Connecteur droit 4">
            <a:extLst>
              <a:ext uri="{FF2B5EF4-FFF2-40B4-BE49-F238E27FC236}">
                <a16:creationId xmlns:a16="http://schemas.microsoft.com/office/drawing/2014/main" id="{E8F0F1B9-B04F-5FDC-91D4-393C5FDA4360}"/>
              </a:ext>
            </a:extLst>
          </p:cNvPr>
          <p:cNvCxnSpPr>
            <a:cxnSpLocks/>
          </p:cNvCxnSpPr>
          <p:nvPr/>
        </p:nvCxnSpPr>
        <p:spPr>
          <a:xfrm>
            <a:off x="5848928" y="1146655"/>
            <a:ext cx="0" cy="4832705"/>
          </a:xfrm>
          <a:prstGeom prst="line">
            <a:avLst/>
          </a:prstGeom>
          <a:ln w="9525"/>
        </p:spPr>
        <p:style>
          <a:lnRef idx="2">
            <a:schemeClr val="dk1"/>
          </a:lnRef>
          <a:fillRef idx="0">
            <a:schemeClr val="dk1"/>
          </a:fillRef>
          <a:effectRef idx="1">
            <a:schemeClr val="dk1"/>
          </a:effectRef>
          <a:fontRef idx="minor">
            <a:schemeClr val="tx1"/>
          </a:fontRef>
        </p:style>
      </p:cxnSp>
      <p:pic>
        <p:nvPicPr>
          <p:cNvPr id="17" name="Image 16">
            <a:extLst>
              <a:ext uri="{FF2B5EF4-FFF2-40B4-BE49-F238E27FC236}">
                <a16:creationId xmlns:a16="http://schemas.microsoft.com/office/drawing/2014/main" id="{85912B35-AFF1-07E1-4819-8C57C1263B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58821" y="3764953"/>
            <a:ext cx="1219048" cy="1219048"/>
          </a:xfrm>
          <a:prstGeom prst="rect">
            <a:avLst/>
          </a:prstGeom>
        </p:spPr>
      </p:pic>
      <p:sp>
        <p:nvSpPr>
          <p:cNvPr id="18" name="Flèche : double flèche horizontale 17">
            <a:extLst>
              <a:ext uri="{FF2B5EF4-FFF2-40B4-BE49-F238E27FC236}">
                <a16:creationId xmlns:a16="http://schemas.microsoft.com/office/drawing/2014/main" id="{4A40B751-C485-FAA1-D4D3-DE3DDDFAC54C}"/>
              </a:ext>
            </a:extLst>
          </p:cNvPr>
          <p:cNvSpPr/>
          <p:nvPr/>
        </p:nvSpPr>
        <p:spPr>
          <a:xfrm>
            <a:off x="2903123" y="4268462"/>
            <a:ext cx="618309" cy="338554"/>
          </a:xfrm>
          <a:prstGeom prst="leftRightArrow">
            <a:avLst/>
          </a:prstGeom>
          <a:solidFill>
            <a:schemeClr val="tx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pic>
        <p:nvPicPr>
          <p:cNvPr id="19" name="Image 18">
            <a:extLst>
              <a:ext uri="{FF2B5EF4-FFF2-40B4-BE49-F238E27FC236}">
                <a16:creationId xmlns:a16="http://schemas.microsoft.com/office/drawing/2014/main" id="{A05E65F1-A80F-23E7-1949-81441D3FCBF0}"/>
              </a:ext>
            </a:extLst>
          </p:cNvPr>
          <p:cNvPicPr>
            <a:picLocks noChangeAspect="1"/>
          </p:cNvPicPr>
          <p:nvPr/>
        </p:nvPicPr>
        <p:blipFill>
          <a:blip r:embed="rId3"/>
          <a:stretch>
            <a:fillRect/>
          </a:stretch>
        </p:blipFill>
        <p:spPr>
          <a:xfrm>
            <a:off x="6006774" y="1925401"/>
            <a:ext cx="5582508" cy="3572804"/>
          </a:xfrm>
          <a:prstGeom prst="rect">
            <a:avLst/>
          </a:prstGeom>
        </p:spPr>
      </p:pic>
      <p:grpSp>
        <p:nvGrpSpPr>
          <p:cNvPr id="24" name="Groupe 23">
            <a:extLst>
              <a:ext uri="{FF2B5EF4-FFF2-40B4-BE49-F238E27FC236}">
                <a16:creationId xmlns:a16="http://schemas.microsoft.com/office/drawing/2014/main" id="{B15573BB-176A-3F6D-1C17-A72D6445F0BB}"/>
              </a:ext>
            </a:extLst>
          </p:cNvPr>
          <p:cNvGrpSpPr/>
          <p:nvPr/>
        </p:nvGrpSpPr>
        <p:grpSpPr>
          <a:xfrm>
            <a:off x="423174" y="3100251"/>
            <a:ext cx="2076161" cy="2879110"/>
            <a:chOff x="423174" y="3100251"/>
            <a:chExt cx="2076161" cy="2879110"/>
          </a:xfrm>
        </p:grpSpPr>
        <p:grpSp>
          <p:nvGrpSpPr>
            <p:cNvPr id="23" name="Groupe 22">
              <a:extLst>
                <a:ext uri="{FF2B5EF4-FFF2-40B4-BE49-F238E27FC236}">
                  <a16:creationId xmlns:a16="http://schemas.microsoft.com/office/drawing/2014/main" id="{B328533E-4F7B-7ECA-6572-CD439C0C7F9E}"/>
                </a:ext>
              </a:extLst>
            </p:cNvPr>
            <p:cNvGrpSpPr/>
            <p:nvPr/>
          </p:nvGrpSpPr>
          <p:grpSpPr>
            <a:xfrm>
              <a:off x="649249" y="3475081"/>
              <a:ext cx="1598068" cy="2013214"/>
              <a:chOff x="649249" y="3475081"/>
              <a:chExt cx="1598068" cy="2013214"/>
            </a:xfrm>
          </p:grpSpPr>
          <p:grpSp>
            <p:nvGrpSpPr>
              <p:cNvPr id="3" name="Groupe 2">
                <a:extLst>
                  <a:ext uri="{FF2B5EF4-FFF2-40B4-BE49-F238E27FC236}">
                    <a16:creationId xmlns:a16="http://schemas.microsoft.com/office/drawing/2014/main" id="{7D7D3603-D54D-6BF5-84D5-207534453125}"/>
                  </a:ext>
                </a:extLst>
              </p:cNvPr>
              <p:cNvGrpSpPr/>
              <p:nvPr/>
            </p:nvGrpSpPr>
            <p:grpSpPr>
              <a:xfrm>
                <a:off x="935288" y="4734178"/>
                <a:ext cx="1095769" cy="754117"/>
                <a:chOff x="2397993" y="6739284"/>
                <a:chExt cx="1131216" cy="1189531"/>
              </a:xfrm>
            </p:grpSpPr>
            <p:pic>
              <p:nvPicPr>
                <p:cNvPr id="7" name="Image 6">
                  <a:extLst>
                    <a:ext uri="{FF2B5EF4-FFF2-40B4-BE49-F238E27FC236}">
                      <a16:creationId xmlns:a16="http://schemas.microsoft.com/office/drawing/2014/main" id="{F2512E84-BEB1-CA01-1160-F0E07FC16C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68392" y="6739284"/>
                  <a:ext cx="674793" cy="811180"/>
                </a:xfrm>
                <a:prstGeom prst="rect">
                  <a:avLst/>
                </a:prstGeom>
              </p:spPr>
            </p:pic>
            <p:sp>
              <p:nvSpPr>
                <p:cNvPr id="6" name="ZoneTexte 5">
                  <a:extLst>
                    <a:ext uri="{FF2B5EF4-FFF2-40B4-BE49-F238E27FC236}">
                      <a16:creationId xmlns:a16="http://schemas.microsoft.com/office/drawing/2014/main" id="{130C8FCC-5C8F-9031-4A7E-90B3F8D48228}"/>
                    </a:ext>
                  </a:extLst>
                </p:cNvPr>
                <p:cNvSpPr txBox="1"/>
                <p:nvPr/>
              </p:nvSpPr>
              <p:spPr>
                <a:xfrm>
                  <a:off x="2397993" y="7548336"/>
                  <a:ext cx="1131216" cy="380479"/>
                </a:xfrm>
                <a:prstGeom prst="rect">
                  <a:avLst/>
                </a:prstGeom>
                <a:noFill/>
              </p:spPr>
              <p:txBody>
                <a:bodyPr wrap="square" rtlCol="0">
                  <a:spAutoFit/>
                </a:bodyPr>
                <a:lstStyle/>
                <a:p>
                  <a:r>
                    <a:rPr lang="fr-FR" sz="1100" b="1" dirty="0"/>
                    <a:t>Appartements</a:t>
                  </a:r>
                </a:p>
              </p:txBody>
            </p:sp>
          </p:grpSp>
          <p:grpSp>
            <p:nvGrpSpPr>
              <p:cNvPr id="10" name="Groupe 9">
                <a:extLst>
                  <a:ext uri="{FF2B5EF4-FFF2-40B4-BE49-F238E27FC236}">
                    <a16:creationId xmlns:a16="http://schemas.microsoft.com/office/drawing/2014/main" id="{436D4B87-66C8-E855-5CBA-7793E942C058}"/>
                  </a:ext>
                </a:extLst>
              </p:cNvPr>
              <p:cNvGrpSpPr/>
              <p:nvPr/>
            </p:nvGrpSpPr>
            <p:grpSpPr>
              <a:xfrm>
                <a:off x="649249" y="3475081"/>
                <a:ext cx="1598068" cy="793381"/>
                <a:chOff x="2132869" y="3359030"/>
                <a:chExt cx="1680604" cy="889747"/>
              </a:xfrm>
            </p:grpSpPr>
            <p:pic>
              <p:nvPicPr>
                <p:cNvPr id="14" name="Image 13">
                  <a:extLst>
                    <a:ext uri="{FF2B5EF4-FFF2-40B4-BE49-F238E27FC236}">
                      <a16:creationId xmlns:a16="http://schemas.microsoft.com/office/drawing/2014/main" id="{A790EF08-D645-3EDD-EDDF-F5142BEC68B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80706" y="3359030"/>
                  <a:ext cx="658315" cy="627339"/>
                </a:xfrm>
                <a:prstGeom prst="rect">
                  <a:avLst/>
                </a:prstGeom>
              </p:spPr>
            </p:pic>
            <p:sp>
              <p:nvSpPr>
                <p:cNvPr id="16" name="ZoneTexte 15">
                  <a:extLst>
                    <a:ext uri="{FF2B5EF4-FFF2-40B4-BE49-F238E27FC236}">
                      <a16:creationId xmlns:a16="http://schemas.microsoft.com/office/drawing/2014/main" id="{D07A0FC2-8922-A7DF-BD34-0100C7C55DE1}"/>
                    </a:ext>
                  </a:extLst>
                </p:cNvPr>
                <p:cNvSpPr txBox="1"/>
                <p:nvPr/>
              </p:nvSpPr>
              <p:spPr>
                <a:xfrm>
                  <a:off x="2132869" y="3955391"/>
                  <a:ext cx="1680604" cy="293386"/>
                </a:xfrm>
                <a:prstGeom prst="rect">
                  <a:avLst/>
                </a:prstGeom>
                <a:noFill/>
              </p:spPr>
              <p:txBody>
                <a:bodyPr wrap="square" rtlCol="0">
                  <a:spAutoFit/>
                </a:bodyPr>
                <a:lstStyle/>
                <a:p>
                  <a:pPr algn="ctr"/>
                  <a:r>
                    <a:rPr lang="fr-FR" sz="1100" b="1" dirty="0"/>
                    <a:t>Locaux commerciaux</a:t>
                  </a:r>
                </a:p>
              </p:txBody>
            </p:sp>
          </p:grpSp>
        </p:grpSp>
        <p:sp>
          <p:nvSpPr>
            <p:cNvPr id="22" name="Rectangle : coins arrondis 21">
              <a:extLst>
                <a:ext uri="{FF2B5EF4-FFF2-40B4-BE49-F238E27FC236}">
                  <a16:creationId xmlns:a16="http://schemas.microsoft.com/office/drawing/2014/main" id="{D0BAD2B5-F230-D223-7534-24EAAC4DA0BD}"/>
                </a:ext>
              </a:extLst>
            </p:cNvPr>
            <p:cNvSpPr/>
            <p:nvPr/>
          </p:nvSpPr>
          <p:spPr>
            <a:xfrm>
              <a:off x="423174" y="3100251"/>
              <a:ext cx="2076161" cy="2879110"/>
            </a:xfrm>
            <a:prstGeom prst="roundRect">
              <a:avLst>
                <a:gd name="adj" fmla="val 2209"/>
              </a:avLst>
            </a:prstGeom>
            <a:no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5" name="ZoneTexte 24">
            <a:extLst>
              <a:ext uri="{FF2B5EF4-FFF2-40B4-BE49-F238E27FC236}">
                <a16:creationId xmlns:a16="http://schemas.microsoft.com/office/drawing/2014/main" id="{AEC2B0E5-0C7C-2F7D-81A0-2DB924FE8F3C}"/>
              </a:ext>
            </a:extLst>
          </p:cNvPr>
          <p:cNvSpPr txBox="1"/>
          <p:nvPr/>
        </p:nvSpPr>
        <p:spPr>
          <a:xfrm>
            <a:off x="224498" y="1192593"/>
            <a:ext cx="4447149" cy="400110"/>
          </a:xfrm>
          <a:prstGeom prst="rect">
            <a:avLst/>
          </a:prstGeom>
          <a:noFill/>
        </p:spPr>
        <p:txBody>
          <a:bodyPr wrap="square">
            <a:spAutoFit/>
          </a:bodyPr>
          <a:lstStyle/>
          <a:p>
            <a:pPr algn="l">
              <a:buNone/>
            </a:pPr>
            <a:r>
              <a:rPr lang="fr-FR" sz="2000" b="1" dirty="0">
                <a:latin typeface="Google Sans Text"/>
              </a:rPr>
              <a:t>Corrélations</a:t>
            </a:r>
          </a:p>
        </p:txBody>
      </p:sp>
      <p:sp>
        <p:nvSpPr>
          <p:cNvPr id="26" name="Rectangle 25">
            <a:extLst>
              <a:ext uri="{FF2B5EF4-FFF2-40B4-BE49-F238E27FC236}">
                <a16:creationId xmlns:a16="http://schemas.microsoft.com/office/drawing/2014/main" id="{BA8EB28D-C14A-71ED-4FC5-68EBA4B01FE6}"/>
              </a:ext>
            </a:extLst>
          </p:cNvPr>
          <p:cNvSpPr/>
          <p:nvPr/>
        </p:nvSpPr>
        <p:spPr>
          <a:xfrm>
            <a:off x="0" y="0"/>
            <a:ext cx="12192000" cy="918734"/>
          </a:xfrm>
          <a:prstGeom prst="rect">
            <a:avLst/>
          </a:prstGeom>
          <a:solidFill>
            <a:srgbClr val="1A99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Titre 3">
            <a:extLst>
              <a:ext uri="{FF2B5EF4-FFF2-40B4-BE49-F238E27FC236}">
                <a16:creationId xmlns:a16="http://schemas.microsoft.com/office/drawing/2014/main" id="{30B904A3-25F9-81BB-CAC0-C900FC50ED99}"/>
              </a:ext>
            </a:extLst>
          </p:cNvPr>
          <p:cNvSpPr txBox="1">
            <a:spLocks noGrp="1"/>
          </p:cNvSpPr>
          <p:nvPr>
            <p:ph type="title"/>
          </p:nvPr>
        </p:nvSpPr>
        <p:spPr>
          <a:xfrm>
            <a:off x="165062" y="144508"/>
            <a:ext cx="9310478" cy="649922"/>
          </a:xfrm>
          <a:prstGeom prst="rect">
            <a:avLst/>
          </a:prstGeom>
          <a:noFill/>
          <a:ln w="19050">
            <a:noFill/>
            <a:prstDash val="sysDash"/>
          </a:ln>
        </p:spPr>
        <p:txBody>
          <a:bodyPr wrap="square">
            <a:spAutoFit/>
          </a:bodyPr>
          <a:lstStyle/>
          <a:p>
            <a:r>
              <a:rPr lang="fr-FR" sz="4000" dirty="0">
                <a:solidFill>
                  <a:schemeClr val="bg1"/>
                </a:solidFill>
              </a:rPr>
              <a:t>I. Analyse du marché immobilier parisien</a:t>
            </a:r>
            <a:endParaRPr lang="fr-FR" sz="2400" dirty="0">
              <a:solidFill>
                <a:schemeClr val="bg1"/>
              </a:solidFill>
            </a:endParaRPr>
          </a:p>
        </p:txBody>
      </p:sp>
      <p:pic>
        <p:nvPicPr>
          <p:cNvPr id="28" name="Image 27">
            <a:extLst>
              <a:ext uri="{FF2B5EF4-FFF2-40B4-BE49-F238E27FC236}">
                <a16:creationId xmlns:a16="http://schemas.microsoft.com/office/drawing/2014/main" id="{5C4C7845-E92A-8D63-ED6C-EC78396B78D0}"/>
              </a:ext>
            </a:extLst>
          </p:cNvPr>
          <p:cNvPicPr>
            <a:picLocks noChangeAspect="1"/>
          </p:cNvPicPr>
          <p:nvPr/>
        </p:nvPicPr>
        <p:blipFill>
          <a:blip r:embed="rId6"/>
          <a:stretch>
            <a:fillRect/>
          </a:stretch>
        </p:blipFill>
        <p:spPr>
          <a:xfrm>
            <a:off x="224498" y="1528008"/>
            <a:ext cx="1114581" cy="200053"/>
          </a:xfrm>
          <a:prstGeom prst="rect">
            <a:avLst/>
          </a:prstGeom>
        </p:spPr>
      </p:pic>
    </p:spTree>
    <p:extLst>
      <p:ext uri="{BB962C8B-B14F-4D97-AF65-F5344CB8AC3E}">
        <p14:creationId xmlns:p14="http://schemas.microsoft.com/office/powerpoint/2010/main" val="14911317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F3F23-F073-C858-0F07-20EAEE3066B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FACD658-46D6-636F-1BDB-1D9BCC71E89F}"/>
              </a:ext>
            </a:extLst>
          </p:cNvPr>
          <p:cNvSpPr/>
          <p:nvPr/>
        </p:nvSpPr>
        <p:spPr>
          <a:xfrm>
            <a:off x="0" y="0"/>
            <a:ext cx="12192000" cy="918734"/>
          </a:xfrm>
          <a:prstGeom prst="rect">
            <a:avLst/>
          </a:prstGeom>
          <a:solidFill>
            <a:srgbClr val="1A99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Titre 3">
            <a:extLst>
              <a:ext uri="{FF2B5EF4-FFF2-40B4-BE49-F238E27FC236}">
                <a16:creationId xmlns:a16="http://schemas.microsoft.com/office/drawing/2014/main" id="{C63DFFD9-44DE-E3FA-02DD-B899529A427F}"/>
              </a:ext>
            </a:extLst>
          </p:cNvPr>
          <p:cNvSpPr txBox="1">
            <a:spLocks/>
          </p:cNvSpPr>
          <p:nvPr/>
        </p:nvSpPr>
        <p:spPr>
          <a:xfrm>
            <a:off x="242180" y="134406"/>
            <a:ext cx="8185723" cy="649922"/>
          </a:xfrm>
          <a:prstGeom prst="rect">
            <a:avLst/>
          </a:prstGeom>
          <a:noFill/>
          <a:ln w="19050">
            <a:noFill/>
            <a:prstDash val="sysDash"/>
          </a:ln>
        </p:spPr>
        <p:txBody>
          <a:bodyPr vert="horz" wrap="square" lIns="91440" tIns="45720" rIns="91440" bIns="4572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fr-FR" sz="4000" dirty="0">
                <a:solidFill>
                  <a:schemeClr val="bg1"/>
                </a:solidFill>
              </a:rPr>
              <a:t>I. Analyse du marché immobilier</a:t>
            </a:r>
            <a:endParaRPr lang="fr-FR" sz="2400" dirty="0">
              <a:solidFill>
                <a:schemeClr val="bg1"/>
              </a:solidFill>
            </a:endParaRPr>
          </a:p>
        </p:txBody>
      </p:sp>
      <p:sp>
        <p:nvSpPr>
          <p:cNvPr id="16" name="ZoneTexte 15">
            <a:extLst>
              <a:ext uri="{FF2B5EF4-FFF2-40B4-BE49-F238E27FC236}">
                <a16:creationId xmlns:a16="http://schemas.microsoft.com/office/drawing/2014/main" id="{95412FDF-6C9F-F9B6-E26F-902F7007C400}"/>
              </a:ext>
            </a:extLst>
          </p:cNvPr>
          <p:cNvSpPr txBox="1"/>
          <p:nvPr/>
        </p:nvSpPr>
        <p:spPr>
          <a:xfrm>
            <a:off x="801308" y="2210074"/>
            <a:ext cx="8750316" cy="2308324"/>
          </a:xfrm>
          <a:prstGeom prst="rect">
            <a:avLst/>
          </a:prstGeom>
          <a:noFill/>
        </p:spPr>
        <p:txBody>
          <a:bodyPr wrap="square">
            <a:spAutoFit/>
          </a:bodyPr>
          <a:lstStyle/>
          <a:p>
            <a:pPr algn="l">
              <a:buNone/>
            </a:pPr>
            <a:r>
              <a:rPr lang="fr-FR" b="0" i="0" dirty="0">
                <a:effectLst/>
                <a:latin typeface="system-ui"/>
              </a:rPr>
              <a:t>Nous pouvons conclure que les dimensions à utiliser pour prédire le prix au m² sont :</a:t>
            </a:r>
          </a:p>
          <a:p>
            <a:pPr algn="l">
              <a:buNone/>
            </a:pPr>
            <a:endParaRPr lang="fr-FR" b="0" i="0" dirty="0">
              <a:effectLst/>
              <a:latin typeface="system-ui"/>
            </a:endParaRPr>
          </a:p>
          <a:p>
            <a:pPr algn="l">
              <a:buNone/>
            </a:pPr>
            <a:endParaRPr lang="fr-FR" b="0" i="0" dirty="0">
              <a:effectLst/>
              <a:latin typeface="system-ui"/>
            </a:endParaRPr>
          </a:p>
          <a:p>
            <a:pPr algn="l">
              <a:buFont typeface="Arial" panose="020B0604020202020204" pitchFamily="34" charset="0"/>
              <a:buChar char="•"/>
            </a:pPr>
            <a:r>
              <a:rPr lang="fr-FR" b="0" i="0" dirty="0">
                <a:effectLst/>
                <a:latin typeface="system-ui"/>
              </a:rPr>
              <a:t> la </a:t>
            </a:r>
            <a:r>
              <a:rPr lang="fr-FR" b="1" i="0" dirty="0">
                <a:effectLst/>
                <a:latin typeface="system-ui"/>
              </a:rPr>
              <a:t>surface</a:t>
            </a:r>
            <a:r>
              <a:rPr lang="fr-FR" b="0" i="0" dirty="0">
                <a:effectLst/>
                <a:latin typeface="system-ui"/>
              </a:rPr>
              <a:t> du bien immobilier</a:t>
            </a:r>
          </a:p>
          <a:p>
            <a:pPr algn="l">
              <a:buFont typeface="Arial" panose="020B0604020202020204" pitchFamily="34" charset="0"/>
              <a:buChar char="•"/>
            </a:pPr>
            <a:r>
              <a:rPr lang="fr-FR" b="0" i="0" dirty="0">
                <a:effectLst/>
                <a:latin typeface="system-ui"/>
              </a:rPr>
              <a:t> l’année</a:t>
            </a:r>
          </a:p>
          <a:p>
            <a:pPr algn="l">
              <a:buFont typeface="Arial" panose="020B0604020202020204" pitchFamily="34" charset="0"/>
              <a:buChar char="•"/>
            </a:pPr>
            <a:r>
              <a:rPr lang="fr-FR" b="0" i="0" dirty="0">
                <a:effectLst/>
                <a:latin typeface="system-ui"/>
              </a:rPr>
              <a:t> la localisation</a:t>
            </a:r>
          </a:p>
          <a:p>
            <a:pPr algn="l">
              <a:buFont typeface="Arial" panose="020B0604020202020204" pitchFamily="34" charset="0"/>
              <a:buChar char="•"/>
            </a:pPr>
            <a:r>
              <a:rPr lang="fr-FR" dirty="0">
                <a:latin typeface="system-ui"/>
              </a:rPr>
              <a:t> </a:t>
            </a:r>
            <a:r>
              <a:rPr lang="fr-FR" b="0" i="0" dirty="0">
                <a:effectLst/>
                <a:latin typeface="system-ui"/>
              </a:rPr>
              <a:t>le type de bien</a:t>
            </a:r>
          </a:p>
          <a:p>
            <a:pPr algn="l"/>
            <a:endParaRPr lang="fr-FR" dirty="0">
              <a:latin typeface="system-ui"/>
            </a:endParaRPr>
          </a:p>
        </p:txBody>
      </p:sp>
      <p:sp>
        <p:nvSpPr>
          <p:cNvPr id="20" name="ZoneTexte 19">
            <a:extLst>
              <a:ext uri="{FF2B5EF4-FFF2-40B4-BE49-F238E27FC236}">
                <a16:creationId xmlns:a16="http://schemas.microsoft.com/office/drawing/2014/main" id="{75001D13-99F8-7C38-4966-D5B6CDE2F126}"/>
              </a:ext>
            </a:extLst>
          </p:cNvPr>
          <p:cNvSpPr txBox="1"/>
          <p:nvPr/>
        </p:nvSpPr>
        <p:spPr>
          <a:xfrm>
            <a:off x="801307" y="4881104"/>
            <a:ext cx="8860485" cy="646331"/>
          </a:xfrm>
          <a:prstGeom prst="rect">
            <a:avLst/>
          </a:prstGeom>
          <a:noFill/>
        </p:spPr>
        <p:txBody>
          <a:bodyPr wrap="square">
            <a:spAutoFit/>
          </a:bodyPr>
          <a:lstStyle/>
          <a:p>
            <a:pPr algn="l">
              <a:buNone/>
            </a:pPr>
            <a:r>
              <a:rPr lang="fr-FR" b="0" i="0" dirty="0">
                <a:effectLst/>
                <a:latin typeface="system-ui"/>
              </a:rPr>
              <a:t>Fort de ce constat, il est désormais possible de prévoir la valeur foncière future des biens immobiliers.</a:t>
            </a:r>
          </a:p>
        </p:txBody>
      </p:sp>
      <p:sp>
        <p:nvSpPr>
          <p:cNvPr id="4" name="ZoneTexte 3">
            <a:extLst>
              <a:ext uri="{FF2B5EF4-FFF2-40B4-BE49-F238E27FC236}">
                <a16:creationId xmlns:a16="http://schemas.microsoft.com/office/drawing/2014/main" id="{8DA45568-5E03-5735-93C8-295605211AC7}"/>
              </a:ext>
            </a:extLst>
          </p:cNvPr>
          <p:cNvSpPr txBox="1"/>
          <p:nvPr/>
        </p:nvSpPr>
        <p:spPr>
          <a:xfrm>
            <a:off x="367717" y="1212110"/>
            <a:ext cx="4447149" cy="400110"/>
          </a:xfrm>
          <a:prstGeom prst="rect">
            <a:avLst/>
          </a:prstGeom>
          <a:noFill/>
        </p:spPr>
        <p:txBody>
          <a:bodyPr wrap="square">
            <a:spAutoFit/>
          </a:bodyPr>
          <a:lstStyle/>
          <a:p>
            <a:pPr algn="l">
              <a:buNone/>
            </a:pPr>
            <a:r>
              <a:rPr lang="fr-FR" sz="2000" b="1" dirty="0">
                <a:latin typeface="Google Sans Text"/>
              </a:rPr>
              <a:t>Conclusions</a:t>
            </a:r>
          </a:p>
        </p:txBody>
      </p:sp>
      <p:pic>
        <p:nvPicPr>
          <p:cNvPr id="5" name="Image 4">
            <a:extLst>
              <a:ext uri="{FF2B5EF4-FFF2-40B4-BE49-F238E27FC236}">
                <a16:creationId xmlns:a16="http://schemas.microsoft.com/office/drawing/2014/main" id="{FFC9EA33-A2A8-5409-FC20-FE66EE84F1AF}"/>
              </a:ext>
            </a:extLst>
          </p:cNvPr>
          <p:cNvPicPr>
            <a:picLocks noChangeAspect="1"/>
          </p:cNvPicPr>
          <p:nvPr/>
        </p:nvPicPr>
        <p:blipFill>
          <a:blip r:embed="rId2"/>
          <a:stretch>
            <a:fillRect/>
          </a:stretch>
        </p:blipFill>
        <p:spPr>
          <a:xfrm>
            <a:off x="367717" y="1513747"/>
            <a:ext cx="1114581" cy="200053"/>
          </a:xfrm>
          <a:prstGeom prst="rect">
            <a:avLst/>
          </a:prstGeom>
        </p:spPr>
      </p:pic>
    </p:spTree>
    <p:extLst>
      <p:ext uri="{BB962C8B-B14F-4D97-AF65-F5344CB8AC3E}">
        <p14:creationId xmlns:p14="http://schemas.microsoft.com/office/powerpoint/2010/main" val="4219162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xEl>
                                              <p:pRg st="3" end="3"/>
                                            </p:txEl>
                                          </p:spTgt>
                                        </p:tgtEl>
                                        <p:attrNameLst>
                                          <p:attrName>style.visibility</p:attrName>
                                        </p:attrNameLst>
                                      </p:cBhvr>
                                      <p:to>
                                        <p:strVal val="visible"/>
                                      </p:to>
                                    </p:set>
                                    <p:animEffect transition="in" filter="fade">
                                      <p:cBhvr>
                                        <p:cTn id="12" dur="500"/>
                                        <p:tgtEl>
                                          <p:spTgt spid="16">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xEl>
                                              <p:pRg st="4" end="4"/>
                                            </p:txEl>
                                          </p:spTgt>
                                        </p:tgtEl>
                                        <p:attrNameLst>
                                          <p:attrName>style.visibility</p:attrName>
                                        </p:attrNameLst>
                                      </p:cBhvr>
                                      <p:to>
                                        <p:strVal val="visible"/>
                                      </p:to>
                                    </p:set>
                                    <p:animEffect transition="in" filter="fade">
                                      <p:cBhvr>
                                        <p:cTn id="17" dur="500"/>
                                        <p:tgtEl>
                                          <p:spTgt spid="16">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xEl>
                                              <p:pRg st="5" end="5"/>
                                            </p:txEl>
                                          </p:spTgt>
                                        </p:tgtEl>
                                        <p:attrNameLst>
                                          <p:attrName>style.visibility</p:attrName>
                                        </p:attrNameLst>
                                      </p:cBhvr>
                                      <p:to>
                                        <p:strVal val="visible"/>
                                      </p:to>
                                    </p:set>
                                    <p:animEffect transition="in" filter="fade">
                                      <p:cBhvr>
                                        <p:cTn id="22" dur="500"/>
                                        <p:tgtEl>
                                          <p:spTgt spid="16">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
                                            <p:txEl>
                                              <p:pRg st="6" end="6"/>
                                            </p:txEl>
                                          </p:spTgt>
                                        </p:tgtEl>
                                        <p:attrNameLst>
                                          <p:attrName>style.visibility</p:attrName>
                                        </p:attrNameLst>
                                      </p:cBhvr>
                                      <p:to>
                                        <p:strVal val="visible"/>
                                      </p:to>
                                    </p:set>
                                    <p:animEffect transition="in" filter="fade">
                                      <p:cBhvr>
                                        <p:cTn id="27" dur="500"/>
                                        <p:tgtEl>
                                          <p:spTgt spid="16">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398F9-18E2-B41B-79A4-E82F6FF4567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66FE3D5-13FF-139E-0E6C-9293DEF9BF92}"/>
              </a:ext>
            </a:extLst>
          </p:cNvPr>
          <p:cNvSpPr/>
          <p:nvPr/>
        </p:nvSpPr>
        <p:spPr>
          <a:xfrm>
            <a:off x="0" y="0"/>
            <a:ext cx="12192000" cy="918734"/>
          </a:xfrm>
          <a:prstGeom prst="rect">
            <a:avLst/>
          </a:prstGeom>
          <a:solidFill>
            <a:srgbClr val="1A99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itre 3">
            <a:extLst>
              <a:ext uri="{FF2B5EF4-FFF2-40B4-BE49-F238E27FC236}">
                <a16:creationId xmlns:a16="http://schemas.microsoft.com/office/drawing/2014/main" id="{D5562B73-AD1D-CEB2-1CA4-55DEA3DE274E}"/>
              </a:ext>
            </a:extLst>
          </p:cNvPr>
          <p:cNvSpPr txBox="1">
            <a:spLocks/>
          </p:cNvSpPr>
          <p:nvPr/>
        </p:nvSpPr>
        <p:spPr>
          <a:xfrm>
            <a:off x="172146" y="225846"/>
            <a:ext cx="4421888" cy="538417"/>
          </a:xfrm>
          <a:prstGeom prst="rect">
            <a:avLst/>
          </a:prstGeom>
          <a:noFill/>
          <a:ln w="19050">
            <a:noFill/>
            <a:prstDash val="sysDash"/>
          </a:ln>
        </p:spPr>
        <p:txBody>
          <a:bodyPr vert="horz" wrap="square" lIns="91440" tIns="45720" rIns="91440" bIns="4572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fr-FR" sz="3200" b="1" dirty="0">
                <a:solidFill>
                  <a:schemeClr val="bg1"/>
                </a:solidFill>
              </a:rPr>
              <a:t>II. Méthodologie suivie</a:t>
            </a:r>
            <a:endParaRPr lang="fr-FR" sz="1800" b="1" dirty="0">
              <a:solidFill>
                <a:schemeClr val="bg1"/>
              </a:solidFill>
            </a:endParaRPr>
          </a:p>
        </p:txBody>
      </p:sp>
      <p:sp>
        <p:nvSpPr>
          <p:cNvPr id="10" name="ZoneTexte 9">
            <a:extLst>
              <a:ext uri="{FF2B5EF4-FFF2-40B4-BE49-F238E27FC236}">
                <a16:creationId xmlns:a16="http://schemas.microsoft.com/office/drawing/2014/main" id="{C3E3297E-65F6-DE73-BC59-EB5130B103D4}"/>
              </a:ext>
            </a:extLst>
          </p:cNvPr>
          <p:cNvSpPr txBox="1"/>
          <p:nvPr/>
        </p:nvSpPr>
        <p:spPr>
          <a:xfrm>
            <a:off x="1461771" y="2555311"/>
            <a:ext cx="6178359" cy="584775"/>
          </a:xfrm>
          <a:prstGeom prst="rect">
            <a:avLst/>
          </a:prstGeom>
          <a:noFill/>
        </p:spPr>
        <p:txBody>
          <a:bodyPr wrap="square" rtlCol="0">
            <a:spAutoFit/>
          </a:bodyPr>
          <a:lstStyle/>
          <a:p>
            <a:r>
              <a:rPr lang="fr-FR" sz="1600" dirty="0"/>
              <a:t>Créer un algorithme de </a:t>
            </a:r>
            <a:r>
              <a:rPr lang="fr-FR" sz="1600" b="1" dirty="0">
                <a:solidFill>
                  <a:srgbClr val="0070C0"/>
                </a:solidFill>
              </a:rPr>
              <a:t>régression linéaire </a:t>
            </a:r>
            <a:r>
              <a:rPr lang="fr-FR" sz="1600" dirty="0"/>
              <a:t>à partir des données passées (jeu de données qui contient l’historique des transactions).</a:t>
            </a:r>
          </a:p>
        </p:txBody>
      </p:sp>
      <p:pic>
        <p:nvPicPr>
          <p:cNvPr id="12" name="Image 11">
            <a:extLst>
              <a:ext uri="{FF2B5EF4-FFF2-40B4-BE49-F238E27FC236}">
                <a16:creationId xmlns:a16="http://schemas.microsoft.com/office/drawing/2014/main" id="{1BFBBD62-00CC-7134-4B07-8408A780EA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0687" y="2218014"/>
            <a:ext cx="406350" cy="406350"/>
          </a:xfrm>
          <a:prstGeom prst="rect">
            <a:avLst/>
          </a:prstGeom>
        </p:spPr>
      </p:pic>
      <p:sp>
        <p:nvSpPr>
          <p:cNvPr id="14" name="ZoneTexte 13">
            <a:extLst>
              <a:ext uri="{FF2B5EF4-FFF2-40B4-BE49-F238E27FC236}">
                <a16:creationId xmlns:a16="http://schemas.microsoft.com/office/drawing/2014/main" id="{1FB9EF28-8206-E911-58FC-BCB4390F7441}"/>
              </a:ext>
            </a:extLst>
          </p:cNvPr>
          <p:cNvSpPr txBox="1"/>
          <p:nvPr/>
        </p:nvSpPr>
        <p:spPr>
          <a:xfrm>
            <a:off x="1461772" y="5755641"/>
            <a:ext cx="4604364" cy="369332"/>
          </a:xfrm>
          <a:prstGeom prst="rect">
            <a:avLst/>
          </a:prstGeom>
          <a:noFill/>
        </p:spPr>
        <p:txBody>
          <a:bodyPr wrap="square" rtlCol="0">
            <a:spAutoFit/>
          </a:bodyPr>
          <a:lstStyle/>
          <a:p>
            <a:r>
              <a:rPr lang="fr-FR" b="1" dirty="0"/>
              <a:t>ETAPE 3</a:t>
            </a:r>
          </a:p>
        </p:txBody>
      </p:sp>
      <p:sp>
        <p:nvSpPr>
          <p:cNvPr id="16" name="ZoneTexte 15">
            <a:extLst>
              <a:ext uri="{FF2B5EF4-FFF2-40B4-BE49-F238E27FC236}">
                <a16:creationId xmlns:a16="http://schemas.microsoft.com/office/drawing/2014/main" id="{7806F8F8-FD14-0584-FA74-491F4820ECD0}"/>
              </a:ext>
            </a:extLst>
          </p:cNvPr>
          <p:cNvSpPr txBox="1"/>
          <p:nvPr/>
        </p:nvSpPr>
        <p:spPr>
          <a:xfrm>
            <a:off x="1461771" y="4010301"/>
            <a:ext cx="5114904" cy="1077218"/>
          </a:xfrm>
          <a:prstGeom prst="rect">
            <a:avLst/>
          </a:prstGeom>
          <a:noFill/>
        </p:spPr>
        <p:txBody>
          <a:bodyPr wrap="square" rtlCol="0">
            <a:spAutoFit/>
          </a:bodyPr>
          <a:lstStyle/>
          <a:p>
            <a:r>
              <a:rPr lang="fr-FR" sz="1600" dirty="0"/>
              <a:t>Contrôler la fiabilité de la prévision via une moyenne en % qui représente les erreurs observées dans l’échantillon de test entre la valeur de vente du bien (réelle) et la valeur prédite.</a:t>
            </a:r>
          </a:p>
        </p:txBody>
      </p:sp>
      <p:pic>
        <p:nvPicPr>
          <p:cNvPr id="18" name="Image 17">
            <a:extLst>
              <a:ext uri="{FF2B5EF4-FFF2-40B4-BE49-F238E27FC236}">
                <a16:creationId xmlns:a16="http://schemas.microsoft.com/office/drawing/2014/main" id="{7A9E86EF-60F7-6182-3305-EE2D68904C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9739" y="3631261"/>
            <a:ext cx="406349" cy="406349"/>
          </a:xfrm>
          <a:prstGeom prst="rect">
            <a:avLst/>
          </a:prstGeom>
        </p:spPr>
      </p:pic>
      <p:sp>
        <p:nvSpPr>
          <p:cNvPr id="19" name="ZoneTexte 18">
            <a:extLst>
              <a:ext uri="{FF2B5EF4-FFF2-40B4-BE49-F238E27FC236}">
                <a16:creationId xmlns:a16="http://schemas.microsoft.com/office/drawing/2014/main" id="{009B9FAA-2732-F218-B15A-2E53562134BD}"/>
              </a:ext>
            </a:extLst>
          </p:cNvPr>
          <p:cNvSpPr txBox="1"/>
          <p:nvPr/>
        </p:nvSpPr>
        <p:spPr>
          <a:xfrm>
            <a:off x="1461771" y="3631261"/>
            <a:ext cx="4604364" cy="369332"/>
          </a:xfrm>
          <a:prstGeom prst="rect">
            <a:avLst/>
          </a:prstGeom>
          <a:noFill/>
        </p:spPr>
        <p:txBody>
          <a:bodyPr wrap="square" rtlCol="0">
            <a:spAutoFit/>
          </a:bodyPr>
          <a:lstStyle/>
          <a:p>
            <a:r>
              <a:rPr lang="fr-FR" b="1" dirty="0"/>
              <a:t>ETAPE 2</a:t>
            </a:r>
          </a:p>
        </p:txBody>
      </p:sp>
      <p:graphicFrame>
        <p:nvGraphicFramePr>
          <p:cNvPr id="20" name="Diagramme 19">
            <a:extLst>
              <a:ext uri="{FF2B5EF4-FFF2-40B4-BE49-F238E27FC236}">
                <a16:creationId xmlns:a16="http://schemas.microsoft.com/office/drawing/2014/main" id="{4DEF8089-FDC3-C8FA-EAA7-825C31CCE2C6}"/>
              </a:ext>
            </a:extLst>
          </p:cNvPr>
          <p:cNvGraphicFramePr/>
          <p:nvPr>
            <p:extLst>
              <p:ext uri="{D42A27DB-BD31-4B8C-83A1-F6EECF244321}">
                <p14:modId xmlns:p14="http://schemas.microsoft.com/office/powerpoint/2010/main" val="2809106110"/>
              </p:ext>
            </p:extLst>
          </p:nvPr>
        </p:nvGraphicFramePr>
        <p:xfrm>
          <a:off x="8229599" y="1093845"/>
          <a:ext cx="3783171" cy="521891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1" name="ZoneTexte 20">
            <a:extLst>
              <a:ext uri="{FF2B5EF4-FFF2-40B4-BE49-F238E27FC236}">
                <a16:creationId xmlns:a16="http://schemas.microsoft.com/office/drawing/2014/main" id="{DA1F3AAA-62C6-4E0A-09C3-28EF8816F1F3}"/>
              </a:ext>
            </a:extLst>
          </p:cNvPr>
          <p:cNvSpPr txBox="1"/>
          <p:nvPr/>
        </p:nvSpPr>
        <p:spPr>
          <a:xfrm>
            <a:off x="1461771" y="2189057"/>
            <a:ext cx="6094268" cy="369332"/>
          </a:xfrm>
          <a:prstGeom prst="rect">
            <a:avLst/>
          </a:prstGeom>
          <a:noFill/>
        </p:spPr>
        <p:txBody>
          <a:bodyPr wrap="square">
            <a:spAutoFit/>
          </a:bodyPr>
          <a:lstStyle/>
          <a:p>
            <a:r>
              <a:rPr lang="fr-FR" b="1" dirty="0"/>
              <a:t>ETAPE 1</a:t>
            </a:r>
          </a:p>
        </p:txBody>
      </p:sp>
      <p:sp>
        <p:nvSpPr>
          <p:cNvPr id="22" name="ZoneTexte 21">
            <a:extLst>
              <a:ext uri="{FF2B5EF4-FFF2-40B4-BE49-F238E27FC236}">
                <a16:creationId xmlns:a16="http://schemas.microsoft.com/office/drawing/2014/main" id="{D2C583F5-333A-18F4-9166-A04BF767F7E9}"/>
              </a:ext>
            </a:extLst>
          </p:cNvPr>
          <p:cNvSpPr txBox="1"/>
          <p:nvPr/>
        </p:nvSpPr>
        <p:spPr>
          <a:xfrm>
            <a:off x="1461772" y="6143482"/>
            <a:ext cx="6404920" cy="338554"/>
          </a:xfrm>
          <a:prstGeom prst="rect">
            <a:avLst/>
          </a:prstGeom>
          <a:noFill/>
        </p:spPr>
        <p:txBody>
          <a:bodyPr wrap="square" rtlCol="0">
            <a:spAutoFit/>
          </a:bodyPr>
          <a:lstStyle/>
          <a:p>
            <a:r>
              <a:rPr lang="fr-FR" sz="1600" dirty="0"/>
              <a:t>Effectuer la prédiction sur le portefeuille de biens immobiliers actuel.</a:t>
            </a:r>
          </a:p>
        </p:txBody>
      </p:sp>
      <p:pic>
        <p:nvPicPr>
          <p:cNvPr id="23" name="Image 22">
            <a:extLst>
              <a:ext uri="{FF2B5EF4-FFF2-40B4-BE49-F238E27FC236}">
                <a16:creationId xmlns:a16="http://schemas.microsoft.com/office/drawing/2014/main" id="{32B0F404-3A48-6ABA-56E7-596E99C4B15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49739" y="5737132"/>
            <a:ext cx="406350" cy="406350"/>
          </a:xfrm>
          <a:prstGeom prst="rect">
            <a:avLst/>
          </a:prstGeom>
        </p:spPr>
      </p:pic>
      <p:sp>
        <p:nvSpPr>
          <p:cNvPr id="24" name="Titre 3">
            <a:extLst>
              <a:ext uri="{FF2B5EF4-FFF2-40B4-BE49-F238E27FC236}">
                <a16:creationId xmlns:a16="http://schemas.microsoft.com/office/drawing/2014/main" id="{8A247585-A446-6B95-01A7-C4B7FE03126E}"/>
              </a:ext>
            </a:extLst>
          </p:cNvPr>
          <p:cNvSpPr txBox="1">
            <a:spLocks/>
          </p:cNvSpPr>
          <p:nvPr/>
        </p:nvSpPr>
        <p:spPr>
          <a:xfrm>
            <a:off x="179230" y="1144580"/>
            <a:ext cx="9121966" cy="426848"/>
          </a:xfrm>
          <a:prstGeom prst="rect">
            <a:avLst/>
          </a:prstGeom>
          <a:noFill/>
          <a:ln w="19050">
            <a:noFill/>
            <a:prstDash val="sysDash"/>
          </a:ln>
        </p:spPr>
        <p:txBody>
          <a:bodyPr vert="horz" wrap="square" lIns="91440" tIns="45720" rIns="91440" bIns="4572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fr-FR" sz="2400" b="1" dirty="0"/>
              <a:t>Prédictions de la valeur foncière du portefeuille de biens immobiliers</a:t>
            </a:r>
            <a:endParaRPr lang="fr-FR" sz="1400" b="1" dirty="0"/>
          </a:p>
        </p:txBody>
      </p:sp>
      <p:pic>
        <p:nvPicPr>
          <p:cNvPr id="25" name="Image 24">
            <a:extLst>
              <a:ext uri="{FF2B5EF4-FFF2-40B4-BE49-F238E27FC236}">
                <a16:creationId xmlns:a16="http://schemas.microsoft.com/office/drawing/2014/main" id="{169BED73-66C0-83C9-91B4-BF0EE94C81F8}"/>
              </a:ext>
            </a:extLst>
          </p:cNvPr>
          <p:cNvPicPr>
            <a:picLocks noChangeAspect="1"/>
          </p:cNvPicPr>
          <p:nvPr/>
        </p:nvPicPr>
        <p:blipFill>
          <a:blip r:embed="rId10"/>
          <a:stretch>
            <a:fillRect/>
          </a:stretch>
        </p:blipFill>
        <p:spPr>
          <a:xfrm>
            <a:off x="192448" y="1468415"/>
            <a:ext cx="1114581" cy="200053"/>
          </a:xfrm>
          <a:prstGeom prst="rect">
            <a:avLst/>
          </a:prstGeom>
        </p:spPr>
      </p:pic>
    </p:spTree>
    <p:extLst>
      <p:ext uri="{BB962C8B-B14F-4D97-AF65-F5344CB8AC3E}">
        <p14:creationId xmlns:p14="http://schemas.microsoft.com/office/powerpoint/2010/main" val="664140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500"/>
                                        <p:tgtEl>
                                          <p:spTgt spid="1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500"/>
                                        <p:tgtEl>
                                          <p:spTgt spid="1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500"/>
                                        <p:tgtEl>
                                          <p:spTgt spid="16"/>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500"/>
                                        <p:tgtEl>
                                          <p:spTgt spid="2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P spid="16" grpId="0"/>
      <p:bldP spid="19" grpId="0"/>
      <p:bldGraphic spid="20" grpId="0">
        <p:bldAsOne/>
      </p:bldGraphic>
      <p:bldP spid="21" grpId="0"/>
      <p:bldP spid="2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2B4F623F-0C52-E674-59B9-324EA66EFD8D}"/>
              </a:ext>
            </a:extLst>
          </p:cNvPr>
          <p:cNvSpPr/>
          <p:nvPr/>
        </p:nvSpPr>
        <p:spPr>
          <a:xfrm>
            <a:off x="0" y="0"/>
            <a:ext cx="12192000" cy="918734"/>
          </a:xfrm>
          <a:prstGeom prst="rect">
            <a:avLst/>
          </a:prstGeom>
          <a:solidFill>
            <a:srgbClr val="1A99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a:extLst>
              <a:ext uri="{FF2B5EF4-FFF2-40B4-BE49-F238E27FC236}">
                <a16:creationId xmlns:a16="http://schemas.microsoft.com/office/drawing/2014/main" id="{4FE08213-0404-890C-95CD-215BE4CDC09D}"/>
              </a:ext>
            </a:extLst>
          </p:cNvPr>
          <p:cNvSpPr txBox="1"/>
          <p:nvPr/>
        </p:nvSpPr>
        <p:spPr>
          <a:xfrm>
            <a:off x="655780" y="1122023"/>
            <a:ext cx="10217868" cy="369332"/>
          </a:xfrm>
          <a:prstGeom prst="rect">
            <a:avLst/>
          </a:prstGeom>
          <a:noFill/>
        </p:spPr>
        <p:txBody>
          <a:bodyPr wrap="square" rtlCol="0">
            <a:spAutoFit/>
          </a:bodyPr>
          <a:lstStyle/>
          <a:p>
            <a:r>
              <a:rPr lang="fr-FR" b="1" dirty="0"/>
              <a:t>Détails techniques -  Etapes préalables à la création d’un algorithme de régression linéaire</a:t>
            </a:r>
          </a:p>
        </p:txBody>
      </p:sp>
      <p:grpSp>
        <p:nvGrpSpPr>
          <p:cNvPr id="20" name="Groupe 19">
            <a:extLst>
              <a:ext uri="{FF2B5EF4-FFF2-40B4-BE49-F238E27FC236}">
                <a16:creationId xmlns:a16="http://schemas.microsoft.com/office/drawing/2014/main" id="{B956DBC6-3F6A-5E60-65D6-4C3C6B3DF75C}"/>
              </a:ext>
            </a:extLst>
          </p:cNvPr>
          <p:cNvGrpSpPr/>
          <p:nvPr/>
        </p:nvGrpSpPr>
        <p:grpSpPr>
          <a:xfrm>
            <a:off x="655780" y="1768042"/>
            <a:ext cx="2322195" cy="4819702"/>
            <a:chOff x="1191533" y="1318732"/>
            <a:chExt cx="2322195" cy="4819702"/>
          </a:xfrm>
        </p:grpSpPr>
        <p:sp>
          <p:nvSpPr>
            <p:cNvPr id="21" name="Flèche : en arc 20">
              <a:extLst>
                <a:ext uri="{FF2B5EF4-FFF2-40B4-BE49-F238E27FC236}">
                  <a16:creationId xmlns:a16="http://schemas.microsoft.com/office/drawing/2014/main" id="{82ED369B-F65F-6341-CD87-7EE8C856B7B7}"/>
                </a:ext>
              </a:extLst>
            </p:cNvPr>
            <p:cNvSpPr/>
            <p:nvPr/>
          </p:nvSpPr>
          <p:spPr>
            <a:xfrm>
              <a:off x="1696403" y="1318732"/>
              <a:ext cx="1817325" cy="1817510"/>
            </a:xfrm>
            <a:prstGeom prst="circularArrow">
              <a:avLst>
                <a:gd name="adj1" fmla="val 10980"/>
                <a:gd name="adj2" fmla="val 1142322"/>
                <a:gd name="adj3" fmla="val 4500000"/>
                <a:gd name="adj4" fmla="val 10800000"/>
                <a:gd name="adj5" fmla="val 125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fr-FR"/>
            </a:p>
          </p:txBody>
        </p:sp>
        <p:sp>
          <p:nvSpPr>
            <p:cNvPr id="22" name="Forme libre : forme 21">
              <a:extLst>
                <a:ext uri="{FF2B5EF4-FFF2-40B4-BE49-F238E27FC236}">
                  <a16:creationId xmlns:a16="http://schemas.microsoft.com/office/drawing/2014/main" id="{E205B32C-8EFD-7014-D2B1-32A53B35D23F}"/>
                </a:ext>
              </a:extLst>
            </p:cNvPr>
            <p:cNvSpPr/>
            <p:nvPr/>
          </p:nvSpPr>
          <p:spPr>
            <a:xfrm>
              <a:off x="2097639" y="1976621"/>
              <a:ext cx="1014170" cy="507032"/>
            </a:xfrm>
            <a:custGeom>
              <a:avLst/>
              <a:gdLst>
                <a:gd name="csX0" fmla="*/ 0 w 1014170"/>
                <a:gd name="csY0" fmla="*/ 0 h 507032"/>
                <a:gd name="csX1" fmla="*/ 1014170 w 1014170"/>
                <a:gd name="csY1" fmla="*/ 0 h 507032"/>
                <a:gd name="csX2" fmla="*/ 1014170 w 1014170"/>
                <a:gd name="csY2" fmla="*/ 507032 h 507032"/>
                <a:gd name="csX3" fmla="*/ 0 w 1014170"/>
                <a:gd name="csY3" fmla="*/ 507032 h 507032"/>
                <a:gd name="csX4" fmla="*/ 0 w 1014170"/>
                <a:gd name="csY4" fmla="*/ 0 h 507032"/>
              </a:gdLst>
              <a:ahLst/>
              <a:cxnLst>
                <a:cxn ang="0">
                  <a:pos x="csX0" y="csY0"/>
                </a:cxn>
                <a:cxn ang="0">
                  <a:pos x="csX1" y="csY1"/>
                </a:cxn>
                <a:cxn ang="0">
                  <a:pos x="csX2" y="csY2"/>
                </a:cxn>
                <a:cxn ang="0">
                  <a:pos x="csX3" y="csY3"/>
                </a:cxn>
                <a:cxn ang="0">
                  <a:pos x="csX4" y="csY4"/>
                </a:cxn>
              </a:cxnLst>
              <a:rect l="l" t="t" r="r" b="b"/>
              <a:pathLst>
                <a:path w="1014170" h="507032">
                  <a:moveTo>
                    <a:pt x="0" y="0"/>
                  </a:moveTo>
                  <a:lnTo>
                    <a:pt x="1014170" y="0"/>
                  </a:lnTo>
                  <a:lnTo>
                    <a:pt x="1014170" y="507032"/>
                  </a:lnTo>
                  <a:lnTo>
                    <a:pt x="0" y="50703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fr-FR" sz="1200" kern="1200" dirty="0"/>
                <a:t>Préparation des données</a:t>
              </a:r>
            </a:p>
          </p:txBody>
        </p:sp>
        <p:sp>
          <p:nvSpPr>
            <p:cNvPr id="23" name="Forme 22">
              <a:extLst>
                <a:ext uri="{FF2B5EF4-FFF2-40B4-BE49-F238E27FC236}">
                  <a16:creationId xmlns:a16="http://schemas.microsoft.com/office/drawing/2014/main" id="{0E7B58DE-6689-3534-D475-7C81798FE62E}"/>
                </a:ext>
              </a:extLst>
            </p:cNvPr>
            <p:cNvSpPr/>
            <p:nvPr/>
          </p:nvSpPr>
          <p:spPr>
            <a:xfrm>
              <a:off x="1191533" y="2363161"/>
              <a:ext cx="1817325" cy="1817510"/>
            </a:xfrm>
            <a:prstGeom prst="leftCircularArrow">
              <a:avLst>
                <a:gd name="adj1" fmla="val 10980"/>
                <a:gd name="adj2" fmla="val 1142322"/>
                <a:gd name="adj3" fmla="val 6300000"/>
                <a:gd name="adj4" fmla="val 18900000"/>
                <a:gd name="adj5" fmla="val 125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fr-FR"/>
            </a:p>
          </p:txBody>
        </p:sp>
        <p:sp>
          <p:nvSpPr>
            <p:cNvPr id="24" name="Forme libre : forme 23">
              <a:extLst>
                <a:ext uri="{FF2B5EF4-FFF2-40B4-BE49-F238E27FC236}">
                  <a16:creationId xmlns:a16="http://schemas.microsoft.com/office/drawing/2014/main" id="{A7BEAF0E-77D4-403B-1011-BEB5FDC8D1BF}"/>
                </a:ext>
              </a:extLst>
            </p:cNvPr>
            <p:cNvSpPr/>
            <p:nvPr/>
          </p:nvSpPr>
          <p:spPr>
            <a:xfrm>
              <a:off x="1590724" y="3022978"/>
              <a:ext cx="1014170" cy="507032"/>
            </a:xfrm>
            <a:custGeom>
              <a:avLst/>
              <a:gdLst>
                <a:gd name="csX0" fmla="*/ 0 w 1014170"/>
                <a:gd name="csY0" fmla="*/ 0 h 507032"/>
                <a:gd name="csX1" fmla="*/ 1014170 w 1014170"/>
                <a:gd name="csY1" fmla="*/ 0 h 507032"/>
                <a:gd name="csX2" fmla="*/ 1014170 w 1014170"/>
                <a:gd name="csY2" fmla="*/ 507032 h 507032"/>
                <a:gd name="csX3" fmla="*/ 0 w 1014170"/>
                <a:gd name="csY3" fmla="*/ 507032 h 507032"/>
                <a:gd name="csX4" fmla="*/ 0 w 1014170"/>
                <a:gd name="csY4" fmla="*/ 0 h 507032"/>
              </a:gdLst>
              <a:ahLst/>
              <a:cxnLst>
                <a:cxn ang="0">
                  <a:pos x="csX0" y="csY0"/>
                </a:cxn>
                <a:cxn ang="0">
                  <a:pos x="csX1" y="csY1"/>
                </a:cxn>
                <a:cxn ang="0">
                  <a:pos x="csX2" y="csY2"/>
                </a:cxn>
                <a:cxn ang="0">
                  <a:pos x="csX3" y="csY3"/>
                </a:cxn>
                <a:cxn ang="0">
                  <a:pos x="csX4" y="csY4"/>
                </a:cxn>
              </a:cxnLst>
              <a:rect l="l" t="t" r="r" b="b"/>
              <a:pathLst>
                <a:path w="1014170" h="507032">
                  <a:moveTo>
                    <a:pt x="0" y="0"/>
                  </a:moveTo>
                  <a:lnTo>
                    <a:pt x="1014170" y="0"/>
                  </a:lnTo>
                  <a:lnTo>
                    <a:pt x="1014170" y="507032"/>
                  </a:lnTo>
                  <a:lnTo>
                    <a:pt x="0" y="50703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fr-FR" sz="1200" kern="1200" dirty="0"/>
                <a:t>Hot-one encoding</a:t>
              </a:r>
            </a:p>
          </p:txBody>
        </p:sp>
        <p:sp>
          <p:nvSpPr>
            <p:cNvPr id="25" name="Flèche : en arc 24">
              <a:extLst>
                <a:ext uri="{FF2B5EF4-FFF2-40B4-BE49-F238E27FC236}">
                  <a16:creationId xmlns:a16="http://schemas.microsoft.com/office/drawing/2014/main" id="{D8385BB3-CF62-4397-FDF4-10535896FD20}"/>
                </a:ext>
              </a:extLst>
            </p:cNvPr>
            <p:cNvSpPr/>
            <p:nvPr/>
          </p:nvSpPr>
          <p:spPr>
            <a:xfrm>
              <a:off x="1696403" y="3411447"/>
              <a:ext cx="1817325" cy="1817510"/>
            </a:xfrm>
            <a:prstGeom prst="circularArrow">
              <a:avLst>
                <a:gd name="adj1" fmla="val 10980"/>
                <a:gd name="adj2" fmla="val 1142322"/>
                <a:gd name="adj3" fmla="val 4500000"/>
                <a:gd name="adj4" fmla="val 13500000"/>
                <a:gd name="adj5" fmla="val 125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fr-FR"/>
            </a:p>
          </p:txBody>
        </p:sp>
        <p:sp>
          <p:nvSpPr>
            <p:cNvPr id="26" name="Forme libre : forme 25">
              <a:extLst>
                <a:ext uri="{FF2B5EF4-FFF2-40B4-BE49-F238E27FC236}">
                  <a16:creationId xmlns:a16="http://schemas.microsoft.com/office/drawing/2014/main" id="{456EF37B-0BB9-6CC4-3C58-997200D4068D}"/>
                </a:ext>
              </a:extLst>
            </p:cNvPr>
            <p:cNvSpPr/>
            <p:nvPr/>
          </p:nvSpPr>
          <p:spPr>
            <a:xfrm>
              <a:off x="2097639" y="4069336"/>
              <a:ext cx="1014170" cy="507032"/>
            </a:xfrm>
            <a:custGeom>
              <a:avLst/>
              <a:gdLst>
                <a:gd name="csX0" fmla="*/ 0 w 1014170"/>
                <a:gd name="csY0" fmla="*/ 0 h 507032"/>
                <a:gd name="csX1" fmla="*/ 1014170 w 1014170"/>
                <a:gd name="csY1" fmla="*/ 0 h 507032"/>
                <a:gd name="csX2" fmla="*/ 1014170 w 1014170"/>
                <a:gd name="csY2" fmla="*/ 507032 h 507032"/>
                <a:gd name="csX3" fmla="*/ 0 w 1014170"/>
                <a:gd name="csY3" fmla="*/ 507032 h 507032"/>
                <a:gd name="csX4" fmla="*/ 0 w 1014170"/>
                <a:gd name="csY4" fmla="*/ 0 h 507032"/>
              </a:gdLst>
              <a:ahLst/>
              <a:cxnLst>
                <a:cxn ang="0">
                  <a:pos x="csX0" y="csY0"/>
                </a:cxn>
                <a:cxn ang="0">
                  <a:pos x="csX1" y="csY1"/>
                </a:cxn>
                <a:cxn ang="0">
                  <a:pos x="csX2" y="csY2"/>
                </a:cxn>
                <a:cxn ang="0">
                  <a:pos x="csX3" y="csY3"/>
                </a:cxn>
                <a:cxn ang="0">
                  <a:pos x="csX4" y="csY4"/>
                </a:cxn>
              </a:cxnLst>
              <a:rect l="l" t="t" r="r" b="b"/>
              <a:pathLst>
                <a:path w="1014170" h="507032">
                  <a:moveTo>
                    <a:pt x="0" y="0"/>
                  </a:moveTo>
                  <a:lnTo>
                    <a:pt x="1014170" y="0"/>
                  </a:lnTo>
                  <a:lnTo>
                    <a:pt x="1014170" y="507032"/>
                  </a:lnTo>
                  <a:lnTo>
                    <a:pt x="0" y="50703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fr-FR" sz="1200" b="0" i="0" kern="1200" dirty="0"/>
                <a:t>train_test_split</a:t>
              </a:r>
              <a:endParaRPr lang="fr-FR" sz="1200" kern="1200" dirty="0"/>
            </a:p>
          </p:txBody>
        </p:sp>
        <p:sp>
          <p:nvSpPr>
            <p:cNvPr id="27" name="Arc plein 26">
              <a:extLst>
                <a:ext uri="{FF2B5EF4-FFF2-40B4-BE49-F238E27FC236}">
                  <a16:creationId xmlns:a16="http://schemas.microsoft.com/office/drawing/2014/main" id="{9948E980-4991-E260-6714-654DF030450D}"/>
                </a:ext>
              </a:extLst>
            </p:cNvPr>
            <p:cNvSpPr/>
            <p:nvPr/>
          </p:nvSpPr>
          <p:spPr>
            <a:xfrm>
              <a:off x="1321074" y="4576369"/>
              <a:ext cx="1561310" cy="1562065"/>
            </a:xfrm>
            <a:prstGeom prst="blockArc">
              <a:avLst>
                <a:gd name="adj1" fmla="val 0"/>
                <a:gd name="adj2" fmla="val 18900000"/>
                <a:gd name="adj3" fmla="val 12740"/>
              </a:avLst>
            </a:prstGeom>
            <a:solidFill>
              <a:srgbClr val="00B05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fr-FR"/>
            </a:p>
          </p:txBody>
        </p:sp>
        <p:sp>
          <p:nvSpPr>
            <p:cNvPr id="28" name="Forme libre : forme 27">
              <a:extLst>
                <a:ext uri="{FF2B5EF4-FFF2-40B4-BE49-F238E27FC236}">
                  <a16:creationId xmlns:a16="http://schemas.microsoft.com/office/drawing/2014/main" id="{0B16EBB2-16FE-F810-8FD5-51FFB119F171}"/>
                </a:ext>
              </a:extLst>
            </p:cNvPr>
            <p:cNvSpPr/>
            <p:nvPr/>
          </p:nvSpPr>
          <p:spPr>
            <a:xfrm>
              <a:off x="1590724" y="5115694"/>
              <a:ext cx="1014170" cy="507032"/>
            </a:xfrm>
            <a:custGeom>
              <a:avLst/>
              <a:gdLst>
                <a:gd name="csX0" fmla="*/ 0 w 1014170"/>
                <a:gd name="csY0" fmla="*/ 0 h 507032"/>
                <a:gd name="csX1" fmla="*/ 1014170 w 1014170"/>
                <a:gd name="csY1" fmla="*/ 0 h 507032"/>
                <a:gd name="csX2" fmla="*/ 1014170 w 1014170"/>
                <a:gd name="csY2" fmla="*/ 507032 h 507032"/>
                <a:gd name="csX3" fmla="*/ 0 w 1014170"/>
                <a:gd name="csY3" fmla="*/ 507032 h 507032"/>
                <a:gd name="csX4" fmla="*/ 0 w 1014170"/>
                <a:gd name="csY4" fmla="*/ 0 h 507032"/>
              </a:gdLst>
              <a:ahLst/>
              <a:cxnLst>
                <a:cxn ang="0">
                  <a:pos x="csX0" y="csY0"/>
                </a:cxn>
                <a:cxn ang="0">
                  <a:pos x="csX1" y="csY1"/>
                </a:cxn>
                <a:cxn ang="0">
                  <a:pos x="csX2" y="csY2"/>
                </a:cxn>
                <a:cxn ang="0">
                  <a:pos x="csX3" y="csY3"/>
                </a:cxn>
                <a:cxn ang="0">
                  <a:pos x="csX4" y="csY4"/>
                </a:cxn>
              </a:cxnLst>
              <a:rect l="l" t="t" r="r" b="b"/>
              <a:pathLst>
                <a:path w="1014170" h="507032">
                  <a:moveTo>
                    <a:pt x="0" y="0"/>
                  </a:moveTo>
                  <a:lnTo>
                    <a:pt x="1014170" y="0"/>
                  </a:lnTo>
                  <a:lnTo>
                    <a:pt x="1014170" y="507032"/>
                  </a:lnTo>
                  <a:lnTo>
                    <a:pt x="0" y="50703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fr-FR" sz="1200" kern="1200" dirty="0"/>
                <a:t>Entraînement du modèle</a:t>
              </a:r>
            </a:p>
          </p:txBody>
        </p:sp>
      </p:grpSp>
      <p:sp>
        <p:nvSpPr>
          <p:cNvPr id="5" name="ZoneTexte 4">
            <a:extLst>
              <a:ext uri="{FF2B5EF4-FFF2-40B4-BE49-F238E27FC236}">
                <a16:creationId xmlns:a16="http://schemas.microsoft.com/office/drawing/2014/main" id="{A14E5ED5-1EE0-C3D3-89DE-8CAAEE2EBC08}"/>
              </a:ext>
            </a:extLst>
          </p:cNvPr>
          <p:cNvSpPr txBox="1"/>
          <p:nvPr/>
        </p:nvSpPr>
        <p:spPr>
          <a:xfrm>
            <a:off x="4575966" y="2326246"/>
            <a:ext cx="6097836" cy="738664"/>
          </a:xfrm>
          <a:prstGeom prst="rect">
            <a:avLst/>
          </a:prstGeom>
          <a:noFill/>
        </p:spPr>
        <p:txBody>
          <a:bodyPr wrap="square">
            <a:spAutoFit/>
          </a:bodyPr>
          <a:lstStyle/>
          <a:p>
            <a:r>
              <a:rPr lang="fr-FR" sz="1400" b="1" dirty="0"/>
              <a:t>Epurer les données </a:t>
            </a:r>
          </a:p>
          <a:p>
            <a:r>
              <a:rPr lang="fr-FR" sz="1400" dirty="0"/>
              <a:t>Le dataframe ne doit contenir que les données utiles (dimensions) afin de ne pas polluer l’algorithme.</a:t>
            </a:r>
          </a:p>
        </p:txBody>
      </p:sp>
      <p:sp>
        <p:nvSpPr>
          <p:cNvPr id="9" name="ZoneTexte 8">
            <a:extLst>
              <a:ext uri="{FF2B5EF4-FFF2-40B4-BE49-F238E27FC236}">
                <a16:creationId xmlns:a16="http://schemas.microsoft.com/office/drawing/2014/main" id="{A2380746-C05D-FFBE-EBED-E7D42862AC86}"/>
              </a:ext>
            </a:extLst>
          </p:cNvPr>
          <p:cNvSpPr txBox="1"/>
          <p:nvPr/>
        </p:nvSpPr>
        <p:spPr>
          <a:xfrm>
            <a:off x="4575966" y="3365509"/>
            <a:ext cx="6097836" cy="307777"/>
          </a:xfrm>
          <a:prstGeom prst="rect">
            <a:avLst/>
          </a:prstGeom>
          <a:noFill/>
        </p:spPr>
        <p:txBody>
          <a:bodyPr wrap="square">
            <a:spAutoFit/>
          </a:bodyPr>
          <a:lstStyle/>
          <a:p>
            <a:r>
              <a:rPr lang="fr-FR" sz="1400" b="1" dirty="0"/>
              <a:t>Transformer le dataframe en hot-one-encoding</a:t>
            </a:r>
          </a:p>
        </p:txBody>
      </p:sp>
      <p:sp>
        <p:nvSpPr>
          <p:cNvPr id="11" name="Rectangle 10">
            <a:extLst>
              <a:ext uri="{FF2B5EF4-FFF2-40B4-BE49-F238E27FC236}">
                <a16:creationId xmlns:a16="http://schemas.microsoft.com/office/drawing/2014/main" id="{8689F155-A123-22AD-AEDB-5088CB72FC91}"/>
              </a:ext>
            </a:extLst>
          </p:cNvPr>
          <p:cNvSpPr/>
          <p:nvPr/>
        </p:nvSpPr>
        <p:spPr>
          <a:xfrm>
            <a:off x="4179359" y="2418764"/>
            <a:ext cx="167899" cy="18503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174434AF-5DB5-A9AB-C828-1DB1C86F8C09}"/>
              </a:ext>
            </a:extLst>
          </p:cNvPr>
          <p:cNvSpPr/>
          <p:nvPr/>
        </p:nvSpPr>
        <p:spPr>
          <a:xfrm>
            <a:off x="4179359" y="3426880"/>
            <a:ext cx="167899" cy="18503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C5A533F4-573A-C54F-A92B-B2A18A689AEB}"/>
              </a:ext>
            </a:extLst>
          </p:cNvPr>
          <p:cNvSpPr txBox="1"/>
          <p:nvPr/>
        </p:nvSpPr>
        <p:spPr>
          <a:xfrm>
            <a:off x="4572400" y="4048687"/>
            <a:ext cx="6097836" cy="954107"/>
          </a:xfrm>
          <a:prstGeom prst="rect">
            <a:avLst/>
          </a:prstGeom>
          <a:noFill/>
        </p:spPr>
        <p:txBody>
          <a:bodyPr wrap="square">
            <a:spAutoFit/>
          </a:bodyPr>
          <a:lstStyle/>
          <a:p>
            <a:r>
              <a:rPr lang="fr-FR" sz="1400" b="1" dirty="0"/>
              <a:t>Effectuer un train-test-split</a:t>
            </a:r>
          </a:p>
          <a:p>
            <a:r>
              <a:rPr lang="fr-FR" sz="1400" dirty="0"/>
              <a:t> train_test_split coupe les données en 2 parties </a:t>
            </a:r>
          </a:p>
          <a:p>
            <a:r>
              <a:rPr lang="fr-FR" sz="1400" dirty="0"/>
              <a:t>• 67 % des données sont utilisées pour l’apprentissage de l’algorithme</a:t>
            </a:r>
          </a:p>
          <a:p>
            <a:r>
              <a:rPr lang="fr-FR" sz="1400" dirty="0"/>
              <a:t>• 33 % des données sont utilisées pour tester l’algorithme</a:t>
            </a:r>
          </a:p>
        </p:txBody>
      </p:sp>
      <p:sp>
        <p:nvSpPr>
          <p:cNvPr id="14" name="Rectangle 13">
            <a:extLst>
              <a:ext uri="{FF2B5EF4-FFF2-40B4-BE49-F238E27FC236}">
                <a16:creationId xmlns:a16="http://schemas.microsoft.com/office/drawing/2014/main" id="{CE68C7AB-98C0-3C5C-7C68-C884320B35E5}"/>
              </a:ext>
            </a:extLst>
          </p:cNvPr>
          <p:cNvSpPr/>
          <p:nvPr/>
        </p:nvSpPr>
        <p:spPr>
          <a:xfrm>
            <a:off x="4175793" y="4110058"/>
            <a:ext cx="167899" cy="18503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a:extLst>
              <a:ext uri="{FF2B5EF4-FFF2-40B4-BE49-F238E27FC236}">
                <a16:creationId xmlns:a16="http://schemas.microsoft.com/office/drawing/2014/main" id="{FBC369F9-0883-7C42-31B2-609D81561662}"/>
              </a:ext>
            </a:extLst>
          </p:cNvPr>
          <p:cNvSpPr txBox="1"/>
          <p:nvPr/>
        </p:nvSpPr>
        <p:spPr>
          <a:xfrm>
            <a:off x="4532278" y="5303394"/>
            <a:ext cx="6097836" cy="523220"/>
          </a:xfrm>
          <a:prstGeom prst="rect">
            <a:avLst/>
          </a:prstGeom>
          <a:noFill/>
        </p:spPr>
        <p:txBody>
          <a:bodyPr wrap="square">
            <a:spAutoFit/>
          </a:bodyPr>
          <a:lstStyle/>
          <a:p>
            <a:r>
              <a:rPr lang="fr-FR" sz="1400" b="1" dirty="0"/>
              <a:t>Contrôler le taux d’erreur </a:t>
            </a:r>
          </a:p>
          <a:p>
            <a:r>
              <a:rPr lang="fr-FR" sz="1400" dirty="0"/>
              <a:t>Le taux d’erreur moyen en % </a:t>
            </a:r>
          </a:p>
        </p:txBody>
      </p:sp>
      <p:sp>
        <p:nvSpPr>
          <p:cNvPr id="16" name="Rectangle 15">
            <a:extLst>
              <a:ext uri="{FF2B5EF4-FFF2-40B4-BE49-F238E27FC236}">
                <a16:creationId xmlns:a16="http://schemas.microsoft.com/office/drawing/2014/main" id="{8E461C7C-8398-A8E7-A489-5F8BDDF13C61}"/>
              </a:ext>
            </a:extLst>
          </p:cNvPr>
          <p:cNvSpPr/>
          <p:nvPr/>
        </p:nvSpPr>
        <p:spPr>
          <a:xfrm>
            <a:off x="4135671" y="5364765"/>
            <a:ext cx="167899" cy="18503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Titre 3">
            <a:extLst>
              <a:ext uri="{FF2B5EF4-FFF2-40B4-BE49-F238E27FC236}">
                <a16:creationId xmlns:a16="http://schemas.microsoft.com/office/drawing/2014/main" id="{30BC6779-1047-5BD4-1979-D7D0D71FE886}"/>
              </a:ext>
            </a:extLst>
          </p:cNvPr>
          <p:cNvSpPr txBox="1">
            <a:spLocks/>
          </p:cNvSpPr>
          <p:nvPr/>
        </p:nvSpPr>
        <p:spPr>
          <a:xfrm>
            <a:off x="172146" y="225846"/>
            <a:ext cx="4421888" cy="538417"/>
          </a:xfrm>
          <a:prstGeom prst="rect">
            <a:avLst/>
          </a:prstGeom>
          <a:noFill/>
          <a:ln w="19050">
            <a:noFill/>
            <a:prstDash val="sysDash"/>
          </a:ln>
        </p:spPr>
        <p:txBody>
          <a:bodyPr vert="horz" wrap="square" lIns="91440" tIns="45720" rIns="91440" bIns="4572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fr-FR" sz="3200" b="1" dirty="0">
                <a:solidFill>
                  <a:schemeClr val="bg1"/>
                </a:solidFill>
              </a:rPr>
              <a:t>II. Méthodologie suivie</a:t>
            </a:r>
            <a:endParaRPr lang="fr-FR" sz="1800" b="1" dirty="0">
              <a:solidFill>
                <a:schemeClr val="bg1"/>
              </a:solidFill>
            </a:endParaRPr>
          </a:p>
        </p:txBody>
      </p:sp>
      <p:pic>
        <p:nvPicPr>
          <p:cNvPr id="31" name="Image 30">
            <a:extLst>
              <a:ext uri="{FF2B5EF4-FFF2-40B4-BE49-F238E27FC236}">
                <a16:creationId xmlns:a16="http://schemas.microsoft.com/office/drawing/2014/main" id="{B8F90974-DAC9-FD83-7BF3-E8AD7B214563}"/>
              </a:ext>
            </a:extLst>
          </p:cNvPr>
          <p:cNvPicPr>
            <a:picLocks noChangeAspect="1"/>
          </p:cNvPicPr>
          <p:nvPr/>
        </p:nvPicPr>
        <p:blipFill>
          <a:blip r:embed="rId2"/>
          <a:stretch>
            <a:fillRect/>
          </a:stretch>
        </p:blipFill>
        <p:spPr>
          <a:xfrm>
            <a:off x="655780" y="1449129"/>
            <a:ext cx="1114581" cy="200053"/>
          </a:xfrm>
          <a:prstGeom prst="rect">
            <a:avLst/>
          </a:prstGeom>
        </p:spPr>
      </p:pic>
    </p:spTree>
    <p:extLst>
      <p:ext uri="{BB962C8B-B14F-4D97-AF65-F5344CB8AC3E}">
        <p14:creationId xmlns:p14="http://schemas.microsoft.com/office/powerpoint/2010/main" val="914949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p:bldP spid="9" grpId="0"/>
      <p:bldP spid="11" grpId="0" animBg="1"/>
      <p:bldP spid="12" grpId="0" animBg="1"/>
      <p:bldP spid="13" grpId="0"/>
      <p:bldP spid="14" grpId="0" animBg="1"/>
      <p:bldP spid="15" grpId="0"/>
      <p:bldP spid="1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2A29F-932C-ACB1-C93E-3558E820646A}"/>
            </a:ext>
          </a:extLst>
        </p:cNvPr>
        <p:cNvGrpSpPr/>
        <p:nvPr/>
      </p:nvGrpSpPr>
      <p:grpSpPr>
        <a:xfrm>
          <a:off x="0" y="0"/>
          <a:ext cx="0" cy="0"/>
          <a:chOff x="0" y="0"/>
          <a:chExt cx="0" cy="0"/>
        </a:xfrm>
      </p:grpSpPr>
      <p:sp>
        <p:nvSpPr>
          <p:cNvPr id="18" name="Titre 1">
            <a:extLst>
              <a:ext uri="{FF2B5EF4-FFF2-40B4-BE49-F238E27FC236}">
                <a16:creationId xmlns:a16="http://schemas.microsoft.com/office/drawing/2014/main" id="{6A351C2E-1C02-CF60-F971-A66177AB6681}"/>
              </a:ext>
            </a:extLst>
          </p:cNvPr>
          <p:cNvSpPr>
            <a:spLocks noGrp="1"/>
          </p:cNvSpPr>
          <p:nvPr>
            <p:ph type="title"/>
          </p:nvPr>
        </p:nvSpPr>
        <p:spPr>
          <a:xfrm>
            <a:off x="354105" y="2778034"/>
            <a:ext cx="3322316" cy="1129382"/>
          </a:xfrm>
        </p:spPr>
        <p:txBody>
          <a:bodyPr vert="horz" lIns="91440" tIns="45720" rIns="91440" bIns="45720" rtlCol="0" anchor="b">
            <a:normAutofit/>
          </a:bodyPr>
          <a:lstStyle/>
          <a:p>
            <a:r>
              <a:rPr lang="en-US" sz="4800" kern="1200" dirty="0">
                <a:solidFill>
                  <a:srgbClr val="FFFFFF"/>
                </a:solidFill>
                <a:latin typeface="+mj-lt"/>
                <a:ea typeface="+mj-ea"/>
                <a:cs typeface="+mj-cs"/>
              </a:rPr>
              <a:t>Résultats</a:t>
            </a:r>
          </a:p>
        </p:txBody>
      </p:sp>
      <p:pic>
        <p:nvPicPr>
          <p:cNvPr id="2" name="Image 1">
            <a:extLst>
              <a:ext uri="{FF2B5EF4-FFF2-40B4-BE49-F238E27FC236}">
                <a16:creationId xmlns:a16="http://schemas.microsoft.com/office/drawing/2014/main" id="{3E08F62B-F95E-39CB-233E-820B993E07A6}"/>
              </a:ext>
            </a:extLst>
          </p:cNvPr>
          <p:cNvPicPr>
            <a:picLocks noChangeAspect="1"/>
          </p:cNvPicPr>
          <p:nvPr/>
        </p:nvPicPr>
        <p:blipFill>
          <a:blip r:embed="rId2"/>
          <a:stretch>
            <a:fillRect/>
          </a:stretch>
        </p:blipFill>
        <p:spPr>
          <a:xfrm>
            <a:off x="427427" y="1685580"/>
            <a:ext cx="4775110" cy="3988105"/>
          </a:xfrm>
          <a:prstGeom prst="rect">
            <a:avLst/>
          </a:prstGeom>
        </p:spPr>
      </p:pic>
      <p:pic>
        <p:nvPicPr>
          <p:cNvPr id="3" name="Image 2">
            <a:extLst>
              <a:ext uri="{FF2B5EF4-FFF2-40B4-BE49-F238E27FC236}">
                <a16:creationId xmlns:a16="http://schemas.microsoft.com/office/drawing/2014/main" id="{8AEA74BA-B840-58AC-687E-B1FCECB378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20674" y="3157627"/>
            <a:ext cx="334569" cy="334569"/>
          </a:xfrm>
          <a:prstGeom prst="rect">
            <a:avLst/>
          </a:prstGeom>
        </p:spPr>
      </p:pic>
      <p:pic>
        <p:nvPicPr>
          <p:cNvPr id="4" name="Image 3">
            <a:extLst>
              <a:ext uri="{FF2B5EF4-FFF2-40B4-BE49-F238E27FC236}">
                <a16:creationId xmlns:a16="http://schemas.microsoft.com/office/drawing/2014/main" id="{2CE73B10-AF01-2D2E-1E87-B45BD8DAC6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25971" y="2495672"/>
            <a:ext cx="369332" cy="369332"/>
          </a:xfrm>
          <a:prstGeom prst="rect">
            <a:avLst/>
          </a:prstGeom>
        </p:spPr>
      </p:pic>
      <p:sp>
        <p:nvSpPr>
          <p:cNvPr id="7" name="ZoneTexte 6">
            <a:extLst>
              <a:ext uri="{FF2B5EF4-FFF2-40B4-BE49-F238E27FC236}">
                <a16:creationId xmlns:a16="http://schemas.microsoft.com/office/drawing/2014/main" id="{73B76D4E-23CA-E4A4-AA02-A4331FDB33DD}"/>
              </a:ext>
            </a:extLst>
          </p:cNvPr>
          <p:cNvSpPr txBox="1"/>
          <p:nvPr/>
        </p:nvSpPr>
        <p:spPr>
          <a:xfrm>
            <a:off x="6369457" y="2418728"/>
            <a:ext cx="5103224" cy="523220"/>
          </a:xfrm>
          <a:prstGeom prst="rect">
            <a:avLst/>
          </a:prstGeom>
          <a:noFill/>
        </p:spPr>
        <p:txBody>
          <a:bodyPr wrap="square">
            <a:spAutoFit/>
          </a:bodyPr>
          <a:lstStyle/>
          <a:p>
            <a:pPr algn="l"/>
            <a:r>
              <a:rPr lang="fr-FR" sz="1400" b="0" i="0" dirty="0">
                <a:effectLst/>
                <a:latin typeface="system-ui"/>
              </a:rPr>
              <a:t>• Les appartements valent 71,05 Millions.</a:t>
            </a:r>
          </a:p>
          <a:p>
            <a:pPr algn="l"/>
            <a:r>
              <a:rPr lang="fr-FR" sz="1400" b="0" i="0" dirty="0">
                <a:effectLst/>
                <a:latin typeface="system-ui"/>
              </a:rPr>
              <a:t>• Les locaux commerciaux &amp; assimilés valent 97,97 Millions.</a:t>
            </a:r>
          </a:p>
        </p:txBody>
      </p:sp>
      <p:sp>
        <p:nvSpPr>
          <p:cNvPr id="8" name="ZoneTexte 7">
            <a:extLst>
              <a:ext uri="{FF2B5EF4-FFF2-40B4-BE49-F238E27FC236}">
                <a16:creationId xmlns:a16="http://schemas.microsoft.com/office/drawing/2014/main" id="{27BA64A3-94F9-A55A-6020-A11A8381243E}"/>
              </a:ext>
            </a:extLst>
          </p:cNvPr>
          <p:cNvSpPr txBox="1"/>
          <p:nvPr/>
        </p:nvSpPr>
        <p:spPr>
          <a:xfrm>
            <a:off x="6386437" y="3184419"/>
            <a:ext cx="4661990" cy="523220"/>
          </a:xfrm>
          <a:prstGeom prst="rect">
            <a:avLst/>
          </a:prstGeom>
          <a:noFill/>
        </p:spPr>
        <p:txBody>
          <a:bodyPr wrap="square">
            <a:spAutoFit/>
          </a:bodyPr>
          <a:lstStyle/>
          <a:p>
            <a:r>
              <a:rPr lang="fr-FR" sz="1400" dirty="0">
                <a:latin typeface="system-ui"/>
              </a:rPr>
              <a:t>Il subsiste un taux d'erreur de 9,5% ce qui représente tout de même 16,06 Millions.</a:t>
            </a:r>
            <a:endParaRPr lang="fr-FR" sz="1400" b="0" i="0" dirty="0">
              <a:effectLst/>
              <a:latin typeface="system-ui"/>
            </a:endParaRPr>
          </a:p>
        </p:txBody>
      </p:sp>
      <p:sp>
        <p:nvSpPr>
          <p:cNvPr id="9" name="ZoneTexte 8">
            <a:extLst>
              <a:ext uri="{FF2B5EF4-FFF2-40B4-BE49-F238E27FC236}">
                <a16:creationId xmlns:a16="http://schemas.microsoft.com/office/drawing/2014/main" id="{FCCA4CB4-B59D-0C0A-CA2B-B1F4103CAF77}"/>
              </a:ext>
            </a:extLst>
          </p:cNvPr>
          <p:cNvSpPr txBox="1"/>
          <p:nvPr/>
        </p:nvSpPr>
        <p:spPr>
          <a:xfrm>
            <a:off x="6344656" y="3925120"/>
            <a:ext cx="4661990" cy="1384995"/>
          </a:xfrm>
          <a:prstGeom prst="rect">
            <a:avLst/>
          </a:prstGeom>
          <a:noFill/>
        </p:spPr>
        <p:txBody>
          <a:bodyPr wrap="square">
            <a:spAutoFit/>
          </a:bodyPr>
          <a:lstStyle/>
          <a:p>
            <a:pPr algn="l"/>
            <a:r>
              <a:rPr lang="fr-FR" sz="1400" b="0" i="0" dirty="0">
                <a:effectLst/>
                <a:latin typeface="system-ui"/>
              </a:rPr>
              <a:t>Cette estimation reste approximative car elle repose sur un modèle de régression linéaire simplifié et sur un nombre limité de variables explicatives.</a:t>
            </a:r>
          </a:p>
          <a:p>
            <a:r>
              <a:rPr lang="fr-FR" sz="1400" dirty="0">
                <a:latin typeface="system-ui"/>
              </a:rPr>
              <a:t>Pour enrichir la précision des prédictions, il serait pertinent d'enrichir le jeu de données et peut-être remonter plus loin dans les années.</a:t>
            </a:r>
            <a:endParaRPr lang="fr-FR" sz="1400" b="0" i="0" dirty="0">
              <a:effectLst/>
              <a:latin typeface="system-ui"/>
            </a:endParaRPr>
          </a:p>
        </p:txBody>
      </p:sp>
      <p:pic>
        <p:nvPicPr>
          <p:cNvPr id="10" name="Image 9">
            <a:extLst>
              <a:ext uri="{FF2B5EF4-FFF2-40B4-BE49-F238E27FC236}">
                <a16:creationId xmlns:a16="http://schemas.microsoft.com/office/drawing/2014/main" id="{AC64D048-FE85-8943-0B2B-698991A906A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25971" y="3925120"/>
            <a:ext cx="374469" cy="374469"/>
          </a:xfrm>
          <a:prstGeom prst="rect">
            <a:avLst/>
          </a:prstGeom>
        </p:spPr>
      </p:pic>
      <p:sp>
        <p:nvSpPr>
          <p:cNvPr id="5" name="Rectangle 4">
            <a:extLst>
              <a:ext uri="{FF2B5EF4-FFF2-40B4-BE49-F238E27FC236}">
                <a16:creationId xmlns:a16="http://schemas.microsoft.com/office/drawing/2014/main" id="{5311CDB5-C637-7DDA-CB46-3A9B02C259A8}"/>
              </a:ext>
            </a:extLst>
          </p:cNvPr>
          <p:cNvSpPr/>
          <p:nvPr/>
        </p:nvSpPr>
        <p:spPr>
          <a:xfrm>
            <a:off x="0" y="0"/>
            <a:ext cx="12192000" cy="918734"/>
          </a:xfrm>
          <a:prstGeom prst="rect">
            <a:avLst/>
          </a:prstGeom>
          <a:solidFill>
            <a:srgbClr val="1A99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Titre 3">
            <a:extLst>
              <a:ext uri="{FF2B5EF4-FFF2-40B4-BE49-F238E27FC236}">
                <a16:creationId xmlns:a16="http://schemas.microsoft.com/office/drawing/2014/main" id="{0092C084-2662-8BF9-2A57-7BCE80F00598}"/>
              </a:ext>
            </a:extLst>
          </p:cNvPr>
          <p:cNvSpPr txBox="1">
            <a:spLocks/>
          </p:cNvSpPr>
          <p:nvPr/>
        </p:nvSpPr>
        <p:spPr>
          <a:xfrm>
            <a:off x="176079" y="134406"/>
            <a:ext cx="8185723" cy="649922"/>
          </a:xfrm>
          <a:prstGeom prst="rect">
            <a:avLst/>
          </a:prstGeom>
          <a:noFill/>
          <a:ln w="19050">
            <a:noFill/>
            <a:prstDash val="sysDash"/>
          </a:ln>
        </p:spPr>
        <p:txBody>
          <a:bodyPr vert="horz" wrap="square" lIns="91440" tIns="45720" rIns="91440" bIns="4572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fr-FR" sz="4000" dirty="0">
                <a:solidFill>
                  <a:schemeClr val="bg1"/>
                </a:solidFill>
              </a:rPr>
              <a:t>III.  Résultat des prédictions</a:t>
            </a:r>
            <a:endParaRPr lang="fr-FR" sz="2400" dirty="0">
              <a:solidFill>
                <a:schemeClr val="bg1"/>
              </a:solidFill>
            </a:endParaRPr>
          </a:p>
        </p:txBody>
      </p:sp>
    </p:spTree>
    <p:extLst>
      <p:ext uri="{BB962C8B-B14F-4D97-AF65-F5344CB8AC3E}">
        <p14:creationId xmlns:p14="http://schemas.microsoft.com/office/powerpoint/2010/main" val="2593792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A9988"/>
        </a:solidFill>
        <a:effectLst/>
      </p:bgPr>
    </p:bg>
    <p:spTree>
      <p:nvGrpSpPr>
        <p:cNvPr id="1" name="Shape 115"/>
        <p:cNvGrpSpPr/>
        <p:nvPr/>
      </p:nvGrpSpPr>
      <p:grpSpPr>
        <a:xfrm>
          <a:off x="0" y="0"/>
          <a:ext cx="0" cy="0"/>
          <a:chOff x="0" y="0"/>
          <a:chExt cx="0" cy="0"/>
        </a:xfrm>
      </p:grpSpPr>
      <p:sp>
        <p:nvSpPr>
          <p:cNvPr id="116" name="Google Shape;116;p18"/>
          <p:cNvSpPr txBox="1">
            <a:spLocks noGrp="1"/>
          </p:cNvSpPr>
          <p:nvPr>
            <p:ph type="title"/>
          </p:nvPr>
        </p:nvSpPr>
        <p:spPr>
          <a:xfrm>
            <a:off x="972600" y="1763267"/>
            <a:ext cx="10251200" cy="2024800"/>
          </a:xfrm>
          <a:prstGeom prst="rect">
            <a:avLst/>
          </a:prstGeom>
        </p:spPr>
        <p:txBody>
          <a:bodyPr spcFirstLastPara="1" vert="horz" wrap="square" lIns="121900" tIns="121900" rIns="121900" bIns="121900" rtlCol="0" anchor="t" anchorCtr="0">
            <a:normAutofit/>
          </a:bodyPr>
          <a:lstStyle/>
          <a:p>
            <a:r>
              <a:rPr lang="fr" dirty="0"/>
              <a:t>Les Plus Beaux Logis de Paris</a:t>
            </a:r>
            <a:endParaRPr dirty="0"/>
          </a:p>
          <a:p>
            <a:r>
              <a:rPr lang="fr" dirty="0"/>
              <a:t>Partie 2</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C5451-572D-EB7B-FD74-1CD4EC7073F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FFF19B2-D666-ED46-093A-8F40665A0469}"/>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kern="1200" dirty="0">
                <a:solidFill>
                  <a:srgbClr val="FFFFFF"/>
                </a:solidFill>
                <a:latin typeface="+mj-lt"/>
                <a:ea typeface="+mj-ea"/>
                <a:cs typeface="+mj-cs"/>
              </a:rPr>
              <a:t>CLASSIFICATION AUTOMATIQUE</a:t>
            </a:r>
          </a:p>
        </p:txBody>
      </p:sp>
      <p:sp>
        <p:nvSpPr>
          <p:cNvPr id="4" name="ZoneTexte 3">
            <a:extLst>
              <a:ext uri="{FF2B5EF4-FFF2-40B4-BE49-F238E27FC236}">
                <a16:creationId xmlns:a16="http://schemas.microsoft.com/office/drawing/2014/main" id="{187A764C-8992-6719-4BB4-07438AF23318}"/>
              </a:ext>
            </a:extLst>
          </p:cNvPr>
          <p:cNvSpPr txBox="1"/>
          <p:nvPr/>
        </p:nvSpPr>
        <p:spPr>
          <a:xfrm>
            <a:off x="491411" y="4210079"/>
            <a:ext cx="6096000" cy="584775"/>
          </a:xfrm>
          <a:prstGeom prst="rect">
            <a:avLst/>
          </a:prstGeom>
          <a:noFill/>
        </p:spPr>
        <p:txBody>
          <a:bodyPr wrap="square">
            <a:spAutoFit/>
          </a:bodyPr>
          <a:lstStyle/>
          <a:p>
            <a:r>
              <a:rPr lang="fr-FR" sz="1600" b="0" i="0" dirty="0">
                <a:solidFill>
                  <a:srgbClr val="271A38"/>
                </a:solidFill>
                <a:effectLst/>
                <a:latin typeface="Inter"/>
              </a:rPr>
              <a:t>« Serait-il possible avec vos outils techniques de prédiction de </a:t>
            </a:r>
            <a:r>
              <a:rPr lang="fr-FR" sz="1600" b="1" i="0" dirty="0">
                <a:solidFill>
                  <a:srgbClr val="271A38"/>
                </a:solidFill>
                <a:effectLst/>
                <a:latin typeface="Inter"/>
              </a:rPr>
              <a:t>classer automatiquement les opportunités</a:t>
            </a:r>
            <a:r>
              <a:rPr lang="fr-FR" sz="1600" b="0" i="0" dirty="0">
                <a:solidFill>
                  <a:srgbClr val="271A38"/>
                </a:solidFill>
                <a:effectLst/>
                <a:latin typeface="Inter"/>
              </a:rPr>
              <a:t> ? »</a:t>
            </a:r>
            <a:endParaRPr lang="fr-FR" sz="1600" dirty="0"/>
          </a:p>
        </p:txBody>
      </p:sp>
      <p:sp>
        <p:nvSpPr>
          <p:cNvPr id="6" name="ZoneTexte 5">
            <a:extLst>
              <a:ext uri="{FF2B5EF4-FFF2-40B4-BE49-F238E27FC236}">
                <a16:creationId xmlns:a16="http://schemas.microsoft.com/office/drawing/2014/main" id="{2C22F94E-0D2F-AEE1-494C-A654CDFA3452}"/>
              </a:ext>
            </a:extLst>
          </p:cNvPr>
          <p:cNvSpPr txBox="1"/>
          <p:nvPr/>
        </p:nvSpPr>
        <p:spPr>
          <a:xfrm>
            <a:off x="491411" y="3077506"/>
            <a:ext cx="6096000" cy="830997"/>
          </a:xfrm>
          <a:prstGeom prst="rect">
            <a:avLst/>
          </a:prstGeom>
          <a:noFill/>
        </p:spPr>
        <p:txBody>
          <a:bodyPr wrap="square">
            <a:spAutoFit/>
          </a:bodyPr>
          <a:lstStyle/>
          <a:p>
            <a:r>
              <a:rPr lang="fr-FR" sz="1600" b="0" i="0" dirty="0">
                <a:solidFill>
                  <a:srgbClr val="271A38"/>
                </a:solidFill>
                <a:effectLst/>
                <a:latin typeface="Inter"/>
              </a:rPr>
              <a:t>« Quand nous recevons des opportunités par différents canaux, au-delà de la localisation, de la surface et du prix potentiel, nous n’avons pas l’information sur la nature du bien. »</a:t>
            </a:r>
            <a:endParaRPr lang="fr-FR" sz="1600" dirty="0"/>
          </a:p>
        </p:txBody>
      </p:sp>
      <p:sp>
        <p:nvSpPr>
          <p:cNvPr id="8" name="ZoneTexte 7">
            <a:extLst>
              <a:ext uri="{FF2B5EF4-FFF2-40B4-BE49-F238E27FC236}">
                <a16:creationId xmlns:a16="http://schemas.microsoft.com/office/drawing/2014/main" id="{9FF265A1-8C95-2152-BB6C-219D5FED864E}"/>
              </a:ext>
            </a:extLst>
          </p:cNvPr>
          <p:cNvSpPr txBox="1"/>
          <p:nvPr/>
        </p:nvSpPr>
        <p:spPr>
          <a:xfrm>
            <a:off x="514729" y="1653840"/>
            <a:ext cx="4841042" cy="584775"/>
          </a:xfrm>
          <a:prstGeom prst="rect">
            <a:avLst/>
          </a:prstGeom>
          <a:noFill/>
        </p:spPr>
        <p:txBody>
          <a:bodyPr wrap="square">
            <a:spAutoFit/>
          </a:bodyPr>
          <a:lstStyle/>
          <a:p>
            <a:r>
              <a:rPr lang="fr-FR" sz="1600" b="0" i="1" dirty="0">
                <a:solidFill>
                  <a:srgbClr val="271A38"/>
                </a:solidFill>
                <a:effectLst/>
              </a:rPr>
              <a:t>Question de Louise</a:t>
            </a:r>
          </a:p>
          <a:p>
            <a:r>
              <a:rPr lang="fr-FR" sz="1600" i="1" dirty="0"/>
              <a:t>directrice générale adjointe de la branche corporate</a:t>
            </a:r>
          </a:p>
        </p:txBody>
      </p:sp>
      <p:cxnSp>
        <p:nvCxnSpPr>
          <p:cNvPr id="10" name="Connecteur droit 9">
            <a:extLst>
              <a:ext uri="{FF2B5EF4-FFF2-40B4-BE49-F238E27FC236}">
                <a16:creationId xmlns:a16="http://schemas.microsoft.com/office/drawing/2014/main" id="{B6500918-01FA-9975-177B-5E190F151456}"/>
              </a:ext>
            </a:extLst>
          </p:cNvPr>
          <p:cNvCxnSpPr>
            <a:cxnSpLocks/>
          </p:cNvCxnSpPr>
          <p:nvPr/>
        </p:nvCxnSpPr>
        <p:spPr>
          <a:xfrm>
            <a:off x="516302" y="2588622"/>
            <a:ext cx="11327808" cy="0"/>
          </a:xfrm>
          <a:prstGeom prst="line">
            <a:avLst/>
          </a:prstGeom>
          <a:ln w="9525"/>
        </p:spPr>
        <p:style>
          <a:lnRef idx="2">
            <a:schemeClr val="dk1"/>
          </a:lnRef>
          <a:fillRef idx="0">
            <a:schemeClr val="dk1"/>
          </a:fillRef>
          <a:effectRef idx="1">
            <a:schemeClr val="dk1"/>
          </a:effectRef>
          <a:fontRef idx="minor">
            <a:schemeClr val="tx1"/>
          </a:fontRef>
        </p:style>
      </p:cxnSp>
      <p:sp>
        <p:nvSpPr>
          <p:cNvPr id="3" name="Rectangle 2">
            <a:extLst>
              <a:ext uri="{FF2B5EF4-FFF2-40B4-BE49-F238E27FC236}">
                <a16:creationId xmlns:a16="http://schemas.microsoft.com/office/drawing/2014/main" id="{2E9514AC-FF5A-A6C5-3A78-71FC70A1F64D}"/>
              </a:ext>
            </a:extLst>
          </p:cNvPr>
          <p:cNvSpPr/>
          <p:nvPr/>
        </p:nvSpPr>
        <p:spPr>
          <a:xfrm>
            <a:off x="0" y="0"/>
            <a:ext cx="12192000" cy="918734"/>
          </a:xfrm>
          <a:prstGeom prst="rect">
            <a:avLst/>
          </a:prstGeom>
          <a:solidFill>
            <a:srgbClr val="1A99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A9135DB2-DD1C-1552-8AF2-CE460AD02BEA}"/>
              </a:ext>
            </a:extLst>
          </p:cNvPr>
          <p:cNvSpPr txBox="1"/>
          <p:nvPr/>
        </p:nvSpPr>
        <p:spPr>
          <a:xfrm>
            <a:off x="347890" y="228534"/>
            <a:ext cx="6097836" cy="461665"/>
          </a:xfrm>
          <a:prstGeom prst="rect">
            <a:avLst/>
          </a:prstGeom>
          <a:noFill/>
        </p:spPr>
        <p:txBody>
          <a:bodyPr wrap="square">
            <a:spAutoFit/>
          </a:bodyPr>
          <a:lstStyle/>
          <a:p>
            <a:r>
              <a:rPr lang="en-US" sz="2400" b="1" kern="1200" dirty="0">
                <a:solidFill>
                  <a:srgbClr val="FFFFFF"/>
                </a:solidFill>
                <a:latin typeface="+mj-lt"/>
                <a:ea typeface="+mj-ea"/>
                <a:cs typeface="+mj-cs"/>
              </a:rPr>
              <a:t>CLASSIFICATION AUTOMATIQUE</a:t>
            </a:r>
            <a:endParaRPr lang="fr-FR" sz="2400" b="1" dirty="0"/>
          </a:p>
        </p:txBody>
      </p:sp>
    </p:spTree>
    <p:extLst>
      <p:ext uri="{BB962C8B-B14F-4D97-AF65-F5344CB8AC3E}">
        <p14:creationId xmlns:p14="http://schemas.microsoft.com/office/powerpoint/2010/main" val="1838529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990DE-AD4D-7E4F-F9DB-EDC4E4CBF7B6}"/>
            </a:ext>
          </a:extLst>
        </p:cNvPr>
        <p:cNvGrpSpPr/>
        <p:nvPr/>
      </p:nvGrpSpPr>
      <p:grpSpPr>
        <a:xfrm>
          <a:off x="0" y="0"/>
          <a:ext cx="0" cy="0"/>
          <a:chOff x="0" y="0"/>
          <a:chExt cx="0" cy="0"/>
        </a:xfrm>
      </p:grpSpPr>
      <p:pic>
        <p:nvPicPr>
          <p:cNvPr id="15" name="Image 14">
            <a:extLst>
              <a:ext uri="{FF2B5EF4-FFF2-40B4-BE49-F238E27FC236}">
                <a16:creationId xmlns:a16="http://schemas.microsoft.com/office/drawing/2014/main" id="{22949FD3-C39B-BEEB-38E9-F6E0F492E1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6952" y="1121606"/>
            <a:ext cx="381988" cy="381988"/>
          </a:xfrm>
          <a:prstGeom prst="rect">
            <a:avLst/>
          </a:prstGeom>
        </p:spPr>
      </p:pic>
      <p:sp>
        <p:nvSpPr>
          <p:cNvPr id="16" name="ZoneTexte 15">
            <a:extLst>
              <a:ext uri="{FF2B5EF4-FFF2-40B4-BE49-F238E27FC236}">
                <a16:creationId xmlns:a16="http://schemas.microsoft.com/office/drawing/2014/main" id="{E2611B23-65AC-DFEE-C0F3-70F1E69E06FC}"/>
              </a:ext>
            </a:extLst>
          </p:cNvPr>
          <p:cNvSpPr txBox="1"/>
          <p:nvPr/>
        </p:nvSpPr>
        <p:spPr>
          <a:xfrm>
            <a:off x="918940" y="1131794"/>
            <a:ext cx="10001609" cy="369332"/>
          </a:xfrm>
          <a:prstGeom prst="rect">
            <a:avLst/>
          </a:prstGeom>
          <a:noFill/>
        </p:spPr>
        <p:txBody>
          <a:bodyPr wrap="square">
            <a:spAutoFit/>
          </a:bodyPr>
          <a:lstStyle/>
          <a:p>
            <a:r>
              <a:rPr lang="fr-FR" b="0" i="0" dirty="0">
                <a:solidFill>
                  <a:srgbClr val="271A38"/>
                </a:solidFill>
                <a:effectLst/>
                <a:latin typeface="Inter"/>
              </a:rPr>
              <a:t>Oui, pour une liste de biens immobiliers, il est possible de créer une classification automatique des biens. </a:t>
            </a:r>
            <a:endParaRPr lang="fr-FR" dirty="0"/>
          </a:p>
        </p:txBody>
      </p:sp>
      <p:sp>
        <p:nvSpPr>
          <p:cNvPr id="29" name="ZoneTexte 28">
            <a:extLst>
              <a:ext uri="{FF2B5EF4-FFF2-40B4-BE49-F238E27FC236}">
                <a16:creationId xmlns:a16="http://schemas.microsoft.com/office/drawing/2014/main" id="{D86DCB96-469A-7279-0666-7D5E91F5A474}"/>
              </a:ext>
            </a:extLst>
          </p:cNvPr>
          <p:cNvSpPr txBox="1"/>
          <p:nvPr/>
        </p:nvSpPr>
        <p:spPr>
          <a:xfrm>
            <a:off x="1001102" y="4840927"/>
            <a:ext cx="6932023" cy="1569660"/>
          </a:xfrm>
          <a:prstGeom prst="rect">
            <a:avLst/>
          </a:prstGeom>
          <a:noFill/>
        </p:spPr>
        <p:txBody>
          <a:bodyPr wrap="square">
            <a:spAutoFit/>
          </a:bodyPr>
          <a:lstStyle/>
          <a:p>
            <a:pPr>
              <a:buNone/>
            </a:pPr>
            <a:r>
              <a:rPr lang="fr-FR" sz="1600" dirty="0"/>
              <a:t>Dans le détail, l’algorithme va :</a:t>
            </a:r>
          </a:p>
          <a:p>
            <a:pPr>
              <a:buNone/>
            </a:pPr>
            <a:endParaRPr lang="fr-FR" sz="1600" dirty="0"/>
          </a:p>
          <a:p>
            <a:pPr>
              <a:buFont typeface="+mj-lt"/>
              <a:buAutoNum type="arabicPeriod"/>
            </a:pPr>
            <a:r>
              <a:rPr lang="fr-FR" sz="1600" dirty="0"/>
              <a:t>  Créer plusieurs groupes (appelés clusters) </a:t>
            </a:r>
          </a:p>
          <a:p>
            <a:pPr>
              <a:buFont typeface="+mj-lt"/>
              <a:buAutoNum type="arabicPeriod"/>
            </a:pPr>
            <a:r>
              <a:rPr lang="fr-FR" sz="1600" dirty="0"/>
              <a:t>  Positionner un centre pour chaque groupe </a:t>
            </a:r>
          </a:p>
          <a:p>
            <a:pPr>
              <a:buFont typeface="+mj-lt"/>
              <a:buAutoNum type="arabicPeriod"/>
            </a:pPr>
            <a:r>
              <a:rPr lang="fr-FR" sz="1600" dirty="0"/>
              <a:t>  Associer chaque bien au groupe le plus proche </a:t>
            </a:r>
          </a:p>
          <a:p>
            <a:pPr>
              <a:buFont typeface="+mj-lt"/>
              <a:buAutoNum type="arabicPeriod"/>
            </a:pPr>
            <a:r>
              <a:rPr lang="fr-FR" sz="1600" dirty="0"/>
              <a:t>  Ajuster les groupes pour qu’ils soient les plus cohérents possible</a:t>
            </a:r>
          </a:p>
        </p:txBody>
      </p:sp>
      <p:sp>
        <p:nvSpPr>
          <p:cNvPr id="30" name="ZoneTexte 29">
            <a:extLst>
              <a:ext uri="{FF2B5EF4-FFF2-40B4-BE49-F238E27FC236}">
                <a16:creationId xmlns:a16="http://schemas.microsoft.com/office/drawing/2014/main" id="{A974AC82-2AD7-A4EB-B194-3306A8B87E7B}"/>
              </a:ext>
            </a:extLst>
          </p:cNvPr>
          <p:cNvSpPr txBox="1"/>
          <p:nvPr/>
        </p:nvSpPr>
        <p:spPr>
          <a:xfrm>
            <a:off x="1001102" y="2086957"/>
            <a:ext cx="9187542" cy="584775"/>
          </a:xfrm>
          <a:prstGeom prst="rect">
            <a:avLst/>
          </a:prstGeom>
          <a:noFill/>
        </p:spPr>
        <p:txBody>
          <a:bodyPr wrap="square">
            <a:spAutoFit/>
          </a:bodyPr>
          <a:lstStyle/>
          <a:p>
            <a:pPr>
              <a:buNone/>
            </a:pPr>
            <a:r>
              <a:rPr lang="fr-FR" sz="1600" dirty="0"/>
              <a:t>un algorithme qui analyse les caractéristiques des biens et regroupe automatiquement ceux qui se ressemblent le plus. Chaque groupe correspond à un profil de bien immobilier cohérent.</a:t>
            </a:r>
          </a:p>
        </p:txBody>
      </p:sp>
      <p:sp>
        <p:nvSpPr>
          <p:cNvPr id="32" name="ZoneTexte 31">
            <a:extLst>
              <a:ext uri="{FF2B5EF4-FFF2-40B4-BE49-F238E27FC236}">
                <a16:creationId xmlns:a16="http://schemas.microsoft.com/office/drawing/2014/main" id="{449A8C9E-4119-A708-6B8C-8FF147B2B11C}"/>
              </a:ext>
            </a:extLst>
          </p:cNvPr>
          <p:cNvSpPr txBox="1"/>
          <p:nvPr/>
        </p:nvSpPr>
        <p:spPr>
          <a:xfrm>
            <a:off x="988446" y="1745351"/>
            <a:ext cx="10189795" cy="400110"/>
          </a:xfrm>
          <a:prstGeom prst="rect">
            <a:avLst/>
          </a:prstGeom>
          <a:noFill/>
        </p:spPr>
        <p:txBody>
          <a:bodyPr wrap="square">
            <a:spAutoFit/>
          </a:bodyPr>
          <a:lstStyle/>
          <a:p>
            <a:pPr>
              <a:buNone/>
            </a:pPr>
            <a:r>
              <a:rPr lang="fr-FR" sz="2000" b="1" dirty="0"/>
              <a:t>Proposition d’outil pour labelliser automatiquement un type de bien : K-means</a:t>
            </a:r>
          </a:p>
        </p:txBody>
      </p:sp>
      <p:pic>
        <p:nvPicPr>
          <p:cNvPr id="9222" name="Picture 6">
            <a:extLst>
              <a:ext uri="{FF2B5EF4-FFF2-40B4-BE49-F238E27FC236}">
                <a16:creationId xmlns:a16="http://schemas.microsoft.com/office/drawing/2014/main" id="{BAA200D3-8949-35D2-5BD8-89362F8D93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8940" y="2884792"/>
            <a:ext cx="4514850" cy="1743075"/>
          </a:xfrm>
          <a:prstGeom prst="rect">
            <a:avLst/>
          </a:prstGeom>
          <a:noFill/>
          <a:extLst>
            <a:ext uri="{909E8E84-426E-40DD-AFC4-6F175D3DCCD1}">
              <a14:hiddenFill xmlns:a14="http://schemas.microsoft.com/office/drawing/2010/main">
                <a:solidFill>
                  <a:srgbClr val="FFFFFF"/>
                </a:solidFill>
              </a14:hiddenFill>
            </a:ext>
          </a:extLst>
        </p:spPr>
      </p:pic>
      <p:sp>
        <p:nvSpPr>
          <p:cNvPr id="34" name="Rectangle 33">
            <a:extLst>
              <a:ext uri="{FF2B5EF4-FFF2-40B4-BE49-F238E27FC236}">
                <a16:creationId xmlns:a16="http://schemas.microsoft.com/office/drawing/2014/main" id="{4EE26F77-4D8A-C805-E21F-A8FD502D547B}"/>
              </a:ext>
            </a:extLst>
          </p:cNvPr>
          <p:cNvSpPr/>
          <p:nvPr/>
        </p:nvSpPr>
        <p:spPr>
          <a:xfrm>
            <a:off x="0" y="0"/>
            <a:ext cx="12192000" cy="918734"/>
          </a:xfrm>
          <a:prstGeom prst="rect">
            <a:avLst/>
          </a:prstGeom>
          <a:solidFill>
            <a:srgbClr val="1A99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Titre 3">
            <a:extLst>
              <a:ext uri="{FF2B5EF4-FFF2-40B4-BE49-F238E27FC236}">
                <a16:creationId xmlns:a16="http://schemas.microsoft.com/office/drawing/2014/main" id="{F198A97B-60AC-E7F4-B429-030BBD9DDF2A}"/>
              </a:ext>
            </a:extLst>
          </p:cNvPr>
          <p:cNvSpPr txBox="1">
            <a:spLocks/>
          </p:cNvSpPr>
          <p:nvPr/>
        </p:nvSpPr>
        <p:spPr>
          <a:xfrm>
            <a:off x="172146" y="225846"/>
            <a:ext cx="4421888" cy="538417"/>
          </a:xfrm>
          <a:prstGeom prst="rect">
            <a:avLst/>
          </a:prstGeom>
          <a:noFill/>
          <a:ln w="19050">
            <a:noFill/>
            <a:prstDash val="sysDash"/>
          </a:ln>
        </p:spPr>
        <p:txBody>
          <a:bodyPr vert="horz" wrap="square" lIns="91440" tIns="45720" rIns="91440" bIns="4572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fr-FR" sz="3200" b="1" dirty="0">
                <a:solidFill>
                  <a:schemeClr val="bg1"/>
                </a:solidFill>
              </a:rPr>
              <a:t>I. Méthodologie suivie</a:t>
            </a:r>
            <a:endParaRPr lang="fr-FR" sz="1800" b="1" dirty="0">
              <a:solidFill>
                <a:schemeClr val="bg1"/>
              </a:solidFill>
            </a:endParaRPr>
          </a:p>
        </p:txBody>
      </p:sp>
    </p:spTree>
    <p:extLst>
      <p:ext uri="{BB962C8B-B14F-4D97-AF65-F5344CB8AC3E}">
        <p14:creationId xmlns:p14="http://schemas.microsoft.com/office/powerpoint/2010/main" val="3031535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ppt_x"/>
                                          </p:val>
                                        </p:tav>
                                        <p:tav tm="100000">
                                          <p:val>
                                            <p:strVal val="#ppt_x"/>
                                          </p:val>
                                        </p:tav>
                                      </p:tavLst>
                                    </p:anim>
                                    <p:anim calcmode="lin" valueType="num">
                                      <p:cBhvr additive="base">
                                        <p:cTn id="1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500"/>
                                        <p:tgtEl>
                                          <p:spTgt spid="3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5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222"/>
                                        </p:tgtEl>
                                        <p:attrNameLst>
                                          <p:attrName>style.visibility</p:attrName>
                                        </p:attrNameLst>
                                      </p:cBhvr>
                                      <p:to>
                                        <p:strVal val="visible"/>
                                      </p:to>
                                    </p:set>
                                    <p:animEffect transition="in" filter="fade">
                                      <p:cBhvr>
                                        <p:cTn id="27" dur="500"/>
                                        <p:tgtEl>
                                          <p:spTgt spid="922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9" grpId="0"/>
      <p:bldP spid="30" grpId="0"/>
      <p:bldP spid="3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6E49C-10E0-3FFF-716E-8BAAE43C86F6}"/>
            </a:ext>
          </a:extLst>
        </p:cNvPr>
        <p:cNvGrpSpPr/>
        <p:nvPr/>
      </p:nvGrpSpPr>
      <p:grpSpPr>
        <a:xfrm>
          <a:off x="0" y="0"/>
          <a:ext cx="0" cy="0"/>
          <a:chOff x="0" y="0"/>
          <a:chExt cx="0" cy="0"/>
        </a:xfrm>
      </p:grpSpPr>
      <p:grpSp>
        <p:nvGrpSpPr>
          <p:cNvPr id="38" name="Groupe 37">
            <a:extLst>
              <a:ext uri="{FF2B5EF4-FFF2-40B4-BE49-F238E27FC236}">
                <a16:creationId xmlns:a16="http://schemas.microsoft.com/office/drawing/2014/main" id="{7F2673A1-90A4-29D7-B891-5904B2244388}"/>
              </a:ext>
            </a:extLst>
          </p:cNvPr>
          <p:cNvGrpSpPr/>
          <p:nvPr/>
        </p:nvGrpSpPr>
        <p:grpSpPr>
          <a:xfrm>
            <a:off x="2765051" y="2377358"/>
            <a:ext cx="7702366" cy="338554"/>
            <a:chOff x="718823" y="2797707"/>
            <a:chExt cx="7702366" cy="338554"/>
          </a:xfrm>
        </p:grpSpPr>
        <p:sp>
          <p:nvSpPr>
            <p:cNvPr id="12" name="ZoneTexte 11">
              <a:extLst>
                <a:ext uri="{FF2B5EF4-FFF2-40B4-BE49-F238E27FC236}">
                  <a16:creationId xmlns:a16="http://schemas.microsoft.com/office/drawing/2014/main" id="{161EE956-7962-AB37-31A7-D11FBB570980}"/>
                </a:ext>
              </a:extLst>
            </p:cNvPr>
            <p:cNvSpPr txBox="1"/>
            <p:nvPr/>
          </p:nvSpPr>
          <p:spPr>
            <a:xfrm>
              <a:off x="1010194" y="2797707"/>
              <a:ext cx="7410995" cy="338554"/>
            </a:xfrm>
            <a:prstGeom prst="rect">
              <a:avLst/>
            </a:prstGeom>
            <a:noFill/>
          </p:spPr>
          <p:txBody>
            <a:bodyPr wrap="square" rtlCol="0">
              <a:spAutoFit/>
            </a:bodyPr>
            <a:lstStyle/>
            <a:p>
              <a:r>
                <a:rPr lang="fr-FR" sz="1600" dirty="0"/>
                <a:t>Calculer le prix au m² dans l’échantillon de données et ne retenir que ce facteur</a:t>
              </a:r>
            </a:p>
          </p:txBody>
        </p:sp>
        <p:sp>
          <p:nvSpPr>
            <p:cNvPr id="23" name="Rectangle 22">
              <a:extLst>
                <a:ext uri="{FF2B5EF4-FFF2-40B4-BE49-F238E27FC236}">
                  <a16:creationId xmlns:a16="http://schemas.microsoft.com/office/drawing/2014/main" id="{8D800C5B-9F68-B440-A710-3D08FA501AB8}"/>
                </a:ext>
              </a:extLst>
            </p:cNvPr>
            <p:cNvSpPr/>
            <p:nvPr/>
          </p:nvSpPr>
          <p:spPr>
            <a:xfrm>
              <a:off x="718823" y="2874466"/>
              <a:ext cx="167899" cy="18503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7" name="Groupe 36">
            <a:extLst>
              <a:ext uri="{FF2B5EF4-FFF2-40B4-BE49-F238E27FC236}">
                <a16:creationId xmlns:a16="http://schemas.microsoft.com/office/drawing/2014/main" id="{CCF78ACF-AC86-6384-E7E8-43077CEB854B}"/>
              </a:ext>
            </a:extLst>
          </p:cNvPr>
          <p:cNvGrpSpPr/>
          <p:nvPr/>
        </p:nvGrpSpPr>
        <p:grpSpPr>
          <a:xfrm>
            <a:off x="2765051" y="2974855"/>
            <a:ext cx="8756105" cy="338554"/>
            <a:chOff x="718822" y="3136078"/>
            <a:chExt cx="8756105" cy="338554"/>
          </a:xfrm>
        </p:grpSpPr>
        <p:sp>
          <p:nvSpPr>
            <p:cNvPr id="13" name="ZoneTexte 12">
              <a:extLst>
                <a:ext uri="{FF2B5EF4-FFF2-40B4-BE49-F238E27FC236}">
                  <a16:creationId xmlns:a16="http://schemas.microsoft.com/office/drawing/2014/main" id="{98F28C44-A75D-FD98-5018-DE1B985D301E}"/>
                </a:ext>
              </a:extLst>
            </p:cNvPr>
            <p:cNvSpPr txBox="1"/>
            <p:nvPr/>
          </p:nvSpPr>
          <p:spPr>
            <a:xfrm>
              <a:off x="1010194" y="3136078"/>
              <a:ext cx="8464733" cy="338554"/>
            </a:xfrm>
            <a:prstGeom prst="rect">
              <a:avLst/>
            </a:prstGeom>
            <a:noFill/>
          </p:spPr>
          <p:txBody>
            <a:bodyPr wrap="square" rtlCol="0">
              <a:spAutoFit/>
            </a:bodyPr>
            <a:lstStyle/>
            <a:p>
              <a:r>
                <a:rPr lang="fr-FR" sz="1600" dirty="0"/>
                <a:t>Retirer dans le jeu de données toutes les autres colonnes, il ne doit subsister que le prix au m²</a:t>
              </a:r>
              <a:endParaRPr lang="fr-FR" sz="1600" i="1" dirty="0"/>
            </a:p>
          </p:txBody>
        </p:sp>
        <p:sp>
          <p:nvSpPr>
            <p:cNvPr id="24" name="Rectangle 23">
              <a:extLst>
                <a:ext uri="{FF2B5EF4-FFF2-40B4-BE49-F238E27FC236}">
                  <a16:creationId xmlns:a16="http://schemas.microsoft.com/office/drawing/2014/main" id="{E70804A2-421C-25E6-C2E5-089365518BD0}"/>
                </a:ext>
              </a:extLst>
            </p:cNvPr>
            <p:cNvSpPr/>
            <p:nvPr/>
          </p:nvSpPr>
          <p:spPr>
            <a:xfrm>
              <a:off x="718822" y="3212837"/>
              <a:ext cx="167899" cy="18503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5" name="Groupe 34">
            <a:extLst>
              <a:ext uri="{FF2B5EF4-FFF2-40B4-BE49-F238E27FC236}">
                <a16:creationId xmlns:a16="http://schemas.microsoft.com/office/drawing/2014/main" id="{4A6A8804-D8EF-1293-EDF8-5C576390638E}"/>
              </a:ext>
            </a:extLst>
          </p:cNvPr>
          <p:cNvGrpSpPr/>
          <p:nvPr/>
        </p:nvGrpSpPr>
        <p:grpSpPr>
          <a:xfrm>
            <a:off x="2754035" y="3550767"/>
            <a:ext cx="9095704" cy="584775"/>
            <a:chOff x="714835" y="3632942"/>
            <a:chExt cx="9095704" cy="584775"/>
          </a:xfrm>
        </p:grpSpPr>
        <p:sp>
          <p:nvSpPr>
            <p:cNvPr id="16" name="ZoneTexte 15">
              <a:extLst>
                <a:ext uri="{FF2B5EF4-FFF2-40B4-BE49-F238E27FC236}">
                  <a16:creationId xmlns:a16="http://schemas.microsoft.com/office/drawing/2014/main" id="{5B84BA2C-8FA1-4F1C-95B7-0B4E97CA164F}"/>
                </a:ext>
              </a:extLst>
            </p:cNvPr>
            <p:cNvSpPr txBox="1"/>
            <p:nvPr/>
          </p:nvSpPr>
          <p:spPr>
            <a:xfrm>
              <a:off x="1010194" y="3632942"/>
              <a:ext cx="7201989" cy="584775"/>
            </a:xfrm>
            <a:prstGeom prst="rect">
              <a:avLst/>
            </a:prstGeom>
            <a:noFill/>
          </p:spPr>
          <p:txBody>
            <a:bodyPr wrap="square" rtlCol="0">
              <a:spAutoFit/>
            </a:bodyPr>
            <a:lstStyle/>
            <a:p>
              <a:r>
                <a:rPr lang="fr-FR" sz="1600" dirty="0"/>
                <a:t>Utiliser l’algorithme de Lloyd (K-means) en définissant un nombre de clusters.</a:t>
              </a:r>
            </a:p>
            <a:p>
              <a:r>
                <a:rPr lang="fr-FR" sz="1600" dirty="0"/>
                <a:t> L’algorithme va regrouper </a:t>
              </a:r>
              <a:r>
                <a:rPr lang="fr-FR" sz="1600" i="1" dirty="0"/>
                <a:t>n</a:t>
              </a:r>
              <a:r>
                <a:rPr lang="fr-FR" sz="1600" dirty="0"/>
                <a:t> points (ici 40) en </a:t>
              </a:r>
              <a:r>
                <a:rPr lang="fr-FR" sz="1600" i="1" dirty="0"/>
                <a:t>k</a:t>
              </a:r>
              <a:r>
                <a:rPr lang="fr-FR" sz="1600" dirty="0"/>
                <a:t> ensembles (ici 2)</a:t>
              </a:r>
            </a:p>
          </p:txBody>
        </p:sp>
        <p:sp>
          <p:nvSpPr>
            <p:cNvPr id="25" name="Rectangle 24">
              <a:extLst>
                <a:ext uri="{FF2B5EF4-FFF2-40B4-BE49-F238E27FC236}">
                  <a16:creationId xmlns:a16="http://schemas.microsoft.com/office/drawing/2014/main" id="{F3092392-C71C-D6CA-9F0A-CDDF655D0481}"/>
                </a:ext>
              </a:extLst>
            </p:cNvPr>
            <p:cNvSpPr/>
            <p:nvPr/>
          </p:nvSpPr>
          <p:spPr>
            <a:xfrm>
              <a:off x="714835" y="3742540"/>
              <a:ext cx="167899" cy="18503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8" name="Image 27">
              <a:extLst>
                <a:ext uri="{FF2B5EF4-FFF2-40B4-BE49-F238E27FC236}">
                  <a16:creationId xmlns:a16="http://schemas.microsoft.com/office/drawing/2014/main" id="{F7CA9F03-6879-FC91-A313-7F40D0A3ED51}"/>
                </a:ext>
              </a:extLst>
            </p:cNvPr>
            <p:cNvPicPr>
              <a:picLocks noChangeAspect="1"/>
            </p:cNvPicPr>
            <p:nvPr/>
          </p:nvPicPr>
          <p:blipFill>
            <a:blip r:embed="rId2"/>
            <a:stretch>
              <a:fillRect/>
            </a:stretch>
          </p:blipFill>
          <p:spPr>
            <a:xfrm>
              <a:off x="8676906" y="3632942"/>
              <a:ext cx="1133633" cy="581106"/>
            </a:xfrm>
            <a:prstGeom prst="rect">
              <a:avLst/>
            </a:prstGeom>
            <a:ln>
              <a:noFill/>
            </a:ln>
            <a:effectLst>
              <a:outerShdw blurRad="292100" dist="139700" dir="2700000" algn="tl" rotWithShape="0">
                <a:srgbClr val="333333">
                  <a:alpha val="65000"/>
                </a:srgbClr>
              </a:outerShdw>
            </a:effectLst>
          </p:spPr>
        </p:pic>
        <p:sp>
          <p:nvSpPr>
            <p:cNvPr id="29" name="Flèche : droite 28">
              <a:extLst>
                <a:ext uri="{FF2B5EF4-FFF2-40B4-BE49-F238E27FC236}">
                  <a16:creationId xmlns:a16="http://schemas.microsoft.com/office/drawing/2014/main" id="{C4F990ED-195B-E830-E971-036CD9B452EF}"/>
                </a:ext>
              </a:extLst>
            </p:cNvPr>
            <p:cNvSpPr/>
            <p:nvPr/>
          </p:nvSpPr>
          <p:spPr>
            <a:xfrm>
              <a:off x="8212183" y="3823063"/>
              <a:ext cx="209006" cy="189007"/>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a:p>
          </p:txBody>
        </p:sp>
      </p:grpSp>
      <p:grpSp>
        <p:nvGrpSpPr>
          <p:cNvPr id="36" name="Groupe 35">
            <a:extLst>
              <a:ext uri="{FF2B5EF4-FFF2-40B4-BE49-F238E27FC236}">
                <a16:creationId xmlns:a16="http://schemas.microsoft.com/office/drawing/2014/main" id="{7CF32AD1-3575-D527-B1E9-83ED129302B9}"/>
              </a:ext>
            </a:extLst>
          </p:cNvPr>
          <p:cNvGrpSpPr/>
          <p:nvPr/>
        </p:nvGrpSpPr>
        <p:grpSpPr>
          <a:xfrm>
            <a:off x="2754035" y="4371210"/>
            <a:ext cx="9091718" cy="1899164"/>
            <a:chOff x="718821" y="4764147"/>
            <a:chExt cx="9091718" cy="1899164"/>
          </a:xfrm>
        </p:grpSpPr>
        <p:sp>
          <p:nvSpPr>
            <p:cNvPr id="17" name="ZoneTexte 16">
              <a:extLst>
                <a:ext uri="{FF2B5EF4-FFF2-40B4-BE49-F238E27FC236}">
                  <a16:creationId xmlns:a16="http://schemas.microsoft.com/office/drawing/2014/main" id="{01C0CB47-E77A-DE11-3854-0308B2F818B7}"/>
                </a:ext>
              </a:extLst>
            </p:cNvPr>
            <p:cNvSpPr txBox="1"/>
            <p:nvPr/>
          </p:nvSpPr>
          <p:spPr>
            <a:xfrm>
              <a:off x="1010193" y="4913841"/>
              <a:ext cx="4933040" cy="1077218"/>
            </a:xfrm>
            <a:prstGeom prst="rect">
              <a:avLst/>
            </a:prstGeom>
            <a:noFill/>
          </p:spPr>
          <p:txBody>
            <a:bodyPr wrap="square" rtlCol="0">
              <a:spAutoFit/>
            </a:bodyPr>
            <a:lstStyle/>
            <a:p>
              <a:r>
                <a:rPr lang="fr-FR" sz="1600" dirty="0"/>
                <a:t>On attribue un label à chaque ensemble</a:t>
              </a:r>
            </a:p>
            <a:p>
              <a:endParaRPr lang="fr-FR" sz="1600" dirty="0"/>
            </a:p>
            <a:p>
              <a:r>
                <a:rPr lang="fr-FR" sz="1600" dirty="0"/>
                <a:t>0 = « Appartements »</a:t>
              </a:r>
            </a:p>
            <a:p>
              <a:r>
                <a:rPr lang="fr-FR" sz="1600" dirty="0"/>
                <a:t>1 = « Local industriel, commercial ou assimilé »</a:t>
              </a:r>
            </a:p>
          </p:txBody>
        </p:sp>
        <p:sp>
          <p:nvSpPr>
            <p:cNvPr id="26" name="Rectangle 25">
              <a:extLst>
                <a:ext uri="{FF2B5EF4-FFF2-40B4-BE49-F238E27FC236}">
                  <a16:creationId xmlns:a16="http://schemas.microsoft.com/office/drawing/2014/main" id="{29282E04-EF95-1A60-CC3B-C377463D0F65}"/>
                </a:ext>
              </a:extLst>
            </p:cNvPr>
            <p:cNvSpPr/>
            <p:nvPr/>
          </p:nvSpPr>
          <p:spPr>
            <a:xfrm>
              <a:off x="718821" y="4983982"/>
              <a:ext cx="167899" cy="18503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1" name="Image 30">
              <a:extLst>
                <a:ext uri="{FF2B5EF4-FFF2-40B4-BE49-F238E27FC236}">
                  <a16:creationId xmlns:a16="http://schemas.microsoft.com/office/drawing/2014/main" id="{2D689929-A8FE-55A1-1F25-7ECDFF7ACB4C}"/>
                </a:ext>
              </a:extLst>
            </p:cNvPr>
            <p:cNvPicPr>
              <a:picLocks noChangeAspect="1"/>
            </p:cNvPicPr>
            <p:nvPr/>
          </p:nvPicPr>
          <p:blipFill>
            <a:blip r:embed="rId3"/>
            <a:stretch>
              <a:fillRect/>
            </a:stretch>
          </p:blipFill>
          <p:spPr>
            <a:xfrm>
              <a:off x="6748956" y="4764147"/>
              <a:ext cx="3061583" cy="1899164"/>
            </a:xfrm>
            <a:prstGeom prst="rect">
              <a:avLst/>
            </a:prstGeom>
            <a:ln>
              <a:noFill/>
            </a:ln>
            <a:effectLst>
              <a:outerShdw blurRad="292100" dist="139700" dir="2700000" algn="tl" rotWithShape="0">
                <a:srgbClr val="333333">
                  <a:alpha val="65000"/>
                </a:srgbClr>
              </a:outerShdw>
            </a:effectLst>
          </p:spPr>
        </p:pic>
        <p:sp>
          <p:nvSpPr>
            <p:cNvPr id="32" name="Flèche : droite 31">
              <a:extLst>
                <a:ext uri="{FF2B5EF4-FFF2-40B4-BE49-F238E27FC236}">
                  <a16:creationId xmlns:a16="http://schemas.microsoft.com/office/drawing/2014/main" id="{03A54278-39A8-5DA1-CB5B-E4DE7064B473}"/>
                </a:ext>
              </a:extLst>
            </p:cNvPr>
            <p:cNvSpPr/>
            <p:nvPr/>
          </p:nvSpPr>
          <p:spPr>
            <a:xfrm>
              <a:off x="5886994" y="5452450"/>
              <a:ext cx="209006" cy="189007"/>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a:p>
          </p:txBody>
        </p:sp>
      </p:grpSp>
      <p:grpSp>
        <p:nvGrpSpPr>
          <p:cNvPr id="39" name="Groupe 38">
            <a:extLst>
              <a:ext uri="{FF2B5EF4-FFF2-40B4-BE49-F238E27FC236}">
                <a16:creationId xmlns:a16="http://schemas.microsoft.com/office/drawing/2014/main" id="{12D6E51D-1206-BAB4-2B83-3E32546FD18F}"/>
              </a:ext>
            </a:extLst>
          </p:cNvPr>
          <p:cNvGrpSpPr/>
          <p:nvPr/>
        </p:nvGrpSpPr>
        <p:grpSpPr>
          <a:xfrm>
            <a:off x="2668962" y="1472700"/>
            <a:ext cx="6034221" cy="696295"/>
            <a:chOff x="2098394" y="1882796"/>
            <a:chExt cx="6034221" cy="696295"/>
          </a:xfrm>
        </p:grpSpPr>
        <p:sp>
          <p:nvSpPr>
            <p:cNvPr id="11" name="ZoneTexte 10">
              <a:extLst>
                <a:ext uri="{FF2B5EF4-FFF2-40B4-BE49-F238E27FC236}">
                  <a16:creationId xmlns:a16="http://schemas.microsoft.com/office/drawing/2014/main" id="{9858B0EC-A916-1D24-DF3D-74F25A68CAD1}"/>
                </a:ext>
              </a:extLst>
            </p:cNvPr>
            <p:cNvSpPr txBox="1"/>
            <p:nvPr/>
          </p:nvSpPr>
          <p:spPr>
            <a:xfrm>
              <a:off x="2930574" y="1916991"/>
              <a:ext cx="5202041" cy="646331"/>
            </a:xfrm>
            <a:prstGeom prst="rect">
              <a:avLst/>
            </a:prstGeom>
            <a:noFill/>
          </p:spPr>
          <p:txBody>
            <a:bodyPr wrap="square">
              <a:spAutoFit/>
            </a:bodyPr>
            <a:lstStyle/>
            <a:p>
              <a:r>
                <a:rPr lang="fr-FR" sz="3600" b="1" dirty="0"/>
                <a:t>ETAPES</a:t>
              </a:r>
            </a:p>
          </p:txBody>
        </p:sp>
        <p:pic>
          <p:nvPicPr>
            <p:cNvPr id="34" name="Image 33">
              <a:extLst>
                <a:ext uri="{FF2B5EF4-FFF2-40B4-BE49-F238E27FC236}">
                  <a16:creationId xmlns:a16="http://schemas.microsoft.com/office/drawing/2014/main" id="{F114863E-14A5-D31D-FE09-F92C9FE2DB9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98394" y="1882796"/>
              <a:ext cx="696295" cy="696295"/>
            </a:xfrm>
            <a:prstGeom prst="rect">
              <a:avLst/>
            </a:prstGeom>
          </p:spPr>
        </p:pic>
      </p:grpSp>
      <p:grpSp>
        <p:nvGrpSpPr>
          <p:cNvPr id="81" name="Groupe 80">
            <a:extLst>
              <a:ext uri="{FF2B5EF4-FFF2-40B4-BE49-F238E27FC236}">
                <a16:creationId xmlns:a16="http://schemas.microsoft.com/office/drawing/2014/main" id="{CE1AE27F-866D-CFB5-549B-32047144953C}"/>
              </a:ext>
            </a:extLst>
          </p:cNvPr>
          <p:cNvGrpSpPr/>
          <p:nvPr/>
        </p:nvGrpSpPr>
        <p:grpSpPr>
          <a:xfrm>
            <a:off x="172146" y="2842143"/>
            <a:ext cx="1940895" cy="1118929"/>
            <a:chOff x="4867795" y="260170"/>
            <a:chExt cx="1940895" cy="1118929"/>
          </a:xfrm>
        </p:grpSpPr>
        <p:pic>
          <p:nvPicPr>
            <p:cNvPr id="51" name="Image 50">
              <a:extLst>
                <a:ext uri="{FF2B5EF4-FFF2-40B4-BE49-F238E27FC236}">
                  <a16:creationId xmlns:a16="http://schemas.microsoft.com/office/drawing/2014/main" id="{A07615F5-DD5A-D989-516A-5A7915C5CA0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67795" y="355262"/>
              <a:ext cx="653648" cy="514257"/>
            </a:xfrm>
            <a:prstGeom prst="rect">
              <a:avLst/>
            </a:prstGeom>
          </p:spPr>
        </p:pic>
        <p:sp>
          <p:nvSpPr>
            <p:cNvPr id="53" name="Rectangle : coins arrondis 52">
              <a:extLst>
                <a:ext uri="{FF2B5EF4-FFF2-40B4-BE49-F238E27FC236}">
                  <a16:creationId xmlns:a16="http://schemas.microsoft.com/office/drawing/2014/main" id="{BF7E4BD1-CED8-F870-E5F2-B59A46AE7164}"/>
                </a:ext>
              </a:extLst>
            </p:cNvPr>
            <p:cNvSpPr/>
            <p:nvPr/>
          </p:nvSpPr>
          <p:spPr>
            <a:xfrm>
              <a:off x="5772839" y="306459"/>
              <a:ext cx="88419" cy="1072640"/>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Rectangle : coins arrondis 53">
              <a:extLst>
                <a:ext uri="{FF2B5EF4-FFF2-40B4-BE49-F238E27FC236}">
                  <a16:creationId xmlns:a16="http://schemas.microsoft.com/office/drawing/2014/main" id="{8316BB30-0474-DFBA-7FFD-C75DC1792196}"/>
                </a:ext>
              </a:extLst>
            </p:cNvPr>
            <p:cNvSpPr/>
            <p:nvPr/>
          </p:nvSpPr>
          <p:spPr>
            <a:xfrm rot="6067523">
              <a:off x="5761919" y="-226939"/>
              <a:ext cx="61782" cy="1207145"/>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57" name="Connecteur droit 56">
              <a:extLst>
                <a:ext uri="{FF2B5EF4-FFF2-40B4-BE49-F238E27FC236}">
                  <a16:creationId xmlns:a16="http://schemas.microsoft.com/office/drawing/2014/main" id="{5B16E23C-2B80-2FC5-AAC2-13140088E58D}"/>
                </a:ext>
              </a:extLst>
            </p:cNvPr>
            <p:cNvCxnSpPr>
              <a:cxnSpLocks/>
              <a:stCxn id="54" idx="0"/>
              <a:endCxn id="66" idx="0"/>
            </p:cNvCxnSpPr>
            <p:nvPr/>
          </p:nvCxnSpPr>
          <p:spPr>
            <a:xfrm>
              <a:off x="6385040" y="493097"/>
              <a:ext cx="423650" cy="576480"/>
            </a:xfrm>
            <a:prstGeom prst="line">
              <a:avLst/>
            </a:prstGeom>
          </p:spPr>
          <p:style>
            <a:lnRef idx="2">
              <a:schemeClr val="accent1"/>
            </a:lnRef>
            <a:fillRef idx="0">
              <a:schemeClr val="accent1"/>
            </a:fillRef>
            <a:effectRef idx="1">
              <a:schemeClr val="accent1"/>
            </a:effectRef>
            <a:fontRef idx="minor">
              <a:schemeClr val="tx1"/>
            </a:fontRef>
          </p:style>
        </p:cxnSp>
        <p:cxnSp>
          <p:nvCxnSpPr>
            <p:cNvPr id="58" name="Connecteur droit 57">
              <a:extLst>
                <a:ext uri="{FF2B5EF4-FFF2-40B4-BE49-F238E27FC236}">
                  <a16:creationId xmlns:a16="http://schemas.microsoft.com/office/drawing/2014/main" id="{03E91E63-E18D-A1DF-12F3-4EE2ADEA12CC}"/>
                </a:ext>
              </a:extLst>
            </p:cNvPr>
            <p:cNvCxnSpPr>
              <a:cxnSpLocks/>
              <a:stCxn id="54" idx="0"/>
              <a:endCxn id="66" idx="2"/>
            </p:cNvCxnSpPr>
            <p:nvPr/>
          </p:nvCxnSpPr>
          <p:spPr>
            <a:xfrm flipH="1">
              <a:off x="6180396" y="493097"/>
              <a:ext cx="204644" cy="576480"/>
            </a:xfrm>
            <a:prstGeom prst="line">
              <a:avLst/>
            </a:prstGeom>
          </p:spPr>
          <p:style>
            <a:lnRef idx="2">
              <a:schemeClr val="accent1"/>
            </a:lnRef>
            <a:fillRef idx="0">
              <a:schemeClr val="accent1"/>
            </a:fillRef>
            <a:effectRef idx="1">
              <a:schemeClr val="accent1"/>
            </a:effectRef>
            <a:fontRef idx="minor">
              <a:schemeClr val="tx1"/>
            </a:fontRef>
          </p:style>
        </p:cxnSp>
        <p:cxnSp>
          <p:nvCxnSpPr>
            <p:cNvPr id="61" name="Connecteur droit 60">
              <a:extLst>
                <a:ext uri="{FF2B5EF4-FFF2-40B4-BE49-F238E27FC236}">
                  <a16:creationId xmlns:a16="http://schemas.microsoft.com/office/drawing/2014/main" id="{1BB2211E-A571-E9E6-1E22-1740A9E5BF19}"/>
                </a:ext>
              </a:extLst>
            </p:cNvPr>
            <p:cNvCxnSpPr>
              <a:cxnSpLocks/>
              <a:stCxn id="54" idx="2"/>
              <a:endCxn id="69" idx="0"/>
            </p:cNvCxnSpPr>
            <p:nvPr/>
          </p:nvCxnSpPr>
          <p:spPr>
            <a:xfrm>
              <a:off x="5200580" y="260170"/>
              <a:ext cx="344869" cy="615389"/>
            </a:xfrm>
            <a:prstGeom prst="line">
              <a:avLst/>
            </a:prstGeom>
          </p:spPr>
          <p:style>
            <a:lnRef idx="2">
              <a:schemeClr val="accent1"/>
            </a:lnRef>
            <a:fillRef idx="0">
              <a:schemeClr val="accent1"/>
            </a:fillRef>
            <a:effectRef idx="1">
              <a:schemeClr val="accent1"/>
            </a:effectRef>
            <a:fontRef idx="minor">
              <a:schemeClr val="tx1"/>
            </a:fontRef>
          </p:style>
        </p:cxnSp>
        <p:cxnSp>
          <p:nvCxnSpPr>
            <p:cNvPr id="62" name="Connecteur droit 61">
              <a:extLst>
                <a:ext uri="{FF2B5EF4-FFF2-40B4-BE49-F238E27FC236}">
                  <a16:creationId xmlns:a16="http://schemas.microsoft.com/office/drawing/2014/main" id="{CF044BC5-4929-54B9-5283-9DBAE8BA6E4E}"/>
                </a:ext>
              </a:extLst>
            </p:cNvPr>
            <p:cNvCxnSpPr>
              <a:cxnSpLocks/>
              <a:stCxn id="54" idx="2"/>
              <a:endCxn id="69" idx="2"/>
            </p:cNvCxnSpPr>
            <p:nvPr/>
          </p:nvCxnSpPr>
          <p:spPr>
            <a:xfrm flipH="1">
              <a:off x="4886542" y="260170"/>
              <a:ext cx="314038" cy="615389"/>
            </a:xfrm>
            <a:prstGeom prst="line">
              <a:avLst/>
            </a:prstGeom>
          </p:spPr>
          <p:style>
            <a:lnRef idx="2">
              <a:schemeClr val="accent1"/>
            </a:lnRef>
            <a:fillRef idx="0">
              <a:schemeClr val="accent1"/>
            </a:fillRef>
            <a:effectRef idx="1">
              <a:schemeClr val="accent1"/>
            </a:effectRef>
            <a:fontRef idx="minor">
              <a:schemeClr val="tx1"/>
            </a:fontRef>
          </p:style>
        </p:cxnSp>
        <p:sp>
          <p:nvSpPr>
            <p:cNvPr id="66" name="Organigramme : Délai 65">
              <a:extLst>
                <a:ext uri="{FF2B5EF4-FFF2-40B4-BE49-F238E27FC236}">
                  <a16:creationId xmlns:a16="http://schemas.microsoft.com/office/drawing/2014/main" id="{77832EAE-7447-27AF-2D7C-CF1F826AE815}"/>
                </a:ext>
              </a:extLst>
            </p:cNvPr>
            <p:cNvSpPr/>
            <p:nvPr/>
          </p:nvSpPr>
          <p:spPr>
            <a:xfrm rot="5400000">
              <a:off x="6423459" y="755429"/>
              <a:ext cx="142167" cy="628294"/>
            </a:xfrm>
            <a:prstGeom prst="flowChartDelay">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Organigramme : Délai 68">
              <a:extLst>
                <a:ext uri="{FF2B5EF4-FFF2-40B4-BE49-F238E27FC236}">
                  <a16:creationId xmlns:a16="http://schemas.microsoft.com/office/drawing/2014/main" id="{402E71D5-1DB2-CA04-6016-5E4F3CA35427}"/>
                </a:ext>
              </a:extLst>
            </p:cNvPr>
            <p:cNvSpPr/>
            <p:nvPr/>
          </p:nvSpPr>
          <p:spPr>
            <a:xfrm rot="5400000">
              <a:off x="5149857" y="546105"/>
              <a:ext cx="132277" cy="658907"/>
            </a:xfrm>
            <a:prstGeom prst="flowChartDelay">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Rectangle : coins arrondis 69">
              <a:extLst>
                <a:ext uri="{FF2B5EF4-FFF2-40B4-BE49-F238E27FC236}">
                  <a16:creationId xmlns:a16="http://schemas.microsoft.com/office/drawing/2014/main" id="{4C2CC061-2081-4766-48C3-679B7FA6D540}"/>
                </a:ext>
              </a:extLst>
            </p:cNvPr>
            <p:cNvSpPr/>
            <p:nvPr/>
          </p:nvSpPr>
          <p:spPr>
            <a:xfrm rot="5400000">
              <a:off x="5775957" y="1059057"/>
              <a:ext cx="89535" cy="550550"/>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9" name="Image 48">
              <a:extLst>
                <a:ext uri="{FF2B5EF4-FFF2-40B4-BE49-F238E27FC236}">
                  <a16:creationId xmlns:a16="http://schemas.microsoft.com/office/drawing/2014/main" id="{15DAB711-F6AD-81CF-94F6-C2D1938D37F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69379" y="515677"/>
              <a:ext cx="628294" cy="561457"/>
            </a:xfrm>
            <a:prstGeom prst="rect">
              <a:avLst/>
            </a:prstGeom>
          </p:spPr>
        </p:pic>
      </p:grpSp>
      <p:pic>
        <p:nvPicPr>
          <p:cNvPr id="83" name="Image 82">
            <a:extLst>
              <a:ext uri="{FF2B5EF4-FFF2-40B4-BE49-F238E27FC236}">
                <a16:creationId xmlns:a16="http://schemas.microsoft.com/office/drawing/2014/main" id="{118854BE-D5CD-F935-FF34-AAE547A8A5F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96868" y="1713918"/>
            <a:ext cx="451528" cy="451528"/>
          </a:xfrm>
          <a:prstGeom prst="rect">
            <a:avLst/>
          </a:prstGeom>
        </p:spPr>
      </p:pic>
      <p:sp>
        <p:nvSpPr>
          <p:cNvPr id="84" name="ZoneTexte 83">
            <a:extLst>
              <a:ext uri="{FF2B5EF4-FFF2-40B4-BE49-F238E27FC236}">
                <a16:creationId xmlns:a16="http://schemas.microsoft.com/office/drawing/2014/main" id="{0B8E8F5A-ACD6-1F65-6B88-F1BF88A41A13}"/>
              </a:ext>
            </a:extLst>
          </p:cNvPr>
          <p:cNvSpPr txBox="1"/>
          <p:nvPr/>
        </p:nvSpPr>
        <p:spPr>
          <a:xfrm>
            <a:off x="747903" y="2165446"/>
            <a:ext cx="901381" cy="276999"/>
          </a:xfrm>
          <a:prstGeom prst="rect">
            <a:avLst/>
          </a:prstGeom>
          <a:noFill/>
        </p:spPr>
        <p:txBody>
          <a:bodyPr wrap="square" rtlCol="0">
            <a:spAutoFit/>
          </a:bodyPr>
          <a:lstStyle/>
          <a:p>
            <a:r>
              <a:rPr lang="fr-FR" sz="1200" dirty="0"/>
              <a:t>Prix au m²</a:t>
            </a:r>
          </a:p>
        </p:txBody>
      </p:sp>
      <p:cxnSp>
        <p:nvCxnSpPr>
          <p:cNvPr id="85" name="Connecteur droit 84">
            <a:extLst>
              <a:ext uri="{FF2B5EF4-FFF2-40B4-BE49-F238E27FC236}">
                <a16:creationId xmlns:a16="http://schemas.microsoft.com/office/drawing/2014/main" id="{F3ED2AF7-1120-1F6C-A724-BC85587ACD83}"/>
              </a:ext>
            </a:extLst>
          </p:cNvPr>
          <p:cNvCxnSpPr>
            <a:cxnSpLocks/>
          </p:cNvCxnSpPr>
          <p:nvPr/>
        </p:nvCxnSpPr>
        <p:spPr>
          <a:xfrm>
            <a:off x="2384104" y="1667611"/>
            <a:ext cx="0" cy="4832705"/>
          </a:xfrm>
          <a:prstGeom prst="line">
            <a:avLst/>
          </a:prstGeom>
          <a:ln w="9525"/>
        </p:spPr>
        <p:style>
          <a:lnRef idx="2">
            <a:schemeClr val="dk1"/>
          </a:lnRef>
          <a:fillRef idx="0">
            <a:schemeClr val="dk1"/>
          </a:fillRef>
          <a:effectRef idx="1">
            <a:schemeClr val="dk1"/>
          </a:effectRef>
          <a:fontRef idx="minor">
            <a:schemeClr val="tx1"/>
          </a:fontRef>
        </p:style>
      </p:cxnSp>
      <p:sp>
        <p:nvSpPr>
          <p:cNvPr id="86" name="Rectangle 85">
            <a:extLst>
              <a:ext uri="{FF2B5EF4-FFF2-40B4-BE49-F238E27FC236}">
                <a16:creationId xmlns:a16="http://schemas.microsoft.com/office/drawing/2014/main" id="{20544E03-1427-F655-C4E8-001A750E098D}"/>
              </a:ext>
            </a:extLst>
          </p:cNvPr>
          <p:cNvSpPr/>
          <p:nvPr/>
        </p:nvSpPr>
        <p:spPr>
          <a:xfrm>
            <a:off x="0" y="0"/>
            <a:ext cx="12192000" cy="918734"/>
          </a:xfrm>
          <a:prstGeom prst="rect">
            <a:avLst/>
          </a:prstGeom>
          <a:solidFill>
            <a:srgbClr val="1A99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7" name="Titre 3">
            <a:extLst>
              <a:ext uri="{FF2B5EF4-FFF2-40B4-BE49-F238E27FC236}">
                <a16:creationId xmlns:a16="http://schemas.microsoft.com/office/drawing/2014/main" id="{930BF0B8-549B-8119-8B50-AFC96AB5627F}"/>
              </a:ext>
            </a:extLst>
          </p:cNvPr>
          <p:cNvSpPr txBox="1">
            <a:spLocks/>
          </p:cNvSpPr>
          <p:nvPr/>
        </p:nvSpPr>
        <p:spPr>
          <a:xfrm>
            <a:off x="172146" y="225846"/>
            <a:ext cx="4421888" cy="538417"/>
          </a:xfrm>
          <a:prstGeom prst="rect">
            <a:avLst/>
          </a:prstGeom>
          <a:noFill/>
          <a:ln w="19050">
            <a:noFill/>
            <a:prstDash val="sysDash"/>
          </a:ln>
        </p:spPr>
        <p:txBody>
          <a:bodyPr vert="horz" wrap="square" lIns="91440" tIns="45720" rIns="91440" bIns="4572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fr-FR" sz="3200" b="1" dirty="0">
                <a:solidFill>
                  <a:schemeClr val="bg1"/>
                </a:solidFill>
              </a:rPr>
              <a:t>I. Méthodologie suivie</a:t>
            </a:r>
            <a:endParaRPr lang="fr-FR" sz="1800" b="1" dirty="0">
              <a:solidFill>
                <a:schemeClr val="bg1"/>
              </a:solidFill>
            </a:endParaRPr>
          </a:p>
        </p:txBody>
      </p:sp>
    </p:spTree>
    <p:extLst>
      <p:ext uri="{BB962C8B-B14F-4D97-AF65-F5344CB8AC3E}">
        <p14:creationId xmlns:p14="http://schemas.microsoft.com/office/powerpoint/2010/main" val="4080716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500"/>
                                        <p:tgtEl>
                                          <p:spTgt spid="3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fade">
                                      <p:cBhvr>
                                        <p:cTn id="12" dur="500"/>
                                        <p:tgtEl>
                                          <p:spTgt spid="3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fade">
                                      <p:cBhvr>
                                        <p:cTn id="17" dur="500"/>
                                        <p:tgtEl>
                                          <p:spTgt spid="3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fade">
                                      <p:cBhvr>
                                        <p:cTn id="22" dur="500"/>
                                        <p:tgtEl>
                                          <p:spTgt spid="3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fade">
                                      <p:cBhvr>
                                        <p:cTn id="2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09492-2F4B-5067-BC2C-E42F948C5E61}"/>
            </a:ext>
          </a:extLst>
        </p:cNvPr>
        <p:cNvGrpSpPr/>
        <p:nvPr/>
      </p:nvGrpSpPr>
      <p:grpSpPr>
        <a:xfrm>
          <a:off x="0" y="0"/>
          <a:ext cx="0" cy="0"/>
          <a:chOff x="0" y="0"/>
          <a:chExt cx="0" cy="0"/>
        </a:xfrm>
      </p:grpSpPr>
      <p:sp>
        <p:nvSpPr>
          <p:cNvPr id="86" name="Rectangle 85">
            <a:extLst>
              <a:ext uri="{FF2B5EF4-FFF2-40B4-BE49-F238E27FC236}">
                <a16:creationId xmlns:a16="http://schemas.microsoft.com/office/drawing/2014/main" id="{01EA835E-4427-DE16-D161-47799DDF4525}"/>
              </a:ext>
            </a:extLst>
          </p:cNvPr>
          <p:cNvSpPr/>
          <p:nvPr/>
        </p:nvSpPr>
        <p:spPr>
          <a:xfrm>
            <a:off x="0" y="0"/>
            <a:ext cx="12192000" cy="918734"/>
          </a:xfrm>
          <a:prstGeom prst="rect">
            <a:avLst/>
          </a:prstGeom>
          <a:solidFill>
            <a:srgbClr val="1A99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7" name="Titre 3">
            <a:extLst>
              <a:ext uri="{FF2B5EF4-FFF2-40B4-BE49-F238E27FC236}">
                <a16:creationId xmlns:a16="http://schemas.microsoft.com/office/drawing/2014/main" id="{B23DBEBB-9975-270A-48AD-5FD8B5A94BB2}"/>
              </a:ext>
            </a:extLst>
          </p:cNvPr>
          <p:cNvSpPr txBox="1">
            <a:spLocks/>
          </p:cNvSpPr>
          <p:nvPr/>
        </p:nvSpPr>
        <p:spPr>
          <a:xfrm>
            <a:off x="172145" y="225846"/>
            <a:ext cx="5787979" cy="538417"/>
          </a:xfrm>
          <a:prstGeom prst="rect">
            <a:avLst/>
          </a:prstGeom>
          <a:noFill/>
          <a:ln w="19050">
            <a:noFill/>
            <a:prstDash val="sysDash"/>
          </a:ln>
        </p:spPr>
        <p:txBody>
          <a:bodyPr vert="horz" wrap="square" lIns="91440" tIns="45720" rIns="91440" bIns="4572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fr-FR" sz="3200" b="1" dirty="0">
                <a:solidFill>
                  <a:schemeClr val="bg1"/>
                </a:solidFill>
              </a:rPr>
              <a:t>II. Résultats de la classification</a:t>
            </a:r>
            <a:endParaRPr lang="fr-FR" sz="1800" b="1" dirty="0">
              <a:solidFill>
                <a:schemeClr val="bg1"/>
              </a:solidFill>
            </a:endParaRPr>
          </a:p>
        </p:txBody>
      </p:sp>
      <p:pic>
        <p:nvPicPr>
          <p:cNvPr id="2" name="Image 1">
            <a:extLst>
              <a:ext uri="{FF2B5EF4-FFF2-40B4-BE49-F238E27FC236}">
                <a16:creationId xmlns:a16="http://schemas.microsoft.com/office/drawing/2014/main" id="{7DBF4ABF-EF1C-78E9-6076-715A70BE7BFB}"/>
              </a:ext>
            </a:extLst>
          </p:cNvPr>
          <p:cNvPicPr>
            <a:picLocks noChangeAspect="1"/>
          </p:cNvPicPr>
          <p:nvPr/>
        </p:nvPicPr>
        <p:blipFill>
          <a:blip r:embed="rId2"/>
          <a:stretch>
            <a:fillRect/>
          </a:stretch>
        </p:blipFill>
        <p:spPr>
          <a:xfrm>
            <a:off x="272401" y="1144580"/>
            <a:ext cx="1505538" cy="5487574"/>
          </a:xfrm>
          <a:prstGeom prst="rect">
            <a:avLst/>
          </a:prstGeom>
          <a:ln>
            <a:noFill/>
          </a:ln>
          <a:effectLst>
            <a:outerShdw blurRad="292100" dist="139700" dir="2700000" algn="tl" rotWithShape="0">
              <a:srgbClr val="333333">
                <a:alpha val="65000"/>
              </a:srgbClr>
            </a:outerShdw>
          </a:effectLst>
        </p:spPr>
      </p:pic>
      <p:pic>
        <p:nvPicPr>
          <p:cNvPr id="3" name="Image 2">
            <a:extLst>
              <a:ext uri="{FF2B5EF4-FFF2-40B4-BE49-F238E27FC236}">
                <a16:creationId xmlns:a16="http://schemas.microsoft.com/office/drawing/2014/main" id="{3E222D85-B33A-64EC-3512-658B68890A27}"/>
              </a:ext>
            </a:extLst>
          </p:cNvPr>
          <p:cNvPicPr>
            <a:picLocks noChangeAspect="1"/>
          </p:cNvPicPr>
          <p:nvPr/>
        </p:nvPicPr>
        <p:blipFill>
          <a:blip r:embed="rId3"/>
          <a:stretch>
            <a:fillRect/>
          </a:stretch>
        </p:blipFill>
        <p:spPr>
          <a:xfrm>
            <a:off x="2914182" y="1219810"/>
            <a:ext cx="3801005" cy="895475"/>
          </a:xfrm>
          <a:prstGeom prst="rect">
            <a:avLst/>
          </a:prstGeom>
          <a:ln>
            <a:noFill/>
          </a:ln>
          <a:effectLst>
            <a:outerShdw blurRad="292100" dist="139700" dir="2700000" algn="tl" rotWithShape="0">
              <a:srgbClr val="333333">
                <a:alpha val="65000"/>
              </a:srgbClr>
            </a:outerShdw>
          </a:effectLst>
        </p:spPr>
      </p:pic>
      <p:sp>
        <p:nvSpPr>
          <p:cNvPr id="4" name="ZoneTexte 3">
            <a:extLst>
              <a:ext uri="{FF2B5EF4-FFF2-40B4-BE49-F238E27FC236}">
                <a16:creationId xmlns:a16="http://schemas.microsoft.com/office/drawing/2014/main" id="{D1EDE7D4-D68F-E6D3-295B-652C9A85506E}"/>
              </a:ext>
            </a:extLst>
          </p:cNvPr>
          <p:cNvSpPr txBox="1"/>
          <p:nvPr/>
        </p:nvSpPr>
        <p:spPr>
          <a:xfrm>
            <a:off x="2914182" y="2684120"/>
            <a:ext cx="7750146" cy="2893100"/>
          </a:xfrm>
          <a:prstGeom prst="rect">
            <a:avLst/>
          </a:prstGeom>
          <a:noFill/>
        </p:spPr>
        <p:txBody>
          <a:bodyPr wrap="square">
            <a:spAutoFit/>
          </a:bodyPr>
          <a:lstStyle/>
          <a:p>
            <a:pPr algn="l">
              <a:buNone/>
            </a:pPr>
            <a:r>
              <a:rPr lang="fr-FR" sz="1400" b="0" i="0" dirty="0">
                <a:effectLst/>
                <a:latin typeface="system-ui"/>
              </a:rPr>
              <a:t>L’algorithme K-Means a séparé automatiquement les biens en deux groupes à partir du seul prix au m². Le premier groupe présente un prix moyen au m² plus faible et a été interprété comme correspondant aux appartements. </a:t>
            </a:r>
          </a:p>
          <a:p>
            <a:pPr algn="l">
              <a:buNone/>
            </a:pPr>
            <a:endParaRPr lang="fr-FR" sz="1400" dirty="0">
              <a:latin typeface="system-ui"/>
            </a:endParaRPr>
          </a:p>
          <a:p>
            <a:pPr algn="l">
              <a:buNone/>
            </a:pPr>
            <a:r>
              <a:rPr lang="fr-FR" sz="1400" b="0" i="0" dirty="0">
                <a:effectLst/>
                <a:latin typeface="system-ui"/>
              </a:rPr>
              <a:t>Le second groupe présente un prix moyen au m² plus élevé et a été interprété comme correspondant aux locaux commerciaux.</a:t>
            </a:r>
          </a:p>
          <a:p>
            <a:pPr algn="l">
              <a:buNone/>
            </a:pPr>
            <a:endParaRPr lang="fr-FR" sz="1400" b="0" i="0" dirty="0">
              <a:effectLst/>
              <a:latin typeface="system-ui"/>
            </a:endParaRPr>
          </a:p>
          <a:p>
            <a:pPr algn="l">
              <a:buNone/>
            </a:pPr>
            <a:r>
              <a:rPr lang="fr-FR" sz="1400" b="0" i="0" dirty="0">
                <a:effectLst/>
                <a:latin typeface="system-ui"/>
              </a:rPr>
              <a:t>Le classement réalisé par l’équipe de Louise correspond bien aux résultats issus de l’algorithme K-means.</a:t>
            </a:r>
          </a:p>
          <a:p>
            <a:pPr algn="l">
              <a:buNone/>
            </a:pPr>
            <a:endParaRPr lang="fr-FR" sz="1400" dirty="0">
              <a:latin typeface="system-ui"/>
            </a:endParaRPr>
          </a:p>
          <a:p>
            <a:pPr algn="l">
              <a:buNone/>
            </a:pPr>
            <a:r>
              <a:rPr lang="fr-FR" sz="1400" b="1" i="0" dirty="0">
                <a:effectLst/>
                <a:latin typeface="system-ui"/>
              </a:rPr>
              <a:t>Recommandations</a:t>
            </a:r>
          </a:p>
          <a:p>
            <a:pPr algn="l">
              <a:buNone/>
            </a:pPr>
            <a:r>
              <a:rPr lang="fr-FR" sz="1400" b="0" i="0" dirty="0">
                <a:effectLst/>
                <a:latin typeface="system-ui"/>
              </a:rPr>
              <a:t>Vérifier si tous les critères qui ont un impact sur la valeur foncière sont bien présents dans les jeux de données. Il est également possible d’affiner en utilisant d’autres caractéristiques comme le code postal, l’étage, la surface,…</a:t>
            </a:r>
          </a:p>
        </p:txBody>
      </p:sp>
      <p:sp>
        <p:nvSpPr>
          <p:cNvPr id="5" name="Flèche : droite 4">
            <a:extLst>
              <a:ext uri="{FF2B5EF4-FFF2-40B4-BE49-F238E27FC236}">
                <a16:creationId xmlns:a16="http://schemas.microsoft.com/office/drawing/2014/main" id="{0731882F-BC60-411C-52C2-200B7233289A}"/>
              </a:ext>
            </a:extLst>
          </p:cNvPr>
          <p:cNvSpPr/>
          <p:nvPr/>
        </p:nvSpPr>
        <p:spPr>
          <a:xfrm>
            <a:off x="2423865" y="1638302"/>
            <a:ext cx="209006" cy="189007"/>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201399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5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fade">
                                      <p:cBhvr>
                                        <p:cTn id="22" dur="500"/>
                                        <p:tgtEl>
                                          <p:spTgt spid="4">
                                            <p:txEl>
                                              <p:pRg st="6" end="6"/>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4">
                                            <p:txEl>
                                              <p:pRg st="7" end="7"/>
                                            </p:txEl>
                                          </p:spTgt>
                                        </p:tgtEl>
                                        <p:attrNameLst>
                                          <p:attrName>style.visibility</p:attrName>
                                        </p:attrNameLst>
                                      </p:cBhvr>
                                      <p:to>
                                        <p:strVal val="visible"/>
                                      </p:to>
                                    </p:set>
                                    <p:animEffect transition="in" filter="fade">
                                      <p:cBhvr>
                                        <p:cTn id="25"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8151</TotalTime>
  <Words>1115</Words>
  <Application>Microsoft Office PowerPoint</Application>
  <PresentationFormat>Grand écran</PresentationFormat>
  <Paragraphs>147</Paragraphs>
  <Slides>18</Slides>
  <Notes>2</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18</vt:i4>
      </vt:variant>
    </vt:vector>
  </HeadingPairs>
  <TitlesOfParts>
    <vt:vector size="25" baseType="lpstr">
      <vt:lpstr>Aptos</vt:lpstr>
      <vt:lpstr>Aptos Display</vt:lpstr>
      <vt:lpstr>Arial</vt:lpstr>
      <vt:lpstr>Google Sans Text</vt:lpstr>
      <vt:lpstr>Inter</vt:lpstr>
      <vt:lpstr>system-ui</vt:lpstr>
      <vt:lpstr>Thème Office</vt:lpstr>
      <vt:lpstr>Les Plus Beaux Logis de Paris Partie 1</vt:lpstr>
      <vt:lpstr>I. Analyse du marché immobilier parisien</vt:lpstr>
      <vt:lpstr>I. Analyse du marché immobilier parisien</vt:lpstr>
      <vt:lpstr>Analyse du marché immobilier parisien</vt:lpstr>
      <vt:lpstr>I. Analyse du marché immobilier parisien</vt:lpstr>
      <vt:lpstr>I. Analyse du marché immobilier parisien</vt:lpstr>
      <vt:lpstr>I. Analyse du marché immobilier parisien</vt:lpstr>
      <vt:lpstr>I. Analyse du marché immobilier parisien</vt:lpstr>
      <vt:lpstr>I. Analyse du marché immobilier parisien</vt:lpstr>
      <vt:lpstr>Présentation PowerPoint</vt:lpstr>
      <vt:lpstr>Présentation PowerPoint</vt:lpstr>
      <vt:lpstr>Présentation PowerPoint</vt:lpstr>
      <vt:lpstr>Résultats</vt:lpstr>
      <vt:lpstr>Les Plus Beaux Logis de Paris Partie 2</vt:lpstr>
      <vt:lpstr>CLASSIFICATION AUTOMATIQUE</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SECQUEVILLE</dc:creator>
  <cp:lastModifiedBy>Thomas SECQUEVILLE</cp:lastModifiedBy>
  <cp:revision>41</cp:revision>
  <dcterms:created xsi:type="dcterms:W3CDTF">2026-04-01T09:39:26Z</dcterms:created>
  <dcterms:modified xsi:type="dcterms:W3CDTF">2026-04-19T18:42:47Z</dcterms:modified>
</cp:coreProperties>
</file>
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73" r:id="rId3"/>
    <p:sldId id="258" r:id="rId4"/>
    <p:sldId id="277" r:id="rId5"/>
    <p:sldId id="259" r:id="rId6"/>
    <p:sldId id="279" r:id="rId7"/>
    <p:sldId id="278" r:id="rId8"/>
    <p:sldId id="274" r:id="rId9"/>
    <p:sldId id="260" r:id="rId10"/>
    <p:sldId id="271" r:id="rId11"/>
    <p:sldId id="261" r:id="rId12"/>
    <p:sldId id="269" r:id="rId13"/>
    <p:sldId id="272" r:id="rId14"/>
    <p:sldId id="262" r:id="rId15"/>
    <p:sldId id="276" r:id="rId16"/>
    <p:sldId id="275" r:id="rId17"/>
  </p:sldIdLst>
  <p:sldSz cx="9144000" cy="5143500" type="screen16x9"/>
  <p:notesSz cx="6858000" cy="9144000"/>
  <p:embeddedFontLst>
    <p:embeddedFont>
      <p:font typeface="Maven Pro" panose="020B0604020202020204" charset="0"/>
      <p:regular r:id="rId19"/>
      <p:bold r:id="rId20"/>
    </p:embeddedFont>
    <p:embeddedFont>
      <p:font typeface="Nunito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82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1C32813D-709F-09A2-ED85-2010B30C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7d0a85795_0_60:notes">
            <a:extLst>
              <a:ext uri="{FF2B5EF4-FFF2-40B4-BE49-F238E27FC236}">
                <a16:creationId xmlns:a16="http://schemas.microsoft.com/office/drawing/2014/main" id="{E4CC9D7E-FAA6-9806-F2CD-8403E7E483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67d0a85795_0_60:notes">
            <a:extLst>
              <a:ext uri="{FF2B5EF4-FFF2-40B4-BE49-F238E27FC236}">
                <a16:creationId xmlns:a16="http://schemas.microsoft.com/office/drawing/2014/main" id="{375A16B5-CEEE-0BED-0E3A-B2B7EA39C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2083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7d0a8579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67d0a8579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0687F076-0FBC-FB75-3C74-AFD829E7C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7d0a85795_0_65:notes">
            <a:extLst>
              <a:ext uri="{FF2B5EF4-FFF2-40B4-BE49-F238E27FC236}">
                <a16:creationId xmlns:a16="http://schemas.microsoft.com/office/drawing/2014/main" id="{BE840502-0FF4-FE00-7084-715346C29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67d0a85795_0_65:notes">
            <a:extLst>
              <a:ext uri="{FF2B5EF4-FFF2-40B4-BE49-F238E27FC236}">
                <a16:creationId xmlns:a16="http://schemas.microsoft.com/office/drawing/2014/main" id="{B2538DB4-3C0E-79C4-BF91-6965FE11A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5891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7d0a85795_0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7d0a85795_0_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24BE4E72-4429-FADF-CE4C-E5A1CD83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7d0a85795_0_679:notes">
            <a:extLst>
              <a:ext uri="{FF2B5EF4-FFF2-40B4-BE49-F238E27FC236}">
                <a16:creationId xmlns:a16="http://schemas.microsoft.com/office/drawing/2014/main" id="{98351341-EE31-8615-4E4D-315C2ACA32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7d0a85795_0_679:notes">
            <a:extLst>
              <a:ext uri="{FF2B5EF4-FFF2-40B4-BE49-F238E27FC236}">
                <a16:creationId xmlns:a16="http://schemas.microsoft.com/office/drawing/2014/main" id="{E3FE5206-3C85-EFED-8CD2-5172F68952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5460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B65282B4-4005-61DA-EFD9-7B302CBCE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7d0a85795_0_679:notes">
            <a:extLst>
              <a:ext uri="{FF2B5EF4-FFF2-40B4-BE49-F238E27FC236}">
                <a16:creationId xmlns:a16="http://schemas.microsoft.com/office/drawing/2014/main" id="{D17753B7-AAAE-6682-7D4D-BA680DB8BC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7d0a85795_0_679:notes">
            <a:extLst>
              <a:ext uri="{FF2B5EF4-FFF2-40B4-BE49-F238E27FC236}">
                <a16:creationId xmlns:a16="http://schemas.microsoft.com/office/drawing/2014/main" id="{4D3DFAE5-1664-DA3A-336B-5A79EF79B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4397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429B1C9B-607A-EA7A-7DE4-023A730BF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7d0a85795_0_679:notes">
            <a:extLst>
              <a:ext uri="{FF2B5EF4-FFF2-40B4-BE49-F238E27FC236}">
                <a16:creationId xmlns:a16="http://schemas.microsoft.com/office/drawing/2014/main" id="{C46756F1-80E0-6342-8F57-A418173B6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7d0a85795_0_679:notes">
            <a:extLst>
              <a:ext uri="{FF2B5EF4-FFF2-40B4-BE49-F238E27FC236}">
                <a16:creationId xmlns:a16="http://schemas.microsoft.com/office/drawing/2014/main" id="{6D7625C3-636F-CC8C-26CC-F3C4B50FC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2096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7d0a85795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7d0a85795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B748DB73-3E89-8AFE-AB8C-64A7BB5A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7d0a85795_0_684:notes">
            <a:extLst>
              <a:ext uri="{FF2B5EF4-FFF2-40B4-BE49-F238E27FC236}">
                <a16:creationId xmlns:a16="http://schemas.microsoft.com/office/drawing/2014/main" id="{F605466B-C8FD-1891-F7D7-2DDAAE468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7d0a85795_0_684:notes">
            <a:extLst>
              <a:ext uri="{FF2B5EF4-FFF2-40B4-BE49-F238E27FC236}">
                <a16:creationId xmlns:a16="http://schemas.microsoft.com/office/drawing/2014/main" id="{764F771E-C3BB-3C55-31F8-832C54007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5113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67d0a85795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67d0a85795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8D6B56F8-6E1E-9E13-041F-48FA87EF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67d0a85795_0_689:notes">
            <a:extLst>
              <a:ext uri="{FF2B5EF4-FFF2-40B4-BE49-F238E27FC236}">
                <a16:creationId xmlns:a16="http://schemas.microsoft.com/office/drawing/2014/main" id="{49EAE4F1-957C-B80C-21A3-6A5465145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67d0a85795_0_689:notes">
            <a:extLst>
              <a:ext uri="{FF2B5EF4-FFF2-40B4-BE49-F238E27FC236}">
                <a16:creationId xmlns:a16="http://schemas.microsoft.com/office/drawing/2014/main" id="{00DF12BA-B77C-E8BF-DD0A-B2370D2B6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08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B3067335-731D-6C77-30ED-C4790151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67d0a85795_0_689:notes">
            <a:extLst>
              <a:ext uri="{FF2B5EF4-FFF2-40B4-BE49-F238E27FC236}">
                <a16:creationId xmlns:a16="http://schemas.microsoft.com/office/drawing/2014/main" id="{E62C1D9B-A5B2-64F2-6362-F765A4409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67d0a85795_0_689:notes">
            <a:extLst>
              <a:ext uri="{FF2B5EF4-FFF2-40B4-BE49-F238E27FC236}">
                <a16:creationId xmlns:a16="http://schemas.microsoft.com/office/drawing/2014/main" id="{043D5240-3413-B33B-67A8-598C3E9DE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761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7d0a85795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67d0a85795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90C48A74-52AA-389C-E2E7-5A9C1E645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7d0a85795_0_694:notes">
            <a:extLst>
              <a:ext uri="{FF2B5EF4-FFF2-40B4-BE49-F238E27FC236}">
                <a16:creationId xmlns:a16="http://schemas.microsoft.com/office/drawing/2014/main" id="{1C3DC3EA-B174-0849-BE34-46491BDC0D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67d0a85795_0_694:notes">
            <a:extLst>
              <a:ext uri="{FF2B5EF4-FFF2-40B4-BE49-F238E27FC236}">
                <a16:creationId xmlns:a16="http://schemas.microsoft.com/office/drawing/2014/main" id="{D8924935-D49F-6FA7-C834-63D4C69893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039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FFC739DA-2C63-8B77-065C-C8DA61EF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7d0a85795_0_694:notes">
            <a:extLst>
              <a:ext uri="{FF2B5EF4-FFF2-40B4-BE49-F238E27FC236}">
                <a16:creationId xmlns:a16="http://schemas.microsoft.com/office/drawing/2014/main" id="{28326934-9E61-0CE4-0BC6-4E60CAEC1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67d0a85795_0_694:notes">
            <a:extLst>
              <a:ext uri="{FF2B5EF4-FFF2-40B4-BE49-F238E27FC236}">
                <a16:creationId xmlns:a16="http://schemas.microsoft.com/office/drawing/2014/main" id="{C689827E-3F33-821D-9C71-ED5FDC70D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7184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24000" y="516325"/>
            <a:ext cx="32346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Exemple d’analyse NBA</a:t>
            </a:r>
            <a:endParaRPr/>
          </a:p>
        </p:txBody>
      </p:sp>
      <p:pic>
        <p:nvPicPr>
          <p:cNvPr id="278" name="Google Shape;27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200" y="2389225"/>
            <a:ext cx="2308200" cy="23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B3468E82-EF4C-B5C9-8967-4D2BFCE21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2C62DFD8-3E0F-07A4-A0F2-44E2EEE366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69463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dirty="0">
                <a:solidFill>
                  <a:srgbClr val="0070C0"/>
                </a:solidFill>
              </a:rPr>
              <a:t>Données les plus importantes dans le fichier NBA</a:t>
            </a:r>
            <a:endParaRPr sz="2000" dirty="0">
              <a:solidFill>
                <a:srgbClr val="0070C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DE8D972-BD84-1184-E0F4-4D687151074C}"/>
              </a:ext>
            </a:extLst>
          </p:cNvPr>
          <p:cNvSpPr txBox="1"/>
          <p:nvPr/>
        </p:nvSpPr>
        <p:spPr>
          <a:xfrm>
            <a:off x="1303799" y="1272624"/>
            <a:ext cx="677775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L’analyse NBA se compose de 3 volets qui se concentrent :</a:t>
            </a:r>
            <a:endParaRPr lang="fr-FR" sz="11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1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100" b="1" dirty="0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19B9BBB6-F54E-9B56-8C34-091DE11583AE}"/>
              </a:ext>
            </a:extLst>
          </p:cNvPr>
          <p:cNvGrpSpPr/>
          <p:nvPr/>
        </p:nvGrpSpPr>
        <p:grpSpPr>
          <a:xfrm>
            <a:off x="1392810" y="1694250"/>
            <a:ext cx="3752785" cy="529927"/>
            <a:chOff x="1572243" y="1825752"/>
            <a:chExt cx="3752785" cy="529927"/>
          </a:xfrm>
        </p:grpSpPr>
        <p:sp>
          <p:nvSpPr>
            <p:cNvPr id="2" name="Rectangle : coins arrondis 1">
              <a:extLst>
                <a:ext uri="{FF2B5EF4-FFF2-40B4-BE49-F238E27FC236}">
                  <a16:creationId xmlns:a16="http://schemas.microsoft.com/office/drawing/2014/main" id="{E567229B-32EF-36F1-CB4B-97CA633155CC}"/>
                </a:ext>
              </a:extLst>
            </p:cNvPr>
            <p:cNvSpPr/>
            <p:nvPr/>
          </p:nvSpPr>
          <p:spPr>
            <a:xfrm>
              <a:off x="1572243" y="1984769"/>
              <a:ext cx="2237934" cy="23758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Les résultats de la saison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C54CE11E-2585-28BD-8B7C-1D84A4A02415}"/>
                </a:ext>
              </a:extLst>
            </p:cNvPr>
            <p:cNvSpPr txBox="1"/>
            <p:nvPr/>
          </p:nvSpPr>
          <p:spPr>
            <a:xfrm>
              <a:off x="3989608" y="1825752"/>
              <a:ext cx="133541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Nombre de points</a:t>
              </a: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F2173F0-C1A9-CFBB-22E8-C938A66920CB}"/>
                </a:ext>
              </a:extLst>
            </p:cNvPr>
            <p:cNvSpPr txBox="1"/>
            <p:nvPr/>
          </p:nvSpPr>
          <p:spPr>
            <a:xfrm>
              <a:off x="3989609" y="2140235"/>
              <a:ext cx="133541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Nb de joueurs</a:t>
              </a:r>
            </a:p>
          </p:txBody>
        </p:sp>
        <p:cxnSp>
          <p:nvCxnSpPr>
            <p:cNvPr id="16" name="Connecteur : en arc 15">
              <a:extLst>
                <a:ext uri="{FF2B5EF4-FFF2-40B4-BE49-F238E27FC236}">
                  <a16:creationId xmlns:a16="http://schemas.microsoft.com/office/drawing/2014/main" id="{58D7969F-E97C-F4C6-B196-F96709011F07}"/>
                </a:ext>
              </a:extLst>
            </p:cNvPr>
            <p:cNvCxnSpPr>
              <a:cxnSpLocks/>
              <a:stCxn id="2" idx="3"/>
              <a:endCxn id="6" idx="1"/>
            </p:cNvCxnSpPr>
            <p:nvPr/>
          </p:nvCxnSpPr>
          <p:spPr>
            <a:xfrm>
              <a:off x="3810177" y="2103559"/>
              <a:ext cx="179432" cy="144398"/>
            </a:xfrm>
            <a:prstGeom prst="curved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 : en arc 16">
              <a:extLst>
                <a:ext uri="{FF2B5EF4-FFF2-40B4-BE49-F238E27FC236}">
                  <a16:creationId xmlns:a16="http://schemas.microsoft.com/office/drawing/2014/main" id="{ED1DB07B-162A-ADDE-8EE0-9A5FC5128F3E}"/>
                </a:ext>
              </a:extLst>
            </p:cNvPr>
            <p:cNvCxnSpPr>
              <a:cxnSpLocks/>
              <a:stCxn id="2" idx="3"/>
              <a:endCxn id="5" idx="1"/>
            </p:cNvCxnSpPr>
            <p:nvPr/>
          </p:nvCxnSpPr>
          <p:spPr>
            <a:xfrm flipV="1">
              <a:off x="3810177" y="1933474"/>
              <a:ext cx="179431" cy="170085"/>
            </a:xfrm>
            <a:prstGeom prst="curved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41E5A776-3335-B399-E974-3B4CF16A4AAF}"/>
              </a:ext>
            </a:extLst>
          </p:cNvPr>
          <p:cNvGrpSpPr/>
          <p:nvPr/>
        </p:nvGrpSpPr>
        <p:grpSpPr>
          <a:xfrm>
            <a:off x="1392810" y="2464419"/>
            <a:ext cx="4825064" cy="1516297"/>
            <a:chOff x="1702538" y="2534475"/>
            <a:chExt cx="4825064" cy="1516297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89FCE1C9-F854-ACE5-FDD5-71055721456A}"/>
                </a:ext>
              </a:extLst>
            </p:cNvPr>
            <p:cNvSpPr/>
            <p:nvPr/>
          </p:nvSpPr>
          <p:spPr>
            <a:xfrm>
              <a:off x="1702538" y="3130641"/>
              <a:ext cx="2178729" cy="23758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Le jeu de l’équipe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FC47F381-AEBF-0E34-3AEB-4531726EC9E1}"/>
                </a:ext>
              </a:extLst>
            </p:cNvPr>
            <p:cNvSpPr txBox="1"/>
            <p:nvPr/>
          </p:nvSpPr>
          <p:spPr>
            <a:xfrm>
              <a:off x="4136348" y="2534475"/>
              <a:ext cx="184853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Rebonds offensifs (OREB)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D7EAF6AA-CB67-DD93-3998-DD0AC9D34856}"/>
                </a:ext>
              </a:extLst>
            </p:cNvPr>
            <p:cNvSpPr txBox="1"/>
            <p:nvPr/>
          </p:nvSpPr>
          <p:spPr>
            <a:xfrm>
              <a:off x="4136348" y="2785116"/>
              <a:ext cx="19011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Rebonds défensifs (DREB)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ECC5286-4352-5F5A-496A-2FD42DEEDFC6}"/>
                </a:ext>
              </a:extLst>
            </p:cNvPr>
            <p:cNvSpPr txBox="1"/>
            <p:nvPr/>
          </p:nvSpPr>
          <p:spPr>
            <a:xfrm>
              <a:off x="4136348" y="3042671"/>
              <a:ext cx="23912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L’impact du joueur sur le jeu (PIE)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A2718CAC-784D-302F-AB6D-A89747F72B37}"/>
                </a:ext>
              </a:extLst>
            </p:cNvPr>
            <p:cNvSpPr txBox="1"/>
            <p:nvPr/>
          </p:nvSpPr>
          <p:spPr>
            <a:xfrm>
              <a:off x="4132688" y="3295210"/>
              <a:ext cx="205575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Les passes décisives (AST)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57A7ACE-6B81-781A-8119-F2E16F8D960D}"/>
                </a:ext>
              </a:extLst>
            </p:cNvPr>
            <p:cNvSpPr txBox="1"/>
            <p:nvPr/>
          </p:nvSpPr>
          <p:spPr>
            <a:xfrm>
              <a:off x="4146031" y="3566805"/>
              <a:ext cx="205575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Les interceptions (STL)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412BACCB-AEBC-B028-A337-4AEBA71BB8A0}"/>
                </a:ext>
              </a:extLst>
            </p:cNvPr>
            <p:cNvSpPr txBox="1"/>
            <p:nvPr/>
          </p:nvSpPr>
          <p:spPr>
            <a:xfrm>
              <a:off x="4159373" y="3835328"/>
              <a:ext cx="205575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Les blocages (BLK)</a:t>
              </a:r>
            </a:p>
          </p:txBody>
        </p:sp>
        <p:cxnSp>
          <p:nvCxnSpPr>
            <p:cNvPr id="23" name="Connecteur : en arc 22">
              <a:extLst>
                <a:ext uri="{FF2B5EF4-FFF2-40B4-BE49-F238E27FC236}">
                  <a16:creationId xmlns:a16="http://schemas.microsoft.com/office/drawing/2014/main" id="{78ECAFD7-59EC-BF12-76A1-DF2E88371E98}"/>
                </a:ext>
              </a:extLst>
            </p:cNvPr>
            <p:cNvCxnSpPr>
              <a:cxnSpLocks/>
              <a:stCxn id="3" idx="3"/>
              <a:endCxn id="7" idx="1"/>
            </p:cNvCxnSpPr>
            <p:nvPr/>
          </p:nvCxnSpPr>
          <p:spPr>
            <a:xfrm flipV="1">
              <a:off x="3881267" y="2642197"/>
              <a:ext cx="255081" cy="607234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 : en arc 25">
              <a:extLst>
                <a:ext uri="{FF2B5EF4-FFF2-40B4-BE49-F238E27FC236}">
                  <a16:creationId xmlns:a16="http://schemas.microsoft.com/office/drawing/2014/main" id="{A54FA8E2-9289-572D-7E40-67502FB43AF7}"/>
                </a:ext>
              </a:extLst>
            </p:cNvPr>
            <p:cNvCxnSpPr>
              <a:cxnSpLocks/>
              <a:stCxn id="3" idx="3"/>
              <a:endCxn id="9" idx="1"/>
            </p:cNvCxnSpPr>
            <p:nvPr/>
          </p:nvCxnSpPr>
          <p:spPr>
            <a:xfrm flipV="1">
              <a:off x="3881267" y="2892838"/>
              <a:ext cx="255081" cy="356593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 : en arc 28">
              <a:extLst>
                <a:ext uri="{FF2B5EF4-FFF2-40B4-BE49-F238E27FC236}">
                  <a16:creationId xmlns:a16="http://schemas.microsoft.com/office/drawing/2014/main" id="{6491A55B-B2E0-F20A-7F6E-E57F79228C41}"/>
                </a:ext>
              </a:extLst>
            </p:cNvPr>
            <p:cNvCxnSpPr>
              <a:cxnSpLocks/>
              <a:stCxn id="3" idx="3"/>
              <a:endCxn id="10" idx="1"/>
            </p:cNvCxnSpPr>
            <p:nvPr/>
          </p:nvCxnSpPr>
          <p:spPr>
            <a:xfrm flipV="1">
              <a:off x="3881267" y="3150393"/>
              <a:ext cx="255081" cy="99038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 : en arc 31">
              <a:extLst>
                <a:ext uri="{FF2B5EF4-FFF2-40B4-BE49-F238E27FC236}">
                  <a16:creationId xmlns:a16="http://schemas.microsoft.com/office/drawing/2014/main" id="{F095E98B-B4FE-F9DB-38ED-FFAB9408545D}"/>
                </a:ext>
              </a:extLst>
            </p:cNvPr>
            <p:cNvCxnSpPr>
              <a:cxnSpLocks/>
              <a:stCxn id="3" idx="3"/>
              <a:endCxn id="11" idx="1"/>
            </p:cNvCxnSpPr>
            <p:nvPr/>
          </p:nvCxnSpPr>
          <p:spPr>
            <a:xfrm>
              <a:off x="3881267" y="3249431"/>
              <a:ext cx="251421" cy="153501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 : en arc 36">
              <a:extLst>
                <a:ext uri="{FF2B5EF4-FFF2-40B4-BE49-F238E27FC236}">
                  <a16:creationId xmlns:a16="http://schemas.microsoft.com/office/drawing/2014/main" id="{48065469-F95F-4BF9-DF37-4494072C98F7}"/>
                </a:ext>
              </a:extLst>
            </p:cNvPr>
            <p:cNvCxnSpPr>
              <a:cxnSpLocks/>
              <a:stCxn id="3" idx="3"/>
              <a:endCxn id="12" idx="1"/>
            </p:cNvCxnSpPr>
            <p:nvPr/>
          </p:nvCxnSpPr>
          <p:spPr>
            <a:xfrm>
              <a:off x="3881267" y="3249431"/>
              <a:ext cx="264764" cy="425096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 : en arc 39">
              <a:extLst>
                <a:ext uri="{FF2B5EF4-FFF2-40B4-BE49-F238E27FC236}">
                  <a16:creationId xmlns:a16="http://schemas.microsoft.com/office/drawing/2014/main" id="{8AF59FEC-63AA-DE9F-EE5A-5052E8082667}"/>
                </a:ext>
              </a:extLst>
            </p:cNvPr>
            <p:cNvCxnSpPr>
              <a:cxnSpLocks/>
              <a:stCxn id="3" idx="3"/>
              <a:endCxn id="13" idx="1"/>
            </p:cNvCxnSpPr>
            <p:nvPr/>
          </p:nvCxnSpPr>
          <p:spPr>
            <a:xfrm>
              <a:off x="3881267" y="3249431"/>
              <a:ext cx="278106" cy="693619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6DCBD63-33EF-75A5-A0E6-5CF396584EE8}"/>
              </a:ext>
            </a:extLst>
          </p:cNvPr>
          <p:cNvGrpSpPr/>
          <p:nvPr/>
        </p:nvGrpSpPr>
        <p:grpSpPr>
          <a:xfrm>
            <a:off x="1392810" y="4108064"/>
            <a:ext cx="6266483" cy="884167"/>
            <a:chOff x="1392810" y="4108064"/>
            <a:chExt cx="6266483" cy="884167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772F9A7B-16AD-693B-D185-AA348F58E802}"/>
                </a:ext>
              </a:extLst>
            </p:cNvPr>
            <p:cNvSpPr/>
            <p:nvPr/>
          </p:nvSpPr>
          <p:spPr>
            <a:xfrm>
              <a:off x="1392810" y="4439916"/>
              <a:ext cx="2237934" cy="23758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Les résultats des joueurs</a:t>
              </a:r>
            </a:p>
          </p:txBody>
        </p:sp>
        <p:sp>
          <p:nvSpPr>
            <p:cNvPr id="256" name="ZoneTexte 255">
              <a:extLst>
                <a:ext uri="{FF2B5EF4-FFF2-40B4-BE49-F238E27FC236}">
                  <a16:creationId xmlns:a16="http://schemas.microsoft.com/office/drawing/2014/main" id="{12EF1CAE-F4E9-C5CC-62C0-6A56AC2240D8}"/>
                </a:ext>
              </a:extLst>
            </p:cNvPr>
            <p:cNvSpPr txBox="1"/>
            <p:nvPr/>
          </p:nvSpPr>
          <p:spPr>
            <a:xfrm>
              <a:off x="3822960" y="4108064"/>
              <a:ext cx="205575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Nb de points marqués</a:t>
              </a:r>
            </a:p>
          </p:txBody>
        </p:sp>
        <p:cxnSp>
          <p:nvCxnSpPr>
            <p:cNvPr id="257" name="Connecteur : en arc 256">
              <a:extLst>
                <a:ext uri="{FF2B5EF4-FFF2-40B4-BE49-F238E27FC236}">
                  <a16:creationId xmlns:a16="http://schemas.microsoft.com/office/drawing/2014/main" id="{54371275-C57B-3246-CD46-397C09684B64}"/>
                </a:ext>
              </a:extLst>
            </p:cNvPr>
            <p:cNvCxnSpPr>
              <a:cxnSpLocks/>
              <a:stCxn id="4" idx="3"/>
              <a:endCxn id="256" idx="1"/>
            </p:cNvCxnSpPr>
            <p:nvPr/>
          </p:nvCxnSpPr>
          <p:spPr>
            <a:xfrm flipV="1">
              <a:off x="3630744" y="4215786"/>
              <a:ext cx="192216" cy="34292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0" name="ZoneTexte 259">
              <a:extLst>
                <a:ext uri="{FF2B5EF4-FFF2-40B4-BE49-F238E27FC236}">
                  <a16:creationId xmlns:a16="http://schemas.microsoft.com/office/drawing/2014/main" id="{13AA6945-BE4B-292A-7B94-B9C07BF8AD2D}"/>
                </a:ext>
              </a:extLst>
            </p:cNvPr>
            <p:cNvSpPr txBox="1"/>
            <p:nvPr/>
          </p:nvSpPr>
          <p:spPr>
            <a:xfrm>
              <a:off x="3822960" y="4324026"/>
              <a:ext cx="347908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Leur indice de tirs réussis par match (FGM)</a:t>
              </a:r>
            </a:p>
          </p:txBody>
        </p:sp>
        <p:cxnSp>
          <p:nvCxnSpPr>
            <p:cNvPr id="261" name="Connecteur : en arc 260">
              <a:extLst>
                <a:ext uri="{FF2B5EF4-FFF2-40B4-BE49-F238E27FC236}">
                  <a16:creationId xmlns:a16="http://schemas.microsoft.com/office/drawing/2014/main" id="{2FEDA788-B54E-75A9-82CF-0D5C05708CAE}"/>
                </a:ext>
              </a:extLst>
            </p:cNvPr>
            <p:cNvCxnSpPr>
              <a:cxnSpLocks/>
              <a:stCxn id="4" idx="3"/>
              <a:endCxn id="260" idx="1"/>
            </p:cNvCxnSpPr>
            <p:nvPr/>
          </p:nvCxnSpPr>
          <p:spPr>
            <a:xfrm flipV="1">
              <a:off x="3630744" y="4431748"/>
              <a:ext cx="192216" cy="126958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ZoneTexte 264">
              <a:extLst>
                <a:ext uri="{FF2B5EF4-FFF2-40B4-BE49-F238E27FC236}">
                  <a16:creationId xmlns:a16="http://schemas.microsoft.com/office/drawing/2014/main" id="{259EA1B6-E248-B9EB-B80A-A8B29E9AAF73}"/>
                </a:ext>
              </a:extLst>
            </p:cNvPr>
            <p:cNvSpPr txBox="1"/>
            <p:nvPr/>
          </p:nvSpPr>
          <p:spPr>
            <a:xfrm>
              <a:off x="3822960" y="4557105"/>
              <a:ext cx="38096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Le % de tirs réussis (lancers francs, tirs et tirs à 3 points)</a:t>
              </a:r>
            </a:p>
          </p:txBody>
        </p:sp>
        <p:cxnSp>
          <p:nvCxnSpPr>
            <p:cNvPr id="266" name="Connecteur : en arc 265">
              <a:extLst>
                <a:ext uri="{FF2B5EF4-FFF2-40B4-BE49-F238E27FC236}">
                  <a16:creationId xmlns:a16="http://schemas.microsoft.com/office/drawing/2014/main" id="{92FFC8A9-3B97-466C-8ADC-D41874FD6829}"/>
                </a:ext>
              </a:extLst>
            </p:cNvPr>
            <p:cNvCxnSpPr>
              <a:cxnSpLocks/>
              <a:stCxn id="4" idx="3"/>
              <a:endCxn id="265" idx="1"/>
            </p:cNvCxnSpPr>
            <p:nvPr/>
          </p:nvCxnSpPr>
          <p:spPr>
            <a:xfrm>
              <a:off x="3630744" y="4558706"/>
              <a:ext cx="192216" cy="106121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ZoneTexte 286">
              <a:extLst>
                <a:ext uri="{FF2B5EF4-FFF2-40B4-BE49-F238E27FC236}">
                  <a16:creationId xmlns:a16="http://schemas.microsoft.com/office/drawing/2014/main" id="{75BFF953-03E5-17E4-A3FE-03D69CB3FFAE}"/>
                </a:ext>
              </a:extLst>
            </p:cNvPr>
            <p:cNvSpPr txBox="1"/>
            <p:nvPr/>
          </p:nvSpPr>
          <p:spPr>
            <a:xfrm>
              <a:off x="3849645" y="4776787"/>
              <a:ext cx="38096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rgbClr val="7030A0"/>
                  </a:solidFill>
                </a:rPr>
                <a:t>Les rebonds offensifs</a:t>
              </a:r>
            </a:p>
          </p:txBody>
        </p:sp>
        <p:cxnSp>
          <p:nvCxnSpPr>
            <p:cNvPr id="288" name="Connecteur : en arc 287">
              <a:extLst>
                <a:ext uri="{FF2B5EF4-FFF2-40B4-BE49-F238E27FC236}">
                  <a16:creationId xmlns:a16="http://schemas.microsoft.com/office/drawing/2014/main" id="{7738376C-DFF6-97C7-1D24-1E8EA6637FC3}"/>
                </a:ext>
              </a:extLst>
            </p:cNvPr>
            <p:cNvCxnSpPr>
              <a:cxnSpLocks/>
              <a:stCxn id="4" idx="3"/>
              <a:endCxn id="287" idx="1"/>
            </p:cNvCxnSpPr>
            <p:nvPr/>
          </p:nvCxnSpPr>
          <p:spPr>
            <a:xfrm>
              <a:off x="3630744" y="4558706"/>
              <a:ext cx="218901" cy="325803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465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title"/>
          </p:nvPr>
        </p:nvSpPr>
        <p:spPr>
          <a:xfrm>
            <a:off x="1310379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solidFill>
                  <a:srgbClr val="0070C0"/>
                </a:solidFill>
              </a:rPr>
              <a:t>Méthodologie d’analyse</a:t>
            </a:r>
            <a:endParaRPr sz="2400" dirty="0">
              <a:solidFill>
                <a:srgbClr val="0070C0"/>
              </a:solidFill>
            </a:endParaRPr>
          </a:p>
        </p:txBody>
      </p:sp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2FB36FEC-D75C-00F1-A4AB-7E5BC56A86AC}"/>
              </a:ext>
            </a:extLst>
          </p:cNvPr>
          <p:cNvSpPr/>
          <p:nvPr/>
        </p:nvSpPr>
        <p:spPr>
          <a:xfrm>
            <a:off x="1365843" y="1947826"/>
            <a:ext cx="157882" cy="170628"/>
          </a:xfrm>
          <a:prstGeom prst="homePlat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CCC2EB9-B3F4-DECF-EDB2-A83C17BB3D6B}"/>
              </a:ext>
            </a:extLst>
          </p:cNvPr>
          <p:cNvSpPr txBox="1"/>
          <p:nvPr/>
        </p:nvSpPr>
        <p:spPr>
          <a:xfrm>
            <a:off x="1732328" y="187925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fr-FR" sz="1400" dirty="0"/>
              <a:t>Analyser les </a:t>
            </a:r>
            <a:r>
              <a:rPr lang="fr-FR" sz="1400" b="1" dirty="0"/>
              <a:t>résultats de l’équipe</a:t>
            </a:r>
            <a:r>
              <a:rPr lang="fr-FR" sz="1400" dirty="0"/>
              <a:t>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23FE33F-A8D8-08B5-0589-AD40DFFEAC2C}"/>
              </a:ext>
            </a:extLst>
          </p:cNvPr>
          <p:cNvSpPr txBox="1"/>
          <p:nvPr/>
        </p:nvSpPr>
        <p:spPr>
          <a:xfrm>
            <a:off x="1739659" y="249480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fr-FR" sz="1400" dirty="0"/>
              <a:t>les </a:t>
            </a:r>
            <a:r>
              <a:rPr lang="fr-FR" sz="1400" b="1" dirty="0"/>
              <a:t>performances de l’équipe</a:t>
            </a:r>
            <a:endParaRPr lang="fr-FR" sz="14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8C01F1-CBE8-3B6C-A657-8EE7FCFCF139}"/>
              </a:ext>
            </a:extLst>
          </p:cNvPr>
          <p:cNvSpPr txBox="1"/>
          <p:nvPr/>
        </p:nvSpPr>
        <p:spPr>
          <a:xfrm>
            <a:off x="1709524" y="31103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fr-FR" sz="1400" dirty="0"/>
              <a:t>les </a:t>
            </a:r>
            <a:r>
              <a:rPr lang="fr-FR" sz="1400" b="1" dirty="0"/>
              <a:t>performances individuelles</a:t>
            </a:r>
            <a:endParaRPr lang="fr-FR" sz="1400" dirty="0"/>
          </a:p>
        </p:txBody>
      </p:sp>
      <p:sp>
        <p:nvSpPr>
          <p:cNvPr id="14" name="Flèche : pentagone 13">
            <a:extLst>
              <a:ext uri="{FF2B5EF4-FFF2-40B4-BE49-F238E27FC236}">
                <a16:creationId xmlns:a16="http://schemas.microsoft.com/office/drawing/2014/main" id="{A07A60DA-198B-E502-13DD-5E8F78C732FA}"/>
              </a:ext>
            </a:extLst>
          </p:cNvPr>
          <p:cNvSpPr/>
          <p:nvPr/>
        </p:nvSpPr>
        <p:spPr>
          <a:xfrm>
            <a:off x="1365843" y="2577364"/>
            <a:ext cx="157882" cy="170628"/>
          </a:xfrm>
          <a:prstGeom prst="homePlat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 : pentagone 14">
            <a:extLst>
              <a:ext uri="{FF2B5EF4-FFF2-40B4-BE49-F238E27FC236}">
                <a16:creationId xmlns:a16="http://schemas.microsoft.com/office/drawing/2014/main" id="{78240A96-A4EF-BB10-4456-AF40398A2741}"/>
              </a:ext>
            </a:extLst>
          </p:cNvPr>
          <p:cNvSpPr/>
          <p:nvPr/>
        </p:nvSpPr>
        <p:spPr>
          <a:xfrm>
            <a:off x="1365843" y="3178934"/>
            <a:ext cx="157882" cy="170628"/>
          </a:xfrm>
          <a:prstGeom prst="homePlat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  <p:bldP spid="11" grpId="0"/>
      <p:bldP spid="13" grpId="0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F82DACA2-4907-49A3-1499-6D979D4A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>
            <a:extLst>
              <a:ext uri="{FF2B5EF4-FFF2-40B4-BE49-F238E27FC236}">
                <a16:creationId xmlns:a16="http://schemas.microsoft.com/office/drawing/2014/main" id="{3ACE10C7-C427-9AB5-B607-A5BE6FF607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0379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solidFill>
                  <a:srgbClr val="0070C0"/>
                </a:solidFill>
              </a:rPr>
              <a:t>Méthodologie d’analyse</a:t>
            </a:r>
            <a:endParaRPr sz="2400" dirty="0">
              <a:solidFill>
                <a:srgbClr val="0070C0"/>
              </a:solidFill>
            </a:endParaRPr>
          </a:p>
        </p:txBody>
      </p:sp>
      <p:sp>
        <p:nvSpPr>
          <p:cNvPr id="5" name="Google Shape;284;p14">
            <a:extLst>
              <a:ext uri="{FF2B5EF4-FFF2-40B4-BE49-F238E27FC236}">
                <a16:creationId xmlns:a16="http://schemas.microsoft.com/office/drawing/2014/main" id="{5EA2B2D9-9AA2-8E1D-151A-00F199942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0379" y="1494154"/>
            <a:ext cx="7030500" cy="3050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fr-FR" sz="1000" dirty="0"/>
              <a:t>De manière un peu plus analytique, le tableau de données recense les statistiques de toutes les équipes, il permet d’établir des </a:t>
            </a:r>
            <a:r>
              <a:rPr lang="fr-FR" sz="1000" dirty="0">
                <a:solidFill>
                  <a:srgbClr val="0070C0"/>
                </a:solidFill>
              </a:rPr>
              <a:t>moyennes de référence </a:t>
            </a:r>
            <a:r>
              <a:rPr lang="fr-FR" sz="1000" dirty="0"/>
              <a:t>et d’obtenir une lecture comparative des résultats. 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fr-FR" sz="1000" b="1" dirty="0"/>
              <a:t>La méthodologie consiste à </a:t>
            </a:r>
          </a:p>
          <a:p>
            <a:pPr marL="228600" lvl="0" indent="-228600">
              <a:spcAft>
                <a:spcPts val="1200"/>
              </a:spcAft>
              <a:buAutoNum type="arabicPeriod"/>
            </a:pPr>
            <a:r>
              <a:rPr lang="fr-FR" sz="1000" dirty="0"/>
              <a:t>Définir des indicateurs-clé parmi l’ensemble des données disponibles (joueurs/équipes).</a:t>
            </a:r>
          </a:p>
          <a:p>
            <a:pPr marL="228600" lvl="0" indent="-228600">
              <a:spcAft>
                <a:spcPts val="1200"/>
              </a:spcAft>
              <a:buAutoNum type="arabicPeriod"/>
            </a:pPr>
            <a:r>
              <a:rPr lang="fr-FR" sz="1000" dirty="0"/>
              <a:t>Calculer des données de référence (moyennes, mini-maxi, top 15,…)</a:t>
            </a:r>
          </a:p>
          <a:p>
            <a:pPr marL="228600" lvl="0" indent="-228600">
              <a:spcAft>
                <a:spcPts val="1200"/>
              </a:spcAft>
              <a:buAutoNum type="arabicPeriod"/>
            </a:pPr>
            <a:r>
              <a:rPr lang="fr-FR" sz="1000" dirty="0"/>
              <a:t>Classer les joueurs et les équipes selon ses données de références.</a:t>
            </a:r>
          </a:p>
          <a:p>
            <a:pPr marL="228600" lvl="0" indent="-228600">
              <a:spcAft>
                <a:spcPts val="1200"/>
              </a:spcAft>
              <a:buAutoNum type="arabicPeriod"/>
            </a:pPr>
            <a:r>
              <a:rPr lang="fr-FR" sz="1000" dirty="0"/>
              <a:t>Mettre en évidence les points faibles / forts de chaque joueur via un code couleurs visuel simple qui le situe par rapport aux moyennes de référence.</a:t>
            </a:r>
          </a:p>
          <a:p>
            <a:pPr marL="228600" lvl="0" indent="-228600">
              <a:spcAft>
                <a:spcPts val="1200"/>
              </a:spcAft>
              <a:buAutoNum type="arabicPeriod"/>
            </a:pPr>
            <a:r>
              <a:rPr lang="fr-FR" sz="1000" dirty="0"/>
              <a:t>Superposer certaines données pour voir si elles ont un lien entre elles.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FCC87F1-3E54-33D9-CDEE-E6D162E49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591" y="132079"/>
            <a:ext cx="466496" cy="46649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893100C-8FE6-C9A5-CEC6-4A73D094381B}"/>
              </a:ext>
            </a:extLst>
          </p:cNvPr>
          <p:cNvSpPr txBox="1"/>
          <p:nvPr/>
        </p:nvSpPr>
        <p:spPr>
          <a:xfrm>
            <a:off x="6308592" y="149883"/>
            <a:ext cx="22821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>
                <a:solidFill>
                  <a:srgbClr val="0070C0"/>
                </a:solidFill>
              </a:rPr>
              <a:t>Slide non projetée à l’équipe – pour commentaire uniquement</a:t>
            </a:r>
          </a:p>
        </p:txBody>
      </p:sp>
    </p:spTree>
    <p:extLst>
      <p:ext uri="{BB962C8B-B14F-4D97-AF65-F5344CB8AC3E}">
        <p14:creationId xmlns:p14="http://schemas.microsoft.com/office/powerpoint/2010/main" val="211566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" dirty="0">
                <a:solidFill>
                  <a:srgbClr val="0070C0"/>
                </a:solidFill>
              </a:rPr>
              <a:t>Saison 2024/2025</a:t>
            </a:r>
            <a:br>
              <a:rPr lang="fr" dirty="0">
                <a:solidFill>
                  <a:srgbClr val="0070C0"/>
                </a:solidFill>
              </a:rPr>
            </a:br>
            <a:r>
              <a:rPr lang="fr-FR" sz="1300" dirty="0"/>
              <a:t>Les points totaux par équipe : mesurer la « production offensive »</a:t>
            </a:r>
            <a:br>
              <a:rPr lang="fr-FR" sz="1300" dirty="0"/>
            </a:br>
            <a:endParaRPr dirty="0">
              <a:solidFill>
                <a:srgbClr val="0070C0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070A3A2-53E1-E22B-A849-9CD0A1AF2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800" y="1330116"/>
            <a:ext cx="3905975" cy="36535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3428E259-A1FE-037B-47B9-0C55B49D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>
            <a:extLst>
              <a:ext uri="{FF2B5EF4-FFF2-40B4-BE49-F238E27FC236}">
                <a16:creationId xmlns:a16="http://schemas.microsoft.com/office/drawing/2014/main" id="{51D075DB-E0BF-0CE1-A633-B7D0A62F71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70C0"/>
                </a:solidFill>
              </a:rPr>
              <a:t>Saison 2024/2025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C1658F8-95F0-B066-640C-32092A603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33" y="1413862"/>
            <a:ext cx="7878620" cy="3634284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5637D10-5E31-ED3F-2089-86A7267BFA9B}"/>
              </a:ext>
            </a:extLst>
          </p:cNvPr>
          <p:cNvSpPr txBox="1"/>
          <p:nvPr/>
        </p:nvSpPr>
        <p:spPr>
          <a:xfrm>
            <a:off x="1303800" y="1098225"/>
            <a:ext cx="31168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fr-FR" sz="1100" b="1" dirty="0"/>
              <a:t>Classement des équipes</a:t>
            </a:r>
          </a:p>
        </p:txBody>
      </p:sp>
    </p:spTree>
    <p:extLst>
      <p:ext uri="{BB962C8B-B14F-4D97-AF65-F5344CB8AC3E}">
        <p14:creationId xmlns:p14="http://schemas.microsoft.com/office/powerpoint/2010/main" val="265276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F7790ADC-77BB-D63E-2BFF-79E193093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>
            <a:extLst>
              <a:ext uri="{FF2B5EF4-FFF2-40B4-BE49-F238E27FC236}">
                <a16:creationId xmlns:a16="http://schemas.microsoft.com/office/drawing/2014/main" id="{6C97501E-F46B-F80E-2ED8-79999CDEEB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70C0"/>
                </a:solidFill>
              </a:rPr>
              <a:t>Saison 2024/2025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74024F6-704F-5CB4-5698-FCBEC6CB9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67" y="1360074"/>
            <a:ext cx="5820740" cy="355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0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1A3F50B0-5699-2F3A-4203-85F3A33B6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>
            <a:extLst>
              <a:ext uri="{FF2B5EF4-FFF2-40B4-BE49-F238E27FC236}">
                <a16:creationId xmlns:a16="http://schemas.microsoft.com/office/drawing/2014/main" id="{AC4C7EE1-5500-B4A5-4EB9-0901E2C6D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70C0"/>
                </a:solidFill>
              </a:rPr>
              <a:t>Saison 2024/2025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92870D2-7C31-0A50-2B86-4C4F65A2DD4E}"/>
              </a:ext>
            </a:extLst>
          </p:cNvPr>
          <p:cNvSpPr txBox="1"/>
          <p:nvPr/>
        </p:nvSpPr>
        <p:spPr>
          <a:xfrm>
            <a:off x="1236740" y="1443986"/>
            <a:ext cx="72494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fr-FR" b="1"/>
              <a:t>Pourquoi ces deux mesures sont la base de toute analyse ?</a:t>
            </a:r>
            <a:endParaRPr lang="fr-FR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6379A2B-2257-4E15-6EDE-A1D57CA954C9}"/>
              </a:ext>
            </a:extLst>
          </p:cNvPr>
          <p:cNvSpPr txBox="1"/>
          <p:nvPr/>
        </p:nvSpPr>
        <p:spPr>
          <a:xfrm>
            <a:off x="1303800" y="1997898"/>
            <a:ext cx="756518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100" dirty="0"/>
              <a:t>Elles posent le </a:t>
            </a:r>
            <a:r>
              <a:rPr lang="fr-FR" sz="1100" b="1" dirty="0"/>
              <a:t>contexte global</a:t>
            </a:r>
            <a:r>
              <a:rPr lang="fr-FR" sz="1100" dirty="0"/>
              <a:t> :</a:t>
            </a:r>
          </a:p>
          <a:p>
            <a:pPr>
              <a:buNone/>
            </a:pPr>
            <a:endParaRPr lang="fr-FR" sz="11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100" dirty="0"/>
              <a:t> Combien notre équipe produit (offensivement)</a:t>
            </a:r>
          </a:p>
          <a:p>
            <a:endParaRPr lang="fr-FR" sz="11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100" dirty="0"/>
              <a:t> Avec quelle taille d’effectif (humainement)</a:t>
            </a:r>
          </a:p>
        </p:txBody>
      </p:sp>
    </p:spTree>
    <p:extLst>
      <p:ext uri="{BB962C8B-B14F-4D97-AF65-F5344CB8AC3E}">
        <p14:creationId xmlns:p14="http://schemas.microsoft.com/office/powerpoint/2010/main" val="4228255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>
            <a:spLocks noGrp="1"/>
          </p:cNvSpPr>
          <p:nvPr>
            <p:ph type="title"/>
          </p:nvPr>
        </p:nvSpPr>
        <p:spPr>
          <a:xfrm>
            <a:off x="1237298" y="640138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70C0"/>
                </a:solidFill>
              </a:rPr>
              <a:t>Analyse d’une équipe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7B00BDE-6833-D7A8-1349-4C307AF1D4F3}"/>
              </a:ext>
            </a:extLst>
          </p:cNvPr>
          <p:cNvSpPr txBox="1"/>
          <p:nvPr/>
        </p:nvSpPr>
        <p:spPr>
          <a:xfrm>
            <a:off x="6746195" y="3582463"/>
            <a:ext cx="24853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b="1" dirty="0">
                <a:solidFill>
                  <a:schemeClr val="bg2"/>
                </a:solidFill>
                <a:latin typeface="+mn-lt"/>
              </a:rPr>
              <a:t>Légende</a:t>
            </a:r>
          </a:p>
          <a:p>
            <a:r>
              <a:rPr lang="fr-FR" sz="800" dirty="0">
                <a:solidFill>
                  <a:schemeClr val="bg2"/>
                </a:solidFill>
                <a:latin typeface="+mn-lt"/>
              </a:rPr>
              <a:t>Passes décisives (AST)</a:t>
            </a:r>
          </a:p>
          <a:p>
            <a:r>
              <a:rPr lang="fr-FR" sz="800" dirty="0">
                <a:solidFill>
                  <a:schemeClr val="bg2"/>
                </a:solidFill>
                <a:latin typeface="+mn-lt"/>
              </a:rPr>
              <a:t>Interceptions (STL)</a:t>
            </a:r>
          </a:p>
          <a:p>
            <a:r>
              <a:rPr lang="fr-FR" sz="800" dirty="0">
                <a:solidFill>
                  <a:schemeClr val="bg2"/>
                </a:solidFill>
                <a:latin typeface="+mn-lt"/>
              </a:rPr>
              <a:t>Contres (BLK)</a:t>
            </a:r>
          </a:p>
          <a:p>
            <a:r>
              <a:rPr lang="fr-FR" sz="800" dirty="0">
                <a:solidFill>
                  <a:schemeClr val="bg2"/>
                </a:solidFill>
                <a:latin typeface="+mn-lt"/>
              </a:rPr>
              <a:t>rebonds offensifs (OREB) </a:t>
            </a:r>
          </a:p>
          <a:p>
            <a:r>
              <a:rPr lang="fr-FR" sz="800" dirty="0">
                <a:solidFill>
                  <a:schemeClr val="bg2"/>
                </a:solidFill>
                <a:latin typeface="+mn-lt"/>
              </a:rPr>
              <a:t>rebonds défensifs (DREB)</a:t>
            </a:r>
          </a:p>
          <a:p>
            <a:r>
              <a:rPr lang="fr-FR" sz="800" dirty="0">
                <a:solidFill>
                  <a:schemeClr val="bg2"/>
                </a:solidFill>
                <a:latin typeface="+mn-lt"/>
              </a:rPr>
              <a:t>L’impact du joueur dans le match (PIE)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BEE8554-ED4C-C5E3-D105-38792DA6B596}"/>
              </a:ext>
            </a:extLst>
          </p:cNvPr>
          <p:cNvSpPr txBox="1"/>
          <p:nvPr/>
        </p:nvSpPr>
        <p:spPr>
          <a:xfrm>
            <a:off x="1237298" y="1489334"/>
            <a:ext cx="3361127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b="1" dirty="0"/>
              <a:t>Comprendre</a:t>
            </a:r>
          </a:p>
          <a:p>
            <a:endParaRPr lang="fr-FR" sz="900" dirty="0"/>
          </a:p>
          <a:p>
            <a:r>
              <a:rPr lang="fr-FR" sz="900" b="1" dirty="0"/>
              <a:t>l’impact </a:t>
            </a:r>
            <a:r>
              <a:rPr lang="fr-FR" sz="900" dirty="0"/>
              <a:t>qu’à le joueur sur le jeu pendant ses matchs.</a:t>
            </a:r>
          </a:p>
          <a:p>
            <a:r>
              <a:rPr lang="fr-FR" sz="900" b="1" dirty="0"/>
              <a:t>comment </a:t>
            </a:r>
            <a:r>
              <a:rPr lang="fr-FR" sz="900" dirty="0"/>
              <a:t>les joueurs fournissent cet impact.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CDAC385-C872-D483-5758-627BF87B7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82" y="2532880"/>
            <a:ext cx="6000292" cy="2155537"/>
          </a:xfrm>
          <a:prstGeom prst="rect">
            <a:avLst/>
          </a:prstGeom>
        </p:spPr>
      </p:pic>
      <p:pic>
        <p:nvPicPr>
          <p:cNvPr id="4" name="Image 3" descr="Une image contenant cercl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C036F4EA-F94B-C444-68A2-8C4F1D56F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88" y="1489334"/>
            <a:ext cx="669415" cy="669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56A36BD-69C4-9158-11B7-4E5612E3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ZoneTexte 30">
            <a:extLst>
              <a:ext uri="{FF2B5EF4-FFF2-40B4-BE49-F238E27FC236}">
                <a16:creationId xmlns:a16="http://schemas.microsoft.com/office/drawing/2014/main" id="{731F47D5-EE79-1F10-8BBA-FB5DE803A74B}"/>
              </a:ext>
            </a:extLst>
          </p:cNvPr>
          <p:cNvSpPr txBox="1"/>
          <p:nvPr/>
        </p:nvSpPr>
        <p:spPr>
          <a:xfrm>
            <a:off x="651022" y="1580799"/>
            <a:ext cx="781460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/>
              <a:t>Ici on analyse en particulier nos joueurs avec le plus d’impact (PIE) et comment ils apportent cet impact</a:t>
            </a:r>
            <a:endParaRPr lang="fr-FR" sz="1050" b="1" dirty="0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70DA5717-0AD4-5213-552C-EEA2C49AD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56" y="2010815"/>
            <a:ext cx="3922869" cy="238063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DE03CC8-BCF5-EFBE-3805-4029E6F5E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932" y="2010815"/>
            <a:ext cx="3866854" cy="2380638"/>
          </a:xfrm>
          <a:prstGeom prst="rect">
            <a:avLst/>
          </a:prstGeom>
        </p:spPr>
      </p:pic>
      <p:sp>
        <p:nvSpPr>
          <p:cNvPr id="2" name="Google Shape;301;p17">
            <a:extLst>
              <a:ext uri="{FF2B5EF4-FFF2-40B4-BE49-F238E27FC236}">
                <a16:creationId xmlns:a16="http://schemas.microsoft.com/office/drawing/2014/main" id="{1F28F817-F457-03F2-3E88-075A5683BA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7298" y="640138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70C0"/>
                </a:solidFill>
              </a:rPr>
              <a:t>Analyse d’une équipe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49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>
            <a:spLocks noGrp="1"/>
          </p:cNvSpPr>
          <p:nvPr>
            <p:ph type="title"/>
          </p:nvPr>
        </p:nvSpPr>
        <p:spPr>
          <a:xfrm>
            <a:off x="1295174" y="702092"/>
            <a:ext cx="7030500" cy="7298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Analyse du top 15 (points)</a:t>
            </a:r>
            <a:endParaRPr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15408A6-BB2C-74AF-46A8-66293150FF5C}"/>
              </a:ext>
            </a:extLst>
          </p:cNvPr>
          <p:cNvSpPr txBox="1"/>
          <p:nvPr/>
        </p:nvSpPr>
        <p:spPr>
          <a:xfrm>
            <a:off x="5643507" y="1528765"/>
            <a:ext cx="3171572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Le top 15 affiche les meilleurs marqueurs.</a:t>
            </a:r>
          </a:p>
          <a:p>
            <a:endParaRPr lang="fr-FR" sz="900" b="1" dirty="0"/>
          </a:p>
          <a:p>
            <a:r>
              <a:rPr lang="fr-FR" sz="900" b="1" dirty="0"/>
              <a:t>1. </a:t>
            </a:r>
            <a:r>
              <a:rPr lang="fr-FR" sz="900" b="1" dirty="0">
                <a:solidFill>
                  <a:srgbClr val="0070C0"/>
                </a:solidFill>
              </a:rPr>
              <a:t>Nb de points marqués</a:t>
            </a:r>
            <a:endParaRPr lang="fr-FR" sz="900" dirty="0"/>
          </a:p>
          <a:p>
            <a:endParaRPr lang="fr-FR" sz="900" dirty="0"/>
          </a:p>
          <a:p>
            <a:r>
              <a:rPr lang="fr-FR" sz="900" b="1" dirty="0"/>
              <a:t>2. </a:t>
            </a:r>
            <a:r>
              <a:rPr lang="fr-FR" sz="900" b="1" dirty="0">
                <a:solidFill>
                  <a:srgbClr val="0070C0"/>
                </a:solidFill>
              </a:rPr>
              <a:t>FGM</a:t>
            </a:r>
          </a:p>
          <a:p>
            <a:endParaRPr lang="fr-FR" sz="900" dirty="0"/>
          </a:p>
          <a:p>
            <a:pPr marL="171450" lvl="4" indent="-171450">
              <a:buFont typeface="Wingdings" panose="05000000000000000000" pitchFamily="2" charset="2"/>
              <a:buChar char="§"/>
            </a:pPr>
            <a:r>
              <a:rPr lang="fr-FR" sz="900" dirty="0"/>
              <a:t>tirs réussis</a:t>
            </a:r>
          </a:p>
          <a:p>
            <a:pPr marL="171450" lvl="4" indent="-171450">
              <a:buFont typeface="Wingdings" panose="05000000000000000000" pitchFamily="2" charset="2"/>
              <a:buChar char="§"/>
            </a:pPr>
            <a:r>
              <a:rPr lang="fr-FR" sz="900" dirty="0"/>
              <a:t>tirs à 3 points réussis</a:t>
            </a:r>
          </a:p>
          <a:p>
            <a:pPr marL="171450" lvl="4" indent="-171450">
              <a:buFont typeface="Wingdings" panose="05000000000000000000" pitchFamily="2" charset="2"/>
              <a:buChar char="§"/>
            </a:pPr>
            <a:r>
              <a:rPr lang="fr-FR" sz="900" dirty="0"/>
              <a:t>lancers francs réussis</a:t>
            </a:r>
          </a:p>
          <a:p>
            <a:endParaRPr lang="fr-FR" sz="900" dirty="0"/>
          </a:p>
          <a:p>
            <a:r>
              <a:rPr lang="fr-FR" sz="900" b="1" dirty="0"/>
              <a:t>3. Rebonds défensifs </a:t>
            </a:r>
            <a:r>
              <a:rPr lang="fr-FR" sz="900" b="1" dirty="0">
                <a:solidFill>
                  <a:srgbClr val="0070C0"/>
                </a:solidFill>
              </a:rPr>
              <a:t>(OREB) </a:t>
            </a:r>
            <a:r>
              <a:rPr lang="fr-FR" sz="900" b="1" dirty="0"/>
              <a:t>dans l’analyse.</a:t>
            </a:r>
          </a:p>
          <a:p>
            <a:r>
              <a:rPr lang="fr-FR" sz="900" dirty="0"/>
              <a:t>élément complémentaire dans la capacité à « marquer des points »  car la récupération d’une balle après un tir (le sien ou celui d’un coéquipier) est importante si on veut évaluer l’impact offensif d’un joueur.</a:t>
            </a:r>
          </a:p>
          <a:p>
            <a:endParaRPr lang="fr-FR" sz="900" dirty="0"/>
          </a:p>
          <a:p>
            <a:r>
              <a:rPr lang="fr-FR" sz="900" b="1" dirty="0"/>
              <a:t>4. </a:t>
            </a:r>
            <a:r>
              <a:rPr lang="fr-FR" sz="900" b="1" dirty="0">
                <a:solidFill>
                  <a:srgbClr val="0070C0"/>
                </a:solidFill>
              </a:rPr>
              <a:t>PIE</a:t>
            </a:r>
            <a:r>
              <a:rPr lang="fr-FR" sz="900" b="1" dirty="0"/>
              <a:t>.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8E34E1A-0166-A423-FE96-18ADD2922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09" y="1576817"/>
            <a:ext cx="4918828" cy="22442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242BDB58-C693-514C-2217-81D14653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>
            <a:extLst>
              <a:ext uri="{FF2B5EF4-FFF2-40B4-BE49-F238E27FC236}">
                <a16:creationId xmlns:a16="http://schemas.microsoft.com/office/drawing/2014/main" id="{19FF7EBC-F05E-EA4F-D7AA-83EFE44B9E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174" y="702092"/>
            <a:ext cx="7030500" cy="7298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Analyse du top 15 (points)</a:t>
            </a:r>
            <a:endParaRPr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E26B71B-9722-142C-E7A2-2B511FE99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6" y="1954047"/>
            <a:ext cx="3495772" cy="270622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FF632CB-DA36-9577-025B-9F18A6333D0B}"/>
              </a:ext>
            </a:extLst>
          </p:cNvPr>
          <p:cNvSpPr txBox="1"/>
          <p:nvPr/>
        </p:nvSpPr>
        <p:spPr>
          <a:xfrm>
            <a:off x="4671231" y="1771120"/>
            <a:ext cx="40977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Un premier graphique vient confronter le nb de points marqués avec le % de tirs réussis. Cela permet d’interpréter les résultats des joueurs.</a:t>
            </a:r>
          </a:p>
          <a:p>
            <a:endParaRPr lang="fr-FR" sz="900" dirty="0"/>
          </a:p>
          <a:p>
            <a:r>
              <a:rPr lang="fr-FR" sz="900" dirty="0"/>
              <a:t>Plusieurs explications expliquent les bons résultats des joueurs qui sont dans le top15 :</a:t>
            </a:r>
          </a:p>
          <a:p>
            <a:endParaRPr lang="fr-FR" sz="900" dirty="0"/>
          </a:p>
          <a:p>
            <a:r>
              <a:rPr lang="fr-FR" sz="900" dirty="0"/>
              <a:t>• Un joueur peut avoir un </a:t>
            </a:r>
            <a:r>
              <a:rPr lang="fr-FR" sz="900" b="1" dirty="0"/>
              <a:t>excellent taux de réussite </a:t>
            </a:r>
            <a:r>
              <a:rPr lang="fr-FR" sz="900" dirty="0"/>
              <a:t>lors de ses lancers </a:t>
            </a:r>
            <a:r>
              <a:rPr lang="fr-FR" sz="900" b="1" dirty="0"/>
              <a:t>avec peu de lancers</a:t>
            </a:r>
            <a:r>
              <a:rPr lang="fr-FR" sz="900" dirty="0"/>
              <a:t>.</a:t>
            </a:r>
          </a:p>
          <a:p>
            <a:endParaRPr lang="fr-FR" sz="900" dirty="0"/>
          </a:p>
          <a:p>
            <a:r>
              <a:rPr lang="fr-FR" sz="900" dirty="0"/>
              <a:t>• Un joueur peut avoir un </a:t>
            </a:r>
            <a:r>
              <a:rPr lang="fr-FR" sz="900" b="1" dirty="0"/>
              <a:t>taux de réussite moyens </a:t>
            </a:r>
            <a:r>
              <a:rPr lang="fr-FR" sz="900" dirty="0"/>
              <a:t>mais avoir réalisé </a:t>
            </a:r>
            <a:r>
              <a:rPr lang="fr-FR" sz="900" b="1" dirty="0"/>
              <a:t>beaucoup de lancers</a:t>
            </a:r>
            <a:r>
              <a:rPr lang="fr-FR" sz="900" dirty="0"/>
              <a:t>. </a:t>
            </a:r>
            <a:r>
              <a:rPr lang="fr-FR" sz="900" i="1" dirty="0"/>
              <a:t>(exemple </a:t>
            </a:r>
            <a:r>
              <a:rPr lang="fr-FR" sz="900" i="1" dirty="0" err="1"/>
              <a:t>Shai</a:t>
            </a:r>
            <a:r>
              <a:rPr lang="fr-FR" sz="900" i="1" dirty="0"/>
              <a:t> </a:t>
            </a:r>
            <a:r>
              <a:rPr lang="fr-FR" sz="900" i="1" dirty="0" err="1"/>
              <a:t>Glilgeous</a:t>
            </a:r>
            <a:r>
              <a:rPr lang="fr-FR" sz="900" i="1" dirty="0"/>
              <a:t>-Alexander).</a:t>
            </a:r>
          </a:p>
          <a:p>
            <a:endParaRPr lang="fr-FR" sz="900" dirty="0"/>
          </a:p>
          <a:p>
            <a:r>
              <a:rPr lang="fr-FR" sz="900" dirty="0"/>
              <a:t>• Un joueur peut avoir </a:t>
            </a:r>
            <a:r>
              <a:rPr lang="fr-FR" sz="900" b="1" dirty="0"/>
              <a:t>beaucoup de lancers </a:t>
            </a:r>
            <a:r>
              <a:rPr lang="fr-FR" sz="900" dirty="0"/>
              <a:t>et un </a:t>
            </a:r>
            <a:r>
              <a:rPr lang="fr-FR" sz="900" b="1" dirty="0"/>
              <a:t>bon taux de réussite</a:t>
            </a:r>
          </a:p>
          <a:p>
            <a:r>
              <a:rPr lang="fr-FR" sz="900" i="1" dirty="0"/>
              <a:t>(exemple </a:t>
            </a:r>
            <a:r>
              <a:rPr lang="fr-FR" sz="900" i="1" dirty="0" err="1"/>
              <a:t>Giannis</a:t>
            </a:r>
            <a:r>
              <a:rPr lang="fr-FR" sz="900" i="1" dirty="0"/>
              <a:t> </a:t>
            </a:r>
            <a:r>
              <a:rPr lang="fr-FR" sz="900" i="1" dirty="0" err="1"/>
              <a:t>Antetokounmpo</a:t>
            </a:r>
            <a:r>
              <a:rPr lang="fr-FR" sz="900" i="1" dirty="0"/>
              <a:t>).</a:t>
            </a:r>
          </a:p>
          <a:p>
            <a:endParaRPr lang="fr-FR" sz="900" i="1" dirty="0"/>
          </a:p>
          <a:p>
            <a:endParaRPr lang="fr-FR" sz="900" i="1" dirty="0"/>
          </a:p>
        </p:txBody>
      </p:sp>
    </p:spTree>
    <p:extLst>
      <p:ext uri="{BB962C8B-B14F-4D97-AF65-F5344CB8AC3E}">
        <p14:creationId xmlns:p14="http://schemas.microsoft.com/office/powerpoint/2010/main" val="346829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31BEEE82-4CF0-5CD1-AE72-8609F455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>
            <a:extLst>
              <a:ext uri="{FF2B5EF4-FFF2-40B4-BE49-F238E27FC236}">
                <a16:creationId xmlns:a16="http://schemas.microsoft.com/office/drawing/2014/main" id="{F7B1B412-CFF1-1708-5D27-8D259C05CE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174" y="702092"/>
            <a:ext cx="7030500" cy="7298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Analyse du top 15 (points)</a:t>
            </a:r>
            <a:endParaRPr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3F06B1A-55BD-1F2D-63B4-4EA95A052C02}"/>
              </a:ext>
            </a:extLst>
          </p:cNvPr>
          <p:cNvSpPr txBox="1"/>
          <p:nvPr/>
        </p:nvSpPr>
        <p:spPr>
          <a:xfrm>
            <a:off x="4671232" y="2136228"/>
            <a:ext cx="40977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Le graphique ci-contre utilisé dans l’analyse NBA permet de jauger les joueurs sur leur </a:t>
            </a:r>
            <a:r>
              <a:rPr lang="fr-FR" sz="900" b="1" dirty="0"/>
              <a:t>taux de réussite lors des lancers </a:t>
            </a:r>
            <a:r>
              <a:rPr lang="fr-FR" sz="900" dirty="0"/>
              <a:t>et de voir dans quel type de lancers ils sont meilleurs.</a:t>
            </a:r>
          </a:p>
          <a:p>
            <a:endParaRPr lang="fr-FR" sz="900" i="1" dirty="0"/>
          </a:p>
          <a:p>
            <a:r>
              <a:rPr lang="fr-FR" sz="900" dirty="0"/>
              <a:t>Cela permet de décider par exemple qui doit s’améliorer au lancer franc (et ne doit pas être choisi à ce moment-là).</a:t>
            </a:r>
          </a:p>
          <a:p>
            <a:endParaRPr lang="fr-FR" sz="900" dirty="0"/>
          </a:p>
          <a:p>
            <a:r>
              <a:rPr lang="fr-FR" sz="900" dirty="0"/>
              <a:t>C’est un indicateur de résultat intéressant mais cela permet également d’orienter les joueurs pendant leurs entraînements.</a:t>
            </a:r>
          </a:p>
          <a:p>
            <a:endParaRPr lang="fr-FR" sz="900" i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92BB422-C93E-AB73-D990-E3E237238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04" y="1531840"/>
            <a:ext cx="3919766" cy="26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8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Analyse(s) complémentaire(s)</a:t>
            </a:r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De nombreuses autres analyses complémentaires peuvent être réalisées pour venir compléter l’analyse « NBA ».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3087648D-04D5-6422-DEB7-47F2B65B4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>
            <a:extLst>
              <a:ext uri="{FF2B5EF4-FFF2-40B4-BE49-F238E27FC236}">
                <a16:creationId xmlns:a16="http://schemas.microsoft.com/office/drawing/2014/main" id="{FAB917E2-6BDE-8941-64A1-B0936D959A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Analyse(s) complémentaire(s)</a:t>
            </a:r>
            <a:endParaRPr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3DB3F0B-D9C5-6783-FC88-4B188A2A946E}"/>
              </a:ext>
            </a:extLst>
          </p:cNvPr>
          <p:cNvSpPr txBox="1"/>
          <p:nvPr/>
        </p:nvSpPr>
        <p:spPr>
          <a:xfrm>
            <a:off x="332315" y="2266665"/>
            <a:ext cx="194297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Etablir des moyennes de références permet également de cibler les statistiques que l’équipe doit améliorer et se situer par rapport aux autres équipes.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E40ADE7-4B19-7425-B792-43D95DD35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838" y="1349028"/>
            <a:ext cx="5745762" cy="3406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8217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06C4B102-C9DA-F3F8-17A9-D509F3D4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>
            <a:extLst>
              <a:ext uri="{FF2B5EF4-FFF2-40B4-BE49-F238E27FC236}">
                <a16:creationId xmlns:a16="http://schemas.microsoft.com/office/drawing/2014/main" id="{E83E9569-2368-AFB0-9C44-0DD7778B6A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Analyse(s) complémentaire(s)</a:t>
            </a:r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8BFD82-551C-C6B4-82AC-9A166D563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04" y="2188977"/>
            <a:ext cx="3826614" cy="25327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B5FD59C-6079-AAAB-1F41-576B4F26E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7873" y="2146003"/>
            <a:ext cx="2628640" cy="2811501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FB5B234F-8C1C-C405-206D-576922722113}"/>
              </a:ext>
            </a:extLst>
          </p:cNvPr>
          <p:cNvGrpSpPr/>
          <p:nvPr/>
        </p:nvGrpSpPr>
        <p:grpSpPr>
          <a:xfrm>
            <a:off x="4484247" y="3124337"/>
            <a:ext cx="956344" cy="631767"/>
            <a:chOff x="4438198" y="2571750"/>
            <a:chExt cx="956344" cy="631767"/>
          </a:xfrm>
        </p:grpSpPr>
        <p:pic>
          <p:nvPicPr>
            <p:cNvPr id="9" name="Graphique 8" descr="Point d’insertion vers la droite avec un remplissage uni">
              <a:extLst>
                <a:ext uri="{FF2B5EF4-FFF2-40B4-BE49-F238E27FC236}">
                  <a16:creationId xmlns:a16="http://schemas.microsoft.com/office/drawing/2014/main" id="{FDA0013E-71FF-CC6F-1601-EF35F291B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38198" y="2571750"/>
              <a:ext cx="631767" cy="631767"/>
            </a:xfrm>
            <a:prstGeom prst="rect">
              <a:avLst/>
            </a:prstGeom>
          </p:spPr>
        </p:pic>
        <p:pic>
          <p:nvPicPr>
            <p:cNvPr id="10" name="Graphique 9" descr="Point d’insertion vers la droite avec un remplissage uni">
              <a:extLst>
                <a:ext uri="{FF2B5EF4-FFF2-40B4-BE49-F238E27FC236}">
                  <a16:creationId xmlns:a16="http://schemas.microsoft.com/office/drawing/2014/main" id="{6FB7D17F-C267-C9A7-694E-CFC81476D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00486" y="2571750"/>
              <a:ext cx="631767" cy="631767"/>
            </a:xfrm>
            <a:prstGeom prst="rect">
              <a:avLst/>
            </a:prstGeom>
          </p:spPr>
        </p:pic>
        <p:pic>
          <p:nvPicPr>
            <p:cNvPr id="11" name="Graphique 10" descr="Point d’insertion vers la droite avec un remplissage uni">
              <a:extLst>
                <a:ext uri="{FF2B5EF4-FFF2-40B4-BE49-F238E27FC236}">
                  <a16:creationId xmlns:a16="http://schemas.microsoft.com/office/drawing/2014/main" id="{C15289BB-020F-80AD-028D-4E9293262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62775" y="2571750"/>
              <a:ext cx="631767" cy="631767"/>
            </a:xfrm>
            <a:prstGeom prst="rect">
              <a:avLst/>
            </a:prstGeom>
          </p:spPr>
        </p:pic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6B7991CD-25C5-8D7D-4711-08F54D2658EA}"/>
              </a:ext>
            </a:extLst>
          </p:cNvPr>
          <p:cNvSpPr txBox="1"/>
          <p:nvPr/>
        </p:nvSpPr>
        <p:spPr>
          <a:xfrm>
            <a:off x="372633" y="1434246"/>
            <a:ext cx="840297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Cela permettra d’axer les entrainements sur les points à améliorer dans le jeu global de l’équipe.</a:t>
            </a:r>
          </a:p>
        </p:txBody>
      </p:sp>
    </p:spTree>
    <p:extLst>
      <p:ext uri="{BB962C8B-B14F-4D97-AF65-F5344CB8AC3E}">
        <p14:creationId xmlns:p14="http://schemas.microsoft.com/office/powerpoint/2010/main" val="1949374032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738</Words>
  <Application>Microsoft Office PowerPoint</Application>
  <PresentationFormat>Affichage à l'écran (16:9)</PresentationFormat>
  <Paragraphs>94</Paragraphs>
  <Slides>16</Slides>
  <Notes>16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Wingdings</vt:lpstr>
      <vt:lpstr>Arial</vt:lpstr>
      <vt:lpstr>Maven Pro</vt:lpstr>
      <vt:lpstr>Nunito</vt:lpstr>
      <vt:lpstr>Momentum</vt:lpstr>
      <vt:lpstr>Exemple d’analyse NBA</vt:lpstr>
      <vt:lpstr>Données les plus importantes dans le fichier NBA</vt:lpstr>
      <vt:lpstr>Méthodologie d’analyse</vt:lpstr>
      <vt:lpstr>Méthodologie d’analyse</vt:lpstr>
      <vt:lpstr>Saison 2024/2025 Les points totaux par équipe : mesurer la « production offensive » </vt:lpstr>
      <vt:lpstr>Saison 2024/2025</vt:lpstr>
      <vt:lpstr>Saison 2024/2025</vt:lpstr>
      <vt:lpstr>Saison 2024/2025</vt:lpstr>
      <vt:lpstr>Analyse d’une équipe</vt:lpstr>
      <vt:lpstr>Analyse d’une équipe</vt:lpstr>
      <vt:lpstr>Analyse du top 15 (points)</vt:lpstr>
      <vt:lpstr>Analyse du top 15 (points)</vt:lpstr>
      <vt:lpstr>Analyse du top 15 (points)</vt:lpstr>
      <vt:lpstr>Analyse(s) complémentaire(s)</vt:lpstr>
      <vt:lpstr>Analyse(s) complémentaire(s)</vt:lpstr>
      <vt:lpstr>Analyse(s) complémentaire(s)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Thomas SECQUEVILLE</dc:creator>
  <cp:lastModifiedBy>Thomas SECQUEVILLE</cp:lastModifiedBy>
  <cp:revision>70</cp:revision>
  <cp:lastPrinted>2025-10-21T05:52:09Z</cp:lastPrinted>
  <dcterms:modified xsi:type="dcterms:W3CDTF">2025-10-29T09:39:03Z</dcterms:modified>
</cp:coreProperties>
</file>
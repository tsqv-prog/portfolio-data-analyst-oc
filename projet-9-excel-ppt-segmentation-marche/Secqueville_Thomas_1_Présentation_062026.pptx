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3.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4.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5.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20.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16" r:id="rId1"/>
  </p:sldMasterIdLst>
  <p:notesMasterIdLst>
    <p:notesMasterId r:id="rId27"/>
  </p:notesMasterIdLst>
  <p:sldIdLst>
    <p:sldId id="256" r:id="rId2"/>
    <p:sldId id="257" r:id="rId3"/>
    <p:sldId id="259" r:id="rId4"/>
    <p:sldId id="260" r:id="rId5"/>
    <p:sldId id="261" r:id="rId6"/>
    <p:sldId id="262" r:id="rId7"/>
    <p:sldId id="263" r:id="rId8"/>
    <p:sldId id="264" r:id="rId9"/>
    <p:sldId id="265" r:id="rId10"/>
    <p:sldId id="302" r:id="rId11"/>
    <p:sldId id="297" r:id="rId12"/>
    <p:sldId id="299" r:id="rId13"/>
    <p:sldId id="298" r:id="rId14"/>
    <p:sldId id="304" r:id="rId15"/>
    <p:sldId id="305" r:id="rId16"/>
    <p:sldId id="266" r:id="rId17"/>
    <p:sldId id="267" r:id="rId18"/>
    <p:sldId id="268" r:id="rId19"/>
    <p:sldId id="269" r:id="rId20"/>
    <p:sldId id="306" r:id="rId21"/>
    <p:sldId id="300" r:id="rId22"/>
    <p:sldId id="301" r:id="rId23"/>
    <p:sldId id="270" r:id="rId24"/>
    <p:sldId id="271" r:id="rId25"/>
    <p:sldId id="273" r:id="rId26"/>
  </p:sldIdLst>
  <p:sldSz cx="9144000" cy="5143500" type="screen16x9"/>
  <p:notesSz cx="6858000" cy="9144000"/>
  <p:embeddedFontLst>
    <p:embeddedFont>
      <p:font typeface="Dosis" pitchFamily="2" charset="0"/>
      <p:regular r:id="rId28"/>
      <p:bold r:id="rId29"/>
    </p:embeddedFont>
    <p:embeddedFont>
      <p:font typeface="Montserrat" panose="00000500000000000000" pitchFamily="2" charset="0"/>
      <p:regular r:id="rId30"/>
      <p:bold r:id="rId31"/>
      <p:italic r:id="rId32"/>
      <p:boldItalic r:id="rId33"/>
    </p:embeddedFont>
    <p:embeddedFont>
      <p:font typeface="Quattrocento" panose="02020502030000000404" pitchFamily="18" charset="0"/>
      <p:regular r:id="rId34"/>
      <p:bold r:id="rId35"/>
    </p:embeddedFont>
    <p:embeddedFont>
      <p:font typeface="Space Grotesk" panose="020B0604020202020204" charset="0"/>
      <p:regular r:id="rId36"/>
      <p:bold r:id="rId36"/>
    </p:embeddedFont>
    <p:embeddedFont>
      <p:font typeface="Space Grotesk Light" panose="020B0604020202020204" charset="0"/>
      <p:regular r:id="rId36"/>
      <p:bold r:id="rId36"/>
    </p:embeddedFont>
    <p:embeddedFont>
      <p:font typeface="Space Grotesk Medium" panose="020B0604020202020204" charset="0"/>
      <p:regular r:id="rId36"/>
      <p:bold r:id="rId36"/>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7" roundtripDataSignature="AMtx7mjdhnSw0mXkQg9u0bc1nEdsQBft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DA97"/>
    <a:srgbClr val="FFDF79"/>
    <a:srgbClr val="91EFAA"/>
    <a:srgbClr val="FDBFBF"/>
    <a:srgbClr val="FCB49E"/>
    <a:srgbClr val="FCFC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272DF2-5866-4BD9-90D9-472611E76D45}">
  <a:tblStyle styleId="{40272DF2-5866-4BD9-90D9-472611E76D45}"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69"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67" Type="http://customschemas.google.com/relationships/presentationmetadata" Target="metadata"/></Relationships>
</file>

<file path=ppt/charts/_rels/chart1.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thoma\OneDrive\Bureau\OPENCLASSROOM\Livrables\Projet_10%20-%20Analysez%20une%20demande%20business%20et%20identifiez%20les%20segments%20du%20march&#233;%20les%20plus%20pertinents%20pour%20votre%20client\NOTIFICATIONS%20COMMERCIALES\00_arr&#234;t&#233;%20comptable_avec_ETDI.xlsm"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thoma\OneDrive\Bureau\OPENCLASSROOM\Livrables\Projet_10%20-%20Analysez%20une%20demande%20business%20et%20identifiez%20les%20segments%20du%20march&#233;%20les%20plus%20pertinents%20pour%20votre%20client\NOTIFICATIONS%20COMMERCIALES\00_arr&#234;t&#233;%20comptable_avec_ETDI.xlsm"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thoma\OneDrive\Bureau\OPENCLASSROOM\Livrables\Projet_10%20-%20Analysez%20une%20demande%20business%20et%20identifiez%20les%20segments%20du%20march&#233;%20les%20plus%20pertinents%20pour%20votre%20client\NOTIFICATIONS%20COMMERCIALES\00_arr&#234;t&#233;%20comptable_avec_ETDI.xlsm"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thoma\OneDrive\Bureau\OPENCLASSROOM\Livrables\Projet_10%20-%20Analysez%20une%20demande%20business%20et%20identifiez%20les%20segments%20du%20march&#233;%20les%20plus%20pertinents%20pour%20votre%20client\NOTIFICATIONS%20COMMERCIALES\00_arr&#234;t&#233;%20comptable_avec_ETDI.xlsm"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thoma\OneDrive\Bureau\OPENCLASSROOM\Livrables\Projet_10%20-%20Analysez%20une%20demande%20business%20et%20identifiez%20les%20segments%20du%20march&#233;%20les%20plus%20pertinents%20pour%20votre%20client\NOTIFICATIONS%20COMMERCIALES\00_arr&#234;t&#233;%20comptable_avec_ETDI.xlsm"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thoma\OneDrive\Bureau\OPENCLASSROOM\Livrables\Projet_10%20-%20Analysez%20une%20demande%20business%20et%20identifiez%20les%20segments%20du%20march&#233;%20les%20plus%20pertinents%20pour%20votre%20client\NOTIFICATIONS%20COMMERCIALES\00_arr&#234;t&#233;%20comptable_avec_ETDI.xlsm"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Users\thoma\OneDrive\Bureau\OPENCLASSROOM\Livrables\Projet_10%20-%20Analysez%20une%20demande%20business%20et%20identifiez%20les%20segments%20du%20march&#233;%20les%20plus%20pertinents%20pour%20votre%20client\NOTIFICATIONS%20COMMERCIALES\00_arr&#234;t&#233;%20comptable_avec_ETDI.xlsm"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SRVFICHIER\public\Commun\Trigrammes\STS\NOTIFICATIONS%20COMMERCIALES\00_arr&#234;t&#233;%20comptable_avec_ETDI.xlsm" TargetMode="External"/><Relationship Id="rId2" Type="http://schemas.microsoft.com/office/2011/relationships/chartColorStyle" Target="colors23.xml"/><Relationship Id="rId1" Type="http://schemas.microsoft.com/office/2011/relationships/chartStyle" Target="style2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7854806296351922"/>
          <c:y val="9.5994470156879244E-2"/>
          <c:w val="0.78864082044240369"/>
          <c:h val="0.81911201939452227"/>
        </c:manualLayout>
      </c:layout>
      <c:barChart>
        <c:barDir val="col"/>
        <c:grouping val="clustered"/>
        <c:varyColors val="0"/>
        <c:ser>
          <c:idx val="0"/>
          <c:order val="0"/>
          <c:tx>
            <c:strRef>
              <c:f>Calculs!$B$22</c:f>
              <c:strCache>
                <c:ptCount val="1"/>
                <c:pt idx="0">
                  <c:v>CA brut</c:v>
                </c:pt>
              </c:strCache>
            </c:strRef>
          </c:tx>
          <c:spPr>
            <a:solidFill>
              <a:schemeClr val="accent4"/>
            </a:solidFill>
            <a:ln>
              <a:noFill/>
            </a:ln>
            <a:effectLst/>
          </c:spPr>
          <c:invertIfNegative val="0"/>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extLst/>
            </c:numRef>
          </c:cat>
          <c:val>
            <c:numRef>
              <c:f>Calculs!$B$23:$B$33</c:f>
              <c:numCache>
                <c:formatCode>_("€"* #,##0.00_);_("€"* \(#,##0.00\);_("€"* "-"??_);_(@_)</c:formatCode>
                <c:ptCount val="11"/>
                <c:pt idx="0">
                  <c:v>2733948.4299999992</c:v>
                </c:pt>
                <c:pt idx="1">
                  <c:v>6262246.0600000005</c:v>
                </c:pt>
                <c:pt idx="2">
                  <c:v>13123314.929999994</c:v>
                </c:pt>
                <c:pt idx="3">
                  <c:v>9624477.3799999934</c:v>
                </c:pt>
                <c:pt idx="4">
                  <c:v>12177848.510000002</c:v>
                </c:pt>
                <c:pt idx="5">
                  <c:v>17118473.230000004</c:v>
                </c:pt>
                <c:pt idx="6">
                  <c:v>15291411.670000002</c:v>
                </c:pt>
                <c:pt idx="7">
                  <c:v>12959111.089999991</c:v>
                </c:pt>
                <c:pt idx="8">
                  <c:v>13916098.250000019</c:v>
                </c:pt>
                <c:pt idx="9">
                  <c:v>21315925.240000017</c:v>
                </c:pt>
                <c:pt idx="10">
                  <c:v>10225924.980000004</c:v>
                </c:pt>
              </c:numCache>
              <c:extLst/>
            </c:numRef>
          </c:val>
          <c:extLst>
            <c:ext xmlns:c16="http://schemas.microsoft.com/office/drawing/2014/chart" uri="{C3380CC4-5D6E-409C-BE32-E72D297353CC}">
              <c16:uniqueId val="{00000000-608C-4215-B80D-16D98841F80E}"/>
            </c:ext>
          </c:extLst>
        </c:ser>
        <c:ser>
          <c:idx val="1"/>
          <c:order val="1"/>
          <c:tx>
            <c:strRef>
              <c:f>Calculs!$H$22</c:f>
              <c:strCache>
                <c:ptCount val="1"/>
                <c:pt idx="0">
                  <c:v>Marge</c:v>
                </c:pt>
              </c:strCache>
            </c:strRef>
          </c:tx>
          <c:spPr>
            <a:solidFill>
              <a:srgbClr val="8EDA97"/>
            </a:solidFill>
            <a:ln>
              <a:noFill/>
            </a:ln>
            <a:effectLst/>
          </c:spPr>
          <c:invertIfNegative val="0"/>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extLst/>
            </c:numRef>
          </c:cat>
          <c:val>
            <c:numRef>
              <c:f>Calculs!$H$23:$H$33</c:f>
              <c:numCache>
                <c:formatCode>_("€"* #,##0.00_);_("€"* \(#,##0.00\);_("€"* "-"??_);_(@_)</c:formatCode>
                <c:ptCount val="11"/>
                <c:pt idx="0">
                  <c:v>63654.630000000056</c:v>
                </c:pt>
                <c:pt idx="1">
                  <c:v>619419.8818999998</c:v>
                </c:pt>
                <c:pt idx="2">
                  <c:v>2341960.2185000028</c:v>
                </c:pt>
                <c:pt idx="3">
                  <c:v>2526238.7626256072</c:v>
                </c:pt>
                <c:pt idx="4">
                  <c:v>3593681.1133347955</c:v>
                </c:pt>
                <c:pt idx="5">
                  <c:v>3820931.9868459995</c:v>
                </c:pt>
                <c:pt idx="6">
                  <c:v>4236910.8736617891</c:v>
                </c:pt>
                <c:pt idx="7">
                  <c:v>3999979.4073955026</c:v>
                </c:pt>
                <c:pt idx="8">
                  <c:v>4831366.6637202138</c:v>
                </c:pt>
                <c:pt idx="9">
                  <c:v>6651923.6496260865</c:v>
                </c:pt>
                <c:pt idx="10">
                  <c:v>2681848.6016236371</c:v>
                </c:pt>
              </c:numCache>
              <c:extLst/>
            </c:numRef>
          </c:val>
          <c:extLst>
            <c:ext xmlns:c16="http://schemas.microsoft.com/office/drawing/2014/chart" uri="{C3380CC4-5D6E-409C-BE32-E72D297353CC}">
              <c16:uniqueId val="{00000001-608C-4215-B80D-16D98841F80E}"/>
            </c:ext>
          </c:extLst>
        </c:ser>
        <c:dLbls>
          <c:showLegendKey val="0"/>
          <c:showVal val="0"/>
          <c:showCatName val="0"/>
          <c:showSerName val="0"/>
          <c:showPercent val="0"/>
          <c:showBubbleSize val="0"/>
        </c:dLbls>
        <c:gapWidth val="219"/>
        <c:overlap val="-27"/>
        <c:axId val="686090736"/>
        <c:axId val="686091216"/>
      </c:barChart>
      <c:catAx>
        <c:axId val="6860907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686091216"/>
        <c:crosses val="autoZero"/>
        <c:auto val="1"/>
        <c:lblAlgn val="ctr"/>
        <c:lblOffset val="100"/>
        <c:noMultiLvlLbl val="0"/>
      </c:catAx>
      <c:valAx>
        <c:axId val="686091216"/>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686090736"/>
        <c:crosses val="autoZero"/>
        <c:crossBetween val="between"/>
      </c:valAx>
      <c:spPr>
        <a:solidFill>
          <a:schemeClr val="bg1">
            <a:lumMod val="9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8138043690338295E-2"/>
          <c:y val="0.10343210915429465"/>
          <c:w val="0.84624358342085149"/>
          <c:h val="0.78286590130432165"/>
        </c:manualLayout>
      </c:layout>
      <c:lineChart>
        <c:grouping val="standard"/>
        <c:varyColors val="0"/>
        <c:ser>
          <c:idx val="0"/>
          <c:order val="0"/>
          <c:tx>
            <c:strRef>
              <c:f>Calculs!$I$22</c:f>
              <c:strCache>
                <c:ptCount val="1"/>
                <c:pt idx="0">
                  <c:v>Rentabilité</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og"/>
            <c:dispRSqr val="1"/>
            <c:dispEq val="0"/>
            <c:trendlineLbl>
              <c:layout>
                <c:manualLayout>
                  <c:x val="6.9104964312722797E-2"/>
                  <c:y val="-6.4809761375247937E-2"/>
                </c:manualLayout>
              </c:layout>
              <c:numFmt formatCode="General" sourceLinked="0"/>
              <c:spPr>
                <a:noFill/>
                <a:ln>
                  <a:noFill/>
                </a:ln>
                <a:effectLst/>
              </c:spPr>
              <c:txPr>
                <a:bodyPr rot="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trendlineLbl>
          </c:trendline>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Calculs!$I$23:$I$33</c:f>
              <c:numCache>
                <c:formatCode>0%</c:formatCode>
                <c:ptCount val="11"/>
                <c:pt idx="0">
                  <c:v>2.3283039760921925E-2</c:v>
                </c:pt>
                <c:pt idx="1">
                  <c:v>9.8913373247425496E-2</c:v>
                </c:pt>
                <c:pt idx="2">
                  <c:v>0.178457975823339</c:v>
                </c:pt>
                <c:pt idx="3">
                  <c:v>0.26248061716839</c:v>
                </c:pt>
                <c:pt idx="4">
                  <c:v>0.29509983724824601</c:v>
                </c:pt>
                <c:pt idx="5">
                  <c:v>0.22320518515341911</c:v>
                </c:pt>
                <c:pt idx="6">
                  <c:v>0.27707781106790308</c:v>
                </c:pt>
                <c:pt idx="7">
                  <c:v>0.30866155707871978</c:v>
                </c:pt>
                <c:pt idx="8">
                  <c:v>0.34717825190118984</c:v>
                </c:pt>
                <c:pt idx="9">
                  <c:v>0.31206356631161092</c:v>
                </c:pt>
                <c:pt idx="10">
                  <c:v>0.26225975712405786</c:v>
                </c:pt>
              </c:numCache>
            </c:numRef>
          </c:val>
          <c:smooth val="0"/>
          <c:extLst>
            <c:ext xmlns:c16="http://schemas.microsoft.com/office/drawing/2014/chart" uri="{C3380CC4-5D6E-409C-BE32-E72D297353CC}">
              <c16:uniqueId val="{00000000-D349-49F9-86F3-D6209820C7B6}"/>
            </c:ext>
          </c:extLst>
        </c:ser>
        <c:dLbls>
          <c:showLegendKey val="0"/>
          <c:showVal val="0"/>
          <c:showCatName val="0"/>
          <c:showSerName val="0"/>
          <c:showPercent val="0"/>
          <c:showBubbleSize val="0"/>
        </c:dLbls>
        <c:marker val="1"/>
        <c:smooth val="0"/>
        <c:axId val="1418906544"/>
        <c:axId val="780558944"/>
      </c:lineChart>
      <c:catAx>
        <c:axId val="1418906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780558944"/>
        <c:crosses val="autoZero"/>
        <c:auto val="1"/>
        <c:lblAlgn val="ctr"/>
        <c:lblOffset val="100"/>
        <c:noMultiLvlLbl val="0"/>
      </c:catAx>
      <c:valAx>
        <c:axId val="78055894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1418906544"/>
        <c:crosses val="autoZero"/>
        <c:crossBetween val="between"/>
      </c:valAx>
      <c:spPr>
        <a:solidFill>
          <a:schemeClr val="bg1">
            <a:lumMod val="95000"/>
          </a:schemeClr>
        </a:solid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600" b="1" i="0" u="none" strike="noStrike" kern="1200" spc="0" baseline="0">
                <a:solidFill>
                  <a:srgbClr val="0070C0"/>
                </a:solidFill>
                <a:latin typeface="+mn-lt"/>
                <a:ea typeface="+mn-ea"/>
                <a:cs typeface="+mn-cs"/>
              </a:defRPr>
            </a:pPr>
            <a:r>
              <a:rPr lang="fr-FR" sz="600" b="1" dirty="0">
                <a:solidFill>
                  <a:srgbClr val="0070C0"/>
                </a:solidFill>
              </a:rPr>
              <a:t>Part des</a:t>
            </a:r>
          </a:p>
          <a:p>
            <a:pPr>
              <a:defRPr sz="600" b="1">
                <a:solidFill>
                  <a:srgbClr val="0070C0"/>
                </a:solidFill>
              </a:defRPr>
            </a:pPr>
            <a:r>
              <a:rPr lang="fr-FR" sz="600" b="1" dirty="0">
                <a:solidFill>
                  <a:srgbClr val="0070C0"/>
                </a:solidFill>
              </a:rPr>
              <a:t>pénalités / CA brut</a:t>
            </a:r>
          </a:p>
        </c:rich>
      </c:tx>
      <c:layout>
        <c:manualLayout>
          <c:xMode val="edge"/>
          <c:yMode val="edge"/>
          <c:x val="0.35510458939702028"/>
          <c:y val="4.5911237466918962E-2"/>
        </c:manualLayout>
      </c:layout>
      <c:overlay val="0"/>
      <c:spPr>
        <a:noFill/>
        <a:ln>
          <a:noFill/>
        </a:ln>
        <a:effectLst/>
      </c:spPr>
      <c:txPr>
        <a:bodyPr rot="0" spcFirstLastPara="1" vertOverflow="ellipsis" vert="horz" wrap="square" anchor="ctr" anchorCtr="1"/>
        <a:lstStyle/>
        <a:p>
          <a:pPr>
            <a:defRPr sz="6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0.19376811920394213"/>
          <c:y val="0.18273443248895638"/>
          <c:w val="0.75212348176227029"/>
          <c:h val="0.65223535369545216"/>
        </c:manualLayout>
      </c:layout>
      <c:barChart>
        <c:barDir val="col"/>
        <c:grouping val="stacked"/>
        <c:varyColors val="0"/>
        <c:ser>
          <c:idx val="1"/>
          <c:order val="1"/>
          <c:tx>
            <c:strRef>
              <c:f>Pivot!$B$22</c:f>
              <c:strCache>
                <c:ptCount val="1"/>
                <c:pt idx="0">
                  <c:v>CA brut</c:v>
                </c:pt>
              </c:strCache>
            </c:strRef>
          </c:tx>
          <c:spPr>
            <a:solidFill>
              <a:schemeClr val="accent1"/>
            </a:solidFill>
            <a:ln>
              <a:noFill/>
            </a:ln>
            <a:effectLst/>
          </c:spPr>
          <c:invertIfNegative val="0"/>
          <c:cat>
            <c:numRef>
              <c:f>Pivot!$A$23:$A$33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extLst/>
            </c:numRef>
          </c:cat>
          <c:val>
            <c:numRef>
              <c:f>Pivot!$B$23:$B$33</c:f>
              <c:numCache>
                <c:formatCode>_("€"* #,##0.00_);_("€"* \(#,##0.00\);_("€"* "-"??_);_(@_)</c:formatCode>
                <c:ptCount val="11"/>
                <c:pt idx="0">
                  <c:v>2733948.4299999992</c:v>
                </c:pt>
                <c:pt idx="1">
                  <c:v>6262246.0600000005</c:v>
                </c:pt>
                <c:pt idx="2">
                  <c:v>13123314.929999994</c:v>
                </c:pt>
                <c:pt idx="3">
                  <c:v>9624477.3799999934</c:v>
                </c:pt>
                <c:pt idx="4">
                  <c:v>12177848.510000002</c:v>
                </c:pt>
                <c:pt idx="5">
                  <c:v>17140881.410000008</c:v>
                </c:pt>
                <c:pt idx="6">
                  <c:v>15291411.670000002</c:v>
                </c:pt>
                <c:pt idx="7">
                  <c:v>12962088.089999991</c:v>
                </c:pt>
                <c:pt idx="8">
                  <c:v>13916098.250000019</c:v>
                </c:pt>
                <c:pt idx="9">
                  <c:v>21315925.240000017</c:v>
                </c:pt>
                <c:pt idx="10">
                  <c:v>10232610.280000003</c:v>
                </c:pt>
              </c:numCache>
              <c:extLst/>
            </c:numRef>
          </c:val>
          <c:extLst>
            <c:ext xmlns:c16="http://schemas.microsoft.com/office/drawing/2014/chart" uri="{C3380CC4-5D6E-409C-BE32-E72D297353CC}">
              <c16:uniqueId val="{00000000-C9AA-4849-A9EB-C78E04D4908D}"/>
            </c:ext>
          </c:extLst>
        </c:ser>
        <c:ser>
          <c:idx val="2"/>
          <c:order val="2"/>
          <c:tx>
            <c:strRef>
              <c:f>Pivot!$C$22</c:f>
              <c:strCache>
                <c:ptCount val="1"/>
                <c:pt idx="0">
                  <c:v>Pénalités</c:v>
                </c:pt>
              </c:strCache>
              <c:extLst xmlns:c15="http://schemas.microsoft.com/office/drawing/2012/chart"/>
            </c:strRef>
          </c:tx>
          <c:spPr>
            <a:solidFill>
              <a:srgbClr val="FF0000"/>
            </a:solidFill>
            <a:ln>
              <a:noFill/>
            </a:ln>
            <a:effectLst/>
          </c:spPr>
          <c:invertIfNegative val="0"/>
          <c:cat>
            <c:numRef>
              <c:f>Pivot!$A$23:$A$33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extLst/>
            </c:numRef>
          </c:cat>
          <c:val>
            <c:numRef>
              <c:f>Pivot!$C$23:$C$33</c:f>
              <c:numCache>
                <c:formatCode>_("€"* #,##0.00_);_("€"* \(#,##0.00\);_("€"* "-"??_);_(@_)</c:formatCode>
                <c:ptCount val="11"/>
                <c:pt idx="0">
                  <c:v>-3258.06</c:v>
                </c:pt>
                <c:pt idx="1">
                  <c:v>0</c:v>
                </c:pt>
                <c:pt idx="2">
                  <c:v>-11448.23</c:v>
                </c:pt>
                <c:pt idx="3">
                  <c:v>14400.2</c:v>
                </c:pt>
                <c:pt idx="4">
                  <c:v>27248.229999999996</c:v>
                </c:pt>
                <c:pt idx="5">
                  <c:v>107456.80999999997</c:v>
                </c:pt>
                <c:pt idx="6">
                  <c:v>56962.01999999999</c:v>
                </c:pt>
                <c:pt idx="7">
                  <c:v>6873.61</c:v>
                </c:pt>
                <c:pt idx="8">
                  <c:v>7287.7199999999984</c:v>
                </c:pt>
                <c:pt idx="9">
                  <c:v>18052.600000000002</c:v>
                </c:pt>
                <c:pt idx="10">
                  <c:v>3768.1499999999996</c:v>
                </c:pt>
              </c:numCache>
              <c:extLst/>
            </c:numRef>
          </c:val>
          <c:extLst xmlns:c15="http://schemas.microsoft.com/office/drawing/2012/chart">
            <c:ext xmlns:c16="http://schemas.microsoft.com/office/drawing/2014/chart" uri="{C3380CC4-5D6E-409C-BE32-E72D297353CC}">
              <c16:uniqueId val="{00000001-C9AA-4849-A9EB-C78E04D4908D}"/>
            </c:ext>
          </c:extLst>
        </c:ser>
        <c:dLbls>
          <c:showLegendKey val="0"/>
          <c:showVal val="0"/>
          <c:showCatName val="0"/>
          <c:showSerName val="0"/>
          <c:showPercent val="0"/>
          <c:showBubbleSize val="0"/>
        </c:dLbls>
        <c:gapWidth val="65"/>
        <c:overlap val="100"/>
        <c:axId val="564111344"/>
        <c:axId val="564109904"/>
        <c:extLst>
          <c:ext xmlns:c15="http://schemas.microsoft.com/office/drawing/2012/chart" uri="{02D57815-91ED-43cb-92C2-25804820EDAC}">
            <c15:filteredBarSeries>
              <c15:ser>
                <c:idx val="0"/>
                <c:order val="0"/>
                <c:tx>
                  <c:strRef>
                    <c:extLst>
                      <c:ext uri="{02D57815-91ED-43cb-92C2-25804820EDAC}">
                        <c15:formulaRef>
                          <c15:sqref>Pivot!$A$22</c15:sqref>
                        </c15:formulaRef>
                      </c:ext>
                    </c:extLst>
                    <c:strCache>
                      <c:ptCount val="1"/>
                      <c:pt idx="0">
                        <c:v>Année</c:v>
                      </c:pt>
                    </c:strCache>
                  </c:strRef>
                </c:tx>
                <c:spPr>
                  <a:solidFill>
                    <a:schemeClr val="accent1"/>
                  </a:solidFill>
                  <a:ln>
                    <a:noFill/>
                  </a:ln>
                  <a:effectLst/>
                </c:spPr>
                <c:invertIfNegative val="0"/>
                <c:cat>
                  <c:numRef>
                    <c:extLst>
                      <c:ext uri="{02D57815-91ED-43cb-92C2-25804820EDAC}">
                        <c15:formulaRef>
                          <c15:sqref>Pivot!$A$23:$A$33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c:ext uri="{02D57815-91ED-43cb-92C2-25804820EDAC}">
                        <c15:formulaRef>
                          <c15:sqref>Pivot!$A$23:$A$33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val>
                <c:extLst>
                  <c:ext xmlns:c16="http://schemas.microsoft.com/office/drawing/2014/chart" uri="{C3380CC4-5D6E-409C-BE32-E72D297353CC}">
                    <c16:uniqueId val="{00000002-C9AA-4849-A9EB-C78E04D4908D}"/>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Pivot!$D$22</c15:sqref>
                        </c15:formulaRef>
                      </c:ext>
                    </c:extLst>
                    <c:strCache>
                      <c:ptCount val="1"/>
                      <c:pt idx="0">
                        <c:v>Réfactions</c:v>
                      </c:pt>
                    </c:strCache>
                  </c:strRef>
                </c:tx>
                <c:spPr>
                  <a:solidFill>
                    <a:schemeClr val="accent4"/>
                  </a:solidFill>
                  <a:ln>
                    <a:noFill/>
                  </a:ln>
                  <a:effectLst/>
                </c:spPr>
                <c:invertIfNegative val="0"/>
                <c:val>
                  <c:numRef>
                    <c:extLst xmlns:c15="http://schemas.microsoft.com/office/drawing/2012/chart">
                      <c:ext xmlns:c15="http://schemas.microsoft.com/office/drawing/2012/chart" uri="{02D57815-91ED-43cb-92C2-25804820EDAC}">
                        <c15:formulaRef>
                          <c15:sqref>Pivot!$D$23:$D$33</c15:sqref>
                        </c15:formulaRef>
                      </c:ext>
                    </c:extLst>
                    <c:numCache>
                      <c:formatCode>_("€"* #,##0.00_);_("€"* \(#,##0.00\);_("€"* "-"??_);_(@_)</c:formatCode>
                      <c:ptCount val="11"/>
                      <c:pt idx="0">
                        <c:v>8349.7999999999993</c:v>
                      </c:pt>
                      <c:pt idx="1">
                        <c:v>29559.119999999995</c:v>
                      </c:pt>
                      <c:pt idx="2">
                        <c:v>164691.84000000003</c:v>
                      </c:pt>
                      <c:pt idx="3">
                        <c:v>123406.83</c:v>
                      </c:pt>
                      <c:pt idx="4">
                        <c:v>114558.56000000001</c:v>
                      </c:pt>
                      <c:pt idx="5">
                        <c:v>319551.86999999994</c:v>
                      </c:pt>
                      <c:pt idx="6">
                        <c:v>245004.25</c:v>
                      </c:pt>
                      <c:pt idx="7">
                        <c:v>110617.38999999998</c:v>
                      </c:pt>
                      <c:pt idx="8">
                        <c:v>219009.42999999993</c:v>
                      </c:pt>
                      <c:pt idx="9">
                        <c:v>244055.52</c:v>
                      </c:pt>
                      <c:pt idx="10">
                        <c:v>131219.91999999998</c:v>
                      </c:pt>
                    </c:numCache>
                  </c:numRef>
                </c:val>
                <c:extLst xmlns:c15="http://schemas.microsoft.com/office/drawing/2012/chart">
                  <c:ext xmlns:c16="http://schemas.microsoft.com/office/drawing/2014/chart" uri="{C3380CC4-5D6E-409C-BE32-E72D297353CC}">
                    <c16:uniqueId val="{00000003-C9AA-4849-A9EB-C78E04D4908D}"/>
                  </c:ext>
                </c:extLst>
              </c15:ser>
            </c15:filteredBarSeries>
            <c15:filteredBarSeries>
              <c15:ser>
                <c:idx val="4"/>
                <c:order val="4"/>
                <c:tx>
                  <c:strRef>
                    <c:extLst xmlns:c15="http://schemas.microsoft.com/office/drawing/2012/chart">
                      <c:ext xmlns:c15="http://schemas.microsoft.com/office/drawing/2012/chart" uri="{02D57815-91ED-43cb-92C2-25804820EDAC}">
                        <c15:formulaRef>
                          <c15:sqref>Pivot!$F$22</c15:sqref>
                        </c15:formulaRef>
                      </c:ext>
                    </c:extLst>
                    <c:strCache>
                      <c:ptCount val="1"/>
                      <c:pt idx="0">
                        <c:v>Réserves émises</c:v>
                      </c:pt>
                    </c:strCache>
                  </c:strRef>
                </c:tx>
                <c:spPr>
                  <a:solidFill>
                    <a:schemeClr val="accent5"/>
                  </a:solidFill>
                  <a:ln>
                    <a:noFill/>
                  </a:ln>
                  <a:effectLst/>
                </c:spPr>
                <c:invertIfNegative val="0"/>
                <c:val>
                  <c:numRef>
                    <c:extLst xmlns:c15="http://schemas.microsoft.com/office/drawing/2012/chart">
                      <c:ext xmlns:c15="http://schemas.microsoft.com/office/drawing/2012/chart" uri="{02D57815-91ED-43cb-92C2-25804820EDAC}">
                        <c15:formulaRef>
                          <c15:sqref>Pivot!$F$23:$F$33</c15:sqref>
                        </c15:formulaRef>
                      </c:ext>
                    </c:extLst>
                    <c:numCache>
                      <c:formatCode>_("€"* #,##0.00_);_("€"* \(#,##0.00\);_("€"* "-"??_);_(@_)</c:formatCode>
                      <c:ptCount val="11"/>
                      <c:pt idx="0">
                        <c:v>94478.1</c:v>
                      </c:pt>
                      <c:pt idx="1">
                        <c:v>59494.329999999994</c:v>
                      </c:pt>
                      <c:pt idx="2">
                        <c:v>581067.9</c:v>
                      </c:pt>
                      <c:pt idx="3">
                        <c:v>118321.93</c:v>
                      </c:pt>
                      <c:pt idx="4">
                        <c:v>134585.92000000001</c:v>
                      </c:pt>
                      <c:pt idx="5">
                        <c:v>415308.79999999999</c:v>
                      </c:pt>
                      <c:pt idx="6">
                        <c:v>673768.80999999994</c:v>
                      </c:pt>
                      <c:pt idx="7">
                        <c:v>154150.18</c:v>
                      </c:pt>
                      <c:pt idx="8">
                        <c:v>534249.6</c:v>
                      </c:pt>
                      <c:pt idx="9">
                        <c:v>767178.04999999993</c:v>
                      </c:pt>
                      <c:pt idx="10">
                        <c:v>170218.07000000004</c:v>
                      </c:pt>
                    </c:numCache>
                  </c:numRef>
                </c:val>
                <c:extLst xmlns:c15="http://schemas.microsoft.com/office/drawing/2012/chart">
                  <c:ext xmlns:c16="http://schemas.microsoft.com/office/drawing/2014/chart" uri="{C3380CC4-5D6E-409C-BE32-E72D297353CC}">
                    <c16:uniqueId val="{00000004-C9AA-4849-A9EB-C78E04D4908D}"/>
                  </c:ext>
                </c:extLst>
              </c15:ser>
            </c15:filteredBarSeries>
            <c15:filteredBarSeries>
              <c15:ser>
                <c:idx val="5"/>
                <c:order val="5"/>
                <c:tx>
                  <c:strRef>
                    <c:extLst xmlns:c15="http://schemas.microsoft.com/office/drawing/2012/chart">
                      <c:ext xmlns:c15="http://schemas.microsoft.com/office/drawing/2012/chart" uri="{02D57815-91ED-43cb-92C2-25804820EDAC}">
                        <c15:formulaRef>
                          <c15:sqref>Pivot!$E$22</c15:sqref>
                        </c15:formulaRef>
                      </c:ext>
                    </c:extLst>
                    <c:strCache>
                      <c:ptCount val="1"/>
                      <c:pt idx="0">
                        <c:v>Taux d'impact</c:v>
                      </c:pt>
                    </c:strCache>
                  </c:strRef>
                </c:tx>
                <c:spPr>
                  <a:solidFill>
                    <a:schemeClr val="accent6"/>
                  </a:solidFill>
                  <a:ln w="19050">
                    <a:solidFill>
                      <a:srgbClr val="C00000"/>
                    </a:solidFill>
                  </a:ln>
                  <a:effectLst/>
                </c:spPr>
                <c:invertIfNegative val="0"/>
                <c:val>
                  <c:numRef>
                    <c:extLst xmlns:c15="http://schemas.microsoft.com/office/drawing/2012/chart">
                      <c:ext xmlns:c15="http://schemas.microsoft.com/office/drawing/2012/chart" uri="{02D57815-91ED-43cb-92C2-25804820EDAC}">
                        <c15:formulaRef>
                          <c15:sqref>Pivot!$E$23:$E$33</c15:sqref>
                        </c15:formulaRef>
                      </c:ext>
                    </c:extLst>
                    <c:numCache>
                      <c:formatCode>0.00%</c:formatCode>
                      <c:ptCount val="11"/>
                      <c:pt idx="0">
                        <c:v>1.8624125986165735E-3</c:v>
                      </c:pt>
                      <c:pt idx="1">
                        <c:v>4.72021056291742E-3</c:v>
                      </c:pt>
                      <c:pt idx="2">
                        <c:v>1.1677202811744157E-2</c:v>
                      </c:pt>
                      <c:pt idx="3">
                        <c:v>1.4318390969089699E-2</c:v>
                      </c:pt>
                      <c:pt idx="4">
                        <c:v>1.1644650521276684E-2</c:v>
                      </c:pt>
                      <c:pt idx="5">
                        <c:v>2.4911710768320387E-2</c:v>
                      </c:pt>
                      <c:pt idx="6">
                        <c:v>1.9747442323616415E-2</c:v>
                      </c:pt>
                      <c:pt idx="7">
                        <c:v>9.0642031734564504E-3</c:v>
                      </c:pt>
                      <c:pt idx="8">
                        <c:v>1.6261537245182905E-2</c:v>
                      </c:pt>
                      <c:pt idx="9">
                        <c:v>1.2296352002030187E-2</c:v>
                      </c:pt>
                      <c:pt idx="10">
                        <c:v>1.3191948711643881E-2</c:v>
                      </c:pt>
                    </c:numCache>
                  </c:numRef>
                </c:val>
                <c:extLst xmlns:c15="http://schemas.microsoft.com/office/drawing/2012/chart">
                  <c:ext xmlns:c16="http://schemas.microsoft.com/office/drawing/2014/chart" uri="{C3380CC4-5D6E-409C-BE32-E72D297353CC}">
                    <c16:uniqueId val="{00000005-C9AA-4849-A9EB-C78E04D4908D}"/>
                  </c:ext>
                </c:extLst>
              </c15:ser>
            </c15:filteredBarSeries>
          </c:ext>
        </c:extLst>
      </c:barChart>
      <c:catAx>
        <c:axId val="564111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564109904"/>
        <c:crosses val="autoZero"/>
        <c:auto val="1"/>
        <c:lblAlgn val="ctr"/>
        <c:lblOffset val="100"/>
        <c:noMultiLvlLbl val="0"/>
      </c:catAx>
      <c:valAx>
        <c:axId val="564109904"/>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0\ &quot;€&quot;" sourceLinked="0"/>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564111344"/>
        <c:crosses val="autoZero"/>
        <c:crossBetween val="between"/>
      </c:valAx>
      <c:spPr>
        <a:solidFill>
          <a:schemeClr val="bg1">
            <a:lumMod val="95000"/>
          </a:schemeClr>
        </a:solidFill>
        <a:ln>
          <a:noFill/>
        </a:ln>
        <a:effectLst/>
      </c:spPr>
    </c:plotArea>
    <c:legend>
      <c:legendPos val="b"/>
      <c:layout>
        <c:manualLayout>
          <c:xMode val="edge"/>
          <c:yMode val="edge"/>
          <c:x val="0.33471716019568881"/>
          <c:y val="0.93678802608216949"/>
          <c:w val="0.40357955797957579"/>
          <c:h val="5.0510843458332094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9050">
      <a:solidFill>
        <a:schemeClr val="tx1">
          <a:lumMod val="65000"/>
          <a:lumOff val="35000"/>
        </a:schemeClr>
      </a:solid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600" b="1" i="0" u="none" strike="noStrike" kern="1200" spc="0" baseline="0">
                <a:solidFill>
                  <a:srgbClr val="0070C0"/>
                </a:solidFill>
                <a:latin typeface="+mn-lt"/>
                <a:ea typeface="+mn-ea"/>
                <a:cs typeface="+mn-cs"/>
              </a:defRPr>
            </a:pPr>
            <a:r>
              <a:rPr lang="en-US" sz="600" b="1">
                <a:solidFill>
                  <a:srgbClr val="0070C0"/>
                </a:solidFill>
              </a:rPr>
              <a:t>Nb de pénalités</a:t>
            </a:r>
          </a:p>
        </c:rich>
      </c:tx>
      <c:layout>
        <c:manualLayout>
          <c:xMode val="edge"/>
          <c:yMode val="edge"/>
          <c:x val="0.40305042148558173"/>
          <c:y val="3.1879821421348799E-2"/>
        </c:manualLayout>
      </c:layout>
      <c:overlay val="0"/>
      <c:spPr>
        <a:noFill/>
        <a:ln>
          <a:noFill/>
        </a:ln>
        <a:effectLst/>
      </c:spPr>
      <c:txPr>
        <a:bodyPr rot="0" spcFirstLastPara="1" vertOverflow="ellipsis" vert="horz" wrap="square" anchor="ctr" anchorCtr="1"/>
        <a:lstStyle/>
        <a:p>
          <a:pPr>
            <a:defRPr sz="6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0.10722596394183746"/>
          <c:y val="0.17492708932211359"/>
          <c:w val="0.84533087276402441"/>
          <c:h val="0.6858133416958484"/>
        </c:manualLayout>
      </c:layout>
      <c:lineChart>
        <c:grouping val="standard"/>
        <c:varyColors val="0"/>
        <c:ser>
          <c:idx val="1"/>
          <c:order val="0"/>
          <c:tx>
            <c:strRef>
              <c:f>Calculs!$P$5</c:f>
              <c:strCache>
                <c:ptCount val="1"/>
                <c:pt idx="0">
                  <c:v>Nb</c:v>
                </c:pt>
              </c:strCache>
            </c:strRef>
          </c:tx>
          <c:spPr>
            <a:ln w="28575" cap="rnd">
              <a:solidFill>
                <a:schemeClr val="accent1"/>
              </a:solidFill>
              <a:round/>
            </a:ln>
            <a:effectLst/>
          </c:spPr>
          <c:marker>
            <c:symbol val="none"/>
          </c:marker>
          <c:trendline>
            <c:spPr>
              <a:ln w="12700" cap="rnd">
                <a:solidFill>
                  <a:schemeClr val="tx1"/>
                </a:solidFill>
                <a:prstDash val="sysDot"/>
              </a:ln>
              <a:effectLst/>
            </c:spPr>
            <c:trendlineType val="linear"/>
            <c:dispRSqr val="0"/>
            <c:dispEq val="0"/>
          </c:trendline>
          <c:cat>
            <c:numRef>
              <c:f>Calculs!$O$7:$O$16</c:f>
              <c:numCache>
                <c:formatCode>General</c:formatCode>
                <c:ptCount val="10"/>
                <c:pt idx="0">
                  <c:v>2016</c:v>
                </c:pt>
                <c:pt idx="1">
                  <c:v>2017</c:v>
                </c:pt>
                <c:pt idx="2">
                  <c:v>2018</c:v>
                </c:pt>
                <c:pt idx="3">
                  <c:v>2019</c:v>
                </c:pt>
                <c:pt idx="4">
                  <c:v>2020</c:v>
                </c:pt>
                <c:pt idx="5">
                  <c:v>2021</c:v>
                </c:pt>
                <c:pt idx="6">
                  <c:v>2022</c:v>
                </c:pt>
                <c:pt idx="7">
                  <c:v>2023</c:v>
                </c:pt>
                <c:pt idx="8">
                  <c:v>2024</c:v>
                </c:pt>
                <c:pt idx="9">
                  <c:v>2025</c:v>
                </c:pt>
              </c:numCache>
              <c:extLst/>
            </c:numRef>
          </c:cat>
          <c:val>
            <c:numRef>
              <c:f>Calculs!$P$7:$P$16</c:f>
              <c:numCache>
                <c:formatCode>General</c:formatCode>
                <c:ptCount val="10"/>
                <c:pt idx="0">
                  <c:v>136</c:v>
                </c:pt>
                <c:pt idx="1">
                  <c:v>397</c:v>
                </c:pt>
                <c:pt idx="2">
                  <c:v>817</c:v>
                </c:pt>
                <c:pt idx="3">
                  <c:v>1015</c:v>
                </c:pt>
                <c:pt idx="4">
                  <c:v>1065</c:v>
                </c:pt>
                <c:pt idx="5">
                  <c:v>995</c:v>
                </c:pt>
                <c:pt idx="6">
                  <c:v>913</c:v>
                </c:pt>
                <c:pt idx="7">
                  <c:v>858</c:v>
                </c:pt>
                <c:pt idx="8">
                  <c:v>1002</c:v>
                </c:pt>
                <c:pt idx="9">
                  <c:v>733</c:v>
                </c:pt>
              </c:numCache>
              <c:extLst/>
            </c:numRef>
          </c:val>
          <c:smooth val="0"/>
          <c:extLst>
            <c:ext xmlns:c16="http://schemas.microsoft.com/office/drawing/2014/chart" uri="{C3380CC4-5D6E-409C-BE32-E72D297353CC}">
              <c16:uniqueId val="{00000001-5CB7-44F4-BA78-B462EF8757A6}"/>
            </c:ext>
          </c:extLst>
        </c:ser>
        <c:dLbls>
          <c:showLegendKey val="0"/>
          <c:showVal val="0"/>
          <c:showCatName val="0"/>
          <c:showSerName val="0"/>
          <c:showPercent val="0"/>
          <c:showBubbleSize val="0"/>
        </c:dLbls>
        <c:smooth val="0"/>
        <c:axId val="685007056"/>
        <c:axId val="685007536"/>
      </c:lineChart>
      <c:catAx>
        <c:axId val="685007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685007536"/>
        <c:crosses val="autoZero"/>
        <c:auto val="1"/>
        <c:lblAlgn val="ctr"/>
        <c:lblOffset val="100"/>
        <c:noMultiLvlLbl val="0"/>
      </c:catAx>
      <c:valAx>
        <c:axId val="685007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685007056"/>
        <c:crosses val="autoZero"/>
        <c:crossBetween val="between"/>
      </c:valAx>
      <c:spPr>
        <a:solidFill>
          <a:schemeClr val="bg1">
            <a:lumMod val="9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tx1"/>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700" b="1" i="0" u="none" strike="noStrike" kern="1200" spc="0" baseline="0">
                <a:solidFill>
                  <a:srgbClr val="0070C0"/>
                </a:solidFill>
                <a:latin typeface="+mn-lt"/>
                <a:ea typeface="+mn-ea"/>
                <a:cs typeface="+mn-cs"/>
              </a:defRPr>
            </a:pPr>
            <a:r>
              <a:rPr lang="fr-FR" sz="700" b="1">
                <a:solidFill>
                  <a:srgbClr val="0070C0"/>
                </a:solidFill>
              </a:rPr>
              <a:t>Montants</a:t>
            </a:r>
            <a:r>
              <a:rPr lang="fr-FR" sz="700" b="1" baseline="0">
                <a:solidFill>
                  <a:srgbClr val="0070C0"/>
                </a:solidFill>
              </a:rPr>
              <a:t> des pénalités</a:t>
            </a:r>
            <a:endParaRPr lang="fr-FR" sz="700" b="1">
              <a:solidFill>
                <a:srgbClr val="0070C0"/>
              </a:solidFill>
            </a:endParaRPr>
          </a:p>
        </c:rich>
      </c:tx>
      <c:overlay val="0"/>
      <c:spPr>
        <a:noFill/>
        <a:ln>
          <a:noFill/>
        </a:ln>
        <a:effectLst/>
      </c:spPr>
      <c:txPr>
        <a:bodyPr rot="0" spcFirstLastPara="1" vertOverflow="ellipsis" vert="horz" wrap="square" anchor="ctr" anchorCtr="1"/>
        <a:lstStyle/>
        <a:p>
          <a:pPr>
            <a:defRPr sz="7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0.1591323026243176"/>
          <c:y val="0.17298013761921816"/>
          <c:w val="0.79342451796948621"/>
          <c:h val="0.69661053092251157"/>
        </c:manualLayout>
      </c:layout>
      <c:barChart>
        <c:barDir val="col"/>
        <c:grouping val="clustered"/>
        <c:varyColors val="0"/>
        <c:ser>
          <c:idx val="1"/>
          <c:order val="0"/>
          <c:tx>
            <c:strRef>
              <c:f>Calculs!$C$22</c:f>
              <c:strCache>
                <c:ptCount val="1"/>
                <c:pt idx="0">
                  <c:v>Pénalités</c:v>
                </c:pt>
              </c:strCache>
            </c:strRef>
          </c:tx>
          <c:spPr>
            <a:solidFill>
              <a:schemeClr val="accent1"/>
            </a:solidFill>
            <a:ln>
              <a:noFill/>
            </a:ln>
            <a:effectLst/>
          </c:spPr>
          <c:invertIfNegative val="0"/>
          <c:trendline>
            <c:spPr>
              <a:ln w="12700" cap="rnd">
                <a:solidFill>
                  <a:schemeClr val="tx1"/>
                </a:solidFill>
                <a:prstDash val="sysDot"/>
              </a:ln>
              <a:effectLst/>
            </c:spPr>
            <c:trendlineType val="linear"/>
            <c:dispRSqr val="0"/>
            <c:dispEq val="0"/>
          </c:trendline>
          <c:cat>
            <c:numRef>
              <c:f>Calculs!$A$24:$A$33</c:f>
              <c:numCache>
                <c:formatCode>General</c:formatCode>
                <c:ptCount val="10"/>
                <c:pt idx="0">
                  <c:v>2016</c:v>
                </c:pt>
                <c:pt idx="1">
                  <c:v>2017</c:v>
                </c:pt>
                <c:pt idx="2">
                  <c:v>2018</c:v>
                </c:pt>
                <c:pt idx="3">
                  <c:v>2019</c:v>
                </c:pt>
                <c:pt idx="4">
                  <c:v>2020</c:v>
                </c:pt>
                <c:pt idx="5">
                  <c:v>2021</c:v>
                </c:pt>
                <c:pt idx="6">
                  <c:v>2022</c:v>
                </c:pt>
                <c:pt idx="7">
                  <c:v>2023</c:v>
                </c:pt>
                <c:pt idx="8">
                  <c:v>2024</c:v>
                </c:pt>
                <c:pt idx="9">
                  <c:v>2025</c:v>
                </c:pt>
              </c:numCache>
              <c:extLst/>
            </c:numRef>
          </c:cat>
          <c:val>
            <c:numRef>
              <c:f>Calculs!$C$24:$C$33</c:f>
              <c:numCache>
                <c:formatCode>_("€"* #,##0.00_);_("€"* \(#,##0.00\);_("€"* "-"??_);_(@_)</c:formatCode>
                <c:ptCount val="10"/>
                <c:pt idx="0">
                  <c:v>0</c:v>
                </c:pt>
                <c:pt idx="1">
                  <c:v>3990.39</c:v>
                </c:pt>
                <c:pt idx="2">
                  <c:v>14400.2</c:v>
                </c:pt>
                <c:pt idx="3">
                  <c:v>27248.229999999996</c:v>
                </c:pt>
                <c:pt idx="4">
                  <c:v>107456.80999999997</c:v>
                </c:pt>
                <c:pt idx="5">
                  <c:v>56962.01999999999</c:v>
                </c:pt>
                <c:pt idx="6">
                  <c:v>6873.61</c:v>
                </c:pt>
                <c:pt idx="7">
                  <c:v>16185.82</c:v>
                </c:pt>
                <c:pt idx="8">
                  <c:v>20588.120000000003</c:v>
                </c:pt>
                <c:pt idx="9">
                  <c:v>3774.1499999999996</c:v>
                </c:pt>
              </c:numCache>
              <c:extLst/>
            </c:numRef>
          </c:val>
          <c:extLst>
            <c:ext xmlns:c16="http://schemas.microsoft.com/office/drawing/2014/chart" uri="{C3380CC4-5D6E-409C-BE32-E72D297353CC}">
              <c16:uniqueId val="{00000000-A81A-4245-8341-023C691FFBCE}"/>
            </c:ext>
          </c:extLst>
        </c:ser>
        <c:dLbls>
          <c:showLegendKey val="0"/>
          <c:showVal val="0"/>
          <c:showCatName val="0"/>
          <c:showSerName val="0"/>
          <c:showPercent val="0"/>
          <c:showBubbleSize val="0"/>
        </c:dLbls>
        <c:gapWidth val="219"/>
        <c:overlap val="-27"/>
        <c:axId val="296153679"/>
        <c:axId val="296150319"/>
      </c:barChart>
      <c:catAx>
        <c:axId val="2961536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296150319"/>
        <c:crosses val="autoZero"/>
        <c:auto val="1"/>
        <c:lblAlgn val="ctr"/>
        <c:lblOffset val="100"/>
        <c:noMultiLvlLbl val="0"/>
      </c:catAx>
      <c:valAx>
        <c:axId val="296150319"/>
        <c:scaling>
          <c:orientation val="minMax"/>
        </c:scaling>
        <c:delete val="0"/>
        <c:axPos val="l"/>
        <c:majorGridlines>
          <c:spPr>
            <a:ln w="9525" cap="flat" cmpd="sng" algn="ctr">
              <a:solidFill>
                <a:schemeClr val="tx1">
                  <a:lumMod val="15000"/>
                  <a:lumOff val="85000"/>
                </a:schemeClr>
              </a:solidFill>
              <a:round/>
            </a:ln>
            <a:effectLst/>
          </c:spPr>
        </c:majorGridlines>
        <c:numFmt formatCode="#,##0\ &quot;€&quot;" sourceLinked="0"/>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296153679"/>
        <c:crosses val="autoZero"/>
        <c:crossBetween val="between"/>
      </c:valAx>
      <c:spPr>
        <a:solidFill>
          <a:schemeClr val="bg1">
            <a:lumMod val="95000"/>
          </a:schemeClr>
        </a:solidFill>
        <a:ln>
          <a:noFill/>
        </a:ln>
        <a:effectLst/>
      </c:spPr>
    </c:plotArea>
    <c:plotVisOnly val="1"/>
    <c:dispBlanksAs val="gap"/>
    <c:showDLblsOverMax val="0"/>
  </c:chart>
  <c:spPr>
    <a:noFill/>
    <a:ln w="9525">
      <a:solidFill>
        <a:schemeClr val="tx1"/>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rgbClr val="0070C0"/>
                </a:solidFill>
                <a:latin typeface="+mn-lt"/>
                <a:ea typeface="+mn-ea"/>
                <a:cs typeface="+mn-cs"/>
              </a:defRPr>
            </a:pPr>
            <a:r>
              <a:rPr lang="en-US" sz="800" b="1">
                <a:solidFill>
                  <a:srgbClr val="0070C0"/>
                </a:solidFill>
              </a:rPr>
              <a:t>% pénalité</a:t>
            </a:r>
            <a:r>
              <a:rPr lang="en-US" sz="800" b="1" baseline="0">
                <a:solidFill>
                  <a:srgbClr val="0070C0"/>
                </a:solidFill>
              </a:rPr>
              <a:t> </a:t>
            </a:r>
            <a:r>
              <a:rPr lang="en-US" sz="800" b="1">
                <a:solidFill>
                  <a:srgbClr val="0070C0"/>
                </a:solidFill>
              </a:rPr>
              <a:t>/ marge</a:t>
            </a:r>
          </a:p>
        </c:rich>
      </c:tx>
      <c:overlay val="0"/>
      <c:spPr>
        <a:noFill/>
        <a:ln>
          <a:noFill/>
        </a:ln>
        <a:effectLst/>
      </c:spPr>
      <c:txPr>
        <a:bodyPr rot="0" spcFirstLastPara="1" vertOverflow="ellipsis" vert="horz" wrap="square" anchor="ctr" anchorCtr="1"/>
        <a:lstStyle/>
        <a:p>
          <a:pPr>
            <a:defRPr sz="8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0.11079052155234627"/>
          <c:y val="0.21499669016244369"/>
          <c:w val="0.8722009118463615"/>
          <c:h val="0.67595442593839328"/>
        </c:manualLayout>
      </c:layout>
      <c:lineChart>
        <c:grouping val="standard"/>
        <c:varyColors val="0"/>
        <c:ser>
          <c:idx val="2"/>
          <c:order val="0"/>
          <c:tx>
            <c:strRef>
              <c:f>Calculs!$Q$5</c:f>
              <c:strCache>
                <c:ptCount val="1"/>
                <c:pt idx="0">
                  <c:v>%péna/marge</c:v>
                </c:pt>
              </c:strCache>
            </c:strRef>
          </c:tx>
          <c:spPr>
            <a:ln w="28575" cap="rnd">
              <a:solidFill>
                <a:schemeClr val="accent1"/>
              </a:solidFill>
              <a:round/>
            </a:ln>
            <a:effectLst/>
          </c:spPr>
          <c:marker>
            <c:symbol val="none"/>
          </c:marker>
          <c:cat>
            <c:numRef>
              <c:f>Calculs!$O$7:$O$16</c:f>
              <c:numCache>
                <c:formatCode>General</c:formatCode>
                <c:ptCount val="10"/>
                <c:pt idx="0">
                  <c:v>2016</c:v>
                </c:pt>
                <c:pt idx="1">
                  <c:v>2017</c:v>
                </c:pt>
                <c:pt idx="2">
                  <c:v>2018</c:v>
                </c:pt>
                <c:pt idx="3">
                  <c:v>2019</c:v>
                </c:pt>
                <c:pt idx="4">
                  <c:v>2020</c:v>
                </c:pt>
                <c:pt idx="5">
                  <c:v>2021</c:v>
                </c:pt>
                <c:pt idx="6">
                  <c:v>2022</c:v>
                </c:pt>
                <c:pt idx="7">
                  <c:v>2023</c:v>
                </c:pt>
                <c:pt idx="8">
                  <c:v>2024</c:v>
                </c:pt>
                <c:pt idx="9">
                  <c:v>2025</c:v>
                </c:pt>
              </c:numCache>
              <c:extLst/>
            </c:numRef>
          </c:cat>
          <c:val>
            <c:numRef>
              <c:f>Calculs!$Q$7:$Q$16</c:f>
              <c:numCache>
                <c:formatCode>0.00%</c:formatCode>
                <c:ptCount val="10"/>
                <c:pt idx="0">
                  <c:v>0</c:v>
                </c:pt>
                <c:pt idx="1">
                  <c:v>6.1871362485772785E-4</c:v>
                </c:pt>
                <c:pt idx="2">
                  <c:v>4.1232983348658489E-4</c:v>
                </c:pt>
                <c:pt idx="3">
                  <c:v>1.3017947305743415E-3</c:v>
                </c:pt>
                <c:pt idx="4">
                  <c:v>3.0572204131765856E-3</c:v>
                </c:pt>
                <c:pt idx="5">
                  <c:v>1.8708580079163557E-3</c:v>
                </c:pt>
                <c:pt idx="6">
                  <c:v>7.1723214862490735E-4</c:v>
                </c:pt>
                <c:pt idx="7">
                  <c:v>1.6036784793350594E-3</c:v>
                </c:pt>
                <c:pt idx="8">
                  <c:v>2.1193587318911757E-3</c:v>
                </c:pt>
                <c:pt idx="9">
                  <c:v>1.2118325578864852E-4</c:v>
                </c:pt>
              </c:numCache>
              <c:extLst/>
            </c:numRef>
          </c:val>
          <c:smooth val="1"/>
          <c:extLst>
            <c:ext xmlns:c16="http://schemas.microsoft.com/office/drawing/2014/chart" uri="{C3380CC4-5D6E-409C-BE32-E72D297353CC}">
              <c16:uniqueId val="{00000000-0291-4C06-B7C6-85AB2C4395F1}"/>
            </c:ext>
          </c:extLst>
        </c:ser>
        <c:dLbls>
          <c:showLegendKey val="0"/>
          <c:showVal val="0"/>
          <c:showCatName val="0"/>
          <c:showSerName val="0"/>
          <c:showPercent val="0"/>
          <c:showBubbleSize val="0"/>
        </c:dLbls>
        <c:smooth val="0"/>
        <c:axId val="439579728"/>
        <c:axId val="439581648"/>
      </c:lineChart>
      <c:catAx>
        <c:axId val="439579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439581648"/>
        <c:crosses val="autoZero"/>
        <c:auto val="1"/>
        <c:lblAlgn val="ctr"/>
        <c:lblOffset val="100"/>
        <c:noMultiLvlLbl val="0"/>
      </c:catAx>
      <c:valAx>
        <c:axId val="43958164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439579728"/>
        <c:crosses val="autoZero"/>
        <c:crossBetween val="between"/>
      </c:valAx>
      <c:spPr>
        <a:solidFill>
          <a:schemeClr val="bg1">
            <a:lumMod val="9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tx1"/>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747270327896859E-2"/>
          <c:y val="4.4557328747583939E-2"/>
          <c:w val="0.87555300901345157"/>
          <c:h val="0.80268040830585852"/>
        </c:manualLayout>
      </c:layout>
      <c:barChart>
        <c:barDir val="col"/>
        <c:grouping val="clustered"/>
        <c:varyColors val="0"/>
        <c:ser>
          <c:idx val="0"/>
          <c:order val="0"/>
          <c:tx>
            <c:strRef>
              <c:f>Calculs!$D$39</c:f>
              <c:strCache>
                <c:ptCount val="1"/>
                <c:pt idx="0">
                  <c:v>total</c:v>
                </c:pt>
              </c:strCache>
            </c:strRef>
          </c:tx>
          <c:spPr>
            <a:solidFill>
              <a:schemeClr val="accent1"/>
            </a:solidFill>
            <a:ln>
              <a:noFill/>
            </a:ln>
            <a:effectLst/>
          </c:spPr>
          <c:invertIfNegative val="0"/>
          <c:cat>
            <c:strRef>
              <c:f>Calculs!$A$40:$A$46</c:f>
              <c:strCache>
                <c:ptCount val="7"/>
                <c:pt idx="0">
                  <c:v>0€ - 2k€</c:v>
                </c:pt>
                <c:pt idx="1">
                  <c:v>2k€ - 5k€</c:v>
                </c:pt>
                <c:pt idx="2">
                  <c:v>5 k€ - 10 k€</c:v>
                </c:pt>
                <c:pt idx="3">
                  <c:v>10 k€ - 20 k€</c:v>
                </c:pt>
                <c:pt idx="4">
                  <c:v>20 k€ - 50 k€</c:v>
                </c:pt>
                <c:pt idx="5">
                  <c:v>50 k€ - 100k€</c:v>
                </c:pt>
                <c:pt idx="6">
                  <c:v>&gt; 100 k€</c:v>
                </c:pt>
              </c:strCache>
            </c:strRef>
          </c:cat>
          <c:val>
            <c:numRef>
              <c:f>Calculs!$D$40:$D$46</c:f>
              <c:numCache>
                <c:formatCode>General</c:formatCode>
                <c:ptCount val="7"/>
                <c:pt idx="0">
                  <c:v>169</c:v>
                </c:pt>
                <c:pt idx="1">
                  <c:v>32</c:v>
                </c:pt>
                <c:pt idx="2">
                  <c:v>6</c:v>
                </c:pt>
                <c:pt idx="3">
                  <c:v>0</c:v>
                </c:pt>
                <c:pt idx="4">
                  <c:v>0</c:v>
                </c:pt>
                <c:pt idx="5">
                  <c:v>0</c:v>
                </c:pt>
                <c:pt idx="6">
                  <c:v>0</c:v>
                </c:pt>
              </c:numCache>
            </c:numRef>
          </c:val>
          <c:extLst>
            <c:ext xmlns:c16="http://schemas.microsoft.com/office/drawing/2014/chart" uri="{C3380CC4-5D6E-409C-BE32-E72D297353CC}">
              <c16:uniqueId val="{00000000-A1C6-4072-8BB7-3260CA6A0CA3}"/>
            </c:ext>
          </c:extLst>
        </c:ser>
        <c:dLbls>
          <c:showLegendKey val="0"/>
          <c:showVal val="0"/>
          <c:showCatName val="0"/>
          <c:showSerName val="0"/>
          <c:showPercent val="0"/>
          <c:showBubbleSize val="0"/>
        </c:dLbls>
        <c:gapWidth val="219"/>
        <c:overlap val="-27"/>
        <c:axId val="296005359"/>
        <c:axId val="295989039"/>
      </c:barChart>
      <c:catAx>
        <c:axId val="2960053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3000000" spcFirstLastPara="1" vertOverflow="ellipsis"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295989039"/>
        <c:crosses val="autoZero"/>
        <c:auto val="1"/>
        <c:lblAlgn val="ctr"/>
        <c:lblOffset val="100"/>
        <c:noMultiLvlLbl val="0"/>
      </c:catAx>
      <c:valAx>
        <c:axId val="2959890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2960053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rgbClr val="0070C0"/>
                </a:solidFill>
                <a:latin typeface="+mn-lt"/>
                <a:ea typeface="+mn-ea"/>
                <a:cs typeface="+mn-cs"/>
              </a:defRPr>
            </a:pPr>
            <a:r>
              <a:rPr lang="fr-FR" sz="800" b="1">
                <a:solidFill>
                  <a:srgbClr val="0070C0"/>
                </a:solidFill>
              </a:rPr>
              <a:t>Evolution CA &amp; taux d'impact des réserves</a:t>
            </a:r>
          </a:p>
        </c:rich>
      </c:tx>
      <c:overlay val="0"/>
      <c:spPr>
        <a:noFill/>
        <a:ln>
          <a:noFill/>
        </a:ln>
        <a:effectLst/>
      </c:spPr>
      <c:txPr>
        <a:bodyPr rot="0" spcFirstLastPara="1" vertOverflow="ellipsis" vert="horz" wrap="square" anchor="ctr" anchorCtr="1"/>
        <a:lstStyle/>
        <a:p>
          <a:pPr>
            <a:defRPr sz="8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0.19707724842888996"/>
          <c:y val="0.12552559553812281"/>
          <c:w val="0.73213960238850817"/>
          <c:h val="0.73297803813786355"/>
        </c:manualLayout>
      </c:layout>
      <c:barChart>
        <c:barDir val="col"/>
        <c:grouping val="stacked"/>
        <c:varyColors val="0"/>
        <c:ser>
          <c:idx val="4"/>
          <c:order val="1"/>
          <c:tx>
            <c:strRef>
              <c:f>Calculs!$F$22</c:f>
              <c:strCache>
                <c:ptCount val="1"/>
                <c:pt idx="0">
                  <c:v>Réserves émises</c:v>
                </c:pt>
              </c:strCache>
              <c:extLst xmlns:c15="http://schemas.microsoft.com/office/drawing/2012/chart"/>
            </c:strRef>
          </c:tx>
          <c:spPr>
            <a:solidFill>
              <a:schemeClr val="accent2"/>
            </a:solidFill>
            <a:ln>
              <a:noFill/>
            </a:ln>
            <a:effectLst/>
          </c:spPr>
          <c:invertIfNegative val="0"/>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extLst/>
            </c:numRef>
          </c:cat>
          <c:val>
            <c:numRef>
              <c:f>Calculs!$F$23:$F$33</c:f>
              <c:numCache>
                <c:formatCode>_("€"* #,##0.00_);_("€"* \(#,##0.00\);_("€"* "-"??_);_(@_)</c:formatCode>
                <c:ptCount val="11"/>
                <c:pt idx="0">
                  <c:v>94478.1</c:v>
                </c:pt>
                <c:pt idx="1">
                  <c:v>59494.329999999994</c:v>
                </c:pt>
                <c:pt idx="2">
                  <c:v>581067.9</c:v>
                </c:pt>
                <c:pt idx="3">
                  <c:v>118321.93</c:v>
                </c:pt>
                <c:pt idx="4">
                  <c:v>134585.92000000001</c:v>
                </c:pt>
                <c:pt idx="5">
                  <c:v>415308.79999999999</c:v>
                </c:pt>
                <c:pt idx="6">
                  <c:v>673768.80999999994</c:v>
                </c:pt>
                <c:pt idx="7">
                  <c:v>154150.18</c:v>
                </c:pt>
                <c:pt idx="8">
                  <c:v>534249.6</c:v>
                </c:pt>
                <c:pt idx="9">
                  <c:v>767178.04999999993</c:v>
                </c:pt>
                <c:pt idx="10">
                  <c:v>175427.21000000005</c:v>
                </c:pt>
              </c:numCache>
              <c:extLst/>
            </c:numRef>
          </c:val>
          <c:extLst xmlns:c15="http://schemas.microsoft.com/office/drawing/2012/chart">
            <c:ext xmlns:c16="http://schemas.microsoft.com/office/drawing/2014/chart" uri="{C3380CC4-5D6E-409C-BE32-E72D297353CC}">
              <c16:uniqueId val="{00000000-D6D4-4089-B3DB-E6C9F47187A8}"/>
            </c:ext>
          </c:extLst>
        </c:ser>
        <c:ser>
          <c:idx val="1"/>
          <c:order val="2"/>
          <c:tx>
            <c:strRef>
              <c:f>Calculs!$B$22</c:f>
              <c:strCache>
                <c:ptCount val="1"/>
                <c:pt idx="0">
                  <c:v>CA brut</c:v>
                </c:pt>
              </c:strCache>
            </c:strRef>
          </c:tx>
          <c:spPr>
            <a:solidFill>
              <a:schemeClr val="accent1"/>
            </a:solidFill>
            <a:ln>
              <a:noFill/>
            </a:ln>
            <a:effectLst/>
          </c:spPr>
          <c:invertIfNegative val="0"/>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extLst/>
            </c:numRef>
          </c:cat>
          <c:val>
            <c:numRef>
              <c:f>Calculs!$B$23:$B$33</c:f>
              <c:numCache>
                <c:formatCode>_("€"* #,##0.00_);_("€"* \(#,##0.00\);_("€"* "-"??_);_(@_)</c:formatCode>
                <c:ptCount val="11"/>
                <c:pt idx="0">
                  <c:v>2733948.4299999992</c:v>
                </c:pt>
                <c:pt idx="1">
                  <c:v>6262246.0600000005</c:v>
                </c:pt>
                <c:pt idx="2">
                  <c:v>13123314.929999994</c:v>
                </c:pt>
                <c:pt idx="3">
                  <c:v>9624477.3799999934</c:v>
                </c:pt>
                <c:pt idx="4">
                  <c:v>12177848.510000002</c:v>
                </c:pt>
                <c:pt idx="5">
                  <c:v>17118473.230000004</c:v>
                </c:pt>
                <c:pt idx="6">
                  <c:v>15291411.670000002</c:v>
                </c:pt>
                <c:pt idx="7">
                  <c:v>12959111.089999991</c:v>
                </c:pt>
                <c:pt idx="8">
                  <c:v>13916098.250000019</c:v>
                </c:pt>
                <c:pt idx="9">
                  <c:v>21315925.240000017</c:v>
                </c:pt>
                <c:pt idx="10">
                  <c:v>10225924.980000004</c:v>
                </c:pt>
              </c:numCache>
              <c:extLst/>
            </c:numRef>
          </c:val>
          <c:extLst>
            <c:ext xmlns:c16="http://schemas.microsoft.com/office/drawing/2014/chart" uri="{C3380CC4-5D6E-409C-BE32-E72D297353CC}">
              <c16:uniqueId val="{00000001-D6D4-4089-B3DB-E6C9F47187A8}"/>
            </c:ext>
          </c:extLst>
        </c:ser>
        <c:dLbls>
          <c:showLegendKey val="0"/>
          <c:showVal val="0"/>
          <c:showCatName val="0"/>
          <c:showSerName val="0"/>
          <c:showPercent val="0"/>
          <c:showBubbleSize val="0"/>
        </c:dLbls>
        <c:gapWidth val="150"/>
        <c:overlap val="100"/>
        <c:axId val="564111344"/>
        <c:axId val="564109904"/>
        <c:extLst>
          <c:ext xmlns:c15="http://schemas.microsoft.com/office/drawing/2012/chart" uri="{02D57815-91ED-43cb-92C2-25804820EDAC}">
            <c15:filteredBarSeries>
              <c15:ser>
                <c:idx val="0"/>
                <c:order val="0"/>
                <c:tx>
                  <c:strRef>
                    <c:extLst>
                      <c:ext uri="{02D57815-91ED-43cb-92C2-25804820EDAC}">
                        <c15:formulaRef>
                          <c15:sqref>Calculs!$A$22</c15:sqref>
                        </c15:formulaRef>
                      </c:ext>
                    </c:extLst>
                    <c:strCache>
                      <c:ptCount val="1"/>
                      <c:pt idx="0">
                        <c:v>Année</c:v>
                      </c:pt>
                    </c:strCache>
                  </c:strRef>
                </c:tx>
                <c:spPr>
                  <a:solidFill>
                    <a:schemeClr val="accent1"/>
                  </a:solidFill>
                  <a:ln>
                    <a:noFill/>
                  </a:ln>
                  <a:effectLst/>
                </c:spPr>
                <c:invertIfNegative val="0"/>
                <c:cat>
                  <c:numRef>
                    <c:extLst>
                      <c:ex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c:ex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val>
                <c:extLst>
                  <c:ext xmlns:c16="http://schemas.microsoft.com/office/drawing/2014/chart" uri="{C3380CC4-5D6E-409C-BE32-E72D297353CC}">
                    <c16:uniqueId val="{00000002-D6D4-4089-B3DB-E6C9F47187A8}"/>
                  </c:ext>
                </c:extLst>
              </c15:ser>
            </c15:filteredBarSeries>
            <c15:filteredBarSeries>
              <c15:ser>
                <c:idx val="2"/>
                <c:order val="3"/>
                <c:tx>
                  <c:strRef>
                    <c:extLst xmlns:c15="http://schemas.microsoft.com/office/drawing/2012/chart">
                      <c:ext xmlns:c15="http://schemas.microsoft.com/office/drawing/2012/chart" uri="{02D57815-91ED-43cb-92C2-25804820EDAC}">
                        <c15:formulaRef>
                          <c15:sqref>Calculs!$C$22</c15:sqref>
                        </c15:formulaRef>
                      </c:ext>
                    </c:extLst>
                    <c:strCache>
                      <c:ptCount val="1"/>
                      <c:pt idx="0">
                        <c:v>Pénalités</c:v>
                      </c:pt>
                    </c:strCache>
                  </c:strRef>
                </c:tx>
                <c:spPr>
                  <a:solidFill>
                    <a:schemeClr val="accent3"/>
                  </a:solidFill>
                  <a:ln>
                    <a:noFill/>
                  </a:ln>
                  <a:effectLst/>
                </c:spPr>
                <c:invertIfNegative val="0"/>
                <c:cat>
                  <c:numRef>
                    <c:extLst xmlns:c15="http://schemas.microsoft.com/office/drawing/2012/chart">
                      <c:ext xmlns:c15="http://schemas.microsoft.com/office/drawing/2012/char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xmlns:c15="http://schemas.microsoft.com/office/drawing/2012/chart">
                      <c:ext xmlns:c15="http://schemas.microsoft.com/office/drawing/2012/chart" uri="{02D57815-91ED-43cb-92C2-25804820EDAC}">
                        <c15:formulaRef>
                          <c15:sqref>Calculs!$C$23:$C$33</c15:sqref>
                        </c15:formulaRef>
                      </c:ext>
                    </c:extLst>
                    <c:numCache>
                      <c:formatCode>_("€"* #,##0.00_);_("€"* \(#,##0.00\);_("€"* "-"??_);_(@_)</c:formatCode>
                      <c:ptCount val="11"/>
                      <c:pt idx="0">
                        <c:v>0</c:v>
                      </c:pt>
                      <c:pt idx="1">
                        <c:v>0</c:v>
                      </c:pt>
                      <c:pt idx="2">
                        <c:v>3990.39</c:v>
                      </c:pt>
                      <c:pt idx="3">
                        <c:v>14400.2</c:v>
                      </c:pt>
                      <c:pt idx="4">
                        <c:v>27248.229999999996</c:v>
                      </c:pt>
                      <c:pt idx="5">
                        <c:v>107456.80999999997</c:v>
                      </c:pt>
                      <c:pt idx="6">
                        <c:v>56962.01999999999</c:v>
                      </c:pt>
                      <c:pt idx="7">
                        <c:v>6873.61</c:v>
                      </c:pt>
                      <c:pt idx="8">
                        <c:v>16185.82</c:v>
                      </c:pt>
                      <c:pt idx="9">
                        <c:v>20588.120000000003</c:v>
                      </c:pt>
                      <c:pt idx="10">
                        <c:v>3774.1499999999996</c:v>
                      </c:pt>
                    </c:numCache>
                  </c:numRef>
                </c:val>
                <c:extLst xmlns:c15="http://schemas.microsoft.com/office/drawing/2012/chart">
                  <c:ext xmlns:c16="http://schemas.microsoft.com/office/drawing/2014/chart" uri="{C3380CC4-5D6E-409C-BE32-E72D297353CC}">
                    <c16:uniqueId val="{00000003-D6D4-4089-B3DB-E6C9F47187A8}"/>
                  </c:ext>
                </c:extLst>
              </c15:ser>
            </c15:filteredBarSeries>
            <c15:filteredBarSeries>
              <c15:ser>
                <c:idx val="3"/>
                <c:order val="4"/>
                <c:tx>
                  <c:strRef>
                    <c:extLst xmlns:c15="http://schemas.microsoft.com/office/drawing/2012/chart">
                      <c:ext xmlns:c15="http://schemas.microsoft.com/office/drawing/2012/chart" uri="{02D57815-91ED-43cb-92C2-25804820EDAC}">
                        <c15:formulaRef>
                          <c15:sqref>Calculs!$D$22</c15:sqref>
                        </c15:formulaRef>
                      </c:ext>
                    </c:extLst>
                    <c:strCache>
                      <c:ptCount val="1"/>
                      <c:pt idx="0">
                        <c:v>Réfactions</c:v>
                      </c:pt>
                    </c:strCache>
                  </c:strRef>
                </c:tx>
                <c:spPr>
                  <a:solidFill>
                    <a:schemeClr val="accent4"/>
                  </a:solidFill>
                  <a:ln>
                    <a:noFill/>
                  </a:ln>
                  <a:effectLst/>
                </c:spPr>
                <c:invertIfNegative val="0"/>
                <c:cat>
                  <c:numRef>
                    <c:extLst xmlns:c15="http://schemas.microsoft.com/office/drawing/2012/chart">
                      <c:ext xmlns:c15="http://schemas.microsoft.com/office/drawing/2012/char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xmlns:c15="http://schemas.microsoft.com/office/drawing/2012/chart">
                      <c:ext xmlns:c15="http://schemas.microsoft.com/office/drawing/2012/chart" uri="{02D57815-91ED-43cb-92C2-25804820EDAC}">
                        <c15:formulaRef>
                          <c15:sqref>Calculs!$D$23:$D$33</c15:sqref>
                        </c15:formulaRef>
                      </c:ext>
                    </c:extLst>
                    <c:numCache>
                      <c:formatCode>_("€"* #,##0.00_);_("€"* \(#,##0.00\);_("€"* "-"??_);_(@_)</c:formatCode>
                      <c:ptCount val="11"/>
                      <c:pt idx="0">
                        <c:v>8349.7999999999993</c:v>
                      </c:pt>
                      <c:pt idx="1">
                        <c:v>29559.119999999995</c:v>
                      </c:pt>
                      <c:pt idx="2">
                        <c:v>164691.84000000003</c:v>
                      </c:pt>
                      <c:pt idx="3">
                        <c:v>123406.83</c:v>
                      </c:pt>
                      <c:pt idx="4">
                        <c:v>114558.56000000001</c:v>
                      </c:pt>
                      <c:pt idx="5">
                        <c:v>319551.86999999994</c:v>
                      </c:pt>
                      <c:pt idx="6">
                        <c:v>245004.25</c:v>
                      </c:pt>
                      <c:pt idx="7">
                        <c:v>110617.38999999998</c:v>
                      </c:pt>
                      <c:pt idx="8">
                        <c:v>219009.42999999993</c:v>
                      </c:pt>
                      <c:pt idx="9">
                        <c:v>244055.52</c:v>
                      </c:pt>
                      <c:pt idx="10">
                        <c:v>144801.84999999998</c:v>
                      </c:pt>
                    </c:numCache>
                  </c:numRef>
                </c:val>
                <c:extLst xmlns:c15="http://schemas.microsoft.com/office/drawing/2012/chart">
                  <c:ext xmlns:c16="http://schemas.microsoft.com/office/drawing/2014/chart" uri="{C3380CC4-5D6E-409C-BE32-E72D297353CC}">
                    <c16:uniqueId val="{00000004-D6D4-4089-B3DB-E6C9F47187A8}"/>
                  </c:ext>
                </c:extLst>
              </c15:ser>
            </c15:filteredBarSeries>
            <c15:filteredBarSeries>
              <c15:ser>
                <c:idx val="5"/>
                <c:order val="5"/>
                <c:tx>
                  <c:strRef>
                    <c:extLst xmlns:c15="http://schemas.microsoft.com/office/drawing/2012/chart">
                      <c:ext xmlns:c15="http://schemas.microsoft.com/office/drawing/2012/chart" uri="{02D57815-91ED-43cb-92C2-25804820EDAC}">
                        <c15:formulaRef>
                          <c15:sqref>Calculs!$E$22</c15:sqref>
                        </c15:formulaRef>
                      </c:ext>
                    </c:extLst>
                    <c:strCache>
                      <c:ptCount val="1"/>
                      <c:pt idx="0">
                        <c:v>Péna / CA brute</c:v>
                      </c:pt>
                    </c:strCache>
                  </c:strRef>
                </c:tx>
                <c:spPr>
                  <a:solidFill>
                    <a:schemeClr val="accent6"/>
                  </a:solidFill>
                  <a:ln>
                    <a:solidFill>
                      <a:srgbClr val="C00000"/>
                    </a:solidFill>
                  </a:ln>
                  <a:effectLst/>
                </c:spPr>
                <c:invertIfNegative val="0"/>
                <c:cat>
                  <c:numRef>
                    <c:extLst xmlns:c15="http://schemas.microsoft.com/office/drawing/2012/chart">
                      <c:ext xmlns:c15="http://schemas.microsoft.com/office/drawing/2012/char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xmlns:c15="http://schemas.microsoft.com/office/drawing/2012/chart">
                      <c:ext xmlns:c15="http://schemas.microsoft.com/office/drawing/2012/chart" uri="{02D57815-91ED-43cb-92C2-25804820EDAC}">
                        <c15:formulaRef>
                          <c15:sqref>Calculs!$E$23:$E$33</c15:sqref>
                        </c15:formulaRef>
                      </c:ext>
                    </c:extLst>
                    <c:numCache>
                      <c:formatCode>0.00%</c:formatCode>
                      <c:ptCount val="11"/>
                      <c:pt idx="0">
                        <c:v>0</c:v>
                      </c:pt>
                      <c:pt idx="1">
                        <c:v>0</c:v>
                      </c:pt>
                      <c:pt idx="2">
                        <c:v>3.0406875254345523E-4</c:v>
                      </c:pt>
                      <c:pt idx="3">
                        <c:v>1.4962059165855726E-3</c:v>
                      </c:pt>
                      <c:pt idx="4">
                        <c:v>2.2375241388185073E-3</c:v>
                      </c:pt>
                      <c:pt idx="5">
                        <c:v>6.2772426346809169E-3</c:v>
                      </c:pt>
                      <c:pt idx="6">
                        <c:v>3.725098848247801E-3</c:v>
                      </c:pt>
                      <c:pt idx="7">
                        <c:v>5.3040752195604522E-4</c:v>
                      </c:pt>
                      <c:pt idx="8">
                        <c:v>1.1631004401682762E-3</c:v>
                      </c:pt>
                      <c:pt idx="9">
                        <c:v>9.6585626794025979E-4</c:v>
                      </c:pt>
                      <c:pt idx="10">
                        <c:v>3.6907663682077962E-4</c:v>
                      </c:pt>
                    </c:numCache>
                  </c:numRef>
                </c:val>
                <c:extLst xmlns:c15="http://schemas.microsoft.com/office/drawing/2012/chart">
                  <c:ext xmlns:c16="http://schemas.microsoft.com/office/drawing/2014/chart" uri="{C3380CC4-5D6E-409C-BE32-E72D297353CC}">
                    <c16:uniqueId val="{00000005-D6D4-4089-B3DB-E6C9F47187A8}"/>
                  </c:ext>
                </c:extLst>
              </c15:ser>
            </c15:filteredBarSeries>
            <c15:filteredBarSeries>
              <c15:ser>
                <c:idx val="6"/>
                <c:order val="6"/>
                <c:tx>
                  <c:v>Réserves émises</c:v>
                </c:tx>
                <c:spPr>
                  <a:solidFill>
                    <a:schemeClr val="accent1">
                      <a:lumMod val="60000"/>
                    </a:schemeClr>
                  </a:solidFill>
                  <a:ln w="44450">
                    <a:solidFill>
                      <a:schemeClr val="accent2"/>
                    </a:solidFill>
                  </a:ln>
                  <a:effectLst/>
                </c:spPr>
                <c:invertIfNegative val="0"/>
                <c:cat>
                  <c:numRef>
                    <c:extLst xmlns:c15="http://schemas.microsoft.com/office/drawing/2012/chart">
                      <c:ext xmlns:c15="http://schemas.microsoft.com/office/drawing/2012/char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xmlns:c15="http://schemas.microsoft.com/office/drawing/2012/chart">
                      <c:ext xmlns:c15="http://schemas.microsoft.com/office/drawing/2012/chart" uri="{02D57815-91ED-43cb-92C2-25804820EDAC}">
                        <c15:formulaRef>
                          <c15:sqref>Calculs!$G$23:$G$33</c15:sqref>
                        </c15:formulaRef>
                      </c:ext>
                    </c:extLst>
                    <c:numCache>
                      <c:formatCode>0.00%</c:formatCode>
                      <c:ptCount val="11"/>
                      <c:pt idx="0">
                        <c:v>3.4557381903505775E-2</c:v>
                      </c:pt>
                      <c:pt idx="1">
                        <c:v>9.500477852510316E-3</c:v>
                      </c:pt>
                      <c:pt idx="2">
                        <c:v>4.4277524626927495E-2</c:v>
                      </c:pt>
                      <c:pt idx="3">
                        <c:v>1.2293855066445184E-2</c:v>
                      </c:pt>
                      <c:pt idx="4">
                        <c:v>1.1051699312032252E-2</c:v>
                      </c:pt>
                      <c:pt idx="5">
                        <c:v>2.4260855183754017E-2</c:v>
                      </c:pt>
                      <c:pt idx="6">
                        <c:v>4.4061910341597642E-2</c:v>
                      </c:pt>
                      <c:pt idx="7">
                        <c:v>1.1895119883566034E-2</c:v>
                      </c:pt>
                      <c:pt idx="8">
                        <c:v>3.8390760858561718E-2</c:v>
                      </c:pt>
                      <c:pt idx="9">
                        <c:v>3.5990839776467491E-2</c:v>
                      </c:pt>
                      <c:pt idx="10">
                        <c:v>1.7155143455785452E-2</c:v>
                      </c:pt>
                    </c:numCache>
                  </c:numRef>
                </c:val>
                <c:extLst xmlns:c15="http://schemas.microsoft.com/office/drawing/2012/chart">
                  <c:ext xmlns:c16="http://schemas.microsoft.com/office/drawing/2014/chart" uri="{C3380CC4-5D6E-409C-BE32-E72D297353CC}">
                    <c16:uniqueId val="{00000006-D6D4-4089-B3DB-E6C9F47187A8}"/>
                  </c:ext>
                </c:extLst>
              </c15:ser>
            </c15:filteredBarSeries>
          </c:ext>
        </c:extLst>
      </c:barChart>
      <c:catAx>
        <c:axId val="564111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564109904"/>
        <c:crosses val="autoZero"/>
        <c:auto val="1"/>
        <c:lblAlgn val="ctr"/>
        <c:lblOffset val="100"/>
        <c:noMultiLvlLbl val="0"/>
      </c:catAx>
      <c:valAx>
        <c:axId val="564109904"/>
        <c:scaling>
          <c:orientation val="minMax"/>
        </c:scaling>
        <c:delete val="0"/>
        <c:axPos val="l"/>
        <c:majorGridlines>
          <c:spPr>
            <a:ln w="9525" cap="flat" cmpd="sng" algn="ctr">
              <a:solidFill>
                <a:schemeClr val="tx1">
                  <a:lumMod val="15000"/>
                  <a:lumOff val="85000"/>
                </a:schemeClr>
              </a:solidFill>
              <a:round/>
            </a:ln>
            <a:effectLst/>
          </c:spPr>
        </c:majorGridlines>
        <c:numFmt formatCode="#,##0\ &quot;€&quot;" sourceLinked="0"/>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564111344"/>
        <c:crosses val="autoZero"/>
        <c:crossBetween val="between"/>
      </c:valAx>
      <c:spPr>
        <a:solidFill>
          <a:schemeClr val="bg1">
            <a:lumMod val="95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626172881122654"/>
          <c:y val="2.3525009911741165E-2"/>
        </c:manualLayout>
      </c:layout>
      <c:overlay val="0"/>
      <c:spPr>
        <a:noFill/>
        <a:ln>
          <a:noFill/>
        </a:ln>
        <a:effectLst/>
      </c:spPr>
      <c:txPr>
        <a:bodyPr rot="0" spcFirstLastPara="1" vertOverflow="ellipsis" vert="horz" wrap="square" anchor="ctr" anchorCtr="1"/>
        <a:lstStyle/>
        <a:p>
          <a:pPr>
            <a:defRPr sz="8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0.11323949425671437"/>
          <c:y val="0.17278613592871594"/>
          <c:w val="0.83067639134788451"/>
          <c:h val="0.66500431654182357"/>
        </c:manualLayout>
      </c:layout>
      <c:lineChart>
        <c:grouping val="standard"/>
        <c:varyColors val="0"/>
        <c:ser>
          <c:idx val="0"/>
          <c:order val="0"/>
          <c:tx>
            <c:strRef>
              <c:f>Calculs!$G$22</c:f>
              <c:strCache>
                <c:ptCount val="1"/>
                <c:pt idx="0">
                  <c:v>Tx de réserves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trendline>
            <c:spPr>
              <a:ln w="12700" cap="rnd">
                <a:solidFill>
                  <a:schemeClr val="tx1"/>
                </a:solidFill>
                <a:prstDash val="sysDot"/>
              </a:ln>
              <a:effectLst/>
            </c:spPr>
            <c:trendlineType val="linear"/>
            <c:dispRSqr val="0"/>
            <c:dispEq val="0"/>
          </c:trendline>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Calculs!$G$23:$G$33</c:f>
              <c:numCache>
                <c:formatCode>0.00%</c:formatCode>
                <c:ptCount val="11"/>
                <c:pt idx="0">
                  <c:v>3.4557381903505775E-2</c:v>
                </c:pt>
                <c:pt idx="1">
                  <c:v>9.500477852510316E-3</c:v>
                </c:pt>
                <c:pt idx="2">
                  <c:v>4.4277524626927495E-2</c:v>
                </c:pt>
                <c:pt idx="3">
                  <c:v>1.2293855066445184E-2</c:v>
                </c:pt>
                <c:pt idx="4">
                  <c:v>1.1051699312032252E-2</c:v>
                </c:pt>
                <c:pt idx="5">
                  <c:v>2.4260855183754017E-2</c:v>
                </c:pt>
                <c:pt idx="6">
                  <c:v>4.4061910341597642E-2</c:v>
                </c:pt>
                <c:pt idx="7">
                  <c:v>1.1895119883566034E-2</c:v>
                </c:pt>
                <c:pt idx="8">
                  <c:v>3.8390760858561718E-2</c:v>
                </c:pt>
                <c:pt idx="9">
                  <c:v>3.5990839776467491E-2</c:v>
                </c:pt>
                <c:pt idx="10">
                  <c:v>1.7155143455785452E-2</c:v>
                </c:pt>
              </c:numCache>
            </c:numRef>
          </c:val>
          <c:smooth val="0"/>
          <c:extLst>
            <c:ext xmlns:c16="http://schemas.microsoft.com/office/drawing/2014/chart" uri="{C3380CC4-5D6E-409C-BE32-E72D297353CC}">
              <c16:uniqueId val="{00000000-97DB-4AD1-A07D-B962EC63B1DB}"/>
            </c:ext>
          </c:extLst>
        </c:ser>
        <c:dLbls>
          <c:showLegendKey val="0"/>
          <c:showVal val="0"/>
          <c:showCatName val="0"/>
          <c:showSerName val="0"/>
          <c:showPercent val="0"/>
          <c:showBubbleSize val="0"/>
        </c:dLbls>
        <c:marker val="1"/>
        <c:smooth val="0"/>
        <c:axId val="1395233376"/>
        <c:axId val="1395240096"/>
      </c:lineChart>
      <c:catAx>
        <c:axId val="1395233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1395240096"/>
        <c:crosses val="autoZero"/>
        <c:auto val="1"/>
        <c:lblAlgn val="ctr"/>
        <c:lblOffset val="100"/>
        <c:noMultiLvlLbl val="0"/>
      </c:catAx>
      <c:valAx>
        <c:axId val="1395240096"/>
        <c:scaling>
          <c:orientation val="minMax"/>
          <c:max val="0.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1395233376"/>
        <c:crosses val="autoZero"/>
        <c:crossBetween val="between"/>
      </c:valAx>
      <c:spPr>
        <a:solidFill>
          <a:schemeClr val="bg1">
            <a:lumMod val="95000"/>
          </a:schemeClr>
        </a:solid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rgbClr val="0070C0"/>
                </a:solidFill>
                <a:latin typeface="+mn-lt"/>
                <a:ea typeface="+mn-ea"/>
                <a:cs typeface="+mn-cs"/>
              </a:defRPr>
            </a:pPr>
            <a:r>
              <a:rPr lang="fr-FR" sz="800" b="1" dirty="0">
                <a:solidFill>
                  <a:srgbClr val="0070C0"/>
                </a:solidFill>
              </a:rPr>
              <a:t>Réserves par</a:t>
            </a:r>
            <a:r>
              <a:rPr lang="fr-FR" sz="800" b="1" baseline="0" dirty="0">
                <a:solidFill>
                  <a:srgbClr val="0070C0"/>
                </a:solidFill>
              </a:rPr>
              <a:t> année</a:t>
            </a:r>
            <a:endParaRPr lang="fr-FR" sz="800" b="1" dirty="0">
              <a:solidFill>
                <a:srgbClr val="0070C0"/>
              </a:solidFill>
            </a:endParaRPr>
          </a:p>
        </c:rich>
      </c:tx>
      <c:layout>
        <c:manualLayout>
          <c:xMode val="edge"/>
          <c:yMode val="edge"/>
          <c:x val="0.32673802298645815"/>
          <c:y val="3.449038051365888E-2"/>
        </c:manualLayout>
      </c:layout>
      <c:overlay val="0"/>
      <c:spPr>
        <a:noFill/>
        <a:ln>
          <a:noFill/>
        </a:ln>
        <a:effectLst/>
      </c:spPr>
      <c:txPr>
        <a:bodyPr rot="0" spcFirstLastPara="1" vertOverflow="ellipsis" vert="horz" wrap="square" anchor="ctr" anchorCtr="1"/>
        <a:lstStyle/>
        <a:p>
          <a:pPr>
            <a:defRPr sz="8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0.16767776576947491"/>
          <c:y val="0.15527353814730491"/>
          <c:w val="0.74132177105312813"/>
          <c:h val="0.70323055157358216"/>
        </c:manualLayout>
      </c:layout>
      <c:barChart>
        <c:barDir val="col"/>
        <c:grouping val="clustered"/>
        <c:varyColors val="0"/>
        <c:ser>
          <c:idx val="4"/>
          <c:order val="3"/>
          <c:tx>
            <c:strRef>
              <c:f>Calculs!$F$22</c:f>
              <c:strCache>
                <c:ptCount val="1"/>
                <c:pt idx="0">
                  <c:v>Réserves émises</c:v>
                </c:pt>
              </c:strCache>
              <c:extLst xmlns:c15="http://schemas.microsoft.com/office/drawing/2012/chart"/>
            </c:strRef>
          </c:tx>
          <c:spPr>
            <a:solidFill>
              <a:schemeClr val="accent1"/>
            </a:solidFill>
            <a:ln>
              <a:noFill/>
            </a:ln>
            <a:effectLst/>
          </c:spPr>
          <c:invertIfNegative val="0"/>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extLst/>
            </c:numRef>
          </c:cat>
          <c:val>
            <c:numRef>
              <c:f>Calculs!$F$23:$F$33</c:f>
              <c:numCache>
                <c:formatCode>_("€"* #,##0.00_);_("€"* \(#,##0.00\);_("€"* "-"??_);_(@_)</c:formatCode>
                <c:ptCount val="11"/>
                <c:pt idx="0">
                  <c:v>94478.1</c:v>
                </c:pt>
                <c:pt idx="1">
                  <c:v>59494.329999999994</c:v>
                </c:pt>
                <c:pt idx="2">
                  <c:v>581067.9</c:v>
                </c:pt>
                <c:pt idx="3">
                  <c:v>118321.93</c:v>
                </c:pt>
                <c:pt idx="4">
                  <c:v>134585.92000000001</c:v>
                </c:pt>
                <c:pt idx="5">
                  <c:v>415308.79999999999</c:v>
                </c:pt>
                <c:pt idx="6">
                  <c:v>673768.80999999994</c:v>
                </c:pt>
                <c:pt idx="7">
                  <c:v>154150.18</c:v>
                </c:pt>
                <c:pt idx="8">
                  <c:v>534249.6</c:v>
                </c:pt>
                <c:pt idx="9">
                  <c:v>767178.04999999993</c:v>
                </c:pt>
                <c:pt idx="10">
                  <c:v>175427.21000000005</c:v>
                </c:pt>
              </c:numCache>
              <c:extLst/>
            </c:numRef>
          </c:val>
          <c:extLst>
            <c:ext xmlns:c16="http://schemas.microsoft.com/office/drawing/2014/chart" uri="{C3380CC4-5D6E-409C-BE32-E72D297353CC}">
              <c16:uniqueId val="{00000000-3808-4B0F-BDC4-5A887AD9B56E}"/>
            </c:ext>
          </c:extLst>
        </c:ser>
        <c:dLbls>
          <c:showLegendKey val="0"/>
          <c:showVal val="0"/>
          <c:showCatName val="0"/>
          <c:showSerName val="0"/>
          <c:showPercent val="0"/>
          <c:showBubbleSize val="0"/>
        </c:dLbls>
        <c:gapWidth val="150"/>
        <c:axId val="564111344"/>
        <c:axId val="564109904"/>
        <c:extLst>
          <c:ext xmlns:c15="http://schemas.microsoft.com/office/drawing/2012/chart" uri="{02D57815-91ED-43cb-92C2-25804820EDAC}">
            <c15:filteredBarSeries>
              <c15:ser>
                <c:idx val="0"/>
                <c:order val="0"/>
                <c:tx>
                  <c:strRef>
                    <c:extLst>
                      <c:ext uri="{02D57815-91ED-43cb-92C2-25804820EDAC}">
                        <c15:formulaRef>
                          <c15:sqref>Calculs!$A$22</c15:sqref>
                        </c15:formulaRef>
                      </c:ext>
                    </c:extLst>
                    <c:strCache>
                      <c:ptCount val="1"/>
                      <c:pt idx="0">
                        <c:v>Année</c:v>
                      </c:pt>
                    </c:strCache>
                  </c:strRef>
                </c:tx>
                <c:spPr>
                  <a:solidFill>
                    <a:schemeClr val="accent1"/>
                  </a:solidFill>
                  <a:ln>
                    <a:noFill/>
                  </a:ln>
                  <a:effectLst/>
                </c:spPr>
                <c:invertIfNegative val="0"/>
                <c:cat>
                  <c:numRef>
                    <c:extLst>
                      <c:ex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c:ex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val>
                <c:extLst>
                  <c:ext xmlns:c16="http://schemas.microsoft.com/office/drawing/2014/chart" uri="{C3380CC4-5D6E-409C-BE32-E72D297353CC}">
                    <c16:uniqueId val="{00000001-3808-4B0F-BDC4-5A887AD9B56E}"/>
                  </c:ext>
                </c:extLst>
              </c15:ser>
            </c15:filteredBarSeries>
            <c15:filteredBarSeries>
              <c15:ser>
                <c:idx val="2"/>
                <c:order val="1"/>
                <c:tx>
                  <c:strRef>
                    <c:extLst xmlns:c15="http://schemas.microsoft.com/office/drawing/2012/chart">
                      <c:ext xmlns:c15="http://schemas.microsoft.com/office/drawing/2012/chart" uri="{02D57815-91ED-43cb-92C2-25804820EDAC}">
                        <c15:formulaRef>
                          <c15:sqref>Calculs!$C$22</c15:sqref>
                        </c15:formulaRef>
                      </c:ext>
                    </c:extLst>
                    <c:strCache>
                      <c:ptCount val="1"/>
                      <c:pt idx="0">
                        <c:v>Pénalités</c:v>
                      </c:pt>
                    </c:strCache>
                  </c:strRef>
                </c:tx>
                <c:spPr>
                  <a:solidFill>
                    <a:schemeClr val="accent3"/>
                  </a:solidFill>
                  <a:ln>
                    <a:noFill/>
                  </a:ln>
                  <a:effectLst/>
                </c:spPr>
                <c:invertIfNegative val="0"/>
                <c:cat>
                  <c:numRef>
                    <c:extLst xmlns:c15="http://schemas.microsoft.com/office/drawing/2012/chart">
                      <c:ext xmlns:c15="http://schemas.microsoft.com/office/drawing/2012/char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xmlns:c15="http://schemas.microsoft.com/office/drawing/2012/chart">
                      <c:ext xmlns:c15="http://schemas.microsoft.com/office/drawing/2012/chart" uri="{02D57815-91ED-43cb-92C2-25804820EDAC}">
                        <c15:formulaRef>
                          <c15:sqref>Calculs!$C$23:$C$33</c15:sqref>
                        </c15:formulaRef>
                      </c:ext>
                    </c:extLst>
                    <c:numCache>
                      <c:formatCode>_("€"* #,##0.00_);_("€"* \(#,##0.00\);_("€"* "-"??_);_(@_)</c:formatCode>
                      <c:ptCount val="11"/>
                      <c:pt idx="0">
                        <c:v>0</c:v>
                      </c:pt>
                      <c:pt idx="1">
                        <c:v>0</c:v>
                      </c:pt>
                      <c:pt idx="2">
                        <c:v>3990.39</c:v>
                      </c:pt>
                      <c:pt idx="3">
                        <c:v>14400.2</c:v>
                      </c:pt>
                      <c:pt idx="4">
                        <c:v>27248.229999999996</c:v>
                      </c:pt>
                      <c:pt idx="5">
                        <c:v>107456.80999999997</c:v>
                      </c:pt>
                      <c:pt idx="6">
                        <c:v>56962.01999999999</c:v>
                      </c:pt>
                      <c:pt idx="7">
                        <c:v>6873.61</c:v>
                      </c:pt>
                      <c:pt idx="8">
                        <c:v>16185.82</c:v>
                      </c:pt>
                      <c:pt idx="9">
                        <c:v>20588.120000000003</c:v>
                      </c:pt>
                      <c:pt idx="10">
                        <c:v>3774.1499999999996</c:v>
                      </c:pt>
                    </c:numCache>
                  </c:numRef>
                </c:val>
                <c:extLst xmlns:c15="http://schemas.microsoft.com/office/drawing/2012/chart">
                  <c:ext xmlns:c16="http://schemas.microsoft.com/office/drawing/2014/chart" uri="{C3380CC4-5D6E-409C-BE32-E72D297353CC}">
                    <c16:uniqueId val="{00000002-3808-4B0F-BDC4-5A887AD9B56E}"/>
                  </c:ext>
                </c:extLst>
              </c15:ser>
            </c15:filteredBarSeries>
          </c:ext>
        </c:extLst>
      </c:barChart>
      <c:lineChart>
        <c:grouping val="standard"/>
        <c:varyColors val="0"/>
        <c:dLbls>
          <c:showLegendKey val="0"/>
          <c:showVal val="0"/>
          <c:showCatName val="0"/>
          <c:showSerName val="0"/>
          <c:showPercent val="0"/>
          <c:showBubbleSize val="0"/>
        </c:dLbls>
        <c:marker val="1"/>
        <c:smooth val="0"/>
        <c:axId val="564111344"/>
        <c:axId val="564109904"/>
        <c:extLst>
          <c:ext xmlns:c15="http://schemas.microsoft.com/office/drawing/2012/chart" uri="{02D57815-91ED-43cb-92C2-25804820EDAC}">
            <c15:filteredLineSeries>
              <c15:ser>
                <c:idx val="3"/>
                <c:order val="2"/>
                <c:tx>
                  <c:strRef>
                    <c:extLst>
                      <c:ext uri="{02D57815-91ED-43cb-92C2-25804820EDAC}">
                        <c15:formulaRef>
                          <c15:sqref>Calculs!$D$22</c15:sqref>
                        </c15:formulaRef>
                      </c:ext>
                    </c:extLst>
                    <c:strCache>
                      <c:ptCount val="1"/>
                      <c:pt idx="0">
                        <c:v>Réfactions</c:v>
                      </c:pt>
                    </c:strCache>
                  </c:strRef>
                </c:tx>
                <c:spPr>
                  <a:ln w="28575" cap="rnd">
                    <a:solidFill>
                      <a:schemeClr val="accent4"/>
                    </a:solidFill>
                    <a:round/>
                  </a:ln>
                  <a:effectLst/>
                </c:spPr>
                <c:marker>
                  <c:symbol val="none"/>
                </c:marker>
                <c:val>
                  <c:numRef>
                    <c:extLst>
                      <c:ext uri="{02D57815-91ED-43cb-92C2-25804820EDAC}">
                        <c15:formulaRef>
                          <c15:sqref>Calculs!$D$23:$D$33</c15:sqref>
                        </c15:formulaRef>
                      </c:ext>
                    </c:extLst>
                    <c:numCache>
                      <c:formatCode>_("€"* #,##0.00_);_("€"* \(#,##0.00\);_("€"* "-"??_);_(@_)</c:formatCode>
                      <c:ptCount val="11"/>
                      <c:pt idx="0">
                        <c:v>8349.7999999999993</c:v>
                      </c:pt>
                      <c:pt idx="1">
                        <c:v>29559.119999999995</c:v>
                      </c:pt>
                      <c:pt idx="2">
                        <c:v>164691.84000000003</c:v>
                      </c:pt>
                      <c:pt idx="3">
                        <c:v>123406.83</c:v>
                      </c:pt>
                      <c:pt idx="4">
                        <c:v>114558.56000000001</c:v>
                      </c:pt>
                      <c:pt idx="5">
                        <c:v>319551.86999999994</c:v>
                      </c:pt>
                      <c:pt idx="6">
                        <c:v>245004.25</c:v>
                      </c:pt>
                      <c:pt idx="7">
                        <c:v>110617.38999999998</c:v>
                      </c:pt>
                      <c:pt idx="8">
                        <c:v>219009.42999999993</c:v>
                      </c:pt>
                      <c:pt idx="9">
                        <c:v>244055.52</c:v>
                      </c:pt>
                      <c:pt idx="10">
                        <c:v>144801.84999999998</c:v>
                      </c:pt>
                    </c:numCache>
                  </c:numRef>
                </c:val>
                <c:smooth val="0"/>
                <c:extLst>
                  <c:ext xmlns:c16="http://schemas.microsoft.com/office/drawing/2014/chart" uri="{C3380CC4-5D6E-409C-BE32-E72D297353CC}">
                    <c16:uniqueId val="{00000003-3808-4B0F-BDC4-5A887AD9B56E}"/>
                  </c:ext>
                </c:extLst>
              </c15:ser>
            </c15:filteredLineSeries>
            <c15:filteredLineSeries>
              <c15:ser>
                <c:idx val="5"/>
                <c:order val="4"/>
                <c:tx>
                  <c:strRef>
                    <c:extLst xmlns:c15="http://schemas.microsoft.com/office/drawing/2012/chart">
                      <c:ext xmlns:c15="http://schemas.microsoft.com/office/drawing/2012/chart" uri="{02D57815-91ED-43cb-92C2-25804820EDAC}">
                        <c15:formulaRef>
                          <c15:sqref>Calculs!$E$22</c15:sqref>
                        </c15:formulaRef>
                      </c:ext>
                    </c:extLst>
                    <c:strCache>
                      <c:ptCount val="1"/>
                      <c:pt idx="0">
                        <c:v>Péna / CA brute</c:v>
                      </c:pt>
                    </c:strCache>
                  </c:strRef>
                </c:tx>
                <c:spPr>
                  <a:ln w="28575" cap="rnd">
                    <a:solidFill>
                      <a:srgbClr val="C00000"/>
                    </a:solidFill>
                    <a:round/>
                  </a:ln>
                  <a:effectLst/>
                </c:spPr>
                <c:marker>
                  <c:symbol val="none"/>
                </c:marker>
                <c:val>
                  <c:numRef>
                    <c:extLst xmlns:c15="http://schemas.microsoft.com/office/drawing/2012/chart">
                      <c:ext xmlns:c15="http://schemas.microsoft.com/office/drawing/2012/chart" uri="{02D57815-91ED-43cb-92C2-25804820EDAC}">
                        <c15:formulaRef>
                          <c15:sqref>Calculs!$E$23:$E$33</c15:sqref>
                        </c15:formulaRef>
                      </c:ext>
                    </c:extLst>
                    <c:numCache>
                      <c:formatCode>0.00%</c:formatCode>
                      <c:ptCount val="11"/>
                      <c:pt idx="0">
                        <c:v>0</c:v>
                      </c:pt>
                      <c:pt idx="1">
                        <c:v>0</c:v>
                      </c:pt>
                      <c:pt idx="2">
                        <c:v>3.0406875254345523E-4</c:v>
                      </c:pt>
                      <c:pt idx="3">
                        <c:v>1.4962059165855726E-3</c:v>
                      </c:pt>
                      <c:pt idx="4">
                        <c:v>2.2375241388185073E-3</c:v>
                      </c:pt>
                      <c:pt idx="5">
                        <c:v>6.2772426346809169E-3</c:v>
                      </c:pt>
                      <c:pt idx="6">
                        <c:v>3.725098848247801E-3</c:v>
                      </c:pt>
                      <c:pt idx="7">
                        <c:v>5.3040752195604522E-4</c:v>
                      </c:pt>
                      <c:pt idx="8">
                        <c:v>1.1631004401682762E-3</c:v>
                      </c:pt>
                      <c:pt idx="9">
                        <c:v>9.6585626794025979E-4</c:v>
                      </c:pt>
                      <c:pt idx="10">
                        <c:v>3.6907663682077962E-4</c:v>
                      </c:pt>
                    </c:numCache>
                  </c:numRef>
                </c:val>
                <c:smooth val="0"/>
                <c:extLst xmlns:c15="http://schemas.microsoft.com/office/drawing/2012/chart">
                  <c:ext xmlns:c16="http://schemas.microsoft.com/office/drawing/2014/chart" uri="{C3380CC4-5D6E-409C-BE32-E72D297353CC}">
                    <c16:uniqueId val="{00000004-3808-4B0F-BDC4-5A887AD9B56E}"/>
                  </c:ext>
                </c:extLst>
              </c15:ser>
            </c15:filteredLineSeries>
            <c15:filteredLineSeries>
              <c15:ser>
                <c:idx val="6"/>
                <c:order val="5"/>
                <c:tx>
                  <c:v>Réserves émises</c:v>
                </c:tx>
                <c:spPr>
                  <a:ln w="44450" cap="rnd">
                    <a:solidFill>
                      <a:schemeClr val="accent2"/>
                    </a:solidFill>
                    <a:round/>
                  </a:ln>
                  <a:effectLst/>
                </c:spPr>
                <c:marker>
                  <c:symbol val="none"/>
                </c:marker>
                <c:val>
                  <c:numRef>
                    <c:extLst xmlns:c15="http://schemas.microsoft.com/office/drawing/2012/chart">
                      <c:ext xmlns:c15="http://schemas.microsoft.com/office/drawing/2012/chart" uri="{02D57815-91ED-43cb-92C2-25804820EDAC}">
                        <c15:formulaRef>
                          <c15:sqref>Calculs!$G$23:$G$33</c15:sqref>
                        </c15:formulaRef>
                      </c:ext>
                    </c:extLst>
                    <c:numCache>
                      <c:formatCode>0.00%</c:formatCode>
                      <c:ptCount val="11"/>
                      <c:pt idx="0">
                        <c:v>3.4557381903505775E-2</c:v>
                      </c:pt>
                      <c:pt idx="1">
                        <c:v>9.500477852510316E-3</c:v>
                      </c:pt>
                      <c:pt idx="2">
                        <c:v>4.4277524626927495E-2</c:v>
                      </c:pt>
                      <c:pt idx="3">
                        <c:v>1.2293855066445184E-2</c:v>
                      </c:pt>
                      <c:pt idx="4">
                        <c:v>1.1051699312032252E-2</c:v>
                      </c:pt>
                      <c:pt idx="5">
                        <c:v>2.4260855183754017E-2</c:v>
                      </c:pt>
                      <c:pt idx="6">
                        <c:v>4.4061910341597642E-2</c:v>
                      </c:pt>
                      <c:pt idx="7">
                        <c:v>1.1895119883566034E-2</c:v>
                      </c:pt>
                      <c:pt idx="8">
                        <c:v>3.8390760858561718E-2</c:v>
                      </c:pt>
                      <c:pt idx="9">
                        <c:v>3.5990839776467491E-2</c:v>
                      </c:pt>
                      <c:pt idx="10">
                        <c:v>1.7155143455785452E-2</c:v>
                      </c:pt>
                    </c:numCache>
                  </c:numRef>
                </c:val>
                <c:smooth val="0"/>
                <c:extLst xmlns:c15="http://schemas.microsoft.com/office/drawing/2012/chart">
                  <c:ext xmlns:c16="http://schemas.microsoft.com/office/drawing/2014/chart" uri="{C3380CC4-5D6E-409C-BE32-E72D297353CC}">
                    <c16:uniqueId val="{00000005-3808-4B0F-BDC4-5A887AD9B56E}"/>
                  </c:ext>
                </c:extLst>
              </c15:ser>
            </c15:filteredLineSeries>
          </c:ext>
        </c:extLst>
      </c:lineChart>
      <c:catAx>
        <c:axId val="564111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564109904"/>
        <c:crosses val="autoZero"/>
        <c:auto val="1"/>
        <c:lblAlgn val="ctr"/>
        <c:lblOffset val="100"/>
        <c:noMultiLvlLbl val="0"/>
      </c:catAx>
      <c:valAx>
        <c:axId val="564109904"/>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564111344"/>
        <c:crosses val="autoZero"/>
        <c:crossBetween val="between"/>
      </c:valAx>
      <c:spPr>
        <a:solidFill>
          <a:schemeClr val="bg1">
            <a:lumMod val="9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4499857902460351"/>
          <c:y val="1.7245160322280816E-2"/>
        </c:manualLayout>
      </c:layout>
      <c:overlay val="0"/>
      <c:spPr>
        <a:noFill/>
        <a:ln>
          <a:noFill/>
        </a:ln>
        <a:effectLst/>
      </c:spPr>
      <c:txPr>
        <a:bodyPr rot="0" spcFirstLastPara="1" vertOverflow="ellipsis" vert="horz" wrap="square" anchor="ctr" anchorCtr="1"/>
        <a:lstStyle/>
        <a:p>
          <a:pPr>
            <a:defRPr sz="9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9.9480408744360135E-2"/>
          <c:y val="0.12547363836705713"/>
          <c:w val="0.8645549901221159"/>
          <c:h val="0.76508561135790698"/>
        </c:manualLayout>
      </c:layout>
      <c:lineChart>
        <c:grouping val="standard"/>
        <c:varyColors val="0"/>
        <c:ser>
          <c:idx val="0"/>
          <c:order val="0"/>
          <c:tx>
            <c:strRef>
              <c:f>Calculs!$J$22</c:f>
              <c:strCache>
                <c:ptCount val="1"/>
                <c:pt idx="0">
                  <c:v>Nb de réserves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Calculs!$J$23:$J$33</c:f>
              <c:numCache>
                <c:formatCode>General</c:formatCode>
                <c:ptCount val="11"/>
                <c:pt idx="0">
                  <c:v>1</c:v>
                </c:pt>
                <c:pt idx="1">
                  <c:v>16</c:v>
                </c:pt>
                <c:pt idx="2">
                  <c:v>35</c:v>
                </c:pt>
                <c:pt idx="3">
                  <c:v>42</c:v>
                </c:pt>
                <c:pt idx="4">
                  <c:v>48</c:v>
                </c:pt>
                <c:pt idx="5">
                  <c:v>48</c:v>
                </c:pt>
                <c:pt idx="6">
                  <c:v>61</c:v>
                </c:pt>
                <c:pt idx="7">
                  <c:v>39</c:v>
                </c:pt>
                <c:pt idx="8">
                  <c:v>44</c:v>
                </c:pt>
                <c:pt idx="9">
                  <c:v>67</c:v>
                </c:pt>
                <c:pt idx="10">
                  <c:v>29</c:v>
                </c:pt>
              </c:numCache>
            </c:numRef>
          </c:val>
          <c:smooth val="0"/>
          <c:extLst>
            <c:ext xmlns:c16="http://schemas.microsoft.com/office/drawing/2014/chart" uri="{C3380CC4-5D6E-409C-BE32-E72D297353CC}">
              <c16:uniqueId val="{00000000-9A5D-4FB5-99AF-3BED71E02204}"/>
            </c:ext>
          </c:extLst>
        </c:ser>
        <c:dLbls>
          <c:showLegendKey val="0"/>
          <c:showVal val="0"/>
          <c:showCatName val="0"/>
          <c:showSerName val="0"/>
          <c:showPercent val="0"/>
          <c:showBubbleSize val="0"/>
        </c:dLbls>
        <c:marker val="1"/>
        <c:smooth val="0"/>
        <c:axId val="1395233376"/>
        <c:axId val="1395240096"/>
      </c:lineChart>
      <c:catAx>
        <c:axId val="1395233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1395240096"/>
        <c:crosses val="autoZero"/>
        <c:auto val="1"/>
        <c:lblAlgn val="ctr"/>
        <c:lblOffset val="100"/>
        <c:noMultiLvlLbl val="0"/>
      </c:catAx>
      <c:valAx>
        <c:axId val="139524009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1395233376"/>
        <c:crosses val="autoZero"/>
        <c:crossBetween val="between"/>
      </c:valAx>
      <c:spPr>
        <a:solidFill>
          <a:schemeClr val="bg1">
            <a:lumMod val="95000"/>
          </a:schemeClr>
        </a:solid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1" i="0" u="none" strike="noStrike" kern="1200" spc="0" baseline="0">
                <a:solidFill>
                  <a:schemeClr val="tx1"/>
                </a:solidFill>
                <a:latin typeface="+mn-lt"/>
                <a:ea typeface="+mn-ea"/>
                <a:cs typeface="+mn-cs"/>
              </a:defRPr>
            </a:pPr>
            <a:r>
              <a:rPr lang="fr-FR" sz="900" b="1" dirty="0">
                <a:solidFill>
                  <a:schemeClr val="tx1"/>
                </a:solidFill>
              </a:rPr>
              <a:t>Réserves émises / réserves levées</a:t>
            </a:r>
          </a:p>
        </c:rich>
      </c:tx>
      <c:overlay val="0"/>
      <c:spPr>
        <a:noFill/>
        <a:ln>
          <a:noFill/>
        </a:ln>
        <a:effectLst/>
      </c:spPr>
      <c:txPr>
        <a:bodyPr rot="0" spcFirstLastPara="1" vertOverflow="ellipsis" vert="horz" wrap="square" anchor="ctr" anchorCtr="1"/>
        <a:lstStyle/>
        <a:p>
          <a:pPr>
            <a:defRPr sz="900" b="1" i="0" u="none" strike="noStrike" kern="1200" spc="0" baseline="0">
              <a:solidFill>
                <a:schemeClr val="tx1"/>
              </a:solidFill>
              <a:latin typeface="+mn-lt"/>
              <a:ea typeface="+mn-ea"/>
              <a:cs typeface="+mn-cs"/>
            </a:defRPr>
          </a:pPr>
          <a:endParaRPr lang="fr-FR"/>
        </a:p>
      </c:txPr>
    </c:title>
    <c:autoTitleDeleted val="0"/>
    <c:plotArea>
      <c:layout>
        <c:manualLayout>
          <c:layoutTarget val="inner"/>
          <c:xMode val="edge"/>
          <c:yMode val="edge"/>
          <c:x val="0.17125612765208365"/>
          <c:y val="0.14564539188698974"/>
          <c:w val="0.65880616493285782"/>
          <c:h val="0.78276772485891688"/>
        </c:manualLayout>
      </c:layout>
      <c:pieChart>
        <c:varyColors val="1"/>
        <c:ser>
          <c:idx val="0"/>
          <c:order val="0"/>
          <c:spPr>
            <a:solidFill>
              <a:schemeClr val="accent2"/>
            </a:solidFill>
          </c:spPr>
          <c:dPt>
            <c:idx val="0"/>
            <c:bubble3D val="0"/>
            <c:spPr>
              <a:solidFill>
                <a:srgbClr val="00B050"/>
              </a:solidFill>
              <a:ln w="19050">
                <a:solidFill>
                  <a:schemeClr val="lt1"/>
                </a:solidFill>
              </a:ln>
              <a:effectLst/>
            </c:spPr>
            <c:extLst>
              <c:ext xmlns:c16="http://schemas.microsoft.com/office/drawing/2014/chart" uri="{C3380CC4-5D6E-409C-BE32-E72D297353CC}">
                <c16:uniqueId val="{00000001-7221-4BA4-8395-5C93748B127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221-4BA4-8395-5C93748B127D}"/>
              </c:ext>
            </c:extLst>
          </c:dPt>
          <c:dLbls>
            <c:dLbl>
              <c:idx val="0"/>
              <c:layout>
                <c:manualLayout>
                  <c:x val="-0.14310025629473597"/>
                  <c:y val="-0.206408253846318"/>
                </c:manualLayout>
              </c:layou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221-4BA4-8395-5C93748B127D}"/>
                </c:ext>
              </c:extLst>
            </c:dLbl>
            <c:dLbl>
              <c:idx val="1"/>
              <c:layout>
                <c:manualLayout>
                  <c:x val="0.14831405234351702"/>
                  <c:y val="0.19673372717997911"/>
                </c:manualLayout>
              </c:layout>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bg1"/>
                      </a:solidFill>
                      <a:latin typeface="+mn-lt"/>
                      <a:ea typeface="+mn-ea"/>
                      <a:cs typeface="+mn-cs"/>
                    </a:defRPr>
                  </a:pPr>
                  <a:endParaRPr lang="fr-FR"/>
                </a:p>
              </c:txPr>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221-4BA4-8395-5C93748B127D}"/>
                </c:ext>
              </c:extLst>
            </c:dLbl>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Calculs!$G$11:$G$12</c:f>
              <c:strCache>
                <c:ptCount val="2"/>
                <c:pt idx="0">
                  <c:v>Réserves Levées</c:v>
                </c:pt>
                <c:pt idx="1">
                  <c:v>Réserves Restantes</c:v>
                </c:pt>
              </c:strCache>
            </c:strRef>
          </c:cat>
          <c:val>
            <c:numRef>
              <c:f>Calculs!$H$11:$H$12</c:f>
              <c:numCache>
                <c:formatCode>_("€"* #,##0.00_);_("€"* \(#,##0.00\);_("€"* "-"??_);_(@_)</c:formatCode>
                <c:ptCount val="2"/>
                <c:pt idx="0" formatCode="&quot;€&quot;#,##0.00_);\(&quot;€&quot;#,##0.00\)">
                  <c:v>3172370.4900000021</c:v>
                </c:pt>
                <c:pt idx="1">
                  <c:v>537660.34</c:v>
                </c:pt>
              </c:numCache>
            </c:numRef>
          </c:val>
          <c:extLst>
            <c:ext xmlns:c16="http://schemas.microsoft.com/office/drawing/2014/chart" uri="{C3380CC4-5D6E-409C-BE32-E72D297353CC}">
              <c16:uniqueId val="{00000004-7221-4BA4-8395-5C93748B127D}"/>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50" b="1" i="0" u="none" strike="noStrike" kern="1200" spc="0" baseline="0">
                <a:solidFill>
                  <a:schemeClr val="tx1">
                    <a:lumMod val="65000"/>
                    <a:lumOff val="35000"/>
                  </a:schemeClr>
                </a:solidFill>
                <a:latin typeface="+mn-lt"/>
                <a:ea typeface="+mn-ea"/>
                <a:cs typeface="+mn-cs"/>
              </a:defRPr>
            </a:pPr>
            <a:r>
              <a:rPr lang="fr-FR" sz="1050" b="1" dirty="0"/>
              <a:t>Levée</a:t>
            </a:r>
            <a:r>
              <a:rPr lang="fr-FR" sz="1050" b="1" baseline="0" dirty="0"/>
              <a:t> des réserves</a:t>
            </a:r>
            <a:endParaRPr lang="fr-FR" sz="1050" b="1" dirty="0"/>
          </a:p>
        </c:rich>
      </c:tx>
      <c:layout>
        <c:manualLayout>
          <c:xMode val="edge"/>
          <c:yMode val="edge"/>
          <c:x val="0.32180341353506836"/>
          <c:y val="1.1269870356558288E-2"/>
        </c:manualLayout>
      </c:layout>
      <c:overlay val="0"/>
      <c:spPr>
        <a:noFill/>
        <a:ln>
          <a:noFill/>
        </a:ln>
        <a:effectLst/>
      </c:spPr>
      <c:txPr>
        <a:bodyPr rot="0" spcFirstLastPara="1" vertOverflow="ellipsis" vert="horz" wrap="square" anchor="ctr" anchorCtr="1"/>
        <a:lstStyle/>
        <a:p>
          <a:pPr>
            <a:defRPr sz="1050" b="1"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0.16767776576947491"/>
          <c:y val="0.12552559553812281"/>
          <c:w val="0.74132177105312813"/>
          <c:h val="0.73297803813786355"/>
        </c:manualLayout>
      </c:layout>
      <c:barChart>
        <c:barDir val="col"/>
        <c:grouping val="clustered"/>
        <c:varyColors val="0"/>
        <c:ser>
          <c:idx val="6"/>
          <c:order val="5"/>
          <c:tx>
            <c:v>Réserves émises</c:v>
          </c:tx>
          <c:spPr>
            <a:solidFill>
              <a:schemeClr val="accent1">
                <a:lumMod val="60000"/>
              </a:schemeClr>
            </a:solidFill>
            <a:ln>
              <a:noFill/>
            </a:ln>
            <a:effectLst/>
          </c:spPr>
          <c:invertIfNegative val="0"/>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Calculs!$F$23:$F$34</c:f>
              <c:numCache>
                <c:formatCode>_("€"* #,##0.00_);_("€"* \(#,##0.00\);_("€"* "-"??_);_(@_)</c:formatCode>
                <c:ptCount val="12"/>
                <c:pt idx="0">
                  <c:v>94478.1</c:v>
                </c:pt>
                <c:pt idx="1">
                  <c:v>59494.329999999994</c:v>
                </c:pt>
                <c:pt idx="2">
                  <c:v>581067.9</c:v>
                </c:pt>
                <c:pt idx="3">
                  <c:v>118321.93</c:v>
                </c:pt>
                <c:pt idx="4">
                  <c:v>134585.92000000001</c:v>
                </c:pt>
                <c:pt idx="5">
                  <c:v>415308.79999999999</c:v>
                </c:pt>
                <c:pt idx="6">
                  <c:v>673768.80999999994</c:v>
                </c:pt>
                <c:pt idx="7">
                  <c:v>154150.18</c:v>
                </c:pt>
                <c:pt idx="8">
                  <c:v>534249.6</c:v>
                </c:pt>
                <c:pt idx="9">
                  <c:v>767178.04999999993</c:v>
                </c:pt>
                <c:pt idx="10">
                  <c:v>175427.21000000005</c:v>
                </c:pt>
                <c:pt idx="11">
                  <c:v>2000</c:v>
                </c:pt>
              </c:numCache>
            </c:numRef>
          </c:val>
          <c:extLst xmlns:c15="http://schemas.microsoft.com/office/drawing/2012/chart">
            <c:ext xmlns:c16="http://schemas.microsoft.com/office/drawing/2014/chart" uri="{C3380CC4-5D6E-409C-BE32-E72D297353CC}">
              <c16:uniqueId val="{00000000-AD3E-4D62-A6FF-FD0AD007FB59}"/>
            </c:ext>
          </c:extLst>
        </c:ser>
        <c:ser>
          <c:idx val="1"/>
          <c:order val="6"/>
          <c:tx>
            <c:strRef>
              <c:f>Calculs!$L$22</c:f>
              <c:strCache>
                <c:ptCount val="1"/>
                <c:pt idx="0">
                  <c:v>Levées de réserves</c:v>
                </c:pt>
              </c:strCache>
            </c:strRef>
          </c:tx>
          <c:spPr>
            <a:solidFill>
              <a:schemeClr val="accent2"/>
            </a:solidFill>
            <a:ln>
              <a:noFill/>
            </a:ln>
            <a:effectLst/>
          </c:spPr>
          <c:invertIfNegative val="0"/>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Calculs!$L$23:$L$33</c:f>
              <c:numCache>
                <c:formatCode>_("€"* #,##0.00_);_("€"* \(#,##0.00\);_("€"* "-"??_);_(@_)</c:formatCode>
                <c:ptCount val="11"/>
                <c:pt idx="0">
                  <c:v>94478.1</c:v>
                </c:pt>
                <c:pt idx="1">
                  <c:v>59494.329999999994</c:v>
                </c:pt>
                <c:pt idx="2">
                  <c:v>581067.89</c:v>
                </c:pt>
                <c:pt idx="3">
                  <c:v>118321.93</c:v>
                </c:pt>
                <c:pt idx="4">
                  <c:v>134227.13</c:v>
                </c:pt>
                <c:pt idx="5">
                  <c:v>412006.5</c:v>
                </c:pt>
                <c:pt idx="6">
                  <c:v>271178.59999999998</c:v>
                </c:pt>
                <c:pt idx="7">
                  <c:v>149037.24</c:v>
                </c:pt>
                <c:pt idx="8">
                  <c:v>533301.38</c:v>
                </c:pt>
                <c:pt idx="9">
                  <c:v>693386.8899999999</c:v>
                </c:pt>
                <c:pt idx="10">
                  <c:v>125870.50000000001</c:v>
                </c:pt>
              </c:numCache>
            </c:numRef>
          </c:val>
          <c:extLst>
            <c:ext xmlns:c16="http://schemas.microsoft.com/office/drawing/2014/chart" uri="{C3380CC4-5D6E-409C-BE32-E72D297353CC}">
              <c16:uniqueId val="{00000001-AD3E-4D62-A6FF-FD0AD007FB59}"/>
            </c:ext>
          </c:extLst>
        </c:ser>
        <c:dLbls>
          <c:showLegendKey val="0"/>
          <c:showVal val="0"/>
          <c:showCatName val="0"/>
          <c:showSerName val="0"/>
          <c:showPercent val="0"/>
          <c:showBubbleSize val="0"/>
        </c:dLbls>
        <c:gapWidth val="150"/>
        <c:axId val="564111344"/>
        <c:axId val="564109904"/>
        <c:extLst>
          <c:ext xmlns:c15="http://schemas.microsoft.com/office/drawing/2012/chart" uri="{02D57815-91ED-43cb-92C2-25804820EDAC}">
            <c15:filteredBarSeries>
              <c15:ser>
                <c:idx val="0"/>
                <c:order val="0"/>
                <c:tx>
                  <c:strRef>
                    <c:extLst>
                      <c:ext uri="{02D57815-91ED-43cb-92C2-25804820EDAC}">
                        <c15:formulaRef>
                          <c15:sqref>Calculs!$A$22</c15:sqref>
                        </c15:formulaRef>
                      </c:ext>
                    </c:extLst>
                    <c:strCache>
                      <c:ptCount val="1"/>
                      <c:pt idx="0">
                        <c:v>Année</c:v>
                      </c:pt>
                    </c:strCache>
                  </c:strRef>
                </c:tx>
                <c:spPr>
                  <a:solidFill>
                    <a:schemeClr val="accent1"/>
                  </a:solidFill>
                  <a:ln>
                    <a:noFill/>
                  </a:ln>
                  <a:effectLst/>
                </c:spPr>
                <c:invertIfNegative val="0"/>
                <c:cat>
                  <c:numRef>
                    <c:extLst>
                      <c:ex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c:ex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val>
                <c:extLst>
                  <c:ext xmlns:c16="http://schemas.microsoft.com/office/drawing/2014/chart" uri="{C3380CC4-5D6E-409C-BE32-E72D297353CC}">
                    <c16:uniqueId val="{00000002-AD3E-4D62-A6FF-FD0AD007FB59}"/>
                  </c:ext>
                </c:extLst>
              </c15:ser>
            </c15:filteredBarSeries>
            <c15:filteredBarSeries>
              <c15:ser>
                <c:idx val="2"/>
                <c:order val="1"/>
                <c:tx>
                  <c:strRef>
                    <c:extLst xmlns:c15="http://schemas.microsoft.com/office/drawing/2012/chart">
                      <c:ext xmlns:c15="http://schemas.microsoft.com/office/drawing/2012/chart" uri="{02D57815-91ED-43cb-92C2-25804820EDAC}">
                        <c15:formulaRef>
                          <c15:sqref>Calculs!$C$22</c15:sqref>
                        </c15:formulaRef>
                      </c:ext>
                    </c:extLst>
                    <c:strCache>
                      <c:ptCount val="1"/>
                      <c:pt idx="0">
                        <c:v>Pénalités</c:v>
                      </c:pt>
                    </c:strCache>
                  </c:strRef>
                </c:tx>
                <c:spPr>
                  <a:solidFill>
                    <a:schemeClr val="accent3"/>
                  </a:solidFill>
                  <a:ln>
                    <a:noFill/>
                  </a:ln>
                  <a:effectLst/>
                </c:spPr>
                <c:invertIfNegative val="0"/>
                <c:cat>
                  <c:numRef>
                    <c:extLst xmlns:c15="http://schemas.microsoft.com/office/drawing/2012/chart">
                      <c:ext xmlns:c15="http://schemas.microsoft.com/office/drawing/2012/char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xmlns:c15="http://schemas.microsoft.com/office/drawing/2012/chart">
                      <c:ext xmlns:c15="http://schemas.microsoft.com/office/drawing/2012/chart" uri="{02D57815-91ED-43cb-92C2-25804820EDAC}">
                        <c15:formulaRef>
                          <c15:sqref>Calculs!$C$23:$C$36</c15:sqref>
                        </c15:formulaRef>
                      </c:ext>
                    </c:extLst>
                    <c:numCache>
                      <c:formatCode>_("€"* #,##0.00_);_("€"* \(#,##0.00\);_("€"* "-"??_);_(@_)</c:formatCode>
                      <c:ptCount val="14"/>
                      <c:pt idx="0">
                        <c:v>0</c:v>
                      </c:pt>
                      <c:pt idx="1">
                        <c:v>0</c:v>
                      </c:pt>
                      <c:pt idx="2">
                        <c:v>3990.39</c:v>
                      </c:pt>
                      <c:pt idx="3">
                        <c:v>14400.2</c:v>
                      </c:pt>
                      <c:pt idx="4">
                        <c:v>27248.229999999996</c:v>
                      </c:pt>
                      <c:pt idx="5">
                        <c:v>107456.80999999997</c:v>
                      </c:pt>
                      <c:pt idx="6">
                        <c:v>56962.01999999999</c:v>
                      </c:pt>
                      <c:pt idx="7">
                        <c:v>6873.61</c:v>
                      </c:pt>
                      <c:pt idx="8">
                        <c:v>16185.82</c:v>
                      </c:pt>
                      <c:pt idx="9">
                        <c:v>20588.120000000003</c:v>
                      </c:pt>
                      <c:pt idx="10">
                        <c:v>3774.1499999999996</c:v>
                      </c:pt>
                      <c:pt idx="11">
                        <c:v>0</c:v>
                      </c:pt>
                      <c:pt idx="12">
                        <c:v>0</c:v>
                      </c:pt>
                      <c:pt idx="13">
                        <c:v>0</c:v>
                      </c:pt>
                    </c:numCache>
                  </c:numRef>
                </c:val>
                <c:extLst xmlns:c15="http://schemas.microsoft.com/office/drawing/2012/chart">
                  <c:ext xmlns:c16="http://schemas.microsoft.com/office/drawing/2014/chart" uri="{C3380CC4-5D6E-409C-BE32-E72D297353CC}">
                    <c16:uniqueId val="{00000003-AD3E-4D62-A6FF-FD0AD007FB59}"/>
                  </c:ext>
                </c:extLst>
              </c15:ser>
            </c15:filteredBarSeries>
            <c15:filteredBarSeries>
              <c15:ser>
                <c:idx val="3"/>
                <c:order val="2"/>
                <c:tx>
                  <c:strRef>
                    <c:extLst xmlns:c15="http://schemas.microsoft.com/office/drawing/2012/chart">
                      <c:ext xmlns:c15="http://schemas.microsoft.com/office/drawing/2012/chart" uri="{02D57815-91ED-43cb-92C2-25804820EDAC}">
                        <c15:formulaRef>
                          <c15:sqref>Calculs!$D$22</c15:sqref>
                        </c15:formulaRef>
                      </c:ext>
                    </c:extLst>
                    <c:strCache>
                      <c:ptCount val="1"/>
                      <c:pt idx="0">
                        <c:v>Réfactions</c:v>
                      </c:pt>
                    </c:strCache>
                  </c:strRef>
                </c:tx>
                <c:spPr>
                  <a:solidFill>
                    <a:schemeClr val="accent4"/>
                  </a:solidFill>
                  <a:ln>
                    <a:noFill/>
                  </a:ln>
                  <a:effectLst/>
                </c:spPr>
                <c:invertIfNegative val="0"/>
                <c:cat>
                  <c:numRef>
                    <c:extLst xmlns:c15="http://schemas.microsoft.com/office/drawing/2012/chart">
                      <c:ext xmlns:c15="http://schemas.microsoft.com/office/drawing/2012/char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xmlns:c15="http://schemas.microsoft.com/office/drawing/2012/chart">
                      <c:ext xmlns:c15="http://schemas.microsoft.com/office/drawing/2012/chart" uri="{02D57815-91ED-43cb-92C2-25804820EDAC}">
                        <c15:formulaRef>
                          <c15:sqref>Calculs!$D$23:$D$36</c15:sqref>
                        </c15:formulaRef>
                      </c:ext>
                    </c:extLst>
                    <c:numCache>
                      <c:formatCode>_("€"* #,##0.00_);_("€"* \(#,##0.00\);_("€"* "-"??_);_(@_)</c:formatCode>
                      <c:ptCount val="14"/>
                      <c:pt idx="0">
                        <c:v>8349.7999999999993</c:v>
                      </c:pt>
                      <c:pt idx="1">
                        <c:v>29559.119999999995</c:v>
                      </c:pt>
                      <c:pt idx="2">
                        <c:v>164691.84000000003</c:v>
                      </c:pt>
                      <c:pt idx="3">
                        <c:v>123406.83</c:v>
                      </c:pt>
                      <c:pt idx="4">
                        <c:v>114558.56000000001</c:v>
                      </c:pt>
                      <c:pt idx="5">
                        <c:v>319551.86999999994</c:v>
                      </c:pt>
                      <c:pt idx="6">
                        <c:v>245004.25</c:v>
                      </c:pt>
                      <c:pt idx="7">
                        <c:v>110617.38999999998</c:v>
                      </c:pt>
                      <c:pt idx="8">
                        <c:v>219009.42999999993</c:v>
                      </c:pt>
                      <c:pt idx="9">
                        <c:v>244055.52</c:v>
                      </c:pt>
                      <c:pt idx="10">
                        <c:v>144801.84999999998</c:v>
                      </c:pt>
                      <c:pt idx="11">
                        <c:v>-3</c:v>
                      </c:pt>
                      <c:pt idx="12">
                        <c:v>0</c:v>
                      </c:pt>
                      <c:pt idx="13">
                        <c:v>0</c:v>
                      </c:pt>
                    </c:numCache>
                  </c:numRef>
                </c:val>
                <c:extLst xmlns:c15="http://schemas.microsoft.com/office/drawing/2012/chart">
                  <c:ext xmlns:c16="http://schemas.microsoft.com/office/drawing/2014/chart" uri="{C3380CC4-5D6E-409C-BE32-E72D297353CC}">
                    <c16:uniqueId val="{00000004-AD3E-4D62-A6FF-FD0AD007FB59}"/>
                  </c:ext>
                </c:extLst>
              </c15:ser>
            </c15:filteredBarSeries>
            <c15:filteredBarSeries>
              <c15:ser>
                <c:idx val="4"/>
                <c:order val="3"/>
                <c:tx>
                  <c:strRef>
                    <c:extLst xmlns:c15="http://schemas.microsoft.com/office/drawing/2012/chart">
                      <c:ext xmlns:c15="http://schemas.microsoft.com/office/drawing/2012/chart" uri="{02D57815-91ED-43cb-92C2-25804820EDAC}">
                        <c15:formulaRef>
                          <c15:sqref>Calculs!$F$22</c15:sqref>
                        </c15:formulaRef>
                      </c:ext>
                    </c:extLst>
                    <c:strCache>
                      <c:ptCount val="1"/>
                      <c:pt idx="0">
                        <c:v>Réserves émises</c:v>
                      </c:pt>
                    </c:strCache>
                  </c:strRef>
                </c:tx>
                <c:spPr>
                  <a:solidFill>
                    <a:schemeClr val="accent1"/>
                  </a:solidFill>
                  <a:ln>
                    <a:noFill/>
                  </a:ln>
                  <a:effectLst/>
                </c:spPr>
                <c:invertIfNegative val="0"/>
                <c:cat>
                  <c:numRef>
                    <c:extLst xmlns:c15="http://schemas.microsoft.com/office/drawing/2012/chart">
                      <c:ext xmlns:c15="http://schemas.microsoft.com/office/drawing/2012/char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xmlns:c15="http://schemas.microsoft.com/office/drawing/2012/chart">
                      <c:ext xmlns:c15="http://schemas.microsoft.com/office/drawing/2012/chart" uri="{02D57815-91ED-43cb-92C2-25804820EDAC}">
                        <c15:formulaRef>
                          <c15:sqref>Calculs!$F$23:$F$33</c15:sqref>
                        </c15:formulaRef>
                      </c:ext>
                    </c:extLst>
                    <c:numCache>
                      <c:formatCode>_("€"* #,##0.00_);_("€"* \(#,##0.00\);_("€"* "-"??_);_(@_)</c:formatCode>
                      <c:ptCount val="11"/>
                      <c:pt idx="0">
                        <c:v>94478.1</c:v>
                      </c:pt>
                      <c:pt idx="1">
                        <c:v>59494.329999999994</c:v>
                      </c:pt>
                      <c:pt idx="2">
                        <c:v>581067.9</c:v>
                      </c:pt>
                      <c:pt idx="3">
                        <c:v>118321.93</c:v>
                      </c:pt>
                      <c:pt idx="4">
                        <c:v>134585.92000000001</c:v>
                      </c:pt>
                      <c:pt idx="5">
                        <c:v>415308.79999999999</c:v>
                      </c:pt>
                      <c:pt idx="6">
                        <c:v>673768.80999999994</c:v>
                      </c:pt>
                      <c:pt idx="7">
                        <c:v>154150.18</c:v>
                      </c:pt>
                      <c:pt idx="8">
                        <c:v>534249.6</c:v>
                      </c:pt>
                      <c:pt idx="9">
                        <c:v>767178.04999999993</c:v>
                      </c:pt>
                      <c:pt idx="10">
                        <c:v>175427.21000000005</c:v>
                      </c:pt>
                    </c:numCache>
                  </c:numRef>
                </c:val>
                <c:extLst xmlns:c15="http://schemas.microsoft.com/office/drawing/2012/chart">
                  <c:ext xmlns:c16="http://schemas.microsoft.com/office/drawing/2014/chart" uri="{C3380CC4-5D6E-409C-BE32-E72D297353CC}">
                    <c16:uniqueId val="{00000005-AD3E-4D62-A6FF-FD0AD007FB59}"/>
                  </c:ext>
                </c:extLst>
              </c15:ser>
            </c15:filteredBarSeries>
            <c15:filteredBarSeries>
              <c15:ser>
                <c:idx val="5"/>
                <c:order val="4"/>
                <c:tx>
                  <c:strRef>
                    <c:extLst xmlns:c15="http://schemas.microsoft.com/office/drawing/2012/chart">
                      <c:ext xmlns:c15="http://schemas.microsoft.com/office/drawing/2012/chart" uri="{02D57815-91ED-43cb-92C2-25804820EDAC}">
                        <c15:formulaRef>
                          <c15:sqref>Calculs!$E$22</c15:sqref>
                        </c15:formulaRef>
                      </c:ext>
                    </c:extLst>
                    <c:strCache>
                      <c:ptCount val="1"/>
                      <c:pt idx="0">
                        <c:v>Péna / CA brute</c:v>
                      </c:pt>
                    </c:strCache>
                  </c:strRef>
                </c:tx>
                <c:spPr>
                  <a:solidFill>
                    <a:schemeClr val="accent6"/>
                  </a:solidFill>
                  <a:ln>
                    <a:solidFill>
                      <a:srgbClr val="C00000"/>
                    </a:solidFill>
                  </a:ln>
                  <a:effectLst/>
                </c:spPr>
                <c:invertIfNegative val="0"/>
                <c:cat>
                  <c:numRef>
                    <c:extLst xmlns:c15="http://schemas.microsoft.com/office/drawing/2012/chart">
                      <c:ext xmlns:c15="http://schemas.microsoft.com/office/drawing/2012/chart" uri="{02D57815-91ED-43cb-92C2-25804820EDAC}">
                        <c15:formulaRef>
                          <c15:sqref>Calculs!$A$23:$A$33</c15:sqref>
                        </c15:formulaRef>
                      </c:ext>
                    </c:extLst>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extLst xmlns:c15="http://schemas.microsoft.com/office/drawing/2012/chart">
                      <c:ext xmlns:c15="http://schemas.microsoft.com/office/drawing/2012/chart" uri="{02D57815-91ED-43cb-92C2-25804820EDAC}">
                        <c15:formulaRef>
                          <c15:sqref>Calculs!$E$23:$E$36</c15:sqref>
                        </c15:formulaRef>
                      </c:ext>
                    </c:extLst>
                    <c:numCache>
                      <c:formatCode>0.00%</c:formatCode>
                      <c:ptCount val="14"/>
                      <c:pt idx="0">
                        <c:v>0</c:v>
                      </c:pt>
                      <c:pt idx="1">
                        <c:v>0</c:v>
                      </c:pt>
                      <c:pt idx="2">
                        <c:v>3.0406875254345523E-4</c:v>
                      </c:pt>
                      <c:pt idx="3">
                        <c:v>1.4962059165855726E-3</c:v>
                      </c:pt>
                      <c:pt idx="4">
                        <c:v>2.2375241388185073E-3</c:v>
                      </c:pt>
                      <c:pt idx="5">
                        <c:v>6.2772426346809169E-3</c:v>
                      </c:pt>
                      <c:pt idx="6">
                        <c:v>3.725098848247801E-3</c:v>
                      </c:pt>
                      <c:pt idx="7">
                        <c:v>5.3040752195604522E-4</c:v>
                      </c:pt>
                      <c:pt idx="8">
                        <c:v>1.1631004401682762E-3</c:v>
                      </c:pt>
                      <c:pt idx="9">
                        <c:v>9.6585626794025979E-4</c:v>
                      </c:pt>
                      <c:pt idx="10">
                        <c:v>3.6907663682077962E-4</c:v>
                      </c:pt>
                      <c:pt idx="11">
                        <c:v>0</c:v>
                      </c:pt>
                      <c:pt idx="12">
                        <c:v>0</c:v>
                      </c:pt>
                      <c:pt idx="13">
                        <c:v>0</c:v>
                      </c:pt>
                    </c:numCache>
                  </c:numRef>
                </c:val>
                <c:extLst xmlns:c15="http://schemas.microsoft.com/office/drawing/2012/chart">
                  <c:ext xmlns:c16="http://schemas.microsoft.com/office/drawing/2014/chart" uri="{C3380CC4-5D6E-409C-BE32-E72D297353CC}">
                    <c16:uniqueId val="{00000006-AD3E-4D62-A6FF-FD0AD007FB59}"/>
                  </c:ext>
                </c:extLst>
              </c15:ser>
            </c15:filteredBarSeries>
          </c:ext>
        </c:extLst>
      </c:barChart>
      <c:catAx>
        <c:axId val="564111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564109904"/>
        <c:crosses val="autoZero"/>
        <c:auto val="1"/>
        <c:lblAlgn val="ctr"/>
        <c:lblOffset val="100"/>
        <c:noMultiLvlLbl val="0"/>
      </c:catAx>
      <c:valAx>
        <c:axId val="564109904"/>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564111344"/>
        <c:crosses val="autoZero"/>
        <c:crossBetween val="between"/>
      </c:valAx>
      <c:spPr>
        <a:solidFill>
          <a:schemeClr val="bg1">
            <a:lumMod val="9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50" b="1" i="0" u="none" strike="noStrike" kern="1200" spc="0" baseline="0">
                <a:solidFill>
                  <a:schemeClr val="tx1">
                    <a:lumMod val="65000"/>
                    <a:lumOff val="35000"/>
                  </a:schemeClr>
                </a:solidFill>
                <a:latin typeface="+mn-lt"/>
                <a:ea typeface="+mn-ea"/>
                <a:cs typeface="+mn-cs"/>
              </a:defRPr>
            </a:pPr>
            <a:r>
              <a:rPr lang="fr-FR" sz="1050" b="1" dirty="0"/>
              <a:t>Taux de levée</a:t>
            </a:r>
            <a:r>
              <a:rPr lang="fr-FR" sz="1050" b="1" baseline="0" dirty="0"/>
              <a:t> des réserves</a:t>
            </a:r>
            <a:endParaRPr lang="fr-FR" sz="1050" b="1" dirty="0"/>
          </a:p>
        </c:rich>
      </c:tx>
      <c:layout>
        <c:manualLayout>
          <c:xMode val="edge"/>
          <c:yMode val="edge"/>
          <c:x val="0.2832808549375323"/>
          <c:y val="2.4814041230385674E-2"/>
        </c:manualLayout>
      </c:layout>
      <c:overlay val="0"/>
      <c:spPr>
        <a:noFill/>
        <a:ln>
          <a:noFill/>
        </a:ln>
        <a:effectLst/>
      </c:spPr>
      <c:txPr>
        <a:bodyPr rot="0" spcFirstLastPara="1" vertOverflow="ellipsis" vert="horz" wrap="square" anchor="ctr" anchorCtr="1"/>
        <a:lstStyle/>
        <a:p>
          <a:pPr>
            <a:defRPr sz="1050" b="1"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0.16767776576947491"/>
          <c:y val="0.19060312443473579"/>
          <c:w val="0.74132177105312813"/>
          <c:h val="0.66790057601224895"/>
        </c:manualLayout>
      </c:layout>
      <c:lineChart>
        <c:grouping val="standard"/>
        <c:varyColors val="0"/>
        <c:ser>
          <c:idx val="0"/>
          <c:order val="0"/>
          <c:tx>
            <c:strRef>
              <c:f>Calculs!$M$22</c:f>
              <c:strCache>
                <c:ptCount val="1"/>
                <c:pt idx="0">
                  <c:v>Tx de levée des réserves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Pt>
            <c:idx val="0"/>
            <c:marker>
              <c:symbol val="circle"/>
              <c:size val="5"/>
              <c:spPr>
                <a:solidFill>
                  <a:srgbClr val="00B050"/>
                </a:solidFill>
                <a:ln w="9525">
                  <a:solidFill>
                    <a:schemeClr val="accent1"/>
                  </a:solidFill>
                </a:ln>
                <a:effectLst/>
              </c:spPr>
            </c:marker>
            <c:bubble3D val="0"/>
            <c:extLst>
              <c:ext xmlns:c16="http://schemas.microsoft.com/office/drawing/2014/chart" uri="{C3380CC4-5D6E-409C-BE32-E72D297353CC}">
                <c16:uniqueId val="{0000000A-8DDD-4224-B69D-A314D476AA0E}"/>
              </c:ext>
            </c:extLst>
          </c:dPt>
          <c:dPt>
            <c:idx val="1"/>
            <c:marker>
              <c:symbol val="circle"/>
              <c:size val="5"/>
              <c:spPr>
                <a:solidFill>
                  <a:srgbClr val="00B050"/>
                </a:solidFill>
                <a:ln w="9525">
                  <a:solidFill>
                    <a:schemeClr val="accent1"/>
                  </a:solidFill>
                </a:ln>
                <a:effectLst/>
              </c:spPr>
            </c:marker>
            <c:bubble3D val="0"/>
            <c:extLst>
              <c:ext xmlns:c16="http://schemas.microsoft.com/office/drawing/2014/chart" uri="{C3380CC4-5D6E-409C-BE32-E72D297353CC}">
                <c16:uniqueId val="{00000009-8DDD-4224-B69D-A314D476AA0E}"/>
              </c:ext>
            </c:extLst>
          </c:dPt>
          <c:dPt>
            <c:idx val="2"/>
            <c:marker>
              <c:symbol val="circle"/>
              <c:size val="5"/>
              <c:spPr>
                <a:solidFill>
                  <a:srgbClr val="00B050"/>
                </a:solidFill>
                <a:ln w="9525">
                  <a:solidFill>
                    <a:schemeClr val="accent1"/>
                  </a:solidFill>
                </a:ln>
                <a:effectLst/>
              </c:spPr>
            </c:marker>
            <c:bubble3D val="0"/>
            <c:extLst>
              <c:ext xmlns:c16="http://schemas.microsoft.com/office/drawing/2014/chart" uri="{C3380CC4-5D6E-409C-BE32-E72D297353CC}">
                <c16:uniqueId val="{00000008-8DDD-4224-B69D-A314D476AA0E}"/>
              </c:ext>
            </c:extLst>
          </c:dPt>
          <c:dPt>
            <c:idx val="3"/>
            <c:marker>
              <c:symbol val="circle"/>
              <c:size val="5"/>
              <c:spPr>
                <a:solidFill>
                  <a:srgbClr val="00B050"/>
                </a:solidFill>
                <a:ln w="9525">
                  <a:solidFill>
                    <a:schemeClr val="accent1"/>
                  </a:solidFill>
                </a:ln>
                <a:effectLst/>
              </c:spPr>
            </c:marker>
            <c:bubble3D val="0"/>
            <c:extLst>
              <c:ext xmlns:c16="http://schemas.microsoft.com/office/drawing/2014/chart" uri="{C3380CC4-5D6E-409C-BE32-E72D297353CC}">
                <c16:uniqueId val="{00000007-8DDD-4224-B69D-A314D476AA0E}"/>
              </c:ext>
            </c:extLst>
          </c:dPt>
          <c:dPt>
            <c:idx val="4"/>
            <c:marker>
              <c:symbol val="circle"/>
              <c:size val="5"/>
              <c:spPr>
                <a:solidFill>
                  <a:srgbClr val="00B050"/>
                </a:solidFill>
                <a:ln w="9525">
                  <a:solidFill>
                    <a:schemeClr val="accent1"/>
                  </a:solidFill>
                </a:ln>
                <a:effectLst/>
              </c:spPr>
            </c:marker>
            <c:bubble3D val="0"/>
            <c:extLst>
              <c:ext xmlns:c16="http://schemas.microsoft.com/office/drawing/2014/chart" uri="{C3380CC4-5D6E-409C-BE32-E72D297353CC}">
                <c16:uniqueId val="{00000006-8DDD-4224-B69D-A314D476AA0E}"/>
              </c:ext>
            </c:extLst>
          </c:dPt>
          <c:dPt>
            <c:idx val="5"/>
            <c:marker>
              <c:symbol val="circle"/>
              <c:size val="5"/>
              <c:spPr>
                <a:solidFill>
                  <a:srgbClr val="00B050"/>
                </a:solidFill>
                <a:ln w="9525">
                  <a:solidFill>
                    <a:schemeClr val="accent1"/>
                  </a:solidFill>
                </a:ln>
                <a:effectLst/>
              </c:spPr>
            </c:marker>
            <c:bubble3D val="0"/>
            <c:extLst>
              <c:ext xmlns:c16="http://schemas.microsoft.com/office/drawing/2014/chart" uri="{C3380CC4-5D6E-409C-BE32-E72D297353CC}">
                <c16:uniqueId val="{00000005-8DDD-4224-B69D-A314D476AA0E}"/>
              </c:ext>
            </c:extLst>
          </c:dPt>
          <c:dPt>
            <c:idx val="6"/>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1-8DDD-4224-B69D-A314D476AA0E}"/>
              </c:ext>
            </c:extLst>
          </c:dPt>
          <c:dPt>
            <c:idx val="7"/>
            <c:marker>
              <c:symbol val="circle"/>
              <c:size val="5"/>
              <c:spPr>
                <a:solidFill>
                  <a:srgbClr val="00B050"/>
                </a:solidFill>
                <a:ln w="9525">
                  <a:solidFill>
                    <a:schemeClr val="accent1"/>
                  </a:solidFill>
                </a:ln>
                <a:effectLst/>
              </c:spPr>
            </c:marker>
            <c:bubble3D val="0"/>
            <c:extLst>
              <c:ext xmlns:c16="http://schemas.microsoft.com/office/drawing/2014/chart" uri="{C3380CC4-5D6E-409C-BE32-E72D297353CC}">
                <c16:uniqueId val="{0000000B-8DDD-4224-B69D-A314D476AA0E}"/>
              </c:ext>
            </c:extLst>
          </c:dPt>
          <c:dPt>
            <c:idx val="8"/>
            <c:marker>
              <c:symbol val="circle"/>
              <c:size val="5"/>
              <c:spPr>
                <a:solidFill>
                  <a:srgbClr val="00B050"/>
                </a:solidFill>
                <a:ln w="9525">
                  <a:solidFill>
                    <a:schemeClr val="accent1"/>
                  </a:solidFill>
                </a:ln>
                <a:effectLst/>
              </c:spPr>
            </c:marker>
            <c:bubble3D val="0"/>
            <c:extLst>
              <c:ext xmlns:c16="http://schemas.microsoft.com/office/drawing/2014/chart" uri="{C3380CC4-5D6E-409C-BE32-E72D297353CC}">
                <c16:uniqueId val="{00000004-8DDD-4224-B69D-A314D476AA0E}"/>
              </c:ext>
            </c:extLst>
          </c:dPt>
          <c:dPt>
            <c:idx val="9"/>
            <c:marker>
              <c:symbol val="circle"/>
              <c:size val="5"/>
              <c:spPr>
                <a:solidFill>
                  <a:srgbClr val="92D050"/>
                </a:solidFill>
                <a:ln w="9525">
                  <a:solidFill>
                    <a:schemeClr val="accent1"/>
                  </a:solidFill>
                </a:ln>
                <a:effectLst/>
              </c:spPr>
            </c:marker>
            <c:bubble3D val="0"/>
            <c:extLst>
              <c:ext xmlns:c16="http://schemas.microsoft.com/office/drawing/2014/chart" uri="{C3380CC4-5D6E-409C-BE32-E72D297353CC}">
                <c16:uniqueId val="{00000002-8DDD-4224-B69D-A314D476AA0E}"/>
              </c:ext>
            </c:extLst>
          </c:dPt>
          <c:dPt>
            <c:idx val="10"/>
            <c:marker>
              <c:symbol val="circle"/>
              <c:size val="5"/>
              <c:spPr>
                <a:solidFill>
                  <a:schemeClr val="accent2"/>
                </a:solidFill>
                <a:ln w="9525">
                  <a:solidFill>
                    <a:schemeClr val="accent1"/>
                  </a:solidFill>
                </a:ln>
                <a:effectLst/>
              </c:spPr>
            </c:marker>
            <c:bubble3D val="0"/>
            <c:extLst>
              <c:ext xmlns:c16="http://schemas.microsoft.com/office/drawing/2014/chart" uri="{C3380CC4-5D6E-409C-BE32-E72D297353CC}">
                <c16:uniqueId val="{00000003-8DDD-4224-B69D-A314D476AA0E}"/>
              </c:ext>
            </c:extLst>
          </c:dPt>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Calculs!$M$23:$M$33</c:f>
              <c:numCache>
                <c:formatCode>0%</c:formatCode>
                <c:ptCount val="11"/>
                <c:pt idx="0">
                  <c:v>1</c:v>
                </c:pt>
                <c:pt idx="1">
                  <c:v>1</c:v>
                </c:pt>
                <c:pt idx="2">
                  <c:v>0.99999998279030733</c:v>
                </c:pt>
                <c:pt idx="3">
                  <c:v>1</c:v>
                </c:pt>
                <c:pt idx="4">
                  <c:v>0.99733411934918592</c:v>
                </c:pt>
                <c:pt idx="5">
                  <c:v>0.99204856723479018</c:v>
                </c:pt>
                <c:pt idx="6">
                  <c:v>0.40248019198157897</c:v>
                </c:pt>
                <c:pt idx="7">
                  <c:v>0.96683143671969762</c:v>
                </c:pt>
                <c:pt idx="8">
                  <c:v>0.99822513671512347</c:v>
                </c:pt>
                <c:pt idx="9">
                  <c:v>0.90381481847662348</c:v>
                </c:pt>
                <c:pt idx="10">
                  <c:v>0.71750841844888247</c:v>
                </c:pt>
              </c:numCache>
            </c:numRef>
          </c:val>
          <c:smooth val="0"/>
          <c:extLst>
            <c:ext xmlns:c16="http://schemas.microsoft.com/office/drawing/2014/chart" uri="{C3380CC4-5D6E-409C-BE32-E72D297353CC}">
              <c16:uniqueId val="{00000000-8DDD-4224-B69D-A314D476AA0E}"/>
            </c:ext>
          </c:extLst>
        </c:ser>
        <c:dLbls>
          <c:showLegendKey val="0"/>
          <c:showVal val="0"/>
          <c:showCatName val="0"/>
          <c:showSerName val="0"/>
          <c:showPercent val="0"/>
          <c:showBubbleSize val="0"/>
        </c:dLbls>
        <c:marker val="1"/>
        <c:smooth val="0"/>
        <c:axId val="564111344"/>
        <c:axId val="564109904"/>
      </c:lineChart>
      <c:catAx>
        <c:axId val="5641113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564109904"/>
        <c:crosses val="autoZero"/>
        <c:auto val="1"/>
        <c:lblAlgn val="ctr"/>
        <c:lblOffset val="100"/>
        <c:noMultiLvlLbl val="0"/>
      </c:catAx>
      <c:valAx>
        <c:axId val="564109904"/>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564111344"/>
        <c:crosses val="autoZero"/>
        <c:crossBetween val="between"/>
      </c:valAx>
      <c:spPr>
        <a:solidFill>
          <a:schemeClr val="bg1">
            <a:lumMod val="9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50" b="1" i="0" u="none" strike="noStrike" kern="1200" spc="0" baseline="0">
                <a:solidFill>
                  <a:srgbClr val="0070C0"/>
                </a:solidFill>
                <a:latin typeface="+mn-lt"/>
                <a:ea typeface="+mn-ea"/>
                <a:cs typeface="+mn-cs"/>
              </a:defRPr>
            </a:pPr>
            <a:r>
              <a:rPr lang="fr-FR" sz="1050" b="1">
                <a:solidFill>
                  <a:srgbClr val="0070C0"/>
                </a:solidFill>
              </a:rPr>
              <a:t>Montants</a:t>
            </a:r>
            <a:r>
              <a:rPr lang="fr-FR" sz="1050" b="1" baseline="0">
                <a:solidFill>
                  <a:srgbClr val="0070C0"/>
                </a:solidFill>
              </a:rPr>
              <a:t> des réfactions</a:t>
            </a:r>
            <a:endParaRPr lang="fr-FR" sz="1050" b="1">
              <a:solidFill>
                <a:srgbClr val="0070C0"/>
              </a:solidFill>
            </a:endParaRPr>
          </a:p>
        </c:rich>
      </c:tx>
      <c:overlay val="0"/>
      <c:spPr>
        <a:noFill/>
        <a:ln>
          <a:noFill/>
        </a:ln>
        <a:effectLst/>
      </c:spPr>
      <c:txPr>
        <a:bodyPr rot="0" spcFirstLastPara="1" vertOverflow="ellipsis" vert="horz" wrap="square" anchor="ctr" anchorCtr="1"/>
        <a:lstStyle/>
        <a:p>
          <a:pPr>
            <a:defRPr sz="1050" b="1" i="0" u="none" strike="noStrike" kern="1200" spc="0" baseline="0">
              <a:solidFill>
                <a:srgbClr val="0070C0"/>
              </a:solidFill>
              <a:latin typeface="+mn-lt"/>
              <a:ea typeface="+mn-ea"/>
              <a:cs typeface="+mn-cs"/>
            </a:defRPr>
          </a:pPr>
          <a:endParaRPr lang="fr-FR"/>
        </a:p>
      </c:txPr>
    </c:title>
    <c:autoTitleDeleted val="0"/>
    <c:plotArea>
      <c:layout/>
      <c:barChart>
        <c:barDir val="col"/>
        <c:grouping val="clustered"/>
        <c:varyColors val="0"/>
        <c:ser>
          <c:idx val="1"/>
          <c:order val="0"/>
          <c:tx>
            <c:strRef>
              <c:f>Calculs!$C$22</c:f>
              <c:strCache>
                <c:ptCount val="1"/>
                <c:pt idx="0">
                  <c:v>Pénalités</c:v>
                </c:pt>
              </c:strCache>
            </c:strRef>
          </c:tx>
          <c:spPr>
            <a:solidFill>
              <a:srgbClr val="FFC000"/>
            </a:solidFill>
            <a:ln>
              <a:solidFill>
                <a:schemeClr val="tx1">
                  <a:lumMod val="65000"/>
                  <a:lumOff val="35000"/>
                </a:schemeClr>
              </a:solidFill>
            </a:ln>
            <a:effectLst/>
          </c:spPr>
          <c:invertIfNegative val="0"/>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extLst/>
            </c:numRef>
          </c:cat>
          <c:val>
            <c:numRef>
              <c:f>Calculs!$D$23:$D$33</c:f>
              <c:numCache>
                <c:formatCode>_("€"* #,##0.00_);_("€"* \(#,##0.00\);_("€"* "-"??_);_(@_)</c:formatCode>
                <c:ptCount val="11"/>
                <c:pt idx="0">
                  <c:v>8349.7999999999993</c:v>
                </c:pt>
                <c:pt idx="1">
                  <c:v>29559.119999999995</c:v>
                </c:pt>
                <c:pt idx="2">
                  <c:v>164691.84000000003</c:v>
                </c:pt>
                <c:pt idx="3">
                  <c:v>123406.83</c:v>
                </c:pt>
                <c:pt idx="4">
                  <c:v>114558.56000000001</c:v>
                </c:pt>
                <c:pt idx="5">
                  <c:v>319551.86999999994</c:v>
                </c:pt>
                <c:pt idx="6">
                  <c:v>245004.25</c:v>
                </c:pt>
                <c:pt idx="7">
                  <c:v>110617.38999999998</c:v>
                </c:pt>
                <c:pt idx="8">
                  <c:v>219009.42999999993</c:v>
                </c:pt>
                <c:pt idx="9">
                  <c:v>244055.52</c:v>
                </c:pt>
                <c:pt idx="10">
                  <c:v>144801.84999999998</c:v>
                </c:pt>
              </c:numCache>
              <c:extLst/>
            </c:numRef>
          </c:val>
          <c:extLst>
            <c:ext xmlns:c16="http://schemas.microsoft.com/office/drawing/2014/chart" uri="{C3380CC4-5D6E-409C-BE32-E72D297353CC}">
              <c16:uniqueId val="{00000000-3AE1-47F1-993C-00DA93EEAFB8}"/>
            </c:ext>
          </c:extLst>
        </c:ser>
        <c:dLbls>
          <c:showLegendKey val="0"/>
          <c:showVal val="0"/>
          <c:showCatName val="0"/>
          <c:showSerName val="0"/>
          <c:showPercent val="0"/>
          <c:showBubbleSize val="0"/>
        </c:dLbls>
        <c:gapWidth val="219"/>
        <c:overlap val="-27"/>
        <c:axId val="296153679"/>
        <c:axId val="296150319"/>
      </c:barChart>
      <c:catAx>
        <c:axId val="2961536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296150319"/>
        <c:crosses val="autoZero"/>
        <c:auto val="1"/>
        <c:lblAlgn val="ctr"/>
        <c:lblOffset val="100"/>
        <c:noMultiLvlLbl val="0"/>
      </c:catAx>
      <c:valAx>
        <c:axId val="296150319"/>
        <c:scaling>
          <c:orientation val="minMax"/>
        </c:scaling>
        <c:delete val="0"/>
        <c:axPos val="l"/>
        <c:majorGridlines>
          <c:spPr>
            <a:ln w="9525" cap="flat" cmpd="sng" algn="ctr">
              <a:solidFill>
                <a:schemeClr val="tx1">
                  <a:lumMod val="15000"/>
                  <a:lumOff val="85000"/>
                </a:schemeClr>
              </a:solidFill>
              <a:round/>
            </a:ln>
            <a:effectLst/>
          </c:spPr>
        </c:majorGridlines>
        <c:numFmt formatCode="#,##0\ &quot;€&quot;" sourceLinked="0"/>
        <c:majorTickMark val="none"/>
        <c:minorTickMark val="none"/>
        <c:tickLblPos val="nextTo"/>
        <c:spPr>
          <a:noFill/>
          <a:ln>
            <a:noFill/>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296153679"/>
        <c:crosses val="autoZero"/>
        <c:crossBetween val="between"/>
      </c:valAx>
      <c:spPr>
        <a:solidFill>
          <a:schemeClr val="bg1">
            <a:lumMod val="95000"/>
          </a:schemeClr>
        </a:solidFill>
        <a:ln>
          <a:noFill/>
        </a:ln>
        <a:effectLst/>
      </c:spPr>
    </c:plotArea>
    <c:plotVisOnly val="1"/>
    <c:dispBlanksAs val="gap"/>
    <c:showDLblsOverMax val="0"/>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1" i="0" u="none" strike="noStrike" kern="1200" spc="0" baseline="0">
                <a:solidFill>
                  <a:srgbClr val="0070C0"/>
                </a:solidFill>
                <a:latin typeface="+mn-lt"/>
                <a:ea typeface="+mn-ea"/>
                <a:cs typeface="+mn-cs"/>
              </a:defRPr>
            </a:pPr>
            <a:r>
              <a:rPr lang="fr-FR" sz="900" b="1">
                <a:solidFill>
                  <a:srgbClr val="0070C0"/>
                </a:solidFill>
              </a:rPr>
              <a:t>Taux</a:t>
            </a:r>
            <a:r>
              <a:rPr lang="fr-FR" sz="900" b="1" baseline="0">
                <a:solidFill>
                  <a:srgbClr val="0070C0"/>
                </a:solidFill>
              </a:rPr>
              <a:t> de réfactions</a:t>
            </a:r>
            <a:endParaRPr lang="fr-FR" sz="900" b="1">
              <a:solidFill>
                <a:srgbClr val="0070C0"/>
              </a:solidFill>
            </a:endParaRPr>
          </a:p>
        </c:rich>
      </c:tx>
      <c:overlay val="0"/>
      <c:spPr>
        <a:noFill/>
        <a:ln>
          <a:noFill/>
        </a:ln>
        <a:effectLst/>
      </c:spPr>
      <c:txPr>
        <a:bodyPr rot="0" spcFirstLastPara="1" vertOverflow="ellipsis" vert="horz" wrap="square" anchor="ctr" anchorCtr="1"/>
        <a:lstStyle/>
        <a:p>
          <a:pPr>
            <a:defRPr sz="9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0.16767776576947491"/>
          <c:y val="0.15511119373395785"/>
          <c:w val="0.77794457450836041"/>
          <c:h val="0.75072951159181456"/>
        </c:manualLayout>
      </c:layout>
      <c:lineChart>
        <c:grouping val="standard"/>
        <c:varyColors val="0"/>
        <c:ser>
          <c:idx val="0"/>
          <c:order val="0"/>
          <c:tx>
            <c:strRef>
              <c:f>Calculs!$P$22</c:f>
              <c:strCache>
                <c:ptCount val="1"/>
                <c:pt idx="0">
                  <c:v>Taux de réfactions</c:v>
                </c:pt>
              </c:strCache>
            </c:strRef>
          </c:tx>
          <c:spPr>
            <a:ln w="25400" cap="rnd">
              <a:solidFill>
                <a:schemeClr val="accent1"/>
              </a:solidFill>
              <a:round/>
            </a:ln>
            <a:effectLst/>
          </c:spPr>
          <c:marker>
            <c:symbol val="circle"/>
            <c:size val="5"/>
            <c:spPr>
              <a:solidFill>
                <a:schemeClr val="accent1"/>
              </a:solidFill>
              <a:ln w="9525">
                <a:solidFill>
                  <a:schemeClr val="accent1"/>
                </a:solidFill>
              </a:ln>
              <a:effectLst/>
            </c:spPr>
          </c:marker>
          <c:dLbls>
            <c:dLbl>
              <c:idx val="10"/>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fr-FR"/>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10E-4193-A5FA-39C6AB38839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tx1"/>
                </a:solidFill>
                <a:prstDash val="sysDot"/>
              </a:ln>
              <a:effectLst/>
            </c:spPr>
            <c:trendlineType val="linear"/>
            <c:dispRSqr val="0"/>
            <c:dispEq val="0"/>
          </c:trendline>
          <c:cat>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Calculs!$P$23:$P$33</c:f>
              <c:numCache>
                <c:formatCode>0.00%</c:formatCode>
                <c:ptCount val="11"/>
                <c:pt idx="0">
                  <c:v>3.0541175935787498E-3</c:v>
                </c:pt>
                <c:pt idx="1">
                  <c:v>4.72021056291742E-3</c:v>
                </c:pt>
                <c:pt idx="2">
                  <c:v>1.2549560905797763E-2</c:v>
                </c:pt>
                <c:pt idx="3">
                  <c:v>1.2822185052504128E-2</c:v>
                </c:pt>
                <c:pt idx="4">
                  <c:v>9.4071263824581763E-3</c:v>
                </c:pt>
                <c:pt idx="5">
                  <c:v>1.8667077706438651E-2</c:v>
                </c:pt>
                <c:pt idx="6">
                  <c:v>1.6022343475368614E-2</c:v>
                </c:pt>
                <c:pt idx="7">
                  <c:v>8.5358779033354263E-3</c:v>
                </c:pt>
                <c:pt idx="8">
                  <c:v>1.5737847352435847E-2</c:v>
                </c:pt>
                <c:pt idx="9">
                  <c:v>1.1449445297454036E-2</c:v>
                </c:pt>
                <c:pt idx="10">
                  <c:v>1.4160269147603302E-2</c:v>
                </c:pt>
              </c:numCache>
            </c:numRef>
          </c:val>
          <c:smooth val="0"/>
          <c:extLst>
            <c:ext xmlns:c16="http://schemas.microsoft.com/office/drawing/2014/chart" uri="{C3380CC4-5D6E-409C-BE32-E72D297353CC}">
              <c16:uniqueId val="{00000001-110E-4193-A5FA-39C6AB388395}"/>
            </c:ext>
          </c:extLst>
        </c:ser>
        <c:dLbls>
          <c:showLegendKey val="0"/>
          <c:showVal val="0"/>
          <c:showCatName val="0"/>
          <c:showSerName val="0"/>
          <c:showPercent val="0"/>
          <c:showBubbleSize val="0"/>
        </c:dLbls>
        <c:marker val="1"/>
        <c:smooth val="0"/>
        <c:axId val="564111344"/>
        <c:axId val="564109904"/>
      </c:lineChart>
      <c:catAx>
        <c:axId val="564111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564109904"/>
        <c:crosses val="autoZero"/>
        <c:auto val="1"/>
        <c:lblAlgn val="ctr"/>
        <c:lblOffset val="100"/>
        <c:noMultiLvlLbl val="0"/>
      </c:catAx>
      <c:valAx>
        <c:axId val="564109904"/>
        <c:scaling>
          <c:orientation val="minMax"/>
          <c:max val="8.0000000000000016E-2"/>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564111344"/>
        <c:crosses val="autoZero"/>
        <c:crossBetween val="between"/>
      </c:valAx>
      <c:spPr>
        <a:solidFill>
          <a:schemeClr val="bg1">
            <a:lumMod val="9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9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0.20025152659975803"/>
          <c:y val="0.18334351364837798"/>
          <c:w val="0.73028307956394911"/>
          <c:h val="0.70579867949432951"/>
        </c:manualLayout>
      </c:layout>
      <c:scatterChart>
        <c:scatterStyle val="lineMarker"/>
        <c:varyColors val="0"/>
        <c:ser>
          <c:idx val="0"/>
          <c:order val="0"/>
          <c:tx>
            <c:strRef>
              <c:f>Calculs!$Q$22</c:f>
              <c:strCache>
                <c:ptCount val="1"/>
                <c:pt idx="0">
                  <c:v>Cumul réfactions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dLbl>
              <c:idx val="1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FB7-4CF1-BB7D-56134AB6FACA}"/>
                </c:ext>
              </c:extLst>
            </c:dLbl>
            <c:numFmt formatCode="#,##0\ &quot;€&quot;" sourceLinked="0"/>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rgbClr val="FF0000"/>
                    </a:solidFill>
                    <a:highlight>
                      <a:srgbClr val="FFFF00"/>
                    </a:highlight>
                    <a:latin typeface="+mn-lt"/>
                    <a:ea typeface="+mn-ea"/>
                    <a:cs typeface="+mn-cs"/>
                  </a:defRPr>
                </a:pPr>
                <a:endParaRPr lang="fr-FR"/>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Calculs!$A$23:$A$33</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xVal>
          <c:yVal>
            <c:numRef>
              <c:f>Calculs!$Q$23:$Q$33</c:f>
              <c:numCache>
                <c:formatCode>_("€"* #,##0.00_);_("€"* \(#,##0.00\);_("€"* "-"??_);_(@_)</c:formatCode>
                <c:ptCount val="11"/>
                <c:pt idx="0">
                  <c:v>8349.7999999999993</c:v>
                </c:pt>
                <c:pt idx="1">
                  <c:v>37908.92</c:v>
                </c:pt>
                <c:pt idx="2">
                  <c:v>202600.76</c:v>
                </c:pt>
                <c:pt idx="3">
                  <c:v>326007.59000000003</c:v>
                </c:pt>
                <c:pt idx="4">
                  <c:v>440566.15</c:v>
                </c:pt>
                <c:pt idx="5">
                  <c:v>760118.02</c:v>
                </c:pt>
                <c:pt idx="6">
                  <c:v>1005122.27</c:v>
                </c:pt>
                <c:pt idx="7">
                  <c:v>1115739.6599999999</c:v>
                </c:pt>
                <c:pt idx="8">
                  <c:v>1334749.0899999999</c:v>
                </c:pt>
                <c:pt idx="9">
                  <c:v>1578804.6099999999</c:v>
                </c:pt>
                <c:pt idx="10">
                  <c:v>1723606.46</c:v>
                </c:pt>
              </c:numCache>
            </c:numRef>
          </c:yVal>
          <c:smooth val="0"/>
          <c:extLst>
            <c:ext xmlns:c16="http://schemas.microsoft.com/office/drawing/2014/chart" uri="{C3380CC4-5D6E-409C-BE32-E72D297353CC}">
              <c16:uniqueId val="{00000001-CFB7-4CF1-BB7D-56134AB6FACA}"/>
            </c:ext>
          </c:extLst>
        </c:ser>
        <c:dLbls>
          <c:showLegendKey val="0"/>
          <c:showVal val="0"/>
          <c:showCatName val="0"/>
          <c:showSerName val="0"/>
          <c:showPercent val="0"/>
          <c:showBubbleSize val="0"/>
        </c:dLbls>
        <c:axId val="1537703088"/>
        <c:axId val="1537700688"/>
      </c:scatterChart>
      <c:valAx>
        <c:axId val="1537703088"/>
        <c:scaling>
          <c:orientation val="minMax"/>
          <c:max val="2025"/>
          <c:min val="2015"/>
        </c:scaling>
        <c:delete val="0"/>
        <c:axPos val="b"/>
        <c:majorGridlines>
          <c:spPr>
            <a:ln w="9525" cap="flat" cmpd="sng" algn="ctr">
              <a:no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1537700688"/>
        <c:crosses val="autoZero"/>
        <c:crossBetween val="midCat"/>
        <c:majorUnit val="1"/>
      </c:valAx>
      <c:valAx>
        <c:axId val="1537700688"/>
        <c:scaling>
          <c:orientation val="minMax"/>
        </c:scaling>
        <c:delete val="0"/>
        <c:axPos val="l"/>
        <c:majorGridlines>
          <c:spPr>
            <a:ln w="9525" cap="flat" cmpd="sng" algn="ctr">
              <a:solidFill>
                <a:schemeClr val="tx1">
                  <a:lumMod val="15000"/>
                  <a:lumOff val="85000"/>
                </a:schemeClr>
              </a:solidFill>
              <a:round/>
            </a:ln>
            <a:effectLst/>
          </c:spPr>
        </c:majorGridlines>
        <c:numFmt formatCode="#,##0\ &quot;€&quot;"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1537703088"/>
        <c:crosses val="autoZero"/>
        <c:crossBetween val="midCat"/>
      </c:valAx>
      <c:spPr>
        <a:solidFill>
          <a:schemeClr val="bg1">
            <a:lumMod val="95000"/>
          </a:schemeClr>
        </a:solidFill>
        <a:ln>
          <a:noFill/>
        </a:ln>
        <a:effectLst/>
      </c:spPr>
    </c:plotArea>
    <c:plotVisOnly val="1"/>
    <c:dispBlanksAs val="gap"/>
    <c:showDLblsOverMax val="0"/>
  </c:chart>
  <c:spPr>
    <a:noFill/>
    <a:ln w="9525">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fr-FR" sz="1200" b="1"/>
              <a:t>CA</a:t>
            </a:r>
            <a:r>
              <a:rPr lang="fr-FR" sz="1200" b="1" baseline="0"/>
              <a:t> et marge </a:t>
            </a:r>
            <a:endParaRPr lang="fr-FR" sz="1200" b="1"/>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8.8855828335661691E-2"/>
          <c:y val="0.13703934182899691"/>
          <c:w val="0.80856884024118181"/>
          <c:h val="0.72822529106315959"/>
        </c:manualLayout>
      </c:layout>
      <c:barChart>
        <c:barDir val="col"/>
        <c:grouping val="clustered"/>
        <c:varyColors val="0"/>
        <c:ser>
          <c:idx val="0"/>
          <c:order val="0"/>
          <c:tx>
            <c:strRef>
              <c:f>Calculs!$H$99</c:f>
              <c:strCache>
                <c:ptCount val="1"/>
                <c:pt idx="0">
                  <c:v>CA </c:v>
                </c:pt>
              </c:strCache>
            </c:strRef>
          </c:tx>
          <c:spPr>
            <a:solidFill>
              <a:schemeClr val="accent1"/>
            </a:solidFill>
            <a:ln>
              <a:noFill/>
            </a:ln>
            <a:effectLst/>
          </c:spPr>
          <c:invertIfNegative val="0"/>
          <c:cat>
            <c:strRef>
              <c:f>Calculs!$F$100:$F$120</c:f>
              <c:strCache>
                <c:ptCount val="21"/>
                <c:pt idx="0">
                  <c:v>AV18</c:v>
                </c:pt>
                <c:pt idx="1">
                  <c:v>PR14</c:v>
                </c:pt>
                <c:pt idx="2">
                  <c:v>PH22</c:v>
                </c:pt>
                <c:pt idx="3">
                  <c:v>MDMI</c:v>
                </c:pt>
                <c:pt idx="4">
                  <c:v>DO17</c:v>
                </c:pt>
                <c:pt idx="5">
                  <c:v>MBBE</c:v>
                </c:pt>
                <c:pt idx="6">
                  <c:v>BB21</c:v>
                </c:pt>
                <c:pt idx="7">
                  <c:v>ED17</c:v>
                </c:pt>
                <c:pt idx="8">
                  <c:v>PP20</c:v>
                </c:pt>
                <c:pt idx="9">
                  <c:v>MMCM</c:v>
                </c:pt>
                <c:pt idx="10">
                  <c:v>PG23</c:v>
                </c:pt>
                <c:pt idx="11">
                  <c:v>MDMM</c:v>
                </c:pt>
                <c:pt idx="12">
                  <c:v>PG16</c:v>
                </c:pt>
                <c:pt idx="13">
                  <c:v>MBFR</c:v>
                </c:pt>
                <c:pt idx="14">
                  <c:v>MS19</c:v>
                </c:pt>
                <c:pt idx="15">
                  <c:v>ML23</c:v>
                </c:pt>
                <c:pt idx="16">
                  <c:v>PO23</c:v>
                </c:pt>
                <c:pt idx="17">
                  <c:v>PIEC</c:v>
                </c:pt>
                <c:pt idx="18">
                  <c:v>ES21</c:v>
                </c:pt>
                <c:pt idx="19">
                  <c:v>EVAL</c:v>
                </c:pt>
                <c:pt idx="20">
                  <c:v>CATH</c:v>
                </c:pt>
              </c:strCache>
            </c:strRef>
          </c:cat>
          <c:val>
            <c:numRef>
              <c:f>Calculs!$H$100:$H$120</c:f>
              <c:numCache>
                <c:formatCode>_("€"* #,##0.00_);_("€"* \(#,##0.00\);_("€"* "-"??_);_(@_)</c:formatCode>
                <c:ptCount val="21"/>
                <c:pt idx="0">
                  <c:v>33624664.550000034</c:v>
                </c:pt>
                <c:pt idx="1">
                  <c:v>32441646.399999943</c:v>
                </c:pt>
                <c:pt idx="2">
                  <c:v>21573938.479999993</c:v>
                </c:pt>
                <c:pt idx="3">
                  <c:v>9539538.7799999975</c:v>
                </c:pt>
                <c:pt idx="4">
                  <c:v>6066750.9399999985</c:v>
                </c:pt>
                <c:pt idx="5">
                  <c:v>5624300.4200000009</c:v>
                </c:pt>
                <c:pt idx="6">
                  <c:v>5552140.0100000007</c:v>
                </c:pt>
                <c:pt idx="7">
                  <c:v>5222693.7700000005</c:v>
                </c:pt>
                <c:pt idx="8">
                  <c:v>4581971.7399999993</c:v>
                </c:pt>
                <c:pt idx="9">
                  <c:v>2634114.6</c:v>
                </c:pt>
                <c:pt idx="10">
                  <c:v>2435507.4299999997</c:v>
                </c:pt>
                <c:pt idx="11">
                  <c:v>2196446.1999999993</c:v>
                </c:pt>
                <c:pt idx="12">
                  <c:v>1953012.8600000003</c:v>
                </c:pt>
                <c:pt idx="13">
                  <c:v>1234265.4499999997</c:v>
                </c:pt>
                <c:pt idx="14">
                  <c:v>1020264.18</c:v>
                </c:pt>
                <c:pt idx="15">
                  <c:v>678772.75000000012</c:v>
                </c:pt>
                <c:pt idx="16">
                  <c:v>610376.16999999981</c:v>
                </c:pt>
                <c:pt idx="17">
                  <c:v>573150.89999999991</c:v>
                </c:pt>
                <c:pt idx="18">
                  <c:v>420272.69</c:v>
                </c:pt>
                <c:pt idx="19">
                  <c:v>371655.89</c:v>
                </c:pt>
                <c:pt idx="20">
                  <c:v>87380.39</c:v>
                </c:pt>
              </c:numCache>
            </c:numRef>
          </c:val>
          <c:extLst>
            <c:ext xmlns:c16="http://schemas.microsoft.com/office/drawing/2014/chart" uri="{C3380CC4-5D6E-409C-BE32-E72D297353CC}">
              <c16:uniqueId val="{00000000-952C-404D-A052-54645DE27A5B}"/>
            </c:ext>
          </c:extLst>
        </c:ser>
        <c:ser>
          <c:idx val="1"/>
          <c:order val="1"/>
          <c:tx>
            <c:strRef>
              <c:f>Calculs!$I$99</c:f>
              <c:strCache>
                <c:ptCount val="1"/>
                <c:pt idx="0">
                  <c:v>marge</c:v>
                </c:pt>
              </c:strCache>
            </c:strRef>
          </c:tx>
          <c:spPr>
            <a:solidFill>
              <a:schemeClr val="accent2"/>
            </a:solidFill>
            <a:ln>
              <a:noFill/>
            </a:ln>
            <a:effectLst/>
          </c:spPr>
          <c:invertIfNegative val="0"/>
          <c:cat>
            <c:strRef>
              <c:f>Calculs!$F$100:$F$120</c:f>
              <c:strCache>
                <c:ptCount val="21"/>
                <c:pt idx="0">
                  <c:v>AV18</c:v>
                </c:pt>
                <c:pt idx="1">
                  <c:v>PR14</c:v>
                </c:pt>
                <c:pt idx="2">
                  <c:v>PH22</c:v>
                </c:pt>
                <c:pt idx="3">
                  <c:v>MDMI</c:v>
                </c:pt>
                <c:pt idx="4">
                  <c:v>DO17</c:v>
                </c:pt>
                <c:pt idx="5">
                  <c:v>MBBE</c:v>
                </c:pt>
                <c:pt idx="6">
                  <c:v>BB21</c:v>
                </c:pt>
                <c:pt idx="7">
                  <c:v>ED17</c:v>
                </c:pt>
                <c:pt idx="8">
                  <c:v>PP20</c:v>
                </c:pt>
                <c:pt idx="9">
                  <c:v>MMCM</c:v>
                </c:pt>
                <c:pt idx="10">
                  <c:v>PG23</c:v>
                </c:pt>
                <c:pt idx="11">
                  <c:v>MDMM</c:v>
                </c:pt>
                <c:pt idx="12">
                  <c:v>PG16</c:v>
                </c:pt>
                <c:pt idx="13">
                  <c:v>MBFR</c:v>
                </c:pt>
                <c:pt idx="14">
                  <c:v>MS19</c:v>
                </c:pt>
                <c:pt idx="15">
                  <c:v>ML23</c:v>
                </c:pt>
                <c:pt idx="16">
                  <c:v>PO23</c:v>
                </c:pt>
                <c:pt idx="17">
                  <c:v>PIEC</c:v>
                </c:pt>
                <c:pt idx="18">
                  <c:v>ES21</c:v>
                </c:pt>
                <c:pt idx="19">
                  <c:v>EVAL</c:v>
                </c:pt>
                <c:pt idx="20">
                  <c:v>CATH</c:v>
                </c:pt>
              </c:strCache>
            </c:strRef>
          </c:cat>
          <c:val>
            <c:numRef>
              <c:f>Calculs!$I$100:$I$120</c:f>
              <c:numCache>
                <c:formatCode>_("€"* #,##0.00_);_("€"* \(#,##0.00\);_("€"* "-"??_);_(@_)</c:formatCode>
                <c:ptCount val="21"/>
                <c:pt idx="0">
                  <c:v>10621157.438594989</c:v>
                </c:pt>
                <c:pt idx="1">
                  <c:v>6478247.2896000063</c:v>
                </c:pt>
                <c:pt idx="2">
                  <c:v>5093399.6847406998</c:v>
                </c:pt>
                <c:pt idx="3">
                  <c:v>2816177.9523726637</c:v>
                </c:pt>
                <c:pt idx="4">
                  <c:v>1280141.1332024103</c:v>
                </c:pt>
                <c:pt idx="5">
                  <c:v>1402271.7673000018</c:v>
                </c:pt>
                <c:pt idx="6">
                  <c:v>1864614.7823115031</c:v>
                </c:pt>
                <c:pt idx="7">
                  <c:v>924779.72697181068</c:v>
                </c:pt>
                <c:pt idx="8">
                  <c:v>1352853.4322286909</c:v>
                </c:pt>
                <c:pt idx="9">
                  <c:v>719883.94986487506</c:v>
                </c:pt>
                <c:pt idx="10">
                  <c:v>356994.57185940002</c:v>
                </c:pt>
                <c:pt idx="11">
                  <c:v>442376.4929470006</c:v>
                </c:pt>
                <c:pt idx="12">
                  <c:v>615431.9649166211</c:v>
                </c:pt>
                <c:pt idx="13">
                  <c:v>312727.92421899998</c:v>
                </c:pt>
                <c:pt idx="14">
                  <c:v>379658.41199999995</c:v>
                </c:pt>
                <c:pt idx="15">
                  <c:v>152862.15000000002</c:v>
                </c:pt>
                <c:pt idx="16">
                  <c:v>150880.49401567498</c:v>
                </c:pt>
                <c:pt idx="17">
                  <c:v>145182.15308830002</c:v>
                </c:pt>
                <c:pt idx="18">
                  <c:v>60673.88949999999</c:v>
                </c:pt>
                <c:pt idx="19">
                  <c:v>294872.69750000001</c:v>
                </c:pt>
                <c:pt idx="20">
                  <c:v>14876.787499999999</c:v>
                </c:pt>
              </c:numCache>
            </c:numRef>
          </c:val>
          <c:extLst>
            <c:ext xmlns:c16="http://schemas.microsoft.com/office/drawing/2014/chart" uri="{C3380CC4-5D6E-409C-BE32-E72D297353CC}">
              <c16:uniqueId val="{00000001-952C-404D-A052-54645DE27A5B}"/>
            </c:ext>
          </c:extLst>
        </c:ser>
        <c:dLbls>
          <c:showLegendKey val="0"/>
          <c:showVal val="0"/>
          <c:showCatName val="0"/>
          <c:showSerName val="0"/>
          <c:showPercent val="0"/>
          <c:showBubbleSize val="0"/>
        </c:dLbls>
        <c:gapWidth val="150"/>
        <c:axId val="288306623"/>
        <c:axId val="288299423"/>
      </c:barChart>
      <c:catAx>
        <c:axId val="288306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288299423"/>
        <c:crosses val="autoZero"/>
        <c:auto val="1"/>
        <c:lblAlgn val="ctr"/>
        <c:lblOffset val="100"/>
        <c:noMultiLvlLbl val="0"/>
      </c:catAx>
      <c:valAx>
        <c:axId val="288299423"/>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2883066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0911387946595878E-2"/>
          <c:y val="5.4516371187831932E-2"/>
          <c:w val="0.96204143082495475"/>
          <c:h val="0.83338080638711354"/>
        </c:manualLayout>
      </c:layout>
      <c:barChart>
        <c:barDir val="col"/>
        <c:grouping val="clustered"/>
        <c:varyColors val="0"/>
        <c:ser>
          <c:idx val="0"/>
          <c:order val="0"/>
          <c:tx>
            <c:strRef>
              <c:f>Calculs!$I$75</c:f>
              <c:strCache>
                <c:ptCount val="1"/>
                <c:pt idx="0">
                  <c:v>Fréquence</c:v>
                </c:pt>
              </c:strCache>
            </c:strRef>
          </c:tx>
          <c:spPr>
            <a:solidFill>
              <a:schemeClr val="accent1"/>
            </a:solidFill>
            <a:ln>
              <a:noFill/>
            </a:ln>
            <a:effectLst/>
          </c:spPr>
          <c:invertIfNegative val="0"/>
          <c:dPt>
            <c:idx val="3"/>
            <c:invertIfNegative val="0"/>
            <c:bubble3D val="0"/>
            <c:spPr>
              <a:solidFill>
                <a:srgbClr val="FF0000"/>
              </a:solidFill>
              <a:ln>
                <a:noFill/>
              </a:ln>
              <a:effectLst/>
            </c:spPr>
            <c:extLst>
              <c:ext xmlns:c16="http://schemas.microsoft.com/office/drawing/2014/chart" uri="{C3380CC4-5D6E-409C-BE32-E72D297353CC}">
                <c16:uniqueId val="{00000001-A6DA-4E02-8C7B-B4FC9C9788CB}"/>
              </c:ext>
            </c:extLst>
          </c:dPt>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Calculs!$F$76:$F$86</c:f>
              <c:strCache>
                <c:ptCount val="11"/>
                <c:pt idx="0">
                  <c:v>BB21</c:v>
                </c:pt>
                <c:pt idx="1">
                  <c:v>PG23</c:v>
                </c:pt>
                <c:pt idx="2">
                  <c:v>PH22</c:v>
                </c:pt>
                <c:pt idx="3">
                  <c:v>ED17</c:v>
                </c:pt>
                <c:pt idx="4">
                  <c:v>PR14</c:v>
                </c:pt>
                <c:pt idx="5">
                  <c:v>PO23</c:v>
                </c:pt>
                <c:pt idx="6">
                  <c:v>ML23</c:v>
                </c:pt>
                <c:pt idx="7">
                  <c:v>MDMM</c:v>
                </c:pt>
                <c:pt idx="8">
                  <c:v>PP20</c:v>
                </c:pt>
                <c:pt idx="9">
                  <c:v>PG16</c:v>
                </c:pt>
                <c:pt idx="10">
                  <c:v>AV18</c:v>
                </c:pt>
              </c:strCache>
            </c:strRef>
          </c:cat>
          <c:val>
            <c:numRef>
              <c:f>Calculs!$I$76:$I$86</c:f>
              <c:numCache>
                <c:formatCode>0%</c:formatCode>
                <c:ptCount val="11"/>
                <c:pt idx="0">
                  <c:v>0.35398230088495575</c:v>
                </c:pt>
                <c:pt idx="1">
                  <c:v>0.19047619047619047</c:v>
                </c:pt>
                <c:pt idx="2">
                  <c:v>0.12214983713355049</c:v>
                </c:pt>
                <c:pt idx="3">
                  <c:v>0.10561056105610561</c:v>
                </c:pt>
                <c:pt idx="4">
                  <c:v>0.10199789695057834</c:v>
                </c:pt>
                <c:pt idx="5">
                  <c:v>0.08</c:v>
                </c:pt>
                <c:pt idx="6">
                  <c:v>6.6666666666666666E-2</c:v>
                </c:pt>
                <c:pt idx="7">
                  <c:v>5.3719008264462811E-2</c:v>
                </c:pt>
                <c:pt idx="8">
                  <c:v>4.716981132075472E-2</c:v>
                </c:pt>
                <c:pt idx="9">
                  <c:v>4.6296296296296294E-2</c:v>
                </c:pt>
                <c:pt idx="10">
                  <c:v>4.5707472178060413E-2</c:v>
                </c:pt>
              </c:numCache>
            </c:numRef>
          </c:val>
          <c:extLst>
            <c:ext xmlns:c16="http://schemas.microsoft.com/office/drawing/2014/chart" uri="{C3380CC4-5D6E-409C-BE32-E72D297353CC}">
              <c16:uniqueId val="{00000000-A6DA-4E02-8C7B-B4FC9C9788CB}"/>
            </c:ext>
          </c:extLst>
        </c:ser>
        <c:dLbls>
          <c:showLegendKey val="0"/>
          <c:showVal val="0"/>
          <c:showCatName val="0"/>
          <c:showSerName val="0"/>
          <c:showPercent val="0"/>
          <c:showBubbleSize val="0"/>
        </c:dLbls>
        <c:gapWidth val="219"/>
        <c:overlap val="-27"/>
        <c:axId val="416217312"/>
        <c:axId val="416218272"/>
      </c:barChart>
      <c:catAx>
        <c:axId val="4162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400" b="0" i="0" u="none" strike="noStrike" kern="1200" baseline="0">
                <a:solidFill>
                  <a:schemeClr val="tx1">
                    <a:lumMod val="65000"/>
                    <a:lumOff val="35000"/>
                  </a:schemeClr>
                </a:solidFill>
                <a:latin typeface="+mn-lt"/>
                <a:ea typeface="+mn-ea"/>
                <a:cs typeface="+mn-cs"/>
              </a:defRPr>
            </a:pPr>
            <a:endParaRPr lang="fr-FR"/>
          </a:p>
        </c:txPr>
        <c:crossAx val="416218272"/>
        <c:crosses val="autoZero"/>
        <c:auto val="1"/>
        <c:lblAlgn val="ctr"/>
        <c:lblOffset val="100"/>
        <c:noMultiLvlLbl val="0"/>
      </c:catAx>
      <c:valAx>
        <c:axId val="416218272"/>
        <c:scaling>
          <c:orientation val="minMax"/>
        </c:scaling>
        <c:delete val="1"/>
        <c:axPos val="l"/>
        <c:numFmt formatCode="0%" sourceLinked="1"/>
        <c:majorTickMark val="none"/>
        <c:minorTickMark val="none"/>
        <c:tickLblPos val="nextTo"/>
        <c:crossAx val="4162173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1" i="0" u="none" strike="noStrike" kern="1200" spc="0" baseline="0">
                <a:solidFill>
                  <a:srgbClr val="0070C0"/>
                </a:solidFill>
                <a:latin typeface="+mn-lt"/>
                <a:ea typeface="+mn-ea"/>
                <a:cs typeface="+mn-cs"/>
              </a:defRPr>
            </a:pPr>
            <a:r>
              <a:rPr lang="fr-FR" sz="900" b="1" dirty="0">
                <a:solidFill>
                  <a:srgbClr val="0070C0"/>
                </a:solidFill>
              </a:rPr>
              <a:t>Fréquence</a:t>
            </a:r>
            <a:r>
              <a:rPr lang="fr-FR" sz="900" b="1" baseline="0" dirty="0">
                <a:solidFill>
                  <a:srgbClr val="0070C0"/>
                </a:solidFill>
              </a:rPr>
              <a:t> des pénalités</a:t>
            </a:r>
            <a:endParaRPr lang="fr-FR" sz="900" b="1" dirty="0">
              <a:solidFill>
                <a:srgbClr val="0070C0"/>
              </a:solidFill>
            </a:endParaRPr>
          </a:p>
        </c:rich>
      </c:tx>
      <c:overlay val="0"/>
      <c:spPr>
        <a:noFill/>
        <a:ln>
          <a:noFill/>
        </a:ln>
        <a:effectLst/>
      </c:spPr>
      <c:txPr>
        <a:bodyPr rot="0" spcFirstLastPara="1" vertOverflow="ellipsis" vert="horz" wrap="square" anchor="ctr" anchorCtr="1"/>
        <a:lstStyle/>
        <a:p>
          <a:pPr>
            <a:defRPr sz="9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8.8855828335661691E-2"/>
          <c:y val="0.13703934182899691"/>
          <c:w val="0.87996814770020082"/>
          <c:h val="0.72822529106315959"/>
        </c:manualLayout>
      </c:layout>
      <c:barChart>
        <c:barDir val="col"/>
        <c:grouping val="clustered"/>
        <c:varyColors val="0"/>
        <c:ser>
          <c:idx val="2"/>
          <c:order val="0"/>
          <c:tx>
            <c:strRef>
              <c:f>Calculs!$D$75</c:f>
              <c:strCache>
                <c:ptCount val="1"/>
                <c:pt idx="0">
                  <c:v>Fréquence</c:v>
                </c:pt>
              </c:strCache>
            </c:strRef>
          </c:tx>
          <c:spPr>
            <a:solidFill>
              <a:srgbClr val="0070C0"/>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CDB4-4CCB-BFD6-19D47AD4643F}"/>
              </c:ext>
            </c:extLst>
          </c:dPt>
          <c:dLbls>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Calculs!$A$76:$A$85</c:f>
              <c:strCache>
                <c:ptCount val="10"/>
                <c:pt idx="0">
                  <c:v>ED17</c:v>
                </c:pt>
                <c:pt idx="1">
                  <c:v>MBFR</c:v>
                </c:pt>
                <c:pt idx="2">
                  <c:v>AV18</c:v>
                </c:pt>
                <c:pt idx="3">
                  <c:v>PG23</c:v>
                </c:pt>
                <c:pt idx="4">
                  <c:v>PP20</c:v>
                </c:pt>
                <c:pt idx="5">
                  <c:v>PH22</c:v>
                </c:pt>
                <c:pt idx="6">
                  <c:v>PG16</c:v>
                </c:pt>
                <c:pt idx="7">
                  <c:v>MDMI</c:v>
                </c:pt>
                <c:pt idx="8">
                  <c:v>MBBE</c:v>
                </c:pt>
                <c:pt idx="9">
                  <c:v>DO17</c:v>
                </c:pt>
              </c:strCache>
              <c:extLst/>
            </c:strRef>
          </c:cat>
          <c:val>
            <c:numRef>
              <c:f>Calculs!$D$76:$D$85</c:f>
              <c:numCache>
                <c:formatCode>0.0%</c:formatCode>
                <c:ptCount val="10"/>
                <c:pt idx="0">
                  <c:v>0.27392739273927391</c:v>
                </c:pt>
                <c:pt idx="1">
                  <c:v>5.2238805970149252E-2</c:v>
                </c:pt>
                <c:pt idx="2">
                  <c:v>3.3783783783783786E-2</c:v>
                </c:pt>
                <c:pt idx="3">
                  <c:v>2.8571428571428571E-2</c:v>
                </c:pt>
                <c:pt idx="4">
                  <c:v>2.8301886792452831E-2</c:v>
                </c:pt>
                <c:pt idx="5">
                  <c:v>2.1172638436482084E-2</c:v>
                </c:pt>
                <c:pt idx="6">
                  <c:v>1.8518518518518517E-2</c:v>
                </c:pt>
                <c:pt idx="7">
                  <c:v>1.5250544662309368E-2</c:v>
                </c:pt>
                <c:pt idx="8">
                  <c:v>3.838771593090211E-3</c:v>
                </c:pt>
                <c:pt idx="9">
                  <c:v>1.5349194167306216E-3</c:v>
                </c:pt>
              </c:numCache>
              <c:extLst/>
            </c:numRef>
          </c:val>
          <c:extLst>
            <c:ext xmlns:c16="http://schemas.microsoft.com/office/drawing/2014/chart" uri="{C3380CC4-5D6E-409C-BE32-E72D297353CC}">
              <c16:uniqueId val="{00000000-CDB4-4CCB-BFD6-19D47AD4643F}"/>
            </c:ext>
          </c:extLst>
        </c:ser>
        <c:dLbls>
          <c:showLegendKey val="0"/>
          <c:showVal val="0"/>
          <c:showCatName val="0"/>
          <c:showSerName val="0"/>
          <c:showPercent val="0"/>
          <c:showBubbleSize val="0"/>
        </c:dLbls>
        <c:gapWidth val="150"/>
        <c:axId val="288306623"/>
        <c:axId val="288299423"/>
      </c:barChart>
      <c:catAx>
        <c:axId val="288306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500" b="0" i="0" u="none" strike="noStrike" kern="1200" baseline="0">
                <a:solidFill>
                  <a:schemeClr val="tx1">
                    <a:lumMod val="65000"/>
                    <a:lumOff val="35000"/>
                  </a:schemeClr>
                </a:solidFill>
                <a:latin typeface="+mn-lt"/>
                <a:ea typeface="+mn-ea"/>
                <a:cs typeface="+mn-cs"/>
              </a:defRPr>
            </a:pPr>
            <a:endParaRPr lang="fr-FR"/>
          </a:p>
        </c:txPr>
        <c:crossAx val="288299423"/>
        <c:crosses val="autoZero"/>
        <c:auto val="1"/>
        <c:lblAlgn val="ctr"/>
        <c:lblOffset val="100"/>
        <c:noMultiLvlLbl val="0"/>
      </c:catAx>
      <c:valAx>
        <c:axId val="288299423"/>
        <c:scaling>
          <c:orientation val="minMax"/>
        </c:scaling>
        <c:delete val="1"/>
        <c:axPos val="l"/>
        <c:numFmt formatCode="0.0%" sourceLinked="1"/>
        <c:majorTickMark val="none"/>
        <c:minorTickMark val="none"/>
        <c:tickLblPos val="nextTo"/>
        <c:crossAx val="2883066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1" i="0" u="none" strike="noStrike" kern="1200" spc="0" baseline="0">
                <a:solidFill>
                  <a:srgbClr val="0070C0"/>
                </a:solidFill>
                <a:latin typeface="+mn-lt"/>
                <a:ea typeface="+mn-ea"/>
                <a:cs typeface="+mn-cs"/>
              </a:defRPr>
            </a:pPr>
            <a:r>
              <a:rPr lang="fr-FR" sz="900" b="1" dirty="0">
                <a:solidFill>
                  <a:srgbClr val="0070C0"/>
                </a:solidFill>
              </a:rPr>
              <a:t>Fréquence</a:t>
            </a:r>
            <a:r>
              <a:rPr lang="fr-FR" sz="900" b="1" baseline="0" dirty="0">
                <a:solidFill>
                  <a:srgbClr val="0070C0"/>
                </a:solidFill>
              </a:rPr>
              <a:t> des réfactions</a:t>
            </a:r>
            <a:endParaRPr lang="fr-FR" sz="900" b="1" dirty="0">
              <a:solidFill>
                <a:srgbClr val="0070C0"/>
              </a:solidFill>
            </a:endParaRPr>
          </a:p>
        </c:rich>
      </c:tx>
      <c:overlay val="0"/>
      <c:spPr>
        <a:noFill/>
        <a:ln>
          <a:noFill/>
        </a:ln>
        <a:effectLst/>
      </c:spPr>
      <c:txPr>
        <a:bodyPr rot="0" spcFirstLastPara="1" vertOverflow="ellipsis" vert="horz" wrap="square" anchor="ctr" anchorCtr="1"/>
        <a:lstStyle/>
        <a:p>
          <a:pPr>
            <a:defRPr sz="900" b="1" i="0" u="none" strike="noStrike" kern="1200" spc="0" baseline="0">
              <a:solidFill>
                <a:srgbClr val="0070C0"/>
              </a:solidFill>
              <a:latin typeface="+mn-lt"/>
              <a:ea typeface="+mn-ea"/>
              <a:cs typeface="+mn-cs"/>
            </a:defRPr>
          </a:pPr>
          <a:endParaRPr lang="fr-FR"/>
        </a:p>
      </c:txPr>
    </c:title>
    <c:autoTitleDeleted val="0"/>
    <c:plotArea>
      <c:layout>
        <c:manualLayout>
          <c:layoutTarget val="inner"/>
          <c:xMode val="edge"/>
          <c:yMode val="edge"/>
          <c:x val="3.982118939630571E-2"/>
          <c:y val="0.16359959364789897"/>
          <c:w val="0.92900278493885913"/>
          <c:h val="0.65198373165312273"/>
        </c:manualLayout>
      </c:layout>
      <c:barChart>
        <c:barDir val="col"/>
        <c:grouping val="clustered"/>
        <c:varyColors val="0"/>
        <c:ser>
          <c:idx val="2"/>
          <c:order val="0"/>
          <c:tx>
            <c:strRef>
              <c:f>Calculs!$N$75</c:f>
              <c:strCache>
                <c:ptCount val="1"/>
                <c:pt idx="0">
                  <c:v>Fréquence</c:v>
                </c:pt>
              </c:strCache>
            </c:strRef>
          </c:tx>
          <c:spPr>
            <a:solidFill>
              <a:srgbClr val="0070C0"/>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2-85A8-4895-A325-BEFB06822956}"/>
              </c:ext>
            </c:extLst>
          </c:dPt>
          <c:dLbls>
            <c:spPr>
              <a:noFill/>
              <a:ln>
                <a:noFill/>
              </a:ln>
              <a:effectLst/>
            </c:spPr>
            <c:txPr>
              <a:bodyPr rot="0" spcFirstLastPara="1" vertOverflow="ellipsis" vert="horz" wrap="square" lIns="38100" tIns="19050" rIns="38100" bIns="19050" anchor="ctr" anchorCtr="1">
                <a:spAutoFit/>
              </a:bodyPr>
              <a:lstStyle/>
              <a:p>
                <a:pPr>
                  <a:defRPr sz="4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Calculs!$A$76:$A$97</c:f>
              <c:strCache>
                <c:ptCount val="22"/>
                <c:pt idx="0">
                  <c:v>ED17</c:v>
                </c:pt>
                <c:pt idx="1">
                  <c:v>MBFR</c:v>
                </c:pt>
                <c:pt idx="2">
                  <c:v>AV18</c:v>
                </c:pt>
                <c:pt idx="3">
                  <c:v>PG23</c:v>
                </c:pt>
                <c:pt idx="4">
                  <c:v>PP20</c:v>
                </c:pt>
                <c:pt idx="5">
                  <c:v>PH22</c:v>
                </c:pt>
                <c:pt idx="6">
                  <c:v>PG16</c:v>
                </c:pt>
                <c:pt idx="7">
                  <c:v>MDMI</c:v>
                </c:pt>
                <c:pt idx="8">
                  <c:v>MBBE</c:v>
                </c:pt>
                <c:pt idx="9">
                  <c:v>DO17</c:v>
                </c:pt>
                <c:pt idx="10">
                  <c:v>PR14</c:v>
                </c:pt>
                <c:pt idx="11">
                  <c:v>MDMM</c:v>
                </c:pt>
                <c:pt idx="12">
                  <c:v>CATH</c:v>
                </c:pt>
                <c:pt idx="13">
                  <c:v>PIEC</c:v>
                </c:pt>
                <c:pt idx="14">
                  <c:v>EVAL</c:v>
                </c:pt>
                <c:pt idx="15">
                  <c:v>MS19</c:v>
                </c:pt>
                <c:pt idx="16">
                  <c:v>BB21</c:v>
                </c:pt>
                <c:pt idx="17">
                  <c:v>ES21</c:v>
                </c:pt>
                <c:pt idx="18">
                  <c:v>PO23</c:v>
                </c:pt>
                <c:pt idx="19">
                  <c:v>ML23</c:v>
                </c:pt>
                <c:pt idx="20">
                  <c:v>MMCM</c:v>
                </c:pt>
                <c:pt idx="21">
                  <c:v>DO24</c:v>
                </c:pt>
              </c:strCache>
            </c:strRef>
          </c:cat>
          <c:val>
            <c:numRef>
              <c:f>Calculs!$N$76:$N$97</c:f>
              <c:numCache>
                <c:formatCode>0%</c:formatCode>
                <c:ptCount val="22"/>
                <c:pt idx="0">
                  <c:v>0.15686274509803921</c:v>
                </c:pt>
                <c:pt idx="1">
                  <c:v>0.13274336283185842</c:v>
                </c:pt>
                <c:pt idx="2">
                  <c:v>0.12052117263843648</c:v>
                </c:pt>
                <c:pt idx="3">
                  <c:v>9.7791798107255523E-2</c:v>
                </c:pt>
                <c:pt idx="4">
                  <c:v>0.08</c:v>
                </c:pt>
                <c:pt idx="5">
                  <c:v>7.5471698113207544E-2</c:v>
                </c:pt>
                <c:pt idx="6">
                  <c:v>6.1420345489443376E-2</c:v>
                </c:pt>
                <c:pt idx="7">
                  <c:v>5.8426073131955483E-2</c:v>
                </c:pt>
                <c:pt idx="8">
                  <c:v>5.5555555555555552E-2</c:v>
                </c:pt>
                <c:pt idx="9">
                  <c:v>4.7619047619047616E-2</c:v>
                </c:pt>
                <c:pt idx="10">
                  <c:v>4.5751633986928102E-2</c:v>
                </c:pt>
                <c:pt idx="11">
                  <c:v>3.9603960396039604E-2</c:v>
                </c:pt>
                <c:pt idx="12">
                  <c:v>3.3333333333333333E-2</c:v>
                </c:pt>
                <c:pt idx="13">
                  <c:v>2.9411764705882353E-2</c:v>
                </c:pt>
                <c:pt idx="14">
                  <c:v>2.7777777777777776E-2</c:v>
                </c:pt>
                <c:pt idx="15">
                  <c:v>1.9417475728155338E-2</c:v>
                </c:pt>
                <c:pt idx="16">
                  <c:v>1.824817518248175E-2</c:v>
                </c:pt>
                <c:pt idx="17">
                  <c:v>1.4925373134328358E-2</c:v>
                </c:pt>
                <c:pt idx="18">
                  <c:v>9.9769762087490409E-3</c:v>
                </c:pt>
                <c:pt idx="19">
                  <c:v>0</c:v>
                </c:pt>
                <c:pt idx="20">
                  <c:v>0</c:v>
                </c:pt>
                <c:pt idx="21">
                  <c:v>0</c:v>
                </c:pt>
              </c:numCache>
            </c:numRef>
          </c:val>
          <c:extLst>
            <c:ext xmlns:c16="http://schemas.microsoft.com/office/drawing/2014/chart" uri="{C3380CC4-5D6E-409C-BE32-E72D297353CC}">
              <c16:uniqueId val="{00000000-85A8-4895-A325-BEFB06822956}"/>
            </c:ext>
          </c:extLst>
        </c:ser>
        <c:dLbls>
          <c:showLegendKey val="0"/>
          <c:showVal val="0"/>
          <c:showCatName val="0"/>
          <c:showSerName val="0"/>
          <c:showPercent val="0"/>
          <c:showBubbleSize val="0"/>
        </c:dLbls>
        <c:gapWidth val="150"/>
        <c:axId val="288306623"/>
        <c:axId val="288299423"/>
      </c:barChart>
      <c:catAx>
        <c:axId val="288306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400" b="0" i="0" u="none" strike="noStrike" kern="1200" baseline="0">
                <a:solidFill>
                  <a:schemeClr val="tx1">
                    <a:lumMod val="65000"/>
                    <a:lumOff val="35000"/>
                  </a:schemeClr>
                </a:solidFill>
                <a:latin typeface="+mn-lt"/>
                <a:ea typeface="+mn-ea"/>
                <a:cs typeface="+mn-cs"/>
              </a:defRPr>
            </a:pPr>
            <a:endParaRPr lang="fr-FR"/>
          </a:p>
        </c:txPr>
        <c:crossAx val="288299423"/>
        <c:crosses val="autoZero"/>
        <c:auto val="1"/>
        <c:lblAlgn val="ctr"/>
        <c:lblOffset val="100"/>
        <c:noMultiLvlLbl val="0"/>
      </c:catAx>
      <c:valAx>
        <c:axId val="288299423"/>
        <c:scaling>
          <c:orientation val="minMax"/>
        </c:scaling>
        <c:delete val="1"/>
        <c:axPos val="l"/>
        <c:numFmt formatCode="0%" sourceLinked="1"/>
        <c:majorTickMark val="none"/>
        <c:minorTickMark val="none"/>
        <c:tickLblPos val="nextTo"/>
        <c:crossAx val="288306623"/>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[00_arrêté comptable_avec_ETDI.xlsm]problemes reserves!Tableau croisé dynamique2</c:name>
    <c:fmtId val="7"/>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Motif</a:t>
            </a:r>
            <a:r>
              <a:rPr lang="en-US" b="1" baseline="0"/>
              <a:t>s des réserves</a:t>
            </a:r>
            <a:endParaRPr lang="en-US"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tx2"/>
          </a:solidFill>
          <a:ln>
            <a:noFill/>
          </a:ln>
          <a:effectLst/>
        </c:spPr>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tx2"/>
          </a:solidFill>
          <a:ln>
            <a:noFill/>
          </a:ln>
          <a:effectLst/>
        </c:spPr>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tx2"/>
          </a:solidFill>
          <a:ln>
            <a:noFill/>
          </a:ln>
          <a:effectLst/>
        </c:spPr>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4633242923541994E-2"/>
          <c:y val="0.22511437385961205"/>
          <c:w val="0.90440347460361081"/>
          <c:h val="0.46482710572515473"/>
        </c:manualLayout>
      </c:layout>
      <c:barChart>
        <c:barDir val="col"/>
        <c:grouping val="clustered"/>
        <c:varyColors val="0"/>
        <c:ser>
          <c:idx val="0"/>
          <c:order val="0"/>
          <c:tx>
            <c:strRef>
              <c:f>'problemes reserves'!$B$3</c:f>
              <c:strCache>
                <c:ptCount val="1"/>
                <c:pt idx="0">
                  <c:v>Nombre</c:v>
                </c:pt>
              </c:strCache>
            </c:strRef>
          </c:tx>
          <c:spPr>
            <a:solidFill>
              <a:schemeClr val="accent1"/>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341C-4277-BFD8-90051C197503}"/>
              </c:ext>
            </c:extLst>
          </c:dPt>
          <c:dPt>
            <c:idx val="1"/>
            <c:invertIfNegative val="0"/>
            <c:bubble3D val="0"/>
            <c:spPr>
              <a:solidFill>
                <a:srgbClr val="FFDF79"/>
              </a:solidFill>
              <a:ln>
                <a:noFill/>
              </a:ln>
              <a:effectLst/>
            </c:spPr>
            <c:extLst>
              <c:ext xmlns:c16="http://schemas.microsoft.com/office/drawing/2014/chart" uri="{C3380CC4-5D6E-409C-BE32-E72D297353CC}">
                <c16:uniqueId val="{00000004-341C-4277-BFD8-90051C19750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'problemes reserves'!$A$4:$A$16</c:f>
              <c:strCache>
                <c:ptCount val="12"/>
                <c:pt idx="0">
                  <c:v>Problèmes Documentaires</c:v>
                </c:pt>
                <c:pt idx="1">
                  <c:v>Prestation Non Réalisée</c:v>
                </c:pt>
                <c:pt idx="2">
                  <c:v>Problèmes Qualité/Conformité</c:v>
                </c:pt>
                <c:pt idx="3">
                  <c:v>Livraison/Approvisionnement </c:v>
                </c:pt>
                <c:pt idx="4">
                  <c:v>Problèmes Essais/Contrôles</c:v>
                </c:pt>
                <c:pt idx="5">
                  <c:v>Absence de motif</c:v>
                </c:pt>
                <c:pt idx="6">
                  <c:v>Autre</c:v>
                </c:pt>
                <c:pt idx="7">
                  <c:v>Prestation Non terminée</c:v>
                </c:pt>
                <c:pt idx="8">
                  <c:v>Mauvais fonctionnement</c:v>
                </c:pt>
                <c:pt idx="9">
                  <c:v>Retards </c:v>
                </c:pt>
                <c:pt idx="10">
                  <c:v>Prestation Partiellement réalisée</c:v>
                </c:pt>
                <c:pt idx="11">
                  <c:v>Solution technique non validée</c:v>
                </c:pt>
              </c:strCache>
            </c:strRef>
          </c:cat>
          <c:val>
            <c:numRef>
              <c:f>'problemes reserves'!$B$4:$B$16</c:f>
              <c:numCache>
                <c:formatCode>General</c:formatCode>
                <c:ptCount val="12"/>
                <c:pt idx="0">
                  <c:v>98</c:v>
                </c:pt>
                <c:pt idx="1">
                  <c:v>77</c:v>
                </c:pt>
                <c:pt idx="2">
                  <c:v>30</c:v>
                </c:pt>
                <c:pt idx="3">
                  <c:v>26</c:v>
                </c:pt>
                <c:pt idx="4">
                  <c:v>25</c:v>
                </c:pt>
                <c:pt idx="5">
                  <c:v>23</c:v>
                </c:pt>
                <c:pt idx="6">
                  <c:v>23</c:v>
                </c:pt>
                <c:pt idx="7">
                  <c:v>15</c:v>
                </c:pt>
                <c:pt idx="8">
                  <c:v>4</c:v>
                </c:pt>
                <c:pt idx="9">
                  <c:v>4</c:v>
                </c:pt>
                <c:pt idx="10">
                  <c:v>3</c:v>
                </c:pt>
                <c:pt idx="11">
                  <c:v>2</c:v>
                </c:pt>
              </c:numCache>
            </c:numRef>
          </c:val>
          <c:extLst>
            <c:ext xmlns:c16="http://schemas.microsoft.com/office/drawing/2014/chart" uri="{C3380CC4-5D6E-409C-BE32-E72D297353CC}">
              <c16:uniqueId val="{00000002-341C-4277-BFD8-90051C197503}"/>
            </c:ext>
          </c:extLst>
        </c:ser>
        <c:ser>
          <c:idx val="1"/>
          <c:order val="1"/>
          <c:tx>
            <c:strRef>
              <c:f>'problemes reserves'!$C$3</c:f>
              <c:strCache>
                <c:ptCount val="1"/>
                <c:pt idx="0">
                  <c:v>Nombre de Type de Réserves</c:v>
                </c:pt>
              </c:strCache>
            </c:strRef>
          </c:tx>
          <c:spPr>
            <a:solidFill>
              <a:schemeClr val="accent2"/>
            </a:solidFill>
            <a:ln>
              <a:noFill/>
            </a:ln>
            <a:effectLst/>
          </c:spPr>
          <c:invertIfNegative val="0"/>
          <c:cat>
            <c:strRef>
              <c:f>'problemes reserves'!$A$4:$A$16</c:f>
              <c:strCache>
                <c:ptCount val="12"/>
                <c:pt idx="0">
                  <c:v>Problèmes Documentaires</c:v>
                </c:pt>
                <c:pt idx="1">
                  <c:v>Prestation Non Réalisée</c:v>
                </c:pt>
                <c:pt idx="2">
                  <c:v>Problèmes Qualité/Conformité</c:v>
                </c:pt>
                <c:pt idx="3">
                  <c:v>Livraison/Approvisionnement </c:v>
                </c:pt>
                <c:pt idx="4">
                  <c:v>Problèmes Essais/Contrôles</c:v>
                </c:pt>
                <c:pt idx="5">
                  <c:v>Absence de motif</c:v>
                </c:pt>
                <c:pt idx="6">
                  <c:v>Autre</c:v>
                </c:pt>
                <c:pt idx="7">
                  <c:v>Prestation Non terminée</c:v>
                </c:pt>
                <c:pt idx="8">
                  <c:v>Mauvais fonctionnement</c:v>
                </c:pt>
                <c:pt idx="9">
                  <c:v>Retards </c:v>
                </c:pt>
                <c:pt idx="10">
                  <c:v>Prestation Partiellement réalisée</c:v>
                </c:pt>
                <c:pt idx="11">
                  <c:v>Solution technique non validée</c:v>
                </c:pt>
              </c:strCache>
            </c:strRef>
          </c:cat>
          <c:val>
            <c:numRef>
              <c:f>'problemes reserves'!$C$4:$C$16</c:f>
              <c:numCache>
                <c:formatCode>0.00%</c:formatCode>
                <c:ptCount val="12"/>
                <c:pt idx="0">
                  <c:v>0.29696969696969699</c:v>
                </c:pt>
                <c:pt idx="1">
                  <c:v>0.23333333333333334</c:v>
                </c:pt>
                <c:pt idx="2">
                  <c:v>9.0909090909090912E-2</c:v>
                </c:pt>
                <c:pt idx="3">
                  <c:v>7.8787878787878782E-2</c:v>
                </c:pt>
                <c:pt idx="4">
                  <c:v>7.575757575757576E-2</c:v>
                </c:pt>
                <c:pt idx="5">
                  <c:v>6.9696969696969702E-2</c:v>
                </c:pt>
                <c:pt idx="6">
                  <c:v>6.9696969696969702E-2</c:v>
                </c:pt>
                <c:pt idx="7">
                  <c:v>4.5454545454545456E-2</c:v>
                </c:pt>
                <c:pt idx="8">
                  <c:v>1.2121212121212121E-2</c:v>
                </c:pt>
                <c:pt idx="9">
                  <c:v>1.2121212121212121E-2</c:v>
                </c:pt>
                <c:pt idx="10">
                  <c:v>9.0909090909090905E-3</c:v>
                </c:pt>
                <c:pt idx="11">
                  <c:v>6.0606060606060606E-3</c:v>
                </c:pt>
              </c:numCache>
            </c:numRef>
          </c:val>
          <c:extLst>
            <c:ext xmlns:c16="http://schemas.microsoft.com/office/drawing/2014/chart" uri="{C3380CC4-5D6E-409C-BE32-E72D297353CC}">
              <c16:uniqueId val="{00000003-341C-4277-BFD8-90051C197503}"/>
            </c:ext>
          </c:extLst>
        </c:ser>
        <c:dLbls>
          <c:showLegendKey val="0"/>
          <c:showVal val="0"/>
          <c:showCatName val="0"/>
          <c:showSerName val="0"/>
          <c:showPercent val="0"/>
          <c:showBubbleSize val="0"/>
        </c:dLbls>
        <c:gapWidth val="219"/>
        <c:overlap val="-27"/>
        <c:axId val="1058507680"/>
        <c:axId val="1058506720"/>
      </c:barChart>
      <c:catAx>
        <c:axId val="105850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1058506720"/>
        <c:crosses val="autoZero"/>
        <c:auto val="1"/>
        <c:lblAlgn val="ctr"/>
        <c:lblOffset val="100"/>
        <c:noMultiLvlLbl val="0"/>
      </c:catAx>
      <c:valAx>
        <c:axId val="1058506720"/>
        <c:scaling>
          <c:orientation val="minMax"/>
        </c:scaling>
        <c:delete val="1"/>
        <c:axPos val="l"/>
        <c:numFmt formatCode="General" sourceLinked="1"/>
        <c:majorTickMark val="none"/>
        <c:minorTickMark val="none"/>
        <c:tickLblPos val="nextTo"/>
        <c:crossAx val="1058507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pivotSource>
    <c:name>[00_arrêté comptable_avec_ETDI.xlsm]Probleme - erq!Tableau croisé dynamique3</c:name>
    <c:fmtId val="6"/>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9549620513306463E-2"/>
          <c:y val="4.0611080126139558E-2"/>
          <c:w val="0.87311440481843838"/>
          <c:h val="0.65689349161088129"/>
        </c:manualLayout>
      </c:layout>
      <c:barChart>
        <c:barDir val="col"/>
        <c:grouping val="clustered"/>
        <c:varyColors val="0"/>
        <c:ser>
          <c:idx val="0"/>
          <c:order val="0"/>
          <c:tx>
            <c:strRef>
              <c:f>'Probleme - erq'!$B$3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'Probleme - erq'!$A$4:$A$19</c:f>
              <c:strCache>
                <c:ptCount val="15"/>
                <c:pt idx="0">
                  <c:v>Autre Document </c:v>
                </c:pt>
                <c:pt idx="1">
                  <c:v>Certificat/Attestation </c:v>
                </c:pt>
                <c:pt idx="2">
                  <c:v>Compte Rendu (CR)</c:v>
                </c:pt>
                <c:pt idx="3">
                  <c:v>ERQ imprécis </c:v>
                </c:pt>
                <c:pt idx="4">
                  <c:v>Bordereau de Livraison (BL)</c:v>
                </c:pt>
                <c:pt idx="5">
                  <c:v>ERQ absent</c:v>
                </c:pt>
                <c:pt idx="6">
                  <c:v>Document Technique </c:v>
                </c:pt>
                <c:pt idx="7">
                  <c:v>ERQ</c:v>
                </c:pt>
                <c:pt idx="8">
                  <c:v>Mise à jour plans</c:v>
                </c:pt>
                <c:pt idx="9">
                  <c:v>Procès-Verbal (PV) </c:v>
                </c:pt>
                <c:pt idx="10">
                  <c:v>Fiche de Données Sécurité (FDS)</c:v>
                </c:pt>
                <c:pt idx="11">
                  <c:v>ERQ non valide</c:v>
                </c:pt>
                <c:pt idx="12">
                  <c:v>Rapport Technique</c:v>
                </c:pt>
                <c:pt idx="13">
                  <c:v>BL</c:v>
                </c:pt>
                <c:pt idx="14">
                  <c:v>BSDI/BSDA</c:v>
                </c:pt>
              </c:strCache>
            </c:strRef>
          </c:cat>
          <c:val>
            <c:numRef>
              <c:f>'Probleme - erq'!$B$4:$B$19</c:f>
              <c:numCache>
                <c:formatCode>General</c:formatCode>
                <c:ptCount val="15"/>
                <c:pt idx="0">
                  <c:v>31</c:v>
                </c:pt>
                <c:pt idx="1">
                  <c:v>18</c:v>
                </c:pt>
                <c:pt idx="2">
                  <c:v>13</c:v>
                </c:pt>
                <c:pt idx="3">
                  <c:v>11</c:v>
                </c:pt>
                <c:pt idx="4">
                  <c:v>7</c:v>
                </c:pt>
                <c:pt idx="5">
                  <c:v>5</c:v>
                </c:pt>
                <c:pt idx="6">
                  <c:v>5</c:v>
                </c:pt>
                <c:pt idx="7">
                  <c:v>4</c:v>
                </c:pt>
                <c:pt idx="8">
                  <c:v>3</c:v>
                </c:pt>
                <c:pt idx="9">
                  <c:v>3</c:v>
                </c:pt>
                <c:pt idx="10">
                  <c:v>3</c:v>
                </c:pt>
                <c:pt idx="11">
                  <c:v>2</c:v>
                </c:pt>
                <c:pt idx="12">
                  <c:v>1</c:v>
                </c:pt>
                <c:pt idx="13">
                  <c:v>1</c:v>
                </c:pt>
                <c:pt idx="14">
                  <c:v>1</c:v>
                </c:pt>
              </c:numCache>
            </c:numRef>
          </c:val>
          <c:extLst>
            <c:ext xmlns:c16="http://schemas.microsoft.com/office/drawing/2014/chart" uri="{C3380CC4-5D6E-409C-BE32-E72D297353CC}">
              <c16:uniqueId val="{00000000-6EDF-4F59-974D-404185912320}"/>
            </c:ext>
          </c:extLst>
        </c:ser>
        <c:dLbls>
          <c:showLegendKey val="0"/>
          <c:showVal val="0"/>
          <c:showCatName val="0"/>
          <c:showSerName val="0"/>
          <c:showPercent val="0"/>
          <c:showBubbleSize val="0"/>
        </c:dLbls>
        <c:gapWidth val="219"/>
        <c:overlap val="-27"/>
        <c:axId val="1956937888"/>
        <c:axId val="1956939328"/>
      </c:barChart>
      <c:catAx>
        <c:axId val="1956937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fr-FR"/>
          </a:p>
        </c:txPr>
        <c:crossAx val="1956939328"/>
        <c:crosses val="autoZero"/>
        <c:auto val="1"/>
        <c:lblAlgn val="ctr"/>
        <c:lblOffset val="100"/>
        <c:noMultiLvlLbl val="0"/>
      </c:catAx>
      <c:valAx>
        <c:axId val="1956939328"/>
        <c:scaling>
          <c:orientation val="minMax"/>
        </c:scaling>
        <c:delete val="1"/>
        <c:axPos val="l"/>
        <c:numFmt formatCode="General" sourceLinked="1"/>
        <c:majorTickMark val="none"/>
        <c:minorTickMark val="none"/>
        <c:tickLblPos val="nextTo"/>
        <c:crossAx val="19569378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65000"/>
          <a:lumOff val="35000"/>
        </a:schemeClr>
      </a:solidFill>
    </a:ln>
    <a:effectLst>
      <a:outerShdw blurRad="50800" dist="38100" dir="2700000" algn="tl" rotWithShape="0">
        <a:prstClr val="black">
          <a:alpha val="40000"/>
        </a:prstClr>
      </a:outerShdw>
    </a:effectLst>
  </c:spPr>
  <c:txPr>
    <a:bodyPr/>
    <a:lstStyle/>
    <a:p>
      <a:pPr>
        <a:defRPr/>
      </a:pPr>
      <a:endParaRPr lang="fr-FR"/>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6"/>
        <p:cNvGrpSpPr/>
        <p:nvPr/>
      </p:nvGrpSpPr>
      <p:grpSpPr>
        <a:xfrm>
          <a:off x="0" y="0"/>
          <a:ext cx="0" cy="0"/>
          <a:chOff x="0" y="0"/>
          <a:chExt cx="0" cy="0"/>
        </a:xfrm>
      </p:grpSpPr>
      <p:sp>
        <p:nvSpPr>
          <p:cNvPr id="2227" name="Google Shape;222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8" name="Google Shape;222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2"/>
        <p:cNvGrpSpPr/>
        <p:nvPr/>
      </p:nvGrpSpPr>
      <p:grpSpPr>
        <a:xfrm>
          <a:off x="0" y="0"/>
          <a:ext cx="0" cy="0"/>
          <a:chOff x="0" y="0"/>
          <a:chExt cx="0" cy="0"/>
        </a:xfrm>
      </p:grpSpPr>
      <p:sp>
        <p:nvSpPr>
          <p:cNvPr id="2233" name="Google Shape;223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4" name="Google Shape;223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5"/>
        <p:cNvGrpSpPr/>
        <p:nvPr/>
      </p:nvGrpSpPr>
      <p:grpSpPr>
        <a:xfrm>
          <a:off x="0" y="0"/>
          <a:ext cx="0" cy="0"/>
          <a:chOff x="0" y="0"/>
          <a:chExt cx="0" cy="0"/>
        </a:xfrm>
      </p:grpSpPr>
      <p:sp>
        <p:nvSpPr>
          <p:cNvPr id="2256" name="Google Shape;225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7" name="Google Shape;225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1"/>
        <p:cNvGrpSpPr/>
        <p:nvPr/>
      </p:nvGrpSpPr>
      <p:grpSpPr>
        <a:xfrm>
          <a:off x="0" y="0"/>
          <a:ext cx="0" cy="0"/>
          <a:chOff x="0" y="0"/>
          <a:chExt cx="0" cy="0"/>
        </a:xfrm>
      </p:grpSpPr>
      <p:sp>
        <p:nvSpPr>
          <p:cNvPr id="2262" name="Google Shape;22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3" name="Google Shape;226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7"/>
        <p:cNvGrpSpPr/>
        <p:nvPr/>
      </p:nvGrpSpPr>
      <p:grpSpPr>
        <a:xfrm>
          <a:off x="0" y="0"/>
          <a:ext cx="0" cy="0"/>
          <a:chOff x="0" y="0"/>
          <a:chExt cx="0" cy="0"/>
        </a:xfrm>
      </p:grpSpPr>
      <p:sp>
        <p:nvSpPr>
          <p:cNvPr id="2268" name="Google Shape;226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9" name="Google Shape;226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3"/>
        <p:cNvGrpSpPr/>
        <p:nvPr/>
      </p:nvGrpSpPr>
      <p:grpSpPr>
        <a:xfrm>
          <a:off x="0" y="0"/>
          <a:ext cx="0" cy="0"/>
          <a:chOff x="0" y="0"/>
          <a:chExt cx="0" cy="0"/>
        </a:xfrm>
      </p:grpSpPr>
      <p:sp>
        <p:nvSpPr>
          <p:cNvPr id="2274" name="Google Shape;227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5" name="Google Shape;227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0"/>
        <p:cNvGrpSpPr/>
        <p:nvPr/>
      </p:nvGrpSpPr>
      <p:grpSpPr>
        <a:xfrm>
          <a:off x="0" y="0"/>
          <a:ext cx="0" cy="0"/>
          <a:chOff x="0" y="0"/>
          <a:chExt cx="0" cy="0"/>
        </a:xfrm>
      </p:grpSpPr>
      <p:sp>
        <p:nvSpPr>
          <p:cNvPr id="2291" name="Google Shape;229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2" name="Google Shape;229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6"/>
        <p:cNvGrpSpPr/>
        <p:nvPr/>
      </p:nvGrpSpPr>
      <p:grpSpPr>
        <a:xfrm>
          <a:off x="0" y="0"/>
          <a:ext cx="0" cy="0"/>
          <a:chOff x="0" y="0"/>
          <a:chExt cx="0" cy="0"/>
        </a:xfrm>
      </p:grpSpPr>
      <p:sp>
        <p:nvSpPr>
          <p:cNvPr id="2317" name="Google Shape;231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8" name="Google Shape;231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4" name="Google Shape;232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a:extLst>
            <a:ext uri="{FF2B5EF4-FFF2-40B4-BE49-F238E27FC236}">
              <a16:creationId xmlns:a16="http://schemas.microsoft.com/office/drawing/2014/main" id="{47BF7FB2-0B96-F61F-B1BC-C01E8492CCA1}"/>
            </a:ext>
          </a:extLst>
        </p:cNvPr>
        <p:cNvGrpSpPr/>
        <p:nvPr/>
      </p:nvGrpSpPr>
      <p:grpSpPr>
        <a:xfrm>
          <a:off x="0" y="0"/>
          <a:ext cx="0" cy="0"/>
          <a:chOff x="0" y="0"/>
          <a:chExt cx="0" cy="0"/>
        </a:xfrm>
      </p:grpSpPr>
      <p:sp>
        <p:nvSpPr>
          <p:cNvPr id="2323" name="Google Shape;2323;p10:notes">
            <a:extLst>
              <a:ext uri="{FF2B5EF4-FFF2-40B4-BE49-F238E27FC236}">
                <a16:creationId xmlns:a16="http://schemas.microsoft.com/office/drawing/2014/main" id="{7463065D-12DE-2217-D5CB-65385F8128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4" name="Google Shape;2324;p10:notes">
            <a:extLst>
              <a:ext uri="{FF2B5EF4-FFF2-40B4-BE49-F238E27FC236}">
                <a16:creationId xmlns:a16="http://schemas.microsoft.com/office/drawing/2014/main" id="{0634ED16-7E0F-AF88-97E9-6F212C5D5E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74204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9">
          <a:extLst>
            <a:ext uri="{FF2B5EF4-FFF2-40B4-BE49-F238E27FC236}">
              <a16:creationId xmlns:a16="http://schemas.microsoft.com/office/drawing/2014/main" id="{4F1D7607-435B-7ED0-78DA-164E60FFC8CF}"/>
            </a:ext>
          </a:extLst>
        </p:cNvPr>
        <p:cNvGrpSpPr/>
        <p:nvPr/>
      </p:nvGrpSpPr>
      <p:grpSpPr>
        <a:xfrm>
          <a:off x="0" y="0"/>
          <a:ext cx="0" cy="0"/>
          <a:chOff x="0" y="0"/>
          <a:chExt cx="0" cy="0"/>
        </a:xfrm>
      </p:grpSpPr>
      <p:sp>
        <p:nvSpPr>
          <p:cNvPr id="2250" name="Google Shape;2250;p3:notes">
            <a:extLst>
              <a:ext uri="{FF2B5EF4-FFF2-40B4-BE49-F238E27FC236}">
                <a16:creationId xmlns:a16="http://schemas.microsoft.com/office/drawing/2014/main" id="{1DEFB1D0-46C3-19E2-A9F5-956BF4FC50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1" name="Google Shape;2251;p3:notes">
            <a:extLst>
              <a:ext uri="{FF2B5EF4-FFF2-40B4-BE49-F238E27FC236}">
                <a16:creationId xmlns:a16="http://schemas.microsoft.com/office/drawing/2014/main" id="{E1F7C23A-C029-636C-5BB5-5C41368700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02841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9">
          <a:extLst>
            <a:ext uri="{FF2B5EF4-FFF2-40B4-BE49-F238E27FC236}">
              <a16:creationId xmlns:a16="http://schemas.microsoft.com/office/drawing/2014/main" id="{F4B17FAF-5895-4847-36FD-446D45FB3B63}"/>
            </a:ext>
          </a:extLst>
        </p:cNvPr>
        <p:cNvGrpSpPr/>
        <p:nvPr/>
      </p:nvGrpSpPr>
      <p:grpSpPr>
        <a:xfrm>
          <a:off x="0" y="0"/>
          <a:ext cx="0" cy="0"/>
          <a:chOff x="0" y="0"/>
          <a:chExt cx="0" cy="0"/>
        </a:xfrm>
      </p:grpSpPr>
      <p:sp>
        <p:nvSpPr>
          <p:cNvPr id="2250" name="Google Shape;2250;p3:notes">
            <a:extLst>
              <a:ext uri="{FF2B5EF4-FFF2-40B4-BE49-F238E27FC236}">
                <a16:creationId xmlns:a16="http://schemas.microsoft.com/office/drawing/2014/main" id="{69D88772-5511-61DE-EA6B-2B4EDB5655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1" name="Google Shape;2251;p3:notes">
            <a:extLst>
              <a:ext uri="{FF2B5EF4-FFF2-40B4-BE49-F238E27FC236}">
                <a16:creationId xmlns:a16="http://schemas.microsoft.com/office/drawing/2014/main" id="{FADDA2C4-1774-4D8C-DA4F-37347ED851E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88483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9">
          <a:extLst>
            <a:ext uri="{FF2B5EF4-FFF2-40B4-BE49-F238E27FC236}">
              <a16:creationId xmlns:a16="http://schemas.microsoft.com/office/drawing/2014/main" id="{27E87A77-8F27-6EAD-531B-E0302CCF1F00}"/>
            </a:ext>
          </a:extLst>
        </p:cNvPr>
        <p:cNvGrpSpPr/>
        <p:nvPr/>
      </p:nvGrpSpPr>
      <p:grpSpPr>
        <a:xfrm>
          <a:off x="0" y="0"/>
          <a:ext cx="0" cy="0"/>
          <a:chOff x="0" y="0"/>
          <a:chExt cx="0" cy="0"/>
        </a:xfrm>
      </p:grpSpPr>
      <p:sp>
        <p:nvSpPr>
          <p:cNvPr id="2250" name="Google Shape;2250;p3:notes">
            <a:extLst>
              <a:ext uri="{FF2B5EF4-FFF2-40B4-BE49-F238E27FC236}">
                <a16:creationId xmlns:a16="http://schemas.microsoft.com/office/drawing/2014/main" id="{6AA41C5A-7D18-8185-2AFE-E5E34A4765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1" name="Google Shape;2251;p3:notes">
            <a:extLst>
              <a:ext uri="{FF2B5EF4-FFF2-40B4-BE49-F238E27FC236}">
                <a16:creationId xmlns:a16="http://schemas.microsoft.com/office/drawing/2014/main" id="{4E7E38C3-55C3-4CD8-6C81-5ACC0BE854A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02914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9">
          <a:extLst>
            <a:ext uri="{FF2B5EF4-FFF2-40B4-BE49-F238E27FC236}">
              <a16:creationId xmlns:a16="http://schemas.microsoft.com/office/drawing/2014/main" id="{D7240C33-9F71-E1DE-0BA4-9AE8AC854D4F}"/>
            </a:ext>
          </a:extLst>
        </p:cNvPr>
        <p:cNvGrpSpPr/>
        <p:nvPr/>
      </p:nvGrpSpPr>
      <p:grpSpPr>
        <a:xfrm>
          <a:off x="0" y="0"/>
          <a:ext cx="0" cy="0"/>
          <a:chOff x="0" y="0"/>
          <a:chExt cx="0" cy="0"/>
        </a:xfrm>
      </p:grpSpPr>
      <p:sp>
        <p:nvSpPr>
          <p:cNvPr id="2250" name="Google Shape;2250;p3:notes">
            <a:extLst>
              <a:ext uri="{FF2B5EF4-FFF2-40B4-BE49-F238E27FC236}">
                <a16:creationId xmlns:a16="http://schemas.microsoft.com/office/drawing/2014/main" id="{B6802919-DAC5-C32A-0E16-40257F67E1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1" name="Google Shape;2251;p3:notes">
            <a:extLst>
              <a:ext uri="{FF2B5EF4-FFF2-40B4-BE49-F238E27FC236}">
                <a16:creationId xmlns:a16="http://schemas.microsoft.com/office/drawing/2014/main" id="{9936631A-7233-734D-6078-C0A1354132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49205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9">
          <a:extLst>
            <a:ext uri="{FF2B5EF4-FFF2-40B4-BE49-F238E27FC236}">
              <a16:creationId xmlns:a16="http://schemas.microsoft.com/office/drawing/2014/main" id="{8FC26308-CC57-20A7-7DAB-BF753B02DE51}"/>
            </a:ext>
          </a:extLst>
        </p:cNvPr>
        <p:cNvGrpSpPr/>
        <p:nvPr/>
      </p:nvGrpSpPr>
      <p:grpSpPr>
        <a:xfrm>
          <a:off x="0" y="0"/>
          <a:ext cx="0" cy="0"/>
          <a:chOff x="0" y="0"/>
          <a:chExt cx="0" cy="0"/>
        </a:xfrm>
      </p:grpSpPr>
      <p:sp>
        <p:nvSpPr>
          <p:cNvPr id="2250" name="Google Shape;2250;p3:notes">
            <a:extLst>
              <a:ext uri="{FF2B5EF4-FFF2-40B4-BE49-F238E27FC236}">
                <a16:creationId xmlns:a16="http://schemas.microsoft.com/office/drawing/2014/main" id="{3858C953-305D-1C43-DFBC-637A1385AA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1" name="Google Shape;2251;p3:notes">
            <a:extLst>
              <a:ext uri="{FF2B5EF4-FFF2-40B4-BE49-F238E27FC236}">
                <a16:creationId xmlns:a16="http://schemas.microsoft.com/office/drawing/2014/main" id="{52CEC135-0086-0C9E-71AC-5531677194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26051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8"/>
        <p:cNvGrpSpPr/>
        <p:nvPr/>
      </p:nvGrpSpPr>
      <p:grpSpPr>
        <a:xfrm>
          <a:off x="0" y="0"/>
          <a:ext cx="0" cy="0"/>
          <a:chOff x="0" y="0"/>
          <a:chExt cx="0" cy="0"/>
        </a:xfrm>
      </p:grpSpPr>
      <p:sp>
        <p:nvSpPr>
          <p:cNvPr id="2329" name="Google Shape;232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0" name="Google Shape;233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4"/>
        <p:cNvGrpSpPr/>
        <p:nvPr/>
      </p:nvGrpSpPr>
      <p:grpSpPr>
        <a:xfrm>
          <a:off x="0" y="0"/>
          <a:ext cx="0" cy="0"/>
          <a:chOff x="0" y="0"/>
          <a:chExt cx="0" cy="0"/>
        </a:xfrm>
      </p:grpSpPr>
      <p:sp>
        <p:nvSpPr>
          <p:cNvPr id="2335" name="Google Shape;233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6" name="Google Shape;233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2" name="Google Shape;234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6"/>
        <p:cNvGrpSpPr/>
        <p:nvPr/>
      </p:nvGrpSpPr>
      <p:grpSpPr>
        <a:xfrm>
          <a:off x="0" y="0"/>
          <a:ext cx="0" cy="0"/>
          <a:chOff x="0" y="0"/>
          <a:chExt cx="0" cy="0"/>
        </a:xfrm>
      </p:grpSpPr>
      <p:sp>
        <p:nvSpPr>
          <p:cNvPr id="2347" name="Google Shape;234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8" name="Google Shape;234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6">
          <a:extLst>
            <a:ext uri="{FF2B5EF4-FFF2-40B4-BE49-F238E27FC236}">
              <a16:creationId xmlns:a16="http://schemas.microsoft.com/office/drawing/2014/main" id="{72849541-01D0-0F3E-CA15-9ADDD18AFE49}"/>
            </a:ext>
          </a:extLst>
        </p:cNvPr>
        <p:cNvGrpSpPr/>
        <p:nvPr/>
      </p:nvGrpSpPr>
      <p:grpSpPr>
        <a:xfrm>
          <a:off x="0" y="0"/>
          <a:ext cx="0" cy="0"/>
          <a:chOff x="0" y="0"/>
          <a:chExt cx="0" cy="0"/>
        </a:xfrm>
      </p:grpSpPr>
      <p:sp>
        <p:nvSpPr>
          <p:cNvPr id="2347" name="Google Shape;2347;p14:notes">
            <a:extLst>
              <a:ext uri="{FF2B5EF4-FFF2-40B4-BE49-F238E27FC236}">
                <a16:creationId xmlns:a16="http://schemas.microsoft.com/office/drawing/2014/main" id="{2FB46C7F-70FD-295A-0C2A-01F1F8164F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8" name="Google Shape;2348;p14:notes">
            <a:extLst>
              <a:ext uri="{FF2B5EF4-FFF2-40B4-BE49-F238E27FC236}">
                <a16:creationId xmlns:a16="http://schemas.microsoft.com/office/drawing/2014/main" id="{AB6E5D81-CD01-FDFB-BB15-4041183D04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35425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4" name="Google Shape;235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8"/>
        <p:cNvGrpSpPr/>
        <p:nvPr/>
      </p:nvGrpSpPr>
      <p:grpSpPr>
        <a:xfrm>
          <a:off x="0" y="0"/>
          <a:ext cx="0" cy="0"/>
          <a:chOff x="0" y="0"/>
          <a:chExt cx="0" cy="0"/>
        </a:xfrm>
      </p:grpSpPr>
      <p:sp>
        <p:nvSpPr>
          <p:cNvPr id="2359" name="Google Shape;235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0" name="Google Shape;236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9"/>
        <p:cNvGrpSpPr/>
        <p:nvPr/>
      </p:nvGrpSpPr>
      <p:grpSpPr>
        <a:xfrm>
          <a:off x="0" y="0"/>
          <a:ext cx="0" cy="0"/>
          <a:chOff x="0" y="0"/>
          <a:chExt cx="0" cy="0"/>
        </a:xfrm>
      </p:grpSpPr>
      <p:sp>
        <p:nvSpPr>
          <p:cNvPr id="2370" name="Google Shape;237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1" name="Google Shape;237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043F83-F528-9158-4062-58C92AC39597}"/>
              </a:ext>
            </a:extLst>
          </p:cNvPr>
          <p:cNvSpPr>
            <a:spLocks noGrp="1"/>
          </p:cNvSpPr>
          <p:nvPr>
            <p:ph type="ctrTitle"/>
          </p:nvPr>
        </p:nvSpPr>
        <p:spPr>
          <a:xfrm>
            <a:off x="1143000" y="841772"/>
            <a:ext cx="6858000" cy="1790700"/>
          </a:xfrm>
        </p:spPr>
        <p:txBody>
          <a:bodyPr anchor="b"/>
          <a:lstStyle>
            <a:lvl1pPr algn="ctr">
              <a:defRPr sz="4500"/>
            </a:lvl1pPr>
          </a:lstStyle>
          <a:p>
            <a:r>
              <a:rPr lang="fr-FR"/>
              <a:t>Modifiez le style du titre</a:t>
            </a:r>
          </a:p>
        </p:txBody>
      </p:sp>
      <p:sp>
        <p:nvSpPr>
          <p:cNvPr id="3" name="Sous-titre 2">
            <a:extLst>
              <a:ext uri="{FF2B5EF4-FFF2-40B4-BE49-F238E27FC236}">
                <a16:creationId xmlns:a16="http://schemas.microsoft.com/office/drawing/2014/main" id="{05A4050A-3806-BF48-9D19-6E845B68A22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702B829-182A-47D8-C3AA-AA000C4978BF}"/>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5" name="Espace réservé du pied de page 4">
            <a:extLst>
              <a:ext uri="{FF2B5EF4-FFF2-40B4-BE49-F238E27FC236}">
                <a16:creationId xmlns:a16="http://schemas.microsoft.com/office/drawing/2014/main" id="{DEC74479-495C-B307-50FF-CD8708ADF3A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20CA005-BB0E-9416-7A27-1A50E18571F9}"/>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410793054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3455C8-DA86-B1F0-F92D-D1D788CCC0F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7EAA8CD-FBC7-2FDB-5855-18A2C123329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E272C92-8D27-6721-42BD-9FC896023532}"/>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5" name="Espace réservé du pied de page 4">
            <a:extLst>
              <a:ext uri="{FF2B5EF4-FFF2-40B4-BE49-F238E27FC236}">
                <a16:creationId xmlns:a16="http://schemas.microsoft.com/office/drawing/2014/main" id="{EEDC3EFF-856E-63B3-4AFE-2AC374E980F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A8D7631-E620-60AF-ADBE-0252C47BFB8A}"/>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196298838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CF0301-2E82-1E8E-AA24-7096F0A16F2A}"/>
              </a:ext>
            </a:extLst>
          </p:cNvPr>
          <p:cNvSpPr>
            <a:spLocks noGrp="1"/>
          </p:cNvSpPr>
          <p:nvPr>
            <p:ph type="title"/>
          </p:nvPr>
        </p:nvSpPr>
        <p:spPr>
          <a:xfrm>
            <a:off x="623888" y="1282304"/>
            <a:ext cx="7886700" cy="2139553"/>
          </a:xfrm>
        </p:spPr>
        <p:txBody>
          <a:bodyPr anchor="b"/>
          <a:lstStyle>
            <a:lvl1pPr>
              <a:defRPr sz="4500"/>
            </a:lvl1pPr>
          </a:lstStyle>
          <a:p>
            <a:r>
              <a:rPr lang="fr-FR"/>
              <a:t>Modifiez le style du titre</a:t>
            </a:r>
          </a:p>
        </p:txBody>
      </p:sp>
      <p:sp>
        <p:nvSpPr>
          <p:cNvPr id="3" name="Espace réservé du texte 2">
            <a:extLst>
              <a:ext uri="{FF2B5EF4-FFF2-40B4-BE49-F238E27FC236}">
                <a16:creationId xmlns:a16="http://schemas.microsoft.com/office/drawing/2014/main" id="{A8A9B4B4-4F66-CA82-C543-252AA49F4450}"/>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C5D0A90-45C9-3766-291F-37FA3710DE9E}"/>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5" name="Espace réservé du pied de page 4">
            <a:extLst>
              <a:ext uri="{FF2B5EF4-FFF2-40B4-BE49-F238E27FC236}">
                <a16:creationId xmlns:a16="http://schemas.microsoft.com/office/drawing/2014/main" id="{422504AD-4008-0373-BFF1-D82EBCE61B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40D308C-3749-94C1-4E8E-ABF6E98627F3}"/>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203403310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A545D2-EF94-8871-F5C0-2A3F1E70A06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6FD32F8-2757-0955-3F13-A56174012AB3}"/>
              </a:ext>
            </a:extLst>
          </p:cNvPr>
          <p:cNvSpPr>
            <a:spLocks noGrp="1"/>
          </p:cNvSpPr>
          <p:nvPr>
            <p:ph sz="half" idx="1"/>
          </p:nvPr>
        </p:nvSpPr>
        <p:spPr>
          <a:xfrm>
            <a:off x="6286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80204A6-2476-CA62-8F68-64F63B63DCDF}"/>
              </a:ext>
            </a:extLst>
          </p:cNvPr>
          <p:cNvSpPr>
            <a:spLocks noGrp="1"/>
          </p:cNvSpPr>
          <p:nvPr>
            <p:ph sz="half" idx="2"/>
          </p:nvPr>
        </p:nvSpPr>
        <p:spPr>
          <a:xfrm>
            <a:off x="46291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9E96429-5E56-89F8-05B8-634A51B42630}"/>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6" name="Espace réservé du pied de page 5">
            <a:extLst>
              <a:ext uri="{FF2B5EF4-FFF2-40B4-BE49-F238E27FC236}">
                <a16:creationId xmlns:a16="http://schemas.microsoft.com/office/drawing/2014/main" id="{D9AED39B-55EF-FF51-1D45-3E625CD20D7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2739A0C-1339-74DD-16FB-FF85EE3D3FFC}"/>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179343148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EAE172-E65A-C2E0-51AD-076E223C0E87}"/>
              </a:ext>
            </a:extLst>
          </p:cNvPr>
          <p:cNvSpPr>
            <a:spLocks noGrp="1"/>
          </p:cNvSpPr>
          <p:nvPr>
            <p:ph type="title"/>
          </p:nvPr>
        </p:nvSpPr>
        <p:spPr>
          <a:xfrm>
            <a:off x="629841" y="273844"/>
            <a:ext cx="7886700" cy="994172"/>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D0E6D3D-2FC9-0BB8-5C53-5627C7B8022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8333B27-7642-240C-6277-DFDAAEB873D1}"/>
              </a:ext>
            </a:extLst>
          </p:cNvPr>
          <p:cNvSpPr>
            <a:spLocks noGrp="1"/>
          </p:cNvSpPr>
          <p:nvPr>
            <p:ph sz="half" idx="2"/>
          </p:nvPr>
        </p:nvSpPr>
        <p:spPr>
          <a:xfrm>
            <a:off x="629842" y="1878806"/>
            <a:ext cx="3868340"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7BE11-3203-4DD2-BF02-916F7891BA14}"/>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516D8B1-B5EA-0C38-2EF1-79A1E054414D}"/>
              </a:ext>
            </a:extLst>
          </p:cNvPr>
          <p:cNvSpPr>
            <a:spLocks noGrp="1"/>
          </p:cNvSpPr>
          <p:nvPr>
            <p:ph sz="quarter" idx="4"/>
          </p:nvPr>
        </p:nvSpPr>
        <p:spPr>
          <a:xfrm>
            <a:off x="4629150" y="1878806"/>
            <a:ext cx="3887391"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F22F912-BF13-A80E-F3A6-8BF1D24DEDEE}"/>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8" name="Espace réservé du pied de page 7">
            <a:extLst>
              <a:ext uri="{FF2B5EF4-FFF2-40B4-BE49-F238E27FC236}">
                <a16:creationId xmlns:a16="http://schemas.microsoft.com/office/drawing/2014/main" id="{6064AB40-0472-8C6C-5462-F7C3045AA55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C318C9C-432B-93BB-EC2A-C291F15280A7}"/>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8584592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495576-29DD-9A2F-DDB4-86976085897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17D6CEA-E74D-F2A9-3D61-8AA427FCF2A7}"/>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4" name="Espace réservé du pied de page 3">
            <a:extLst>
              <a:ext uri="{FF2B5EF4-FFF2-40B4-BE49-F238E27FC236}">
                <a16:creationId xmlns:a16="http://schemas.microsoft.com/office/drawing/2014/main" id="{6C818BAD-7DED-6482-B900-B14F3C8F2FEC}"/>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3B60CAF-E769-C3F0-40D9-1C3FFFE013A0}"/>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278545843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C676B5A-D510-C41B-E75F-670C81FD8B70}"/>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3" name="Espace réservé du pied de page 2">
            <a:extLst>
              <a:ext uri="{FF2B5EF4-FFF2-40B4-BE49-F238E27FC236}">
                <a16:creationId xmlns:a16="http://schemas.microsoft.com/office/drawing/2014/main" id="{FE4E79D1-B274-D300-0EA4-A5B32C921D9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8DCEB454-C636-4433-85C4-0A00EEC77B77}"/>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406871603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A2ACFE-4484-99C6-8B62-C9CD2C28A44D}"/>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p>
        </p:txBody>
      </p:sp>
      <p:sp>
        <p:nvSpPr>
          <p:cNvPr id="3" name="Espace réservé du contenu 2">
            <a:extLst>
              <a:ext uri="{FF2B5EF4-FFF2-40B4-BE49-F238E27FC236}">
                <a16:creationId xmlns:a16="http://schemas.microsoft.com/office/drawing/2014/main" id="{82FBD1B9-6C72-FC15-4937-2742F898B99B}"/>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B834D1A-A4B4-A090-1239-02344FA74E5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11E71AD-E93B-1897-768D-1A08405EC551}"/>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6" name="Espace réservé du pied de page 5">
            <a:extLst>
              <a:ext uri="{FF2B5EF4-FFF2-40B4-BE49-F238E27FC236}">
                <a16:creationId xmlns:a16="http://schemas.microsoft.com/office/drawing/2014/main" id="{482E5F4E-CE52-86D8-D22B-0DB93BB21BD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FA9CBE3-7FCD-D521-D606-3FDE6D1D278F}"/>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23966795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90B080-0B4D-A42E-7509-631A02CB0F71}"/>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p>
        </p:txBody>
      </p:sp>
      <p:sp>
        <p:nvSpPr>
          <p:cNvPr id="3" name="Espace réservé pour une image  2">
            <a:extLst>
              <a:ext uri="{FF2B5EF4-FFF2-40B4-BE49-F238E27FC236}">
                <a16:creationId xmlns:a16="http://schemas.microsoft.com/office/drawing/2014/main" id="{3B4441BC-817D-AAC3-0A7B-14D5C5A2C68E}"/>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fr-FR"/>
          </a:p>
        </p:txBody>
      </p:sp>
      <p:sp>
        <p:nvSpPr>
          <p:cNvPr id="4" name="Espace réservé du texte 3">
            <a:extLst>
              <a:ext uri="{FF2B5EF4-FFF2-40B4-BE49-F238E27FC236}">
                <a16:creationId xmlns:a16="http://schemas.microsoft.com/office/drawing/2014/main" id="{6218C800-CEA1-D14B-A2EE-0B1C3F91A61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6ACACC-68EA-521C-A194-2EC54A23AE51}"/>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6" name="Espace réservé du pied de page 5">
            <a:extLst>
              <a:ext uri="{FF2B5EF4-FFF2-40B4-BE49-F238E27FC236}">
                <a16:creationId xmlns:a16="http://schemas.microsoft.com/office/drawing/2014/main" id="{7D83764F-A8E1-6072-03A1-E15EA8CB8F0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BFE5CB1-A65F-69E7-9CAA-4B3FA7FD0466}"/>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9553723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57E71B-3ADF-5852-B5D2-165BCC97A6A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6C4C074-2B90-A30A-879C-41243F90094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CF70E22-7599-3C40-0C1B-5192316E3A92}"/>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5" name="Espace réservé du pied de page 4">
            <a:extLst>
              <a:ext uri="{FF2B5EF4-FFF2-40B4-BE49-F238E27FC236}">
                <a16:creationId xmlns:a16="http://schemas.microsoft.com/office/drawing/2014/main" id="{62B313B5-D32F-7FC6-7FE6-16D5823B79C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25FC828-CD3C-ACCA-AB86-F21B78C00E5E}"/>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227328658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6D9619A-FAC9-B71B-7BFF-56B13BFA0E8B}"/>
              </a:ext>
            </a:extLst>
          </p:cNvPr>
          <p:cNvSpPr>
            <a:spLocks noGrp="1"/>
          </p:cNvSpPr>
          <p:nvPr>
            <p:ph type="title" orient="vert"/>
          </p:nvPr>
        </p:nvSpPr>
        <p:spPr>
          <a:xfrm>
            <a:off x="6543675" y="273844"/>
            <a:ext cx="1971675" cy="4358879"/>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FE44F03-3852-03DA-022A-55BEBDEB73AF}"/>
              </a:ext>
            </a:extLst>
          </p:cNvPr>
          <p:cNvSpPr>
            <a:spLocks noGrp="1"/>
          </p:cNvSpPr>
          <p:nvPr>
            <p:ph type="body" orient="vert" idx="1"/>
          </p:nvPr>
        </p:nvSpPr>
        <p:spPr>
          <a:xfrm>
            <a:off x="628650" y="273844"/>
            <a:ext cx="5800725" cy="435887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C340D7F-0EFE-79DD-D766-AE17DFF02F24}"/>
              </a:ext>
            </a:extLst>
          </p:cNvPr>
          <p:cNvSpPr>
            <a:spLocks noGrp="1"/>
          </p:cNvSpPr>
          <p:nvPr>
            <p:ph type="dt" sz="half" idx="10"/>
          </p:nvPr>
        </p:nvSpPr>
        <p:spPr/>
        <p:txBody>
          <a:bodyPr/>
          <a:lstStyle/>
          <a:p>
            <a:fld id="{8F614D88-5D98-4601-BBB0-EF75EED09C7C}" type="datetimeFigureOut">
              <a:rPr lang="fr-FR" smtClean="0"/>
              <a:t>20/06/2026</a:t>
            </a:fld>
            <a:endParaRPr lang="fr-FR"/>
          </a:p>
        </p:txBody>
      </p:sp>
      <p:sp>
        <p:nvSpPr>
          <p:cNvPr id="5" name="Espace réservé du pied de page 4">
            <a:extLst>
              <a:ext uri="{FF2B5EF4-FFF2-40B4-BE49-F238E27FC236}">
                <a16:creationId xmlns:a16="http://schemas.microsoft.com/office/drawing/2014/main" id="{2D954DB1-299D-E5B3-96E5-74A59C7DD4B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366F186-78CA-4B21-C332-7814E7F9CF23}"/>
              </a:ext>
            </a:extLst>
          </p:cNvPr>
          <p:cNvSpPr>
            <a:spLocks noGrp="1"/>
          </p:cNvSpPr>
          <p:nvPr>
            <p:ph type="sldNum" sz="quarter" idx="12"/>
          </p:nvPr>
        </p:nvSpPr>
        <p:spPr/>
        <p:txBody>
          <a:bodyPr/>
          <a:lstStyle/>
          <a:p>
            <a:fld id="{EDEF636A-7CB6-4F77-9E19-ADE73DCE3A09}" type="slidenum">
              <a:rPr lang="fr-FR" smtClean="0"/>
              <a:t>‹N°›</a:t>
            </a:fld>
            <a:endParaRPr lang="fr-FR"/>
          </a:p>
        </p:txBody>
      </p:sp>
    </p:spTree>
    <p:extLst>
      <p:ext uri="{BB962C8B-B14F-4D97-AF65-F5344CB8AC3E}">
        <p14:creationId xmlns:p14="http://schemas.microsoft.com/office/powerpoint/2010/main" val="331264733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36"/>
        <p:cNvGrpSpPr/>
        <p:nvPr/>
      </p:nvGrpSpPr>
      <p:grpSpPr>
        <a:xfrm>
          <a:off x="0" y="0"/>
          <a:ext cx="0" cy="0"/>
          <a:chOff x="0" y="0"/>
          <a:chExt cx="0" cy="0"/>
        </a:xfrm>
      </p:grpSpPr>
      <p:sp>
        <p:nvSpPr>
          <p:cNvPr id="137" name="Google Shape;137;p44"/>
          <p:cNvSpPr txBox="1">
            <a:spLocks noGrp="1"/>
          </p:cNvSpPr>
          <p:nvPr>
            <p:ph type="title"/>
          </p:nvPr>
        </p:nvSpPr>
        <p:spPr>
          <a:xfrm>
            <a:off x="1506398" y="155927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38" name="Google Shape;138;p44"/>
          <p:cNvSpPr txBox="1">
            <a:spLocks noGrp="1"/>
          </p:cNvSpPr>
          <p:nvPr>
            <p:ph type="title" idx="2"/>
          </p:nvPr>
        </p:nvSpPr>
        <p:spPr>
          <a:xfrm>
            <a:off x="730301" y="171167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39" name="Google Shape;139;p44"/>
          <p:cNvSpPr txBox="1">
            <a:spLocks noGrp="1"/>
          </p:cNvSpPr>
          <p:nvPr>
            <p:ph type="subTitle" idx="1"/>
          </p:nvPr>
        </p:nvSpPr>
        <p:spPr>
          <a:xfrm>
            <a:off x="1506390" y="199655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4"/>
          <p:cNvSpPr txBox="1">
            <a:spLocks noGrp="1"/>
          </p:cNvSpPr>
          <p:nvPr>
            <p:ph type="title" idx="3"/>
          </p:nvPr>
        </p:nvSpPr>
        <p:spPr>
          <a:xfrm>
            <a:off x="1506523" y="327262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41" name="Google Shape;141;p44"/>
          <p:cNvSpPr txBox="1">
            <a:spLocks noGrp="1"/>
          </p:cNvSpPr>
          <p:nvPr>
            <p:ph type="title" idx="4"/>
          </p:nvPr>
        </p:nvSpPr>
        <p:spPr>
          <a:xfrm>
            <a:off x="730469" y="342502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42" name="Google Shape;142;p44"/>
          <p:cNvSpPr txBox="1">
            <a:spLocks noGrp="1"/>
          </p:cNvSpPr>
          <p:nvPr>
            <p:ph type="subTitle" idx="5"/>
          </p:nvPr>
        </p:nvSpPr>
        <p:spPr>
          <a:xfrm>
            <a:off x="1506514" y="370990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44"/>
          <p:cNvSpPr txBox="1">
            <a:spLocks noGrp="1"/>
          </p:cNvSpPr>
          <p:nvPr>
            <p:ph type="title" idx="6"/>
          </p:nvPr>
        </p:nvSpPr>
        <p:spPr>
          <a:xfrm>
            <a:off x="5045226" y="155927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44" name="Google Shape;144;p44"/>
          <p:cNvSpPr txBox="1">
            <a:spLocks noGrp="1"/>
          </p:cNvSpPr>
          <p:nvPr>
            <p:ph type="title" idx="7"/>
          </p:nvPr>
        </p:nvSpPr>
        <p:spPr>
          <a:xfrm>
            <a:off x="4281950" y="171167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45" name="Google Shape;145;p44"/>
          <p:cNvSpPr txBox="1">
            <a:spLocks noGrp="1"/>
          </p:cNvSpPr>
          <p:nvPr>
            <p:ph type="subTitle" idx="8"/>
          </p:nvPr>
        </p:nvSpPr>
        <p:spPr>
          <a:xfrm>
            <a:off x="5045218" y="199655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4"/>
          <p:cNvSpPr txBox="1">
            <a:spLocks noGrp="1"/>
          </p:cNvSpPr>
          <p:nvPr>
            <p:ph type="title" idx="9"/>
          </p:nvPr>
        </p:nvSpPr>
        <p:spPr>
          <a:xfrm>
            <a:off x="4282125" y="342502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00" name="Google Shape;400;p44"/>
          <p:cNvSpPr txBox="1">
            <a:spLocks noGrp="1"/>
          </p:cNvSpPr>
          <p:nvPr>
            <p:ph type="title" idx="13"/>
          </p:nvPr>
        </p:nvSpPr>
        <p:spPr>
          <a:xfrm>
            <a:off x="5045351" y="327262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01" name="Google Shape;401;p44"/>
          <p:cNvSpPr txBox="1">
            <a:spLocks noGrp="1"/>
          </p:cNvSpPr>
          <p:nvPr>
            <p:ph type="subTitle" idx="14"/>
          </p:nvPr>
        </p:nvSpPr>
        <p:spPr>
          <a:xfrm>
            <a:off x="5045342" y="370990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2" name="Google Shape;402;p44"/>
          <p:cNvSpPr txBox="1">
            <a:spLocks noGrp="1"/>
          </p:cNvSpPr>
          <p:nvPr>
            <p:ph type="title" idx="15"/>
          </p:nvPr>
        </p:nvSpPr>
        <p:spPr>
          <a:xfrm>
            <a:off x="713225" y="539500"/>
            <a:ext cx="76803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Tree>
    <p:extLst>
      <p:ext uri="{BB962C8B-B14F-4D97-AF65-F5344CB8AC3E}">
        <p14:creationId xmlns:p14="http://schemas.microsoft.com/office/powerpoint/2010/main" val="1767695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2"/>
        <p:cNvGrpSpPr/>
        <p:nvPr/>
      </p:nvGrpSpPr>
      <p:grpSpPr>
        <a:xfrm>
          <a:off x="0" y="0"/>
          <a:ext cx="0" cy="0"/>
          <a:chOff x="0" y="0"/>
          <a:chExt cx="0" cy="0"/>
        </a:xfrm>
      </p:grpSpPr>
      <p:sp>
        <p:nvSpPr>
          <p:cNvPr id="443" name="Google Shape;443;p46"/>
          <p:cNvSpPr txBox="1">
            <a:spLocks noGrp="1"/>
          </p:cNvSpPr>
          <p:nvPr>
            <p:ph type="title"/>
          </p:nvPr>
        </p:nvSpPr>
        <p:spPr>
          <a:xfrm>
            <a:off x="5449425" y="1593575"/>
            <a:ext cx="2998800" cy="1402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44" name="Google Shape;444;p46"/>
          <p:cNvSpPr txBox="1">
            <a:spLocks noGrp="1"/>
          </p:cNvSpPr>
          <p:nvPr>
            <p:ph type="subTitle" idx="1"/>
          </p:nvPr>
        </p:nvSpPr>
        <p:spPr>
          <a:xfrm>
            <a:off x="5449425" y="3203575"/>
            <a:ext cx="2998800" cy="604200"/>
          </a:xfrm>
          <a:prstGeom prst="rect">
            <a:avLst/>
          </a:prstGeom>
          <a:solidFill>
            <a:srgbClr val="00FFFF"/>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sz="1600" b="1">
                <a:solidFill>
                  <a:schemeClr val="dk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5" name="Google Shape;445;p46"/>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2000"/>
              <a:buNone/>
              <a:defRPr sz="12000" b="1"/>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Tree>
    <p:extLst>
      <p:ext uri="{BB962C8B-B14F-4D97-AF65-F5344CB8AC3E}">
        <p14:creationId xmlns:p14="http://schemas.microsoft.com/office/powerpoint/2010/main" val="2933499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78"/>
        <p:cNvGrpSpPr/>
        <p:nvPr/>
      </p:nvGrpSpPr>
      <p:grpSpPr>
        <a:xfrm>
          <a:off x="0" y="0"/>
          <a:ext cx="0" cy="0"/>
          <a:chOff x="0" y="0"/>
          <a:chExt cx="0" cy="0"/>
        </a:xfrm>
      </p:grpSpPr>
      <p:sp>
        <p:nvSpPr>
          <p:cNvPr id="579" name="Google Shape;579;p47"/>
          <p:cNvSpPr txBox="1">
            <a:spLocks noGrp="1"/>
          </p:cNvSpPr>
          <p:nvPr>
            <p:ph type="title"/>
          </p:nvPr>
        </p:nvSpPr>
        <p:spPr>
          <a:xfrm>
            <a:off x="732275" y="1210763"/>
            <a:ext cx="5067900" cy="1298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200"/>
              <a:buNone/>
              <a:defRPr sz="40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80" name="Google Shape;580;p47"/>
          <p:cNvSpPr txBox="1">
            <a:spLocks noGrp="1"/>
          </p:cNvSpPr>
          <p:nvPr>
            <p:ph type="subTitle" idx="1"/>
          </p:nvPr>
        </p:nvSpPr>
        <p:spPr>
          <a:xfrm>
            <a:off x="713225" y="2567813"/>
            <a:ext cx="5106000" cy="1472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extLst>
      <p:ext uri="{BB962C8B-B14F-4D97-AF65-F5344CB8AC3E}">
        <p14:creationId xmlns:p14="http://schemas.microsoft.com/office/powerpoint/2010/main" val="1784123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619"/>
        <p:cNvGrpSpPr/>
        <p:nvPr/>
      </p:nvGrpSpPr>
      <p:grpSpPr>
        <a:xfrm>
          <a:off x="0" y="0"/>
          <a:ext cx="0" cy="0"/>
          <a:chOff x="0" y="0"/>
          <a:chExt cx="0" cy="0"/>
        </a:xfrm>
      </p:grpSpPr>
      <p:sp>
        <p:nvSpPr>
          <p:cNvPr id="620" name="Google Shape;620;p48"/>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Tree>
    <p:extLst>
      <p:ext uri="{BB962C8B-B14F-4D97-AF65-F5344CB8AC3E}">
        <p14:creationId xmlns:p14="http://schemas.microsoft.com/office/powerpoint/2010/main" val="2022189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664"/>
        <p:cNvGrpSpPr/>
        <p:nvPr/>
      </p:nvGrpSpPr>
      <p:grpSpPr>
        <a:xfrm>
          <a:off x="0" y="0"/>
          <a:ext cx="0" cy="0"/>
          <a:chOff x="0" y="0"/>
          <a:chExt cx="0" cy="0"/>
        </a:xfrm>
      </p:grpSpPr>
      <p:sp>
        <p:nvSpPr>
          <p:cNvPr id="691" name="Google Shape;691;p49"/>
          <p:cNvSpPr txBox="1">
            <a:spLocks noGrp="1"/>
          </p:cNvSpPr>
          <p:nvPr>
            <p:ph type="title"/>
          </p:nvPr>
        </p:nvSpPr>
        <p:spPr>
          <a:xfrm>
            <a:off x="883200" y="1287888"/>
            <a:ext cx="2168100" cy="527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692" name="Google Shape;692;p49"/>
          <p:cNvSpPr txBox="1">
            <a:spLocks noGrp="1"/>
          </p:cNvSpPr>
          <p:nvPr>
            <p:ph type="subTitle" idx="1"/>
          </p:nvPr>
        </p:nvSpPr>
        <p:spPr>
          <a:xfrm>
            <a:off x="883201" y="1731875"/>
            <a:ext cx="2168100" cy="484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93" name="Google Shape;693;p49"/>
          <p:cNvSpPr txBox="1">
            <a:spLocks noGrp="1"/>
          </p:cNvSpPr>
          <p:nvPr>
            <p:ph type="title" idx="2"/>
          </p:nvPr>
        </p:nvSpPr>
        <p:spPr>
          <a:xfrm>
            <a:off x="883201" y="2445568"/>
            <a:ext cx="2168100" cy="527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694" name="Google Shape;694;p49"/>
          <p:cNvSpPr txBox="1">
            <a:spLocks noGrp="1"/>
          </p:cNvSpPr>
          <p:nvPr>
            <p:ph type="subTitle" idx="3"/>
          </p:nvPr>
        </p:nvSpPr>
        <p:spPr>
          <a:xfrm>
            <a:off x="883201" y="2884841"/>
            <a:ext cx="2168100" cy="484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95" name="Google Shape;695;p49"/>
          <p:cNvSpPr txBox="1">
            <a:spLocks noGrp="1"/>
          </p:cNvSpPr>
          <p:nvPr>
            <p:ph type="title" idx="4"/>
          </p:nvPr>
        </p:nvSpPr>
        <p:spPr>
          <a:xfrm>
            <a:off x="883176" y="3577196"/>
            <a:ext cx="2168100" cy="527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696" name="Google Shape;696;p49"/>
          <p:cNvSpPr txBox="1">
            <a:spLocks noGrp="1"/>
          </p:cNvSpPr>
          <p:nvPr>
            <p:ph type="subTitle" idx="5"/>
          </p:nvPr>
        </p:nvSpPr>
        <p:spPr>
          <a:xfrm>
            <a:off x="883176" y="4020638"/>
            <a:ext cx="2168100" cy="484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97" name="Google Shape;697;p49"/>
          <p:cNvSpPr txBox="1">
            <a:spLocks noGrp="1"/>
          </p:cNvSpPr>
          <p:nvPr>
            <p:ph type="title" idx="6"/>
          </p:nvPr>
        </p:nvSpPr>
        <p:spPr>
          <a:xfrm>
            <a:off x="713225" y="539500"/>
            <a:ext cx="7717500" cy="56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
        <p:nvSpPr>
          <p:cNvPr id="698" name="Google Shape;698;p49"/>
          <p:cNvSpPr txBox="1">
            <a:spLocks noGrp="1"/>
          </p:cNvSpPr>
          <p:nvPr>
            <p:ph type="title" idx="7"/>
          </p:nvPr>
        </p:nvSpPr>
        <p:spPr>
          <a:xfrm>
            <a:off x="6092700" y="1287888"/>
            <a:ext cx="21681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699" name="Google Shape;699;p49"/>
          <p:cNvSpPr txBox="1">
            <a:spLocks noGrp="1"/>
          </p:cNvSpPr>
          <p:nvPr>
            <p:ph type="subTitle" idx="8"/>
          </p:nvPr>
        </p:nvSpPr>
        <p:spPr>
          <a:xfrm>
            <a:off x="6092701" y="1731875"/>
            <a:ext cx="21681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0" name="Google Shape;700;p49"/>
          <p:cNvSpPr txBox="1">
            <a:spLocks noGrp="1"/>
          </p:cNvSpPr>
          <p:nvPr>
            <p:ph type="title" idx="9"/>
          </p:nvPr>
        </p:nvSpPr>
        <p:spPr>
          <a:xfrm>
            <a:off x="6092701" y="2445568"/>
            <a:ext cx="21681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701" name="Google Shape;701;p49"/>
          <p:cNvSpPr txBox="1">
            <a:spLocks noGrp="1"/>
          </p:cNvSpPr>
          <p:nvPr>
            <p:ph type="subTitle" idx="13"/>
          </p:nvPr>
        </p:nvSpPr>
        <p:spPr>
          <a:xfrm>
            <a:off x="6092701" y="2884841"/>
            <a:ext cx="21681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2" name="Google Shape;702;p49"/>
          <p:cNvSpPr txBox="1">
            <a:spLocks noGrp="1"/>
          </p:cNvSpPr>
          <p:nvPr>
            <p:ph type="title" idx="14"/>
          </p:nvPr>
        </p:nvSpPr>
        <p:spPr>
          <a:xfrm>
            <a:off x="6092676" y="3577196"/>
            <a:ext cx="21681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703" name="Google Shape;703;p49"/>
          <p:cNvSpPr txBox="1">
            <a:spLocks noGrp="1"/>
          </p:cNvSpPr>
          <p:nvPr>
            <p:ph type="subTitle" idx="15"/>
          </p:nvPr>
        </p:nvSpPr>
        <p:spPr>
          <a:xfrm>
            <a:off x="6092676" y="4020638"/>
            <a:ext cx="21681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497394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704"/>
        <p:cNvGrpSpPr/>
        <p:nvPr/>
      </p:nvGrpSpPr>
      <p:grpSpPr>
        <a:xfrm>
          <a:off x="0" y="0"/>
          <a:ext cx="0" cy="0"/>
          <a:chOff x="0" y="0"/>
          <a:chExt cx="0" cy="0"/>
        </a:xfrm>
      </p:grpSpPr>
      <p:sp>
        <p:nvSpPr>
          <p:cNvPr id="705" name="Google Shape;705;p50"/>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Tree>
    <p:extLst>
      <p:ext uri="{BB962C8B-B14F-4D97-AF65-F5344CB8AC3E}">
        <p14:creationId xmlns:p14="http://schemas.microsoft.com/office/powerpoint/2010/main" val="41403213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03"/>
        <p:cNvGrpSpPr/>
        <p:nvPr/>
      </p:nvGrpSpPr>
      <p:grpSpPr>
        <a:xfrm>
          <a:off x="0" y="0"/>
          <a:ext cx="0" cy="0"/>
          <a:chOff x="0" y="0"/>
          <a:chExt cx="0" cy="0"/>
        </a:xfrm>
      </p:grpSpPr>
      <p:sp>
        <p:nvSpPr>
          <p:cNvPr id="440" name="Google Shape;440;p45"/>
          <p:cNvSpPr txBox="1">
            <a:spLocks noGrp="1"/>
          </p:cNvSpPr>
          <p:nvPr>
            <p:ph type="title"/>
          </p:nvPr>
        </p:nvSpPr>
        <p:spPr>
          <a:xfrm>
            <a:off x="2074375" y="2993651"/>
            <a:ext cx="4658100" cy="531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18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441" name="Google Shape;441;p45"/>
          <p:cNvSpPr txBox="1">
            <a:spLocks noGrp="1"/>
          </p:cNvSpPr>
          <p:nvPr>
            <p:ph type="subTitle" idx="1"/>
          </p:nvPr>
        </p:nvSpPr>
        <p:spPr>
          <a:xfrm>
            <a:off x="2074375" y="1438075"/>
            <a:ext cx="5385000" cy="1445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Tree>
    <p:extLst>
      <p:ext uri="{BB962C8B-B14F-4D97-AF65-F5344CB8AC3E}">
        <p14:creationId xmlns:p14="http://schemas.microsoft.com/office/powerpoint/2010/main" val="1800292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664EF5E-B1E3-6CC4-7020-160F499BBD50}"/>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EFDE37D-05E3-54C4-8680-C35CA2A9737B}"/>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E51D29A-8194-9470-E221-872811931BCF}"/>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8F614D88-5D98-4601-BBB0-EF75EED09C7C}" type="datetimeFigureOut">
              <a:rPr lang="fr-FR" smtClean="0"/>
              <a:t>20/06/2026</a:t>
            </a:fld>
            <a:endParaRPr lang="fr-FR"/>
          </a:p>
        </p:txBody>
      </p:sp>
      <p:sp>
        <p:nvSpPr>
          <p:cNvPr id="5" name="Espace réservé du pied de page 4">
            <a:extLst>
              <a:ext uri="{FF2B5EF4-FFF2-40B4-BE49-F238E27FC236}">
                <a16:creationId xmlns:a16="http://schemas.microsoft.com/office/drawing/2014/main" id="{19CA7FFD-CE32-0BA7-1431-535CBC1C693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D896A63-B95C-1493-378B-19955ED19AE4}"/>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EDEF636A-7CB6-4F77-9E19-ADE73DCE3A09}" type="slidenum">
              <a:rPr lang="fr-FR" smtClean="0"/>
              <a:t>‹N°›</a:t>
            </a:fld>
            <a:endParaRPr lang="fr-FR"/>
          </a:p>
        </p:txBody>
      </p:sp>
    </p:spTree>
    <p:extLst>
      <p:ext uri="{BB962C8B-B14F-4D97-AF65-F5344CB8AC3E}">
        <p14:creationId xmlns:p14="http://schemas.microsoft.com/office/powerpoint/2010/main" val="657988122"/>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2" r:id="rId15"/>
    <p:sldLayoutId id="2147483833" r:id="rId16"/>
    <p:sldLayoutId id="2147483834" r:id="rId17"/>
    <p:sldLayoutId id="2147483857" r:id="rId18"/>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hart" Target="../charts/chart1.xml"/><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3.xml"/><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chart" Target="../charts/chart5.xml"/><Relationship Id="rId5" Type="http://schemas.openxmlformats.org/officeDocument/2006/relationships/chart" Target="../charts/chart4.xml"/><Relationship Id="rId10"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8.xml"/><Relationship Id="rId5" Type="http://schemas.openxmlformats.org/officeDocument/2006/relationships/image" Target="../media/image10.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chart" Target="../charts/chart11.xml"/><Relationship Id="rId2" Type="http://schemas.openxmlformats.org/officeDocument/2006/relationships/notesSlide" Target="../notesSlides/notesSlide13.xml"/><Relationship Id="rId1" Type="http://schemas.openxmlformats.org/officeDocument/2006/relationships/slideLayout" Target="../slideLayouts/slideLayout18.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chart" Target="../charts/chart14.xml"/><Relationship Id="rId11" Type="http://schemas.openxmlformats.org/officeDocument/2006/relationships/image" Target="../media/image10.png"/><Relationship Id="rId5" Type="http://schemas.openxmlformats.org/officeDocument/2006/relationships/chart" Target="../charts/chart13.xml"/><Relationship Id="rId10" Type="http://schemas.openxmlformats.org/officeDocument/2006/relationships/image" Target="../media/image12.png"/><Relationship Id="rId4" Type="http://schemas.openxmlformats.org/officeDocument/2006/relationships/chart" Target="../charts/chart12.xml"/><Relationship Id="rId9"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8.xml"/><Relationship Id="rId6" Type="http://schemas.openxmlformats.org/officeDocument/2006/relationships/chart" Target="../charts/chart17.xml"/><Relationship Id="rId5" Type="http://schemas.openxmlformats.org/officeDocument/2006/relationships/chart" Target="../charts/chart16.xml"/><Relationship Id="rId10" Type="http://schemas.openxmlformats.org/officeDocument/2006/relationships/image" Target="../media/image10.png"/><Relationship Id="rId4" Type="http://schemas.openxmlformats.org/officeDocument/2006/relationships/chart" Target="../charts/chart15.xml"/><Relationship Id="rId9"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9.xml"/><Relationship Id="rId1" Type="http://schemas.openxmlformats.org/officeDocument/2006/relationships/slideLayout" Target="../slideLayouts/slideLayout17.xml"/><Relationship Id="rId5" Type="http://schemas.openxmlformats.org/officeDocument/2006/relationships/image" Target="../media/image10.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hart" Target="../charts/chart19.xml"/><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7.xml"/><Relationship Id="rId6" Type="http://schemas.openxmlformats.org/officeDocument/2006/relationships/image" Target="../media/image1.png"/><Relationship Id="rId5" Type="http://schemas.openxmlformats.org/officeDocument/2006/relationships/chart" Target="../charts/chart21.xml"/><Relationship Id="rId4" Type="http://schemas.openxmlformats.org/officeDocument/2006/relationships/chart" Target="../charts/chart20.xml"/><Relationship Id="rId9"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22.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23.xml"/><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29"/>
        <p:cNvGrpSpPr/>
        <p:nvPr/>
      </p:nvGrpSpPr>
      <p:grpSpPr>
        <a:xfrm>
          <a:off x="0" y="0"/>
          <a:ext cx="0" cy="0"/>
          <a:chOff x="0" y="0"/>
          <a:chExt cx="0" cy="0"/>
        </a:xfrm>
      </p:grpSpPr>
      <p:sp>
        <p:nvSpPr>
          <p:cNvPr id="2230" name="Google Shape;2230;p1"/>
          <p:cNvSpPr txBox="1">
            <a:spLocks noGrp="1"/>
          </p:cNvSpPr>
          <p:nvPr>
            <p:ph type="ctrTitle"/>
          </p:nvPr>
        </p:nvSpPr>
        <p:spPr>
          <a:xfrm>
            <a:off x="1822450" y="1746250"/>
            <a:ext cx="6858000" cy="1790700"/>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SzPts val="5200"/>
              <a:buNone/>
            </a:pPr>
            <a:r>
              <a:rPr lang="fr-FR" sz="3200" b="1" i="0" dirty="0">
                <a:solidFill>
                  <a:srgbClr val="271A38"/>
                </a:solidFill>
                <a:effectLst/>
                <a:highlight>
                  <a:srgbClr val="FFFFFF"/>
                </a:highlight>
                <a:latin typeface="Inter"/>
              </a:rPr>
              <a:t>Analysez une demande business et identifiez les segments du marché les plus pertinents pour votre client</a:t>
            </a:r>
            <a:endParaRPr sz="4000" dirty="0"/>
          </a:p>
        </p:txBody>
      </p:sp>
      <p:pic>
        <p:nvPicPr>
          <p:cNvPr id="3" name="Image 2" descr="Une image contenant capture d’écran, ligne, Graphique, Caractère coloré&#10;&#10;Description générée automatiquement">
            <a:extLst>
              <a:ext uri="{FF2B5EF4-FFF2-40B4-BE49-F238E27FC236}">
                <a16:creationId xmlns:a16="http://schemas.microsoft.com/office/drawing/2014/main" id="{6049E102-5C13-BEC9-7781-9503D3250648}"/>
              </a:ext>
            </a:extLst>
          </p:cNvPr>
          <p:cNvPicPr>
            <a:picLocks noChangeAspect="1"/>
          </p:cNvPicPr>
          <p:nvPr/>
        </p:nvPicPr>
        <p:blipFill>
          <a:blip r:embed="rId3"/>
          <a:stretch>
            <a:fillRect/>
          </a:stretch>
        </p:blipFill>
        <p:spPr>
          <a:xfrm>
            <a:off x="946023" y="1847376"/>
            <a:ext cx="2020473" cy="2184874"/>
          </a:xfrm>
          <a:prstGeom prst="rect">
            <a:avLst/>
          </a:prstGeom>
        </p:spPr>
      </p:pic>
      <p:pic>
        <p:nvPicPr>
          <p:cNvPr id="5" name="Image 4" descr="Une image contenant Police, texte, logo, Graphique&#10;&#10;Description générée automatiquement">
            <a:extLst>
              <a:ext uri="{FF2B5EF4-FFF2-40B4-BE49-F238E27FC236}">
                <a16:creationId xmlns:a16="http://schemas.microsoft.com/office/drawing/2014/main" id="{6F1E1908-3F2D-26CF-29C3-D7094AB77366}"/>
              </a:ext>
            </a:extLst>
          </p:cNvPr>
          <p:cNvPicPr>
            <a:picLocks noChangeAspect="1"/>
          </p:cNvPicPr>
          <p:nvPr/>
        </p:nvPicPr>
        <p:blipFill>
          <a:blip r:embed="rId4"/>
          <a:stretch>
            <a:fillRect/>
          </a:stretch>
        </p:blipFill>
        <p:spPr>
          <a:xfrm>
            <a:off x="685165" y="289941"/>
            <a:ext cx="2588059" cy="7959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35"/>
        <p:cNvGrpSpPr/>
        <p:nvPr/>
      </p:nvGrpSpPr>
      <p:grpSpPr>
        <a:xfrm>
          <a:off x="0" y="0"/>
          <a:ext cx="0" cy="0"/>
          <a:chOff x="0" y="0"/>
          <a:chExt cx="0" cy="0"/>
        </a:xfrm>
      </p:grpSpPr>
      <p:sp>
        <p:nvSpPr>
          <p:cNvPr id="2237" name="Google Shape;2237;p2"/>
          <p:cNvSpPr txBox="1">
            <a:spLocks noGrp="1"/>
          </p:cNvSpPr>
          <p:nvPr>
            <p:ph type="title"/>
          </p:nvPr>
        </p:nvSpPr>
        <p:spPr>
          <a:xfrm>
            <a:off x="1506523" y="1651928"/>
            <a:ext cx="2574300" cy="52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dirty="0"/>
              <a:t>Le contexte</a:t>
            </a:r>
            <a:endParaRPr sz="1600" dirty="0"/>
          </a:p>
        </p:txBody>
      </p:sp>
      <p:sp>
        <p:nvSpPr>
          <p:cNvPr id="2238" name="Google Shape;2238;p2"/>
          <p:cNvSpPr txBox="1">
            <a:spLocks noGrp="1"/>
          </p:cNvSpPr>
          <p:nvPr>
            <p:ph type="title" idx="2"/>
          </p:nvPr>
        </p:nvSpPr>
        <p:spPr>
          <a:prstGeom prst="rect">
            <a:avLst/>
          </a:prstGeom>
          <a:solidFill>
            <a:srgbClr val="8EDA97"/>
          </a:solidFill>
          <a:ln w="9525" cap="flat" cmpd="sng">
            <a:solidFill>
              <a:srgbClr val="8EDA9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dirty="0">
                <a:solidFill>
                  <a:schemeClr val="bg1"/>
                </a:solidFill>
              </a:rPr>
              <a:t>01</a:t>
            </a:r>
            <a:endParaRPr dirty="0">
              <a:solidFill>
                <a:schemeClr val="bg1"/>
              </a:solidFill>
            </a:endParaRPr>
          </a:p>
        </p:txBody>
      </p:sp>
      <p:sp>
        <p:nvSpPr>
          <p:cNvPr id="2239" name="Google Shape;2239;p2"/>
          <p:cNvSpPr txBox="1">
            <a:spLocks noGrp="1"/>
          </p:cNvSpPr>
          <p:nvPr>
            <p:ph type="title" idx="3"/>
          </p:nvPr>
        </p:nvSpPr>
        <p:spPr>
          <a:xfrm>
            <a:off x="1506401" y="2571751"/>
            <a:ext cx="2684094" cy="716456"/>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dirty="0"/>
              <a:t>Analyses des tendances actuelles</a:t>
            </a:r>
            <a:endParaRPr sz="1600" dirty="0"/>
          </a:p>
        </p:txBody>
      </p:sp>
      <p:sp>
        <p:nvSpPr>
          <p:cNvPr id="2240" name="Google Shape;2240;p2"/>
          <p:cNvSpPr txBox="1">
            <a:spLocks noGrp="1"/>
          </p:cNvSpPr>
          <p:nvPr>
            <p:ph type="title" idx="4"/>
          </p:nvPr>
        </p:nvSpPr>
        <p:spPr>
          <a:xfrm>
            <a:off x="730469" y="2725599"/>
            <a:ext cx="776100" cy="527700"/>
          </a:xfrm>
          <a:prstGeom prst="rect">
            <a:avLst/>
          </a:prstGeom>
          <a:solidFill>
            <a:srgbClr val="8EDA97"/>
          </a:solidFill>
          <a:ln w="9525" cap="flat" cmpd="sng">
            <a:solidFill>
              <a:srgbClr val="8EDA9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solidFill>
                  <a:schemeClr val="bg1"/>
                </a:solidFill>
              </a:rPr>
              <a:t>03</a:t>
            </a:r>
            <a:endParaRPr>
              <a:solidFill>
                <a:schemeClr val="bg1"/>
              </a:solidFill>
            </a:endParaRPr>
          </a:p>
        </p:txBody>
      </p:sp>
      <p:sp>
        <p:nvSpPr>
          <p:cNvPr id="2241" name="Google Shape;2241;p2"/>
          <p:cNvSpPr txBox="1">
            <a:spLocks noGrp="1"/>
          </p:cNvSpPr>
          <p:nvPr>
            <p:ph type="title" idx="6"/>
          </p:nvPr>
        </p:nvSpPr>
        <p:spPr>
          <a:xfrm>
            <a:off x="5058350" y="1648503"/>
            <a:ext cx="2574300" cy="52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dirty="0"/>
              <a:t>SWOT / PESTEL</a:t>
            </a:r>
            <a:endParaRPr sz="1600" dirty="0"/>
          </a:p>
        </p:txBody>
      </p:sp>
      <p:sp>
        <p:nvSpPr>
          <p:cNvPr id="2242" name="Google Shape;2242;p2"/>
          <p:cNvSpPr txBox="1">
            <a:spLocks noGrp="1"/>
          </p:cNvSpPr>
          <p:nvPr>
            <p:ph type="title" idx="7"/>
          </p:nvPr>
        </p:nvSpPr>
        <p:spPr>
          <a:prstGeom prst="rect">
            <a:avLst/>
          </a:prstGeom>
          <a:solidFill>
            <a:srgbClr val="8EDA97"/>
          </a:solidFill>
          <a:ln w="9525" cap="flat" cmpd="sng">
            <a:solidFill>
              <a:srgbClr val="8EDA9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solidFill>
                  <a:schemeClr val="bg1"/>
                </a:solidFill>
              </a:rPr>
              <a:t>02</a:t>
            </a:r>
            <a:endParaRPr>
              <a:solidFill>
                <a:schemeClr val="bg1"/>
              </a:solidFill>
            </a:endParaRPr>
          </a:p>
        </p:txBody>
      </p:sp>
      <p:sp>
        <p:nvSpPr>
          <p:cNvPr id="2244" name="Google Shape;2244;p2"/>
          <p:cNvSpPr txBox="1">
            <a:spLocks noGrp="1"/>
          </p:cNvSpPr>
          <p:nvPr>
            <p:ph type="title" idx="9"/>
          </p:nvPr>
        </p:nvSpPr>
        <p:spPr>
          <a:xfrm>
            <a:off x="4282125" y="2725599"/>
            <a:ext cx="776400" cy="527700"/>
          </a:xfrm>
          <a:prstGeom prst="rect">
            <a:avLst/>
          </a:prstGeom>
          <a:solidFill>
            <a:srgbClr val="8EDA97"/>
          </a:solidFill>
          <a:ln w="9525" cap="flat" cmpd="sng">
            <a:solidFill>
              <a:srgbClr val="8EDA9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solidFill>
                  <a:schemeClr val="bg1"/>
                </a:solidFill>
              </a:rPr>
              <a:t>04</a:t>
            </a:r>
            <a:endParaRPr>
              <a:solidFill>
                <a:schemeClr val="bg1"/>
              </a:solidFill>
            </a:endParaRPr>
          </a:p>
        </p:txBody>
      </p:sp>
      <p:sp>
        <p:nvSpPr>
          <p:cNvPr id="2243" name="Google Shape;2243;p2"/>
          <p:cNvSpPr txBox="1">
            <a:spLocks noGrp="1"/>
          </p:cNvSpPr>
          <p:nvPr>
            <p:ph type="title" idx="13"/>
          </p:nvPr>
        </p:nvSpPr>
        <p:spPr>
          <a:xfrm>
            <a:off x="5058350" y="2640612"/>
            <a:ext cx="2574300" cy="653371"/>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dirty="0"/>
              <a:t>Les futures tendances et perspectives</a:t>
            </a:r>
            <a:endParaRPr sz="1600" dirty="0"/>
          </a:p>
        </p:txBody>
      </p:sp>
      <p:sp>
        <p:nvSpPr>
          <p:cNvPr id="2236" name="Google Shape;2236;p2"/>
          <p:cNvSpPr txBox="1">
            <a:spLocks noGrp="1"/>
          </p:cNvSpPr>
          <p:nvPr>
            <p:ph type="title" idx="15"/>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a:latin typeface="Space Grotesk Light"/>
                <a:ea typeface="Space Grotesk Light"/>
                <a:cs typeface="Space Grotesk Light"/>
                <a:sym typeface="Space Grotesk Light"/>
              </a:rPr>
              <a:t>Sommaire</a:t>
            </a:r>
            <a:endParaRPr b="1">
              <a:latin typeface="Space Grotesk"/>
              <a:ea typeface="Space Grotesk"/>
              <a:cs typeface="Space Grotesk"/>
              <a:sym typeface="Space Grotesk"/>
            </a:endParaRPr>
          </a:p>
        </p:txBody>
      </p:sp>
      <p:sp>
        <p:nvSpPr>
          <p:cNvPr id="2245" name="Google Shape;2245;p2"/>
          <p:cNvSpPr txBox="1"/>
          <p:nvPr/>
        </p:nvSpPr>
        <p:spPr>
          <a:xfrm>
            <a:off x="1506401" y="3655901"/>
            <a:ext cx="2684094" cy="65336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2400"/>
              <a:buFont typeface="Space Grotesk"/>
              <a:buNone/>
            </a:pPr>
            <a:r>
              <a:rPr lang="en" sz="1600" b="0" i="0" u="none" strike="noStrike" cap="none" dirty="0">
                <a:latin typeface="Space Grotesk Medium"/>
                <a:ea typeface="Space Grotesk Medium"/>
                <a:cs typeface="Space Grotesk Medium"/>
                <a:sym typeface="Space Grotesk Medium"/>
              </a:rPr>
              <a:t>Analyses du ou des segment(s)</a:t>
            </a:r>
            <a:endParaRPr dirty="0"/>
          </a:p>
        </p:txBody>
      </p:sp>
      <p:sp>
        <p:nvSpPr>
          <p:cNvPr id="2246" name="Google Shape;2246;p2"/>
          <p:cNvSpPr txBox="1"/>
          <p:nvPr/>
        </p:nvSpPr>
        <p:spPr>
          <a:xfrm>
            <a:off x="730469" y="3739523"/>
            <a:ext cx="776100" cy="527700"/>
          </a:xfrm>
          <a:prstGeom prst="rect">
            <a:avLst/>
          </a:prstGeom>
          <a:solidFill>
            <a:srgbClr val="8EDA97"/>
          </a:solidFill>
          <a:ln w="9525" cap="flat" cmpd="sng">
            <a:solidFill>
              <a:srgbClr val="8EDA9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3000"/>
              <a:buFont typeface="Space Grotesk"/>
              <a:buNone/>
            </a:pPr>
            <a:r>
              <a:rPr lang="en" sz="3300" b="1" i="0" u="none" strike="noStrike" cap="none">
                <a:solidFill>
                  <a:schemeClr val="lt1"/>
                </a:solidFill>
                <a:latin typeface="Space Grotesk"/>
                <a:ea typeface="Space Grotesk"/>
                <a:cs typeface="Space Grotesk"/>
                <a:sym typeface="Space Grotesk"/>
              </a:rPr>
              <a:t>05</a:t>
            </a:r>
            <a:endParaRPr/>
          </a:p>
        </p:txBody>
      </p:sp>
      <p:sp>
        <p:nvSpPr>
          <p:cNvPr id="2247" name="Google Shape;2247;p2"/>
          <p:cNvSpPr txBox="1"/>
          <p:nvPr/>
        </p:nvSpPr>
        <p:spPr>
          <a:xfrm>
            <a:off x="5058350" y="3655901"/>
            <a:ext cx="2574300" cy="6533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2400"/>
              <a:buFont typeface="Space Grotesk"/>
              <a:buNone/>
            </a:pPr>
            <a:r>
              <a:rPr lang="en" sz="1600" b="0" i="0" u="none" strike="noStrike" cap="none" dirty="0">
                <a:latin typeface="Space Grotesk Medium"/>
                <a:ea typeface="Space Grotesk Medium"/>
                <a:cs typeface="Space Grotesk Medium"/>
                <a:sym typeface="Space Grotesk Medium"/>
              </a:rPr>
              <a:t>Recommandations stratégiques</a:t>
            </a:r>
            <a:endParaRPr dirty="0"/>
          </a:p>
        </p:txBody>
      </p:sp>
      <p:sp>
        <p:nvSpPr>
          <p:cNvPr id="2248" name="Google Shape;2248;p2"/>
          <p:cNvSpPr txBox="1"/>
          <p:nvPr/>
        </p:nvSpPr>
        <p:spPr>
          <a:xfrm>
            <a:off x="4282125" y="3739523"/>
            <a:ext cx="776400" cy="527700"/>
          </a:xfrm>
          <a:prstGeom prst="rect">
            <a:avLst/>
          </a:prstGeom>
          <a:solidFill>
            <a:srgbClr val="8EDA97"/>
          </a:solidFill>
          <a:ln w="9525" cap="flat" cmpd="sng">
            <a:solidFill>
              <a:srgbClr val="8EDA9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3000"/>
              <a:buFont typeface="Space Grotesk"/>
              <a:buNone/>
            </a:pPr>
            <a:r>
              <a:rPr lang="en" sz="3300" b="1" i="0" u="none" strike="noStrike" cap="none">
                <a:solidFill>
                  <a:schemeClr val="lt1"/>
                </a:solidFill>
                <a:latin typeface="Space Grotesk"/>
                <a:ea typeface="Space Grotesk"/>
                <a:cs typeface="Space Grotesk"/>
                <a:sym typeface="Space Grotesk"/>
              </a:rPr>
              <a:t>06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58"/>
        <p:cNvGrpSpPr/>
        <p:nvPr/>
      </p:nvGrpSpPr>
      <p:grpSpPr>
        <a:xfrm>
          <a:off x="0" y="0"/>
          <a:ext cx="0" cy="0"/>
          <a:chOff x="0" y="0"/>
          <a:chExt cx="0" cy="0"/>
        </a:xfrm>
      </p:grpSpPr>
      <p:sp>
        <p:nvSpPr>
          <p:cNvPr id="2259" name="Google Shape;2259;p4"/>
          <p:cNvSpPr txBox="1">
            <a:spLocks noGrp="1"/>
          </p:cNvSpPr>
          <p:nvPr>
            <p:ph type="title"/>
          </p:nvPr>
        </p:nvSpPr>
        <p:spPr>
          <a:xfrm>
            <a:off x="3702011" y="1804223"/>
            <a:ext cx="29988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dirty="0"/>
              <a:t>Le contexte</a:t>
            </a:r>
            <a:endParaRPr dirty="0"/>
          </a:p>
        </p:txBody>
      </p:sp>
      <p:sp>
        <p:nvSpPr>
          <p:cNvPr id="2260" name="Google Shape;2260;p4"/>
          <p:cNvSpPr txBox="1">
            <a:spLocks noGrp="1"/>
          </p:cNvSpPr>
          <p:nvPr>
            <p:ph type="title" idx="2"/>
          </p:nvPr>
        </p:nvSpPr>
        <p:spPr>
          <a:xfrm>
            <a:off x="1352740" y="1804223"/>
            <a:ext cx="2015700" cy="1402500"/>
          </a:xfrm>
          <a:prstGeom prst="rect">
            <a:avLst/>
          </a:prstGeom>
          <a:solidFill>
            <a:srgbClr val="8EDA97"/>
          </a:solidFill>
          <a:ln w="9525" cap="flat" cmpd="sng">
            <a:solidFill>
              <a:srgbClr val="8EDA9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dirty="0">
                <a:solidFill>
                  <a:schemeClr val="bg1"/>
                </a:solidFill>
              </a:rPr>
              <a:t>01</a:t>
            </a:r>
            <a:endParaRPr sz="100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4"/>
        <p:cNvGrpSpPr/>
        <p:nvPr/>
      </p:nvGrpSpPr>
      <p:grpSpPr>
        <a:xfrm>
          <a:off x="0" y="0"/>
          <a:ext cx="0" cy="0"/>
          <a:chOff x="0" y="0"/>
          <a:chExt cx="0" cy="0"/>
        </a:xfrm>
      </p:grpSpPr>
      <p:sp>
        <p:nvSpPr>
          <p:cNvPr id="2265" name="Google Shape;2265;p5"/>
          <p:cNvSpPr txBox="1">
            <a:spLocks noGrp="1"/>
          </p:cNvSpPr>
          <p:nvPr>
            <p:ph type="title"/>
          </p:nvPr>
        </p:nvSpPr>
        <p:spPr>
          <a:xfrm>
            <a:off x="1976952" y="487518"/>
            <a:ext cx="3482434" cy="59747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2400" b="1" dirty="0">
                <a:solidFill>
                  <a:srgbClr val="0070C0"/>
                </a:solidFill>
                <a:latin typeface="Montserrat"/>
                <a:ea typeface="Montserrat"/>
                <a:cs typeface="Montserrat"/>
                <a:sym typeface="Montserrat"/>
              </a:rPr>
              <a:t>Contexte</a:t>
            </a:r>
            <a:endParaRPr sz="2400" dirty="0">
              <a:solidFill>
                <a:srgbClr val="0070C0"/>
              </a:solidFill>
            </a:endParaRPr>
          </a:p>
        </p:txBody>
      </p:sp>
      <p:sp>
        <p:nvSpPr>
          <p:cNvPr id="2266" name="Google Shape;2266;p5"/>
          <p:cNvSpPr txBox="1">
            <a:spLocks noGrp="1"/>
          </p:cNvSpPr>
          <p:nvPr>
            <p:ph type="subTitle" idx="1"/>
          </p:nvPr>
        </p:nvSpPr>
        <p:spPr>
          <a:xfrm>
            <a:off x="649262" y="1890739"/>
            <a:ext cx="5260883" cy="2521230"/>
          </a:xfrm>
          <a:prstGeom prst="rect">
            <a:avLst/>
          </a:prstGeom>
          <a:noFill/>
          <a:ln>
            <a:noFill/>
          </a:ln>
        </p:spPr>
        <p:txBody>
          <a:bodyPr spcFirstLastPara="1" wrap="square" lIns="91425" tIns="91425" rIns="91425" bIns="91425" anchor="t" anchorCtr="0">
            <a:noAutofit/>
          </a:bodyPr>
          <a:lstStyle/>
          <a:p>
            <a:pPr marL="0" lvl="0" indent="0"/>
            <a:r>
              <a:rPr lang="en" sz="1100" dirty="0"/>
              <a:t>CNN MCO est une entrerprise chargée de maintenir en conditions opérationnelles les navires de la marine nationale. La société est tenue de réaliser toutes les opérations de maintenance afin que les navire puissent assurer leurs missions.</a:t>
            </a:r>
          </a:p>
          <a:p>
            <a:pPr marL="0" lvl="0" indent="0" algn="l" rtl="0">
              <a:lnSpc>
                <a:spcPct val="100000"/>
              </a:lnSpc>
              <a:spcBef>
                <a:spcPts val="0"/>
              </a:spcBef>
              <a:spcAft>
                <a:spcPts val="0"/>
              </a:spcAft>
              <a:buSzPts val="2100"/>
              <a:buNone/>
            </a:pPr>
            <a:endParaRPr lang="en" sz="1100" dirty="0"/>
          </a:p>
          <a:p>
            <a:pPr marL="0" lvl="0" indent="0" algn="l" rtl="0">
              <a:lnSpc>
                <a:spcPct val="100000"/>
              </a:lnSpc>
              <a:spcBef>
                <a:spcPts val="0"/>
              </a:spcBef>
              <a:spcAft>
                <a:spcPts val="0"/>
              </a:spcAft>
              <a:buSzPts val="2100"/>
              <a:buNone/>
            </a:pPr>
            <a:r>
              <a:rPr lang="en" sz="1100" dirty="0"/>
              <a:t>Les contrats sont pluri-annuels, ce qui sécurise dans le temps son chiffre d’affaires. Certaines prestations restent néanmoins hors contrat, elles font alors l’objet de bons de commande supplémentaires émises par le </a:t>
            </a:r>
            <a:r>
              <a:rPr lang="fr-FR" sz="1100" dirty="0"/>
              <a:t>Client</a:t>
            </a:r>
            <a:r>
              <a:rPr lang="en" sz="1100" dirty="0"/>
              <a:t> qui sont appelés “Notifications commerciales”. </a:t>
            </a:r>
          </a:p>
          <a:p>
            <a:pPr marL="0" lvl="0" indent="0" algn="l" rtl="0">
              <a:lnSpc>
                <a:spcPct val="100000"/>
              </a:lnSpc>
              <a:spcBef>
                <a:spcPts val="0"/>
              </a:spcBef>
              <a:spcAft>
                <a:spcPts val="0"/>
              </a:spcAft>
              <a:buSzPts val="2100"/>
              <a:buNone/>
            </a:pPr>
            <a:endParaRPr lang="en" sz="1100" dirty="0"/>
          </a:p>
          <a:p>
            <a:pPr marL="0" lvl="0" indent="0" algn="l" rtl="0">
              <a:lnSpc>
                <a:spcPct val="100000"/>
              </a:lnSpc>
              <a:spcBef>
                <a:spcPts val="0"/>
              </a:spcBef>
              <a:spcAft>
                <a:spcPts val="0"/>
              </a:spcAft>
              <a:buSzPts val="2100"/>
              <a:buNone/>
            </a:pPr>
            <a:r>
              <a:rPr lang="en" sz="1100" dirty="0"/>
              <a:t>Ces notifications commerciales sont sujettes à des pénalités, des réfactions ou des réserves, qui ont un impact sur la performance commerciale.</a:t>
            </a:r>
          </a:p>
          <a:p>
            <a:pPr marL="0" lvl="0" indent="0" algn="l" rtl="0">
              <a:lnSpc>
                <a:spcPct val="100000"/>
              </a:lnSpc>
              <a:spcBef>
                <a:spcPts val="0"/>
              </a:spcBef>
              <a:spcAft>
                <a:spcPts val="0"/>
              </a:spcAft>
              <a:buSzPts val="2100"/>
              <a:buNone/>
            </a:pPr>
            <a:endParaRPr lang="en" sz="1100" dirty="0"/>
          </a:p>
          <a:p>
            <a:pPr marL="0" lvl="0" indent="0" algn="l" rtl="0">
              <a:lnSpc>
                <a:spcPct val="100000"/>
              </a:lnSpc>
              <a:spcBef>
                <a:spcPts val="0"/>
              </a:spcBef>
              <a:spcAft>
                <a:spcPts val="0"/>
              </a:spcAft>
              <a:buSzPts val="2100"/>
              <a:buNone/>
            </a:pPr>
            <a:r>
              <a:rPr lang="en" sz="1100" dirty="0"/>
              <a:t>Cette étude a pour objectif d’analyser la performance commerciale et de trouver des axes d’amélioration et opportunités.</a:t>
            </a:r>
          </a:p>
        </p:txBody>
      </p:sp>
      <p:pic>
        <p:nvPicPr>
          <p:cNvPr id="20" name="Image 19" descr="Une image contenant ligne, Caractère coloré, symbole, jaune&#10;&#10;Description générée automatiquement">
            <a:extLst>
              <a:ext uri="{FF2B5EF4-FFF2-40B4-BE49-F238E27FC236}">
                <a16:creationId xmlns:a16="http://schemas.microsoft.com/office/drawing/2014/main" id="{C4C6AC20-6644-650A-8E43-12FA4FFCA522}"/>
              </a:ext>
            </a:extLst>
          </p:cNvPr>
          <p:cNvPicPr>
            <a:picLocks noChangeAspect="1"/>
          </p:cNvPicPr>
          <p:nvPr/>
        </p:nvPicPr>
        <p:blipFill>
          <a:blip r:embed="rId3"/>
          <a:stretch>
            <a:fillRect/>
          </a:stretch>
        </p:blipFill>
        <p:spPr>
          <a:xfrm>
            <a:off x="892138" y="359613"/>
            <a:ext cx="902210" cy="902210"/>
          </a:xfrm>
          <a:prstGeom prst="rect">
            <a:avLst/>
          </a:prstGeom>
        </p:spPr>
      </p:pic>
      <p:pic>
        <p:nvPicPr>
          <p:cNvPr id="2" name="Picture 2">
            <a:extLst>
              <a:ext uri="{FF2B5EF4-FFF2-40B4-BE49-F238E27FC236}">
                <a16:creationId xmlns:a16="http://schemas.microsoft.com/office/drawing/2014/main" id="{BBD28109-C5F0-86E8-30E7-E131740ECA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7741" y="3095042"/>
            <a:ext cx="889607" cy="1191536"/>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descr="Une image contenant Police, texte, logo, Graphique&#10;&#10;Description générée automatiquement">
            <a:extLst>
              <a:ext uri="{FF2B5EF4-FFF2-40B4-BE49-F238E27FC236}">
                <a16:creationId xmlns:a16="http://schemas.microsoft.com/office/drawing/2014/main" id="{FFE7265D-4055-FDAB-7CE9-6F429D18798A}"/>
              </a:ext>
            </a:extLst>
          </p:cNvPr>
          <p:cNvPicPr>
            <a:picLocks noChangeAspect="1"/>
          </p:cNvPicPr>
          <p:nvPr/>
        </p:nvPicPr>
        <p:blipFill>
          <a:blip r:embed="rId5"/>
          <a:stretch>
            <a:fillRect/>
          </a:stretch>
        </p:blipFill>
        <p:spPr>
          <a:xfrm>
            <a:off x="6055540" y="1890739"/>
            <a:ext cx="2588059" cy="7959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6">
                                            <p:txEl>
                                              <p:pRg st="0" end="0"/>
                                            </p:txEl>
                                          </p:spTgt>
                                        </p:tgtEl>
                                        <p:attrNameLst>
                                          <p:attrName>style.visibility</p:attrName>
                                        </p:attrNameLst>
                                      </p:cBhvr>
                                      <p:to>
                                        <p:strVal val="visible"/>
                                      </p:to>
                                    </p:set>
                                    <p:animEffect transition="in" filter="fade">
                                      <p:cBhvr>
                                        <p:cTn id="7" dur="500"/>
                                        <p:tgtEl>
                                          <p:spTgt spid="22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66">
                                            <p:txEl>
                                              <p:pRg st="2" end="2"/>
                                            </p:txEl>
                                          </p:spTgt>
                                        </p:tgtEl>
                                        <p:attrNameLst>
                                          <p:attrName>style.visibility</p:attrName>
                                        </p:attrNameLst>
                                      </p:cBhvr>
                                      <p:to>
                                        <p:strVal val="visible"/>
                                      </p:to>
                                    </p:set>
                                    <p:animEffect transition="in" filter="fade">
                                      <p:cBhvr>
                                        <p:cTn id="12" dur="500"/>
                                        <p:tgtEl>
                                          <p:spTgt spid="226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66">
                                            <p:txEl>
                                              <p:pRg st="4" end="4"/>
                                            </p:txEl>
                                          </p:spTgt>
                                        </p:tgtEl>
                                        <p:attrNameLst>
                                          <p:attrName>style.visibility</p:attrName>
                                        </p:attrNameLst>
                                      </p:cBhvr>
                                      <p:to>
                                        <p:strVal val="visible"/>
                                      </p:to>
                                    </p:set>
                                    <p:animEffect transition="in" filter="fade">
                                      <p:cBhvr>
                                        <p:cTn id="17" dur="500"/>
                                        <p:tgtEl>
                                          <p:spTgt spid="226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66">
                                            <p:txEl>
                                              <p:pRg st="6" end="6"/>
                                            </p:txEl>
                                          </p:spTgt>
                                        </p:tgtEl>
                                        <p:attrNameLst>
                                          <p:attrName>style.visibility</p:attrName>
                                        </p:attrNameLst>
                                      </p:cBhvr>
                                      <p:to>
                                        <p:strVal val="visible"/>
                                      </p:to>
                                    </p:set>
                                    <p:animEffect transition="in" filter="fade">
                                      <p:cBhvr>
                                        <p:cTn id="22" dur="500"/>
                                        <p:tgtEl>
                                          <p:spTgt spid="226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0"/>
        <p:cNvGrpSpPr/>
        <p:nvPr/>
      </p:nvGrpSpPr>
      <p:grpSpPr>
        <a:xfrm>
          <a:off x="0" y="0"/>
          <a:ext cx="0" cy="0"/>
          <a:chOff x="0" y="0"/>
          <a:chExt cx="0" cy="0"/>
        </a:xfrm>
      </p:grpSpPr>
      <p:sp>
        <p:nvSpPr>
          <p:cNvPr id="2271" name="Google Shape;2271;p6"/>
          <p:cNvSpPr txBox="1">
            <a:spLocks noGrp="1"/>
          </p:cNvSpPr>
          <p:nvPr>
            <p:ph type="title"/>
          </p:nvPr>
        </p:nvSpPr>
        <p:spPr>
          <a:xfrm>
            <a:off x="4156818" y="1631875"/>
            <a:ext cx="29988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dirty="0"/>
              <a:t>SWOT / PESTEL</a:t>
            </a:r>
            <a:endParaRPr dirty="0"/>
          </a:p>
        </p:txBody>
      </p:sp>
      <p:sp>
        <p:nvSpPr>
          <p:cNvPr id="2272" name="Google Shape;2272;p6"/>
          <p:cNvSpPr txBox="1">
            <a:spLocks noGrp="1"/>
          </p:cNvSpPr>
          <p:nvPr>
            <p:ph type="title" idx="2"/>
          </p:nvPr>
        </p:nvSpPr>
        <p:spPr>
          <a:xfrm>
            <a:off x="1860208" y="1631875"/>
            <a:ext cx="2015700" cy="1402500"/>
          </a:xfrm>
          <a:prstGeom prst="rect">
            <a:avLst/>
          </a:prstGeom>
          <a:solidFill>
            <a:srgbClr val="8EDA9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a:t>02</a:t>
            </a:r>
            <a:endParaRPr sz="10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76"/>
        <p:cNvGrpSpPr/>
        <p:nvPr/>
      </p:nvGrpSpPr>
      <p:grpSpPr>
        <a:xfrm>
          <a:off x="0" y="0"/>
          <a:ext cx="0" cy="0"/>
          <a:chOff x="0" y="0"/>
          <a:chExt cx="0" cy="0"/>
        </a:xfrm>
      </p:grpSpPr>
      <p:sp>
        <p:nvSpPr>
          <p:cNvPr id="2277" name="Google Shape;2277;p7"/>
          <p:cNvSpPr txBox="1">
            <a:spLocks noGrp="1"/>
          </p:cNvSpPr>
          <p:nvPr>
            <p:ph type="title"/>
          </p:nvPr>
        </p:nvSpPr>
        <p:spPr>
          <a:xfrm>
            <a:off x="2038349" y="444532"/>
            <a:ext cx="6392375"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sz="2800" dirty="0"/>
              <a:t>Matrice SWOT</a:t>
            </a:r>
            <a:endParaRPr sz="2800" b="1" dirty="0"/>
          </a:p>
        </p:txBody>
      </p:sp>
      <p:sp>
        <p:nvSpPr>
          <p:cNvPr id="2278" name="Google Shape;2278;p7"/>
          <p:cNvSpPr/>
          <p:nvPr/>
        </p:nvSpPr>
        <p:spPr>
          <a:xfrm>
            <a:off x="713225" y="1449258"/>
            <a:ext cx="4049157" cy="1508962"/>
          </a:xfrm>
          <a:prstGeom prst="roundRect">
            <a:avLst>
              <a:gd name="adj" fmla="val 16667"/>
            </a:avLst>
          </a:prstGeom>
          <a:solidFill>
            <a:srgbClr val="FFC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400" b="0" i="0" u="none" strike="noStrike" cap="none" dirty="0">
                <a:latin typeface="Arial"/>
                <a:ea typeface="Arial"/>
                <a:cs typeface="Arial"/>
                <a:sym typeface="Arial"/>
              </a:rPr>
              <a:t>Forces </a:t>
            </a:r>
            <a:endParaRPr dirty="0"/>
          </a:p>
          <a:p>
            <a:pPr marL="0" marR="0" lvl="0" indent="0" algn="l" rtl="0">
              <a:lnSpc>
                <a:spcPct val="100000"/>
              </a:lnSpc>
              <a:spcBef>
                <a:spcPts val="0"/>
              </a:spcBef>
              <a:spcAft>
                <a:spcPts val="0"/>
              </a:spcAft>
              <a:buNone/>
            </a:pPr>
            <a:endParaRPr sz="1000" b="0" i="0" u="none" strike="noStrike" cap="none" dirty="0">
              <a:latin typeface="Arial"/>
              <a:ea typeface="Arial"/>
              <a:cs typeface="Arial"/>
              <a:sym typeface="Arial"/>
            </a:endParaRPr>
          </a:p>
          <a:p>
            <a:pPr marL="171450" indent="-171450">
              <a:buFont typeface="Arial" panose="020B0604020202020204" pitchFamily="34" charset="0"/>
              <a:buChar char="•"/>
            </a:pPr>
            <a:r>
              <a:rPr lang="fr-FR" sz="900" b="0" i="0" u="none" strike="noStrike" cap="none" dirty="0">
                <a:latin typeface="Arial"/>
                <a:ea typeface="Arial"/>
                <a:cs typeface="Arial"/>
                <a:sym typeface="Arial"/>
              </a:rPr>
              <a:t>L’entreprise existe maintenant depuis plus de 20 ans</a:t>
            </a:r>
          </a:p>
          <a:p>
            <a:pPr marL="171450" marR="0" lvl="0" indent="-171450" algn="l" rtl="0">
              <a:lnSpc>
                <a:spcPct val="100000"/>
              </a:lnSpc>
              <a:spcBef>
                <a:spcPts val="0"/>
              </a:spcBef>
              <a:spcAft>
                <a:spcPts val="0"/>
              </a:spcAft>
              <a:buFont typeface="Arial" panose="020B0604020202020204" pitchFamily="34" charset="0"/>
              <a:buChar char="•"/>
            </a:pPr>
            <a:r>
              <a:rPr lang="fr-FR" sz="900" dirty="0">
                <a:latin typeface="Arial"/>
                <a:ea typeface="Arial"/>
                <a:cs typeface="Arial"/>
                <a:sym typeface="Arial"/>
              </a:rPr>
              <a:t>Elle bénéficie de marchés pluriannuels</a:t>
            </a:r>
          </a:p>
          <a:p>
            <a:pPr marL="171450" marR="0" lvl="0" indent="-171450" algn="l" rtl="0">
              <a:lnSpc>
                <a:spcPct val="100000"/>
              </a:lnSpc>
              <a:spcBef>
                <a:spcPts val="0"/>
              </a:spcBef>
              <a:spcAft>
                <a:spcPts val="0"/>
              </a:spcAft>
              <a:buFont typeface="Arial" panose="020B0604020202020204" pitchFamily="34" charset="0"/>
              <a:buChar char="•"/>
            </a:pPr>
            <a:r>
              <a:rPr lang="fr-FR" sz="900" dirty="0">
                <a:latin typeface="Arial"/>
                <a:ea typeface="Arial"/>
                <a:cs typeface="Arial"/>
                <a:sym typeface="Arial"/>
              </a:rPr>
              <a:t>Cela vient sécuriser son CA </a:t>
            </a:r>
          </a:p>
          <a:p>
            <a:pPr marL="171450" marR="0" lvl="0" indent="-171450" algn="l" rtl="0">
              <a:lnSpc>
                <a:spcPct val="100000"/>
              </a:lnSpc>
              <a:spcBef>
                <a:spcPts val="0"/>
              </a:spcBef>
              <a:spcAft>
                <a:spcPts val="0"/>
              </a:spcAft>
              <a:buFont typeface="Arial" panose="020B0604020202020204" pitchFamily="34" charset="0"/>
              <a:buChar char="•"/>
            </a:pPr>
            <a:r>
              <a:rPr lang="fr-FR" sz="900" dirty="0">
                <a:latin typeface="Arial"/>
                <a:ea typeface="Arial"/>
                <a:cs typeface="Arial"/>
                <a:sym typeface="Arial"/>
              </a:rPr>
              <a:t>Un plan d’acomptage pertinent</a:t>
            </a:r>
          </a:p>
          <a:p>
            <a:pPr marL="171450" marR="0" lvl="0" indent="-171450" algn="l" rtl="0">
              <a:lnSpc>
                <a:spcPct val="100000"/>
              </a:lnSpc>
              <a:spcBef>
                <a:spcPts val="0"/>
              </a:spcBef>
              <a:spcAft>
                <a:spcPts val="0"/>
              </a:spcAft>
              <a:buFont typeface="Arial" panose="020B0604020202020204" pitchFamily="34" charset="0"/>
              <a:buChar char="•"/>
            </a:pPr>
            <a:r>
              <a:rPr lang="fr-FR" sz="900" dirty="0">
                <a:latin typeface="Arial"/>
                <a:ea typeface="Arial"/>
                <a:cs typeface="Arial"/>
                <a:sym typeface="Arial"/>
              </a:rPr>
              <a:t>Des experts qualifiés et une organisation éprouvée</a:t>
            </a:r>
          </a:p>
          <a:p>
            <a:pPr marL="171450" marR="0" lvl="0" indent="-171450" algn="l" rtl="0">
              <a:lnSpc>
                <a:spcPct val="100000"/>
              </a:lnSpc>
              <a:spcBef>
                <a:spcPts val="0"/>
              </a:spcBef>
              <a:spcAft>
                <a:spcPts val="0"/>
              </a:spcAft>
              <a:buFont typeface="Arial" panose="020B0604020202020204" pitchFamily="34" charset="0"/>
              <a:buChar char="•"/>
            </a:pPr>
            <a:endParaRPr lang="fr-FR" sz="1000" dirty="0">
              <a:latin typeface="Arial"/>
              <a:ea typeface="Arial"/>
              <a:cs typeface="Arial"/>
              <a:sym typeface="Arial"/>
            </a:endParaRPr>
          </a:p>
        </p:txBody>
      </p:sp>
      <p:sp>
        <p:nvSpPr>
          <p:cNvPr id="2279" name="Google Shape;2279;p7"/>
          <p:cNvSpPr/>
          <p:nvPr/>
        </p:nvSpPr>
        <p:spPr>
          <a:xfrm>
            <a:off x="4762382" y="1449258"/>
            <a:ext cx="4111033" cy="1508962"/>
          </a:xfrm>
          <a:prstGeom prst="roundRect">
            <a:avLst>
              <a:gd name="adj" fmla="val 16667"/>
            </a:avLst>
          </a:prstGeom>
          <a:solidFill>
            <a:schemeClr val="accent4">
              <a:lumMod val="20000"/>
              <a:lumOff val="80000"/>
            </a:schemeClr>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r>
              <a:rPr lang="en" sz="1400" b="0" i="0" u="none" strike="noStrike" cap="none" dirty="0">
                <a:latin typeface="Arial"/>
                <a:ea typeface="Arial"/>
                <a:cs typeface="Arial"/>
                <a:sym typeface="Arial"/>
              </a:rPr>
              <a:t>Faiblesses</a:t>
            </a:r>
            <a:endParaRPr dirty="0"/>
          </a:p>
          <a:p>
            <a:pPr marL="0" marR="0" lvl="0" indent="0" algn="l" rtl="0">
              <a:lnSpc>
                <a:spcPct val="100000"/>
              </a:lnSpc>
              <a:spcBef>
                <a:spcPts val="0"/>
              </a:spcBef>
              <a:spcAft>
                <a:spcPts val="0"/>
              </a:spcAft>
              <a:buNone/>
            </a:pPr>
            <a:endParaRPr lang="fr-FR" sz="1000" b="0" i="0" u="none" strike="noStrike" cap="none" dirty="0">
              <a:latin typeface="Arial"/>
              <a:ea typeface="Arial"/>
              <a:cs typeface="Arial"/>
              <a:sym typeface="Arial"/>
            </a:endParaRPr>
          </a:p>
          <a:p>
            <a:pPr marL="628650" lvl="1" indent="-171450">
              <a:buFont typeface="Arial" panose="020B0604020202020204" pitchFamily="34" charset="0"/>
              <a:buChar char="•"/>
            </a:pPr>
            <a:r>
              <a:rPr lang="fr-FR" sz="1000" b="0" i="0" u="none" strike="noStrike" cap="none" dirty="0">
                <a:ea typeface="Arial"/>
                <a:cs typeface="Arial"/>
                <a:sym typeface="Arial"/>
              </a:rPr>
              <a:t>Mono-Client</a:t>
            </a:r>
          </a:p>
          <a:p>
            <a:pPr marL="628650" lvl="1" indent="-171450">
              <a:buFont typeface="Arial" panose="020B0604020202020204" pitchFamily="34" charset="0"/>
              <a:buChar char="•"/>
            </a:pPr>
            <a:r>
              <a:rPr lang="fr-FR" sz="1000" b="0" i="0" u="none" strike="noStrike" cap="none" dirty="0">
                <a:ea typeface="Arial"/>
                <a:cs typeface="Arial"/>
                <a:sym typeface="Arial"/>
              </a:rPr>
              <a:t>Contrats qui peuvent donner</a:t>
            </a:r>
            <a:r>
              <a:rPr lang="fr-FR" sz="1000" dirty="0">
                <a:ea typeface="Arial"/>
                <a:cs typeface="Arial"/>
                <a:sym typeface="Arial"/>
              </a:rPr>
              <a:t> lieu à des pénalités</a:t>
            </a:r>
            <a:endParaRPr lang="fr-FR" sz="1000" b="0" i="0" u="none" strike="noStrike" cap="none" dirty="0">
              <a:ea typeface="Arial"/>
              <a:cs typeface="Arial"/>
              <a:sym typeface="Arial"/>
            </a:endParaRPr>
          </a:p>
          <a:p>
            <a:pPr marL="628650" lvl="1" indent="-171450">
              <a:buFont typeface="Arial" panose="020B0604020202020204" pitchFamily="34" charset="0"/>
              <a:buChar char="•"/>
            </a:pPr>
            <a:r>
              <a:rPr lang="fr-FR" sz="1000" b="0" i="0" u="none" strike="noStrike" cap="none" dirty="0">
                <a:ea typeface="Arial"/>
                <a:cs typeface="Arial"/>
                <a:sym typeface="Arial"/>
              </a:rPr>
              <a:t>Image Client qui peut rapidement se dégrader</a:t>
            </a:r>
          </a:p>
          <a:p>
            <a:pPr marL="628650" lvl="1" indent="-171450">
              <a:buFont typeface="Arial" panose="020B0604020202020204" pitchFamily="34" charset="0"/>
              <a:buChar char="•"/>
            </a:pPr>
            <a:r>
              <a:rPr lang="fr-FR" sz="1000" dirty="0"/>
              <a:t>Demande une grande résilience (organisation, logistique, suivi commerciale, trésorerie)</a:t>
            </a: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p:txBody>
      </p:sp>
      <p:sp>
        <p:nvSpPr>
          <p:cNvPr id="2280" name="Google Shape;2280;p7"/>
          <p:cNvSpPr/>
          <p:nvPr/>
        </p:nvSpPr>
        <p:spPr>
          <a:xfrm>
            <a:off x="713226" y="2958220"/>
            <a:ext cx="4049158" cy="1508962"/>
          </a:xfrm>
          <a:prstGeom prst="roundRect">
            <a:avLst>
              <a:gd name="adj" fmla="val 16667"/>
            </a:avLst>
          </a:prstGeom>
          <a:solidFill>
            <a:srgbClr val="8EDA97"/>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400" b="0" i="0" u="none" strike="noStrike" cap="none" dirty="0">
                <a:latin typeface="Arial"/>
                <a:ea typeface="Arial"/>
                <a:cs typeface="Arial"/>
                <a:sym typeface="Arial"/>
              </a:rPr>
              <a:t>Opportunités</a:t>
            </a:r>
            <a:endParaRPr dirty="0"/>
          </a:p>
          <a:p>
            <a:pPr marL="0" marR="0" lvl="0" indent="0" algn="l" rtl="0">
              <a:lnSpc>
                <a:spcPct val="100000"/>
              </a:lnSpc>
              <a:spcBef>
                <a:spcPts val="0"/>
              </a:spcBef>
              <a:spcAft>
                <a:spcPts val="0"/>
              </a:spcAft>
              <a:buNone/>
            </a:pPr>
            <a:endParaRPr sz="11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r>
              <a:rPr lang="fr-FR" sz="900" b="0" i="0" u="none" strike="noStrike" cap="none" dirty="0">
                <a:ea typeface="Arial"/>
                <a:cs typeface="Arial"/>
                <a:sym typeface="Arial"/>
              </a:rPr>
              <a:t>• </a:t>
            </a:r>
            <a:r>
              <a:rPr lang="fr-FR" sz="900" b="1" i="0" u="none" strike="noStrike" cap="none" dirty="0">
                <a:ea typeface="Arial"/>
                <a:cs typeface="Arial"/>
                <a:sym typeface="Arial"/>
              </a:rPr>
              <a:t>améliorer la trésorerie </a:t>
            </a:r>
          </a:p>
          <a:p>
            <a:pPr marL="0" marR="0" lvl="0" indent="0" algn="l" rtl="0">
              <a:lnSpc>
                <a:spcPct val="100000"/>
              </a:lnSpc>
              <a:spcBef>
                <a:spcPts val="0"/>
              </a:spcBef>
              <a:spcAft>
                <a:spcPts val="0"/>
              </a:spcAft>
              <a:buNone/>
            </a:pPr>
            <a:r>
              <a:rPr lang="fr-FR" sz="900" b="0" i="0" u="none" strike="noStrike" cap="none" dirty="0">
                <a:ea typeface="Arial"/>
                <a:cs typeface="Arial"/>
                <a:sym typeface="Arial"/>
              </a:rPr>
              <a:t>(- de réserves documentaires = +300K€ de trésorerie à ce jour)</a:t>
            </a:r>
            <a:endParaRPr sz="900" b="0" i="0" u="none" strike="noStrike" cap="none" dirty="0">
              <a:ea typeface="Arial"/>
              <a:cs typeface="Arial"/>
              <a:sym typeface="Arial"/>
            </a:endParaRPr>
          </a:p>
          <a:p>
            <a:pPr marL="0" marR="0" lvl="0" indent="0" algn="l" rtl="0">
              <a:lnSpc>
                <a:spcPct val="100000"/>
              </a:lnSpc>
              <a:spcBef>
                <a:spcPts val="0"/>
              </a:spcBef>
              <a:spcAft>
                <a:spcPts val="0"/>
              </a:spcAft>
              <a:buNone/>
            </a:pPr>
            <a:r>
              <a:rPr lang="fr-FR" sz="900" b="0" i="0" u="none" strike="noStrike" cap="none" dirty="0">
                <a:ea typeface="Arial"/>
                <a:cs typeface="Arial"/>
                <a:sym typeface="Arial"/>
              </a:rPr>
              <a:t>• </a:t>
            </a:r>
            <a:r>
              <a:rPr lang="fr-FR" sz="900" b="1" i="0" u="none" strike="noStrike" cap="none" dirty="0">
                <a:ea typeface="Arial"/>
                <a:cs typeface="Arial"/>
                <a:sym typeface="Arial"/>
              </a:rPr>
              <a:t>Améliorer la marge brute </a:t>
            </a:r>
            <a:r>
              <a:rPr lang="fr-FR" sz="900" b="0" i="0" u="none" strike="noStrike" cap="none" dirty="0">
                <a:ea typeface="Arial"/>
                <a:cs typeface="Arial"/>
                <a:sym typeface="Arial"/>
              </a:rPr>
              <a:t>(diminuer les pénalités)</a:t>
            </a:r>
          </a:p>
          <a:p>
            <a:pPr marL="0" marR="0" lvl="0" indent="0" algn="l" rtl="0">
              <a:lnSpc>
                <a:spcPct val="100000"/>
              </a:lnSpc>
              <a:spcBef>
                <a:spcPts val="0"/>
              </a:spcBef>
              <a:spcAft>
                <a:spcPts val="0"/>
              </a:spcAft>
              <a:buNone/>
            </a:pPr>
            <a:r>
              <a:rPr lang="fr-FR" sz="900" dirty="0"/>
              <a:t>• </a:t>
            </a:r>
            <a:r>
              <a:rPr lang="fr-FR" sz="900" b="1" dirty="0"/>
              <a:t>Vendre plus </a:t>
            </a:r>
            <a:r>
              <a:rPr lang="fr-FR" sz="900" dirty="0"/>
              <a:t>(évolutions d’installations)</a:t>
            </a:r>
          </a:p>
          <a:p>
            <a:pPr marL="0" marR="0" lvl="0" indent="0" algn="l" rtl="0">
              <a:lnSpc>
                <a:spcPct val="100000"/>
              </a:lnSpc>
              <a:spcBef>
                <a:spcPts val="0"/>
              </a:spcBef>
              <a:spcAft>
                <a:spcPts val="0"/>
              </a:spcAft>
              <a:buNone/>
            </a:pPr>
            <a:r>
              <a:rPr lang="fr-FR" sz="800" b="1" i="0" u="none" strike="noStrike" cap="none" dirty="0">
                <a:latin typeface="Arial"/>
                <a:ea typeface="Arial"/>
                <a:cs typeface="Arial"/>
                <a:sym typeface="Arial"/>
              </a:rPr>
              <a:t>• Vendre mieux </a:t>
            </a:r>
            <a:r>
              <a:rPr lang="fr-FR" sz="800" i="0" u="none" strike="noStrike" cap="none" dirty="0">
                <a:latin typeface="Arial"/>
                <a:ea typeface="Arial"/>
                <a:cs typeface="Arial"/>
                <a:sym typeface="Arial"/>
              </a:rPr>
              <a:t>(mieux maîtriser les </a:t>
            </a:r>
            <a:r>
              <a:rPr lang="fr-FR" sz="800" dirty="0">
                <a:latin typeface="Arial"/>
                <a:ea typeface="Arial"/>
                <a:cs typeface="Arial"/>
                <a:sym typeface="Arial"/>
              </a:rPr>
              <a:t>achats)</a:t>
            </a:r>
            <a:endParaRPr sz="1200" b="1" i="0" u="none" strike="noStrike" cap="none" dirty="0">
              <a:latin typeface="Arial"/>
              <a:ea typeface="Arial"/>
              <a:cs typeface="Arial"/>
              <a:sym typeface="Arial"/>
            </a:endParaRPr>
          </a:p>
        </p:txBody>
      </p:sp>
      <p:sp>
        <p:nvSpPr>
          <p:cNvPr id="2281" name="Google Shape;2281;p7"/>
          <p:cNvSpPr/>
          <p:nvPr/>
        </p:nvSpPr>
        <p:spPr>
          <a:xfrm>
            <a:off x="4762382" y="2958220"/>
            <a:ext cx="4111032" cy="1508962"/>
          </a:xfrm>
          <a:prstGeom prst="roundRect">
            <a:avLst>
              <a:gd name="adj" fmla="val 16667"/>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r>
              <a:rPr lang="en" sz="1400" b="0" i="0" u="none" strike="noStrike" cap="none" dirty="0">
                <a:solidFill>
                  <a:schemeClr val="bg1"/>
                </a:solidFill>
                <a:latin typeface="Arial"/>
                <a:ea typeface="Arial"/>
                <a:cs typeface="Arial"/>
                <a:sym typeface="Arial"/>
              </a:rPr>
              <a:t>Menaces</a:t>
            </a:r>
            <a:endParaRPr dirty="0">
              <a:solidFill>
                <a:schemeClr val="bg1"/>
              </a:solidFill>
            </a:endParaRPr>
          </a:p>
          <a:p>
            <a:pPr marL="0" marR="0" lvl="0" indent="0" algn="r" rtl="0">
              <a:lnSpc>
                <a:spcPct val="100000"/>
              </a:lnSpc>
              <a:spcBef>
                <a:spcPts val="0"/>
              </a:spcBef>
              <a:spcAft>
                <a:spcPts val="0"/>
              </a:spcAft>
              <a:buNone/>
            </a:pPr>
            <a:endParaRPr sz="1100" b="0" i="0" u="none" strike="noStrike" cap="none" dirty="0">
              <a:solidFill>
                <a:schemeClr val="bg1"/>
              </a:solidFill>
              <a:latin typeface="Arial"/>
              <a:ea typeface="Arial"/>
              <a:cs typeface="Arial"/>
              <a:sym typeface="Arial"/>
            </a:endParaRPr>
          </a:p>
          <a:p>
            <a:pPr lvl="1"/>
            <a:r>
              <a:rPr lang="fr-FR" sz="1050" dirty="0">
                <a:solidFill>
                  <a:schemeClr val="bg1"/>
                </a:solidFill>
              </a:rPr>
              <a:t>• Risque pertes de marchés en cas de mauvais résultats</a:t>
            </a:r>
            <a:endParaRPr sz="1050" b="0" i="0" u="none" strike="noStrike" cap="none" dirty="0">
              <a:solidFill>
                <a:schemeClr val="bg1"/>
              </a:solidFill>
              <a:ea typeface="Arial"/>
              <a:cs typeface="Arial"/>
              <a:sym typeface="Arial"/>
            </a:endParaRPr>
          </a:p>
          <a:p>
            <a:pPr lvl="1"/>
            <a:r>
              <a:rPr lang="fr-FR" sz="1050" dirty="0">
                <a:solidFill>
                  <a:schemeClr val="bg1"/>
                </a:solidFill>
              </a:rPr>
              <a:t>• Exigences clients élevées</a:t>
            </a:r>
            <a:endParaRPr sz="1050" b="0" i="0" u="none" strike="noStrike" cap="none" dirty="0">
              <a:solidFill>
                <a:schemeClr val="bg1"/>
              </a:solidFill>
              <a:ea typeface="Arial"/>
              <a:cs typeface="Arial"/>
              <a:sym typeface="Arial"/>
            </a:endParaRPr>
          </a:p>
          <a:p>
            <a:pPr lvl="1"/>
            <a:r>
              <a:rPr lang="fr-FR" sz="1050" b="0" i="0" u="none" strike="noStrike" cap="none" dirty="0">
                <a:solidFill>
                  <a:schemeClr val="bg1"/>
                </a:solidFill>
                <a:ea typeface="Arial"/>
                <a:cs typeface="Arial"/>
                <a:sym typeface="Arial"/>
              </a:rPr>
              <a:t>• Pénalités diminuent la marge</a:t>
            </a:r>
          </a:p>
          <a:p>
            <a:pPr lvl="1"/>
            <a:r>
              <a:rPr lang="fr-FR" sz="1050" dirty="0">
                <a:solidFill>
                  <a:schemeClr val="bg1"/>
                </a:solidFill>
                <a:ea typeface="Arial"/>
                <a:cs typeface="Arial"/>
                <a:sym typeface="Arial"/>
              </a:rPr>
              <a:t>• Réserves clients créent des décalages de trésorerie</a:t>
            </a:r>
          </a:p>
          <a:p>
            <a:pPr lvl="1"/>
            <a:r>
              <a:rPr lang="fr-FR" sz="1050" dirty="0">
                <a:solidFill>
                  <a:schemeClr val="bg1"/>
                </a:solidFill>
                <a:ea typeface="Arial"/>
                <a:cs typeface="Arial"/>
                <a:sym typeface="Arial"/>
              </a:rPr>
              <a:t>• </a:t>
            </a:r>
            <a:r>
              <a:rPr lang="fr-FR" sz="1050" b="0" i="0" u="none" strike="noStrike" cap="none" dirty="0">
                <a:solidFill>
                  <a:schemeClr val="bg1"/>
                </a:solidFill>
                <a:ea typeface="Arial"/>
                <a:cs typeface="Arial"/>
                <a:sym typeface="Arial"/>
              </a:rPr>
              <a:t>Concurrence très présente</a:t>
            </a:r>
            <a:endParaRPr sz="1050" b="0" i="0" u="none" strike="noStrike" cap="none" dirty="0">
              <a:solidFill>
                <a:schemeClr val="bg1"/>
              </a:solidFill>
              <a:ea typeface="Arial"/>
              <a:cs typeface="Arial"/>
              <a:sym typeface="Arial"/>
            </a:endParaRPr>
          </a:p>
        </p:txBody>
      </p:sp>
      <p:sp>
        <p:nvSpPr>
          <p:cNvPr id="2282" name="Google Shape;2282;p7"/>
          <p:cNvSpPr/>
          <p:nvPr/>
        </p:nvSpPr>
        <p:spPr>
          <a:xfrm>
            <a:off x="4201084" y="2401057"/>
            <a:ext cx="1122597" cy="1122597"/>
          </a:xfrm>
          <a:prstGeom prst="ellipse">
            <a:avLst/>
          </a:prstGeom>
          <a:solidFill>
            <a:srgbClr val="271457"/>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83" name="Google Shape;2283;p7"/>
          <p:cNvSpPr/>
          <p:nvPr/>
        </p:nvSpPr>
        <p:spPr>
          <a:xfrm>
            <a:off x="4566694" y="2777709"/>
            <a:ext cx="361102" cy="361022"/>
          </a:xfrm>
          <a:prstGeom prst="ellipse">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84" name="Google Shape;2284;p7"/>
          <p:cNvSpPr txBox="1"/>
          <p:nvPr/>
        </p:nvSpPr>
        <p:spPr>
          <a:xfrm>
            <a:off x="4327300" y="2467855"/>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dirty="0">
                <a:solidFill>
                  <a:schemeClr val="accent2"/>
                </a:solidFill>
                <a:latin typeface="Arial"/>
                <a:ea typeface="Arial"/>
                <a:cs typeface="Arial"/>
                <a:sym typeface="Arial"/>
              </a:rPr>
              <a:t>S</a:t>
            </a:r>
            <a:endParaRPr dirty="0"/>
          </a:p>
        </p:txBody>
      </p:sp>
      <p:sp>
        <p:nvSpPr>
          <p:cNvPr id="2285" name="Google Shape;2285;p7"/>
          <p:cNvSpPr txBox="1"/>
          <p:nvPr/>
        </p:nvSpPr>
        <p:spPr>
          <a:xfrm>
            <a:off x="4780329" y="2485995"/>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dirty="0">
                <a:solidFill>
                  <a:schemeClr val="lt1"/>
                </a:solidFill>
                <a:latin typeface="Arial"/>
                <a:ea typeface="Arial"/>
                <a:cs typeface="Arial"/>
                <a:sym typeface="Arial"/>
              </a:rPr>
              <a:t>W</a:t>
            </a:r>
            <a:endParaRPr dirty="0"/>
          </a:p>
        </p:txBody>
      </p:sp>
      <p:sp>
        <p:nvSpPr>
          <p:cNvPr id="2286" name="Google Shape;2286;p7"/>
          <p:cNvSpPr txBox="1"/>
          <p:nvPr/>
        </p:nvSpPr>
        <p:spPr>
          <a:xfrm>
            <a:off x="4318579" y="3025018"/>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O</a:t>
            </a:r>
            <a:endParaRPr/>
          </a:p>
        </p:txBody>
      </p:sp>
      <p:sp>
        <p:nvSpPr>
          <p:cNvPr id="2287" name="Google Shape;2287;p7"/>
          <p:cNvSpPr txBox="1"/>
          <p:nvPr/>
        </p:nvSpPr>
        <p:spPr>
          <a:xfrm>
            <a:off x="4836368" y="3025018"/>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T</a:t>
            </a:r>
            <a:endParaRPr/>
          </a:p>
        </p:txBody>
      </p:sp>
      <p:cxnSp>
        <p:nvCxnSpPr>
          <p:cNvPr id="2288" name="Google Shape;2288;p7"/>
          <p:cNvCxnSpPr>
            <a:stCxn id="2282" idx="2"/>
            <a:endCxn id="2282" idx="6"/>
          </p:cNvCxnSpPr>
          <p:nvPr/>
        </p:nvCxnSpPr>
        <p:spPr>
          <a:xfrm>
            <a:off x="4201084" y="2962356"/>
            <a:ext cx="1122600" cy="0"/>
          </a:xfrm>
          <a:prstGeom prst="straightConnector1">
            <a:avLst/>
          </a:prstGeom>
          <a:noFill/>
          <a:ln w="19050" cap="flat" cmpd="sng">
            <a:solidFill>
              <a:schemeClr val="lt1"/>
            </a:solidFill>
            <a:prstDash val="solid"/>
            <a:round/>
            <a:headEnd type="none" w="sm" len="sm"/>
            <a:tailEnd type="none" w="sm" len="sm"/>
          </a:ln>
        </p:spPr>
      </p:cxnSp>
      <p:cxnSp>
        <p:nvCxnSpPr>
          <p:cNvPr id="2289" name="Google Shape;2289;p7"/>
          <p:cNvCxnSpPr>
            <a:stCxn id="2282" idx="4"/>
            <a:endCxn id="2282" idx="0"/>
          </p:cNvCxnSpPr>
          <p:nvPr/>
        </p:nvCxnSpPr>
        <p:spPr>
          <a:xfrm rot="10800000">
            <a:off x="4762383" y="2401054"/>
            <a:ext cx="0" cy="1122600"/>
          </a:xfrm>
          <a:prstGeom prst="straightConnector1">
            <a:avLst/>
          </a:prstGeom>
          <a:noFill/>
          <a:ln w="19050" cap="flat" cmpd="sng">
            <a:solidFill>
              <a:schemeClr val="lt1"/>
            </a:solidFill>
            <a:prstDash val="solid"/>
            <a:round/>
            <a:headEnd type="none" w="sm" len="sm"/>
            <a:tailEnd type="none" w="sm" len="sm"/>
          </a:ln>
        </p:spPr>
      </p:cxnSp>
      <p:pic>
        <p:nvPicPr>
          <p:cNvPr id="12" name="Image 11" descr="Une image contenant Caractère coloré, ligne, capture d’écran, jaune&#10;&#10;Description générée automatiquement">
            <a:extLst>
              <a:ext uri="{FF2B5EF4-FFF2-40B4-BE49-F238E27FC236}">
                <a16:creationId xmlns:a16="http://schemas.microsoft.com/office/drawing/2014/main" id="{4D9A5164-39DD-D92B-60EA-3B9C2FF80E01}"/>
              </a:ext>
            </a:extLst>
          </p:cNvPr>
          <p:cNvPicPr>
            <a:picLocks noChangeAspect="1"/>
          </p:cNvPicPr>
          <p:nvPr/>
        </p:nvPicPr>
        <p:blipFill>
          <a:blip r:embed="rId3"/>
          <a:stretch>
            <a:fillRect/>
          </a:stretch>
        </p:blipFill>
        <p:spPr>
          <a:xfrm>
            <a:off x="794659" y="359613"/>
            <a:ext cx="902210" cy="9022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82"/>
                                        </p:tgtEl>
                                        <p:attrNameLst>
                                          <p:attrName>style.visibility</p:attrName>
                                        </p:attrNameLst>
                                      </p:cBhvr>
                                      <p:to>
                                        <p:strVal val="visible"/>
                                      </p:to>
                                    </p:set>
                                    <p:animEffect transition="in" filter="fade">
                                      <p:cBhvr>
                                        <p:cTn id="7" dur="500"/>
                                        <p:tgtEl>
                                          <p:spTgt spid="228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84"/>
                                        </p:tgtEl>
                                        <p:attrNameLst>
                                          <p:attrName>style.visibility</p:attrName>
                                        </p:attrNameLst>
                                      </p:cBhvr>
                                      <p:to>
                                        <p:strVal val="visible"/>
                                      </p:to>
                                    </p:set>
                                    <p:animEffect transition="in" filter="fade">
                                      <p:cBhvr>
                                        <p:cTn id="10" dur="500"/>
                                        <p:tgtEl>
                                          <p:spTgt spid="228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78"/>
                                        </p:tgtEl>
                                        <p:attrNameLst>
                                          <p:attrName>style.visibility</p:attrName>
                                        </p:attrNameLst>
                                      </p:cBhvr>
                                      <p:to>
                                        <p:strVal val="visible"/>
                                      </p:to>
                                    </p:set>
                                    <p:animEffect transition="in" filter="fade">
                                      <p:cBhvr>
                                        <p:cTn id="15" dur="500"/>
                                        <p:tgtEl>
                                          <p:spTgt spid="227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79"/>
                                        </p:tgtEl>
                                        <p:attrNameLst>
                                          <p:attrName>style.visibility</p:attrName>
                                        </p:attrNameLst>
                                      </p:cBhvr>
                                      <p:to>
                                        <p:strVal val="visible"/>
                                      </p:to>
                                    </p:set>
                                    <p:animEffect transition="in" filter="fade">
                                      <p:cBhvr>
                                        <p:cTn id="20" dur="500"/>
                                        <p:tgtEl>
                                          <p:spTgt spid="227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280"/>
                                        </p:tgtEl>
                                        <p:attrNameLst>
                                          <p:attrName>style.visibility</p:attrName>
                                        </p:attrNameLst>
                                      </p:cBhvr>
                                      <p:to>
                                        <p:strVal val="visible"/>
                                      </p:to>
                                    </p:set>
                                    <p:animEffect transition="in" filter="fade">
                                      <p:cBhvr>
                                        <p:cTn id="25" dur="500"/>
                                        <p:tgtEl>
                                          <p:spTgt spid="228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81"/>
                                        </p:tgtEl>
                                        <p:attrNameLst>
                                          <p:attrName>style.visibility</p:attrName>
                                        </p:attrNameLst>
                                      </p:cBhvr>
                                      <p:to>
                                        <p:strVal val="visible"/>
                                      </p:to>
                                    </p:set>
                                    <p:animEffect transition="in" filter="fade">
                                      <p:cBhvr>
                                        <p:cTn id="30" dur="500"/>
                                        <p:tgtEl>
                                          <p:spTgt spid="2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8" grpId="0" animBg="1"/>
      <p:bldP spid="2279" grpId="0" animBg="1"/>
      <p:bldP spid="2280" grpId="0" animBg="1"/>
      <p:bldP spid="2281" grpId="0" animBg="1"/>
      <p:bldP spid="2282" grpId="0" animBg="1"/>
      <p:bldP spid="228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3"/>
        <p:cNvGrpSpPr/>
        <p:nvPr/>
      </p:nvGrpSpPr>
      <p:grpSpPr>
        <a:xfrm>
          <a:off x="0" y="0"/>
          <a:ext cx="0" cy="0"/>
          <a:chOff x="0" y="0"/>
          <a:chExt cx="0" cy="0"/>
        </a:xfrm>
      </p:grpSpPr>
      <p:sp>
        <p:nvSpPr>
          <p:cNvPr id="2294" name="Google Shape;2294;p8"/>
          <p:cNvSpPr/>
          <p:nvPr/>
        </p:nvSpPr>
        <p:spPr>
          <a:xfrm>
            <a:off x="3347125" y="1697825"/>
            <a:ext cx="2468400" cy="22971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0" name="Google Shape;2300;p8"/>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2500"/>
              <a:buNone/>
            </a:pPr>
            <a:r>
              <a:rPr lang="en" dirty="0"/>
              <a:t>Politique</a:t>
            </a:r>
            <a:endParaRPr dirty="0"/>
          </a:p>
        </p:txBody>
      </p:sp>
      <p:sp>
        <p:nvSpPr>
          <p:cNvPr id="2299" name="Google Shape;2299;p8"/>
          <p:cNvSpPr txBox="1">
            <a:spLocks noGrp="1"/>
          </p:cNvSpPr>
          <p:nvPr>
            <p:ph type="subTitle" idx="1"/>
          </p:nvPr>
        </p:nvSpPr>
        <p:spPr>
          <a:xfrm>
            <a:off x="203200" y="1731874"/>
            <a:ext cx="2848101" cy="713693"/>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Clr>
                <a:schemeClr val="dk1"/>
              </a:buClr>
              <a:buSzPts val="1100"/>
              <a:buFont typeface="Arial"/>
              <a:buNone/>
            </a:pPr>
            <a:r>
              <a:rPr lang="en" sz="800" dirty="0">
                <a:solidFill>
                  <a:srgbClr val="0070C0"/>
                </a:solidFill>
              </a:rPr>
              <a:t>Contexte géopolitique tendu</a:t>
            </a:r>
          </a:p>
          <a:p>
            <a:pPr marL="0" lvl="0" indent="0" algn="r" rtl="0">
              <a:lnSpc>
                <a:spcPct val="100000"/>
              </a:lnSpc>
              <a:spcBef>
                <a:spcPts val="0"/>
              </a:spcBef>
              <a:spcAft>
                <a:spcPts val="0"/>
              </a:spcAft>
              <a:buClr>
                <a:schemeClr val="dk1"/>
              </a:buClr>
              <a:buSzPts val="1100"/>
              <a:buFont typeface="Arial"/>
              <a:buNone/>
            </a:pPr>
            <a:r>
              <a:rPr lang="en" sz="800" dirty="0">
                <a:solidFill>
                  <a:srgbClr val="0070C0"/>
                </a:solidFill>
              </a:rPr>
              <a:t>Marché à pénalités</a:t>
            </a:r>
          </a:p>
          <a:p>
            <a:pPr marL="0" lvl="0" indent="0" algn="r" rtl="0">
              <a:lnSpc>
                <a:spcPct val="100000"/>
              </a:lnSpc>
              <a:spcBef>
                <a:spcPts val="0"/>
              </a:spcBef>
              <a:spcAft>
                <a:spcPts val="0"/>
              </a:spcAft>
              <a:buClr>
                <a:schemeClr val="dk1"/>
              </a:buClr>
              <a:buSzPts val="1100"/>
              <a:buFont typeface="Arial"/>
              <a:buNone/>
            </a:pPr>
            <a:r>
              <a:rPr lang="en" sz="800" dirty="0">
                <a:solidFill>
                  <a:srgbClr val="0070C0"/>
                </a:solidFill>
              </a:rPr>
              <a:t>Client exigeant</a:t>
            </a:r>
          </a:p>
          <a:p>
            <a:pPr marL="0" lvl="0" indent="0" algn="r" rtl="0">
              <a:lnSpc>
                <a:spcPct val="100000"/>
              </a:lnSpc>
              <a:spcBef>
                <a:spcPts val="0"/>
              </a:spcBef>
              <a:spcAft>
                <a:spcPts val="0"/>
              </a:spcAft>
              <a:buClr>
                <a:schemeClr val="dk1"/>
              </a:buClr>
              <a:buSzPts val="1100"/>
              <a:buFont typeface="Arial"/>
              <a:buNone/>
            </a:pPr>
            <a:r>
              <a:rPr lang="en" sz="800" dirty="0">
                <a:solidFill>
                  <a:srgbClr val="0070C0"/>
                </a:solidFill>
              </a:rPr>
              <a:t>Type d’activité → Efficience et résilience</a:t>
            </a:r>
          </a:p>
        </p:txBody>
      </p:sp>
      <p:sp>
        <p:nvSpPr>
          <p:cNvPr id="2297" name="Google Shape;2297;p8"/>
          <p:cNvSpPr txBox="1">
            <a:spLocks noGrp="1"/>
          </p:cNvSpPr>
          <p:nvPr>
            <p:ph type="title" idx="2"/>
          </p:nvPr>
        </p:nvSpPr>
        <p:spPr>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2500"/>
              <a:buNone/>
            </a:pPr>
            <a:r>
              <a:rPr lang="en" dirty="0"/>
              <a:t>Social</a:t>
            </a:r>
            <a:endParaRPr dirty="0"/>
          </a:p>
        </p:txBody>
      </p:sp>
      <p:sp>
        <p:nvSpPr>
          <p:cNvPr id="2298" name="Google Shape;2298;p8"/>
          <p:cNvSpPr txBox="1">
            <a:spLocks noGrp="1"/>
          </p:cNvSpPr>
          <p:nvPr>
            <p:ph type="subTitle" idx="3"/>
          </p:nvPr>
        </p:nvSpPr>
        <p:spPr>
          <a:xfrm>
            <a:off x="120650" y="2884840"/>
            <a:ext cx="2930651" cy="734711"/>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400"/>
              <a:buNone/>
            </a:pPr>
            <a:r>
              <a:rPr lang="fr-FR" sz="800" dirty="0">
                <a:solidFill>
                  <a:srgbClr val="0070C0"/>
                </a:solidFill>
              </a:rPr>
              <a:t>Turn-over (expatriés)</a:t>
            </a:r>
          </a:p>
          <a:p>
            <a:pPr marL="0" lvl="0" indent="0" algn="r" rtl="0">
              <a:lnSpc>
                <a:spcPct val="100000"/>
              </a:lnSpc>
              <a:spcBef>
                <a:spcPts val="0"/>
              </a:spcBef>
              <a:spcAft>
                <a:spcPts val="0"/>
              </a:spcAft>
              <a:buSzPts val="1400"/>
              <a:buNone/>
            </a:pPr>
            <a:r>
              <a:rPr lang="fr-FR" sz="800" dirty="0">
                <a:solidFill>
                  <a:srgbClr val="0070C0"/>
                </a:solidFill>
              </a:rPr>
              <a:t>Profil d’expert recherché </a:t>
            </a:r>
          </a:p>
          <a:p>
            <a:pPr marL="0" lvl="0" indent="0" algn="r" rtl="0">
              <a:lnSpc>
                <a:spcPct val="100000"/>
              </a:lnSpc>
              <a:spcBef>
                <a:spcPts val="0"/>
              </a:spcBef>
              <a:spcAft>
                <a:spcPts val="0"/>
              </a:spcAft>
              <a:buSzPts val="1400"/>
              <a:buNone/>
            </a:pPr>
            <a:r>
              <a:rPr lang="fr-FR" sz="800" dirty="0">
                <a:solidFill>
                  <a:srgbClr val="0070C0"/>
                </a:solidFill>
              </a:rPr>
              <a:t>Départs problématiques</a:t>
            </a:r>
          </a:p>
          <a:p>
            <a:pPr marL="0" lvl="0" indent="0" algn="r" rtl="0">
              <a:lnSpc>
                <a:spcPct val="100000"/>
              </a:lnSpc>
              <a:spcBef>
                <a:spcPts val="0"/>
              </a:spcBef>
              <a:spcAft>
                <a:spcPts val="0"/>
              </a:spcAft>
              <a:buSzPts val="1400"/>
              <a:buNone/>
            </a:pPr>
            <a:r>
              <a:rPr lang="fr-FR" sz="800" dirty="0">
                <a:solidFill>
                  <a:srgbClr val="0070C0"/>
                </a:solidFill>
              </a:rPr>
              <a:t>Backup difficile à mettre en place</a:t>
            </a:r>
            <a:endParaRPr sz="800" dirty="0">
              <a:solidFill>
                <a:srgbClr val="0070C0"/>
              </a:solidFill>
            </a:endParaRPr>
          </a:p>
        </p:txBody>
      </p:sp>
      <p:sp>
        <p:nvSpPr>
          <p:cNvPr id="2296" name="Google Shape;2296;p8"/>
          <p:cNvSpPr txBox="1">
            <a:spLocks noGrp="1"/>
          </p:cNvSpPr>
          <p:nvPr>
            <p:ph type="title" idx="4"/>
          </p:nvPr>
        </p:nvSpPr>
        <p:spPr>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2500"/>
              <a:buNone/>
            </a:pPr>
            <a:r>
              <a:rPr lang="en" dirty="0"/>
              <a:t>Environmental</a:t>
            </a:r>
            <a:endParaRPr dirty="0"/>
          </a:p>
        </p:txBody>
      </p:sp>
      <p:sp>
        <p:nvSpPr>
          <p:cNvPr id="2295" name="Google Shape;2295;p8"/>
          <p:cNvSpPr txBox="1">
            <a:spLocks noGrp="1"/>
          </p:cNvSpPr>
          <p:nvPr>
            <p:ph type="subTitle" idx="5"/>
          </p:nvPr>
        </p:nvSpPr>
        <p:spPr>
          <a:xfrm>
            <a:off x="0" y="4020638"/>
            <a:ext cx="3051276" cy="688186"/>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400"/>
              <a:buNone/>
            </a:pPr>
            <a:r>
              <a:rPr lang="fr-FR" sz="900" dirty="0">
                <a:solidFill>
                  <a:srgbClr val="0070C0"/>
                </a:solidFill>
              </a:rPr>
              <a:t>Impacts élevés en cas de pollution</a:t>
            </a:r>
          </a:p>
          <a:p>
            <a:pPr marL="0" lvl="0" indent="0" algn="r" rtl="0">
              <a:lnSpc>
                <a:spcPct val="100000"/>
              </a:lnSpc>
              <a:spcBef>
                <a:spcPts val="0"/>
              </a:spcBef>
              <a:spcAft>
                <a:spcPts val="0"/>
              </a:spcAft>
              <a:buSzPts val="1400"/>
              <a:buNone/>
            </a:pPr>
            <a:r>
              <a:rPr lang="fr-FR" sz="900" dirty="0">
                <a:solidFill>
                  <a:srgbClr val="0070C0"/>
                </a:solidFill>
              </a:rPr>
              <a:t>Obligation de suivi (CO2, déchets)</a:t>
            </a:r>
          </a:p>
          <a:p>
            <a:pPr marL="0" lvl="0" indent="0" algn="r" rtl="0">
              <a:lnSpc>
                <a:spcPct val="100000"/>
              </a:lnSpc>
              <a:spcBef>
                <a:spcPts val="0"/>
              </a:spcBef>
              <a:spcAft>
                <a:spcPts val="0"/>
              </a:spcAft>
              <a:buSzPts val="1400"/>
              <a:buNone/>
            </a:pPr>
            <a:r>
              <a:rPr lang="fr-FR" sz="900" dirty="0">
                <a:solidFill>
                  <a:srgbClr val="0070C0"/>
                </a:solidFill>
              </a:rPr>
              <a:t>Preuves à fournir au Client</a:t>
            </a:r>
          </a:p>
        </p:txBody>
      </p:sp>
      <p:sp>
        <p:nvSpPr>
          <p:cNvPr id="2301" name="Google Shape;2301;p8"/>
          <p:cNvSpPr txBox="1">
            <a:spLocks noGrp="1"/>
          </p:cNvSpPr>
          <p:nvPr>
            <p:ph type="title" idx="6"/>
          </p:nvPr>
        </p:nvSpPr>
        <p:spPr>
          <a:xfrm>
            <a:off x="1941601" y="384695"/>
            <a:ext cx="6319175" cy="56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dirty="0">
                <a:latin typeface="Space Grotesk"/>
                <a:ea typeface="Space Grotesk"/>
                <a:cs typeface="Space Grotesk"/>
                <a:sym typeface="Space Grotesk"/>
              </a:rPr>
              <a:t>Business Plan</a:t>
            </a:r>
            <a:endParaRPr b="1" dirty="0">
              <a:latin typeface="Space Grotesk"/>
              <a:ea typeface="Space Grotesk"/>
              <a:cs typeface="Space Grotesk"/>
              <a:sym typeface="Space Grotesk"/>
            </a:endParaRPr>
          </a:p>
        </p:txBody>
      </p:sp>
      <p:sp>
        <p:nvSpPr>
          <p:cNvPr id="2308" name="Google Shape;2308;p8"/>
          <p:cNvSpPr txBox="1">
            <a:spLocks noGrp="1"/>
          </p:cNvSpPr>
          <p:nvPr>
            <p:ph type="title" idx="7"/>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500"/>
              <a:buNone/>
            </a:pPr>
            <a:r>
              <a:rPr lang="en" dirty="0"/>
              <a:t>Economique</a:t>
            </a:r>
            <a:endParaRPr dirty="0"/>
          </a:p>
        </p:txBody>
      </p:sp>
      <p:sp>
        <p:nvSpPr>
          <p:cNvPr id="2309" name="Google Shape;2309;p8"/>
          <p:cNvSpPr txBox="1">
            <a:spLocks noGrp="1"/>
          </p:cNvSpPr>
          <p:nvPr>
            <p:ph type="subTitle" idx="8"/>
          </p:nvPr>
        </p:nvSpPr>
        <p:spPr>
          <a:xfrm>
            <a:off x="6092700" y="1731874"/>
            <a:ext cx="3051300" cy="839876"/>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800" dirty="0">
                <a:solidFill>
                  <a:srgbClr val="0070C0"/>
                </a:solidFill>
              </a:rPr>
              <a:t>Secteur fortement concurentiel</a:t>
            </a:r>
          </a:p>
          <a:p>
            <a:pPr marL="0" lvl="0" indent="0" algn="l" rtl="0">
              <a:lnSpc>
                <a:spcPct val="100000"/>
              </a:lnSpc>
              <a:spcBef>
                <a:spcPts val="0"/>
              </a:spcBef>
              <a:spcAft>
                <a:spcPts val="0"/>
              </a:spcAft>
              <a:buClr>
                <a:schemeClr val="dk1"/>
              </a:buClr>
              <a:buSzPts val="1100"/>
              <a:buFont typeface="Arial"/>
              <a:buNone/>
            </a:pPr>
            <a:r>
              <a:rPr lang="en" sz="800" dirty="0">
                <a:solidFill>
                  <a:srgbClr val="0070C0"/>
                </a:solidFill>
              </a:rPr>
              <a:t>Conditions défavorables à un industriel</a:t>
            </a:r>
          </a:p>
          <a:p>
            <a:pPr marL="0" lvl="0" indent="0" algn="l" rtl="0">
              <a:lnSpc>
                <a:spcPct val="100000"/>
              </a:lnSpc>
              <a:spcBef>
                <a:spcPts val="0"/>
              </a:spcBef>
              <a:spcAft>
                <a:spcPts val="0"/>
              </a:spcAft>
              <a:buClr>
                <a:schemeClr val="dk1"/>
              </a:buClr>
              <a:buSzPts val="1100"/>
              <a:buFont typeface="Arial"/>
              <a:buNone/>
            </a:pPr>
            <a:r>
              <a:rPr lang="en" sz="800" dirty="0">
                <a:solidFill>
                  <a:srgbClr val="0070C0"/>
                </a:solidFill>
              </a:rPr>
              <a:t>(risques supportés par lui-même, prix fixes sur 5 ans et +)</a:t>
            </a:r>
          </a:p>
          <a:p>
            <a:pPr marL="0" lvl="0" indent="0" algn="l" rtl="0">
              <a:lnSpc>
                <a:spcPct val="100000"/>
              </a:lnSpc>
              <a:spcBef>
                <a:spcPts val="0"/>
              </a:spcBef>
              <a:spcAft>
                <a:spcPts val="0"/>
              </a:spcAft>
              <a:buClr>
                <a:schemeClr val="dk1"/>
              </a:buClr>
              <a:buSzPts val="1100"/>
              <a:buFont typeface="Arial"/>
              <a:buNone/>
            </a:pPr>
            <a:r>
              <a:rPr lang="en" sz="800" dirty="0">
                <a:solidFill>
                  <a:srgbClr val="0070C0"/>
                </a:solidFill>
              </a:rPr>
              <a:t>Client en difficulté (budgets insuffisants)</a:t>
            </a:r>
          </a:p>
          <a:p>
            <a:pPr marL="0" lvl="0" indent="0" algn="l" rtl="0">
              <a:lnSpc>
                <a:spcPct val="100000"/>
              </a:lnSpc>
              <a:spcBef>
                <a:spcPts val="0"/>
              </a:spcBef>
              <a:spcAft>
                <a:spcPts val="0"/>
              </a:spcAft>
              <a:buClr>
                <a:schemeClr val="dk1"/>
              </a:buClr>
              <a:buSzPts val="1100"/>
              <a:buFont typeface="Arial"/>
              <a:buNone/>
            </a:pPr>
            <a:r>
              <a:rPr lang="en" sz="800" dirty="0">
                <a:solidFill>
                  <a:srgbClr val="0070C0"/>
                </a:solidFill>
              </a:rPr>
              <a:t>Prestataires parfois en position de monopole</a:t>
            </a:r>
          </a:p>
        </p:txBody>
      </p:sp>
      <p:sp>
        <p:nvSpPr>
          <p:cNvPr id="2310" name="Google Shape;2310;p8"/>
          <p:cNvSpPr txBox="1">
            <a:spLocks noGrp="1"/>
          </p:cNvSpPr>
          <p:nvPr>
            <p:ph type="title" idx="9"/>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500"/>
              <a:buNone/>
            </a:pPr>
            <a:r>
              <a:rPr lang="en" dirty="0"/>
              <a:t>Technologique</a:t>
            </a:r>
            <a:endParaRPr dirty="0"/>
          </a:p>
        </p:txBody>
      </p:sp>
      <p:sp>
        <p:nvSpPr>
          <p:cNvPr id="2311" name="Google Shape;2311;p8"/>
          <p:cNvSpPr txBox="1">
            <a:spLocks noGrp="1"/>
          </p:cNvSpPr>
          <p:nvPr>
            <p:ph type="subTitle" idx="13"/>
          </p:nvPr>
        </p:nvSpPr>
        <p:spPr>
          <a:xfrm>
            <a:off x="6092700" y="2884840"/>
            <a:ext cx="2468399" cy="69235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fr-FR" sz="800" dirty="0">
                <a:solidFill>
                  <a:srgbClr val="0070C0"/>
                </a:solidFill>
              </a:rPr>
              <a:t>IA et automatisation</a:t>
            </a:r>
          </a:p>
          <a:p>
            <a:pPr marL="0" lvl="0" indent="0" algn="l" rtl="0">
              <a:lnSpc>
                <a:spcPct val="100000"/>
              </a:lnSpc>
              <a:spcBef>
                <a:spcPts val="0"/>
              </a:spcBef>
              <a:spcAft>
                <a:spcPts val="0"/>
              </a:spcAft>
              <a:buClr>
                <a:schemeClr val="dk1"/>
              </a:buClr>
              <a:buSzPts val="1100"/>
              <a:buFont typeface="Arial"/>
              <a:buNone/>
            </a:pPr>
            <a:r>
              <a:rPr lang="fr-FR" sz="800" dirty="0">
                <a:solidFill>
                  <a:srgbClr val="0070C0"/>
                </a:solidFill>
              </a:rPr>
              <a:t>Formation des équipes difficile à maintenir</a:t>
            </a:r>
          </a:p>
          <a:p>
            <a:pPr marL="0" lvl="0" indent="0" algn="l" rtl="0">
              <a:lnSpc>
                <a:spcPct val="100000"/>
              </a:lnSpc>
              <a:spcBef>
                <a:spcPts val="0"/>
              </a:spcBef>
              <a:spcAft>
                <a:spcPts val="0"/>
              </a:spcAft>
              <a:buClr>
                <a:schemeClr val="dk1"/>
              </a:buClr>
              <a:buSzPts val="1100"/>
              <a:buFont typeface="Arial"/>
              <a:buNone/>
            </a:pPr>
            <a:r>
              <a:rPr lang="fr-FR" sz="800" dirty="0">
                <a:solidFill>
                  <a:srgbClr val="0070C0"/>
                </a:solidFill>
              </a:rPr>
              <a:t>Monopole technologique de certains fournisseurs.</a:t>
            </a:r>
          </a:p>
          <a:p>
            <a:pPr marL="0" lvl="0" indent="0" algn="l" rtl="0">
              <a:lnSpc>
                <a:spcPct val="100000"/>
              </a:lnSpc>
              <a:spcBef>
                <a:spcPts val="0"/>
              </a:spcBef>
              <a:spcAft>
                <a:spcPts val="0"/>
              </a:spcAft>
              <a:buClr>
                <a:schemeClr val="dk1"/>
              </a:buClr>
              <a:buSzPts val="1100"/>
              <a:buFont typeface="Arial"/>
              <a:buNone/>
            </a:pPr>
            <a:r>
              <a:rPr lang="fr-FR" sz="800" dirty="0">
                <a:solidFill>
                  <a:srgbClr val="0070C0"/>
                </a:solidFill>
              </a:rPr>
              <a:t>Innovation attendue par le Client</a:t>
            </a:r>
          </a:p>
          <a:p>
            <a:pPr marL="0" lvl="0" indent="0" algn="l" rtl="0">
              <a:lnSpc>
                <a:spcPct val="100000"/>
              </a:lnSpc>
              <a:spcBef>
                <a:spcPts val="0"/>
              </a:spcBef>
              <a:spcAft>
                <a:spcPts val="0"/>
              </a:spcAft>
              <a:buClr>
                <a:schemeClr val="dk1"/>
              </a:buClr>
              <a:buSzPts val="1100"/>
              <a:buFont typeface="Arial"/>
              <a:buNone/>
            </a:pPr>
            <a:endParaRPr sz="800" dirty="0">
              <a:solidFill>
                <a:srgbClr val="0070C0"/>
              </a:solidFill>
            </a:endParaRPr>
          </a:p>
        </p:txBody>
      </p:sp>
      <p:sp>
        <p:nvSpPr>
          <p:cNvPr id="2312" name="Google Shape;2312;p8"/>
          <p:cNvSpPr txBox="1">
            <a:spLocks noGrp="1"/>
          </p:cNvSpPr>
          <p:nvPr>
            <p:ph type="title" idx="14"/>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500"/>
              <a:buNone/>
            </a:pPr>
            <a:r>
              <a:rPr lang="en" dirty="0"/>
              <a:t>Legal</a:t>
            </a:r>
            <a:endParaRPr dirty="0"/>
          </a:p>
        </p:txBody>
      </p:sp>
      <p:sp>
        <p:nvSpPr>
          <p:cNvPr id="2313" name="Google Shape;2313;p8"/>
          <p:cNvSpPr txBox="1">
            <a:spLocks noGrp="1"/>
          </p:cNvSpPr>
          <p:nvPr>
            <p:ph type="subTitle" idx="15"/>
          </p:nvPr>
        </p:nvSpPr>
        <p:spPr>
          <a:xfrm>
            <a:off x="6092676" y="4020638"/>
            <a:ext cx="2651274" cy="48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800" dirty="0">
                <a:solidFill>
                  <a:srgbClr val="0070C0"/>
                </a:solidFill>
              </a:rPr>
              <a:t>Règlementation croissante</a:t>
            </a:r>
          </a:p>
          <a:p>
            <a:pPr marL="0" lvl="0" indent="0" algn="l" rtl="0">
              <a:lnSpc>
                <a:spcPct val="100000"/>
              </a:lnSpc>
              <a:spcBef>
                <a:spcPts val="0"/>
              </a:spcBef>
              <a:spcAft>
                <a:spcPts val="0"/>
              </a:spcAft>
              <a:buClr>
                <a:schemeClr val="dk1"/>
              </a:buClr>
              <a:buSzPts val="1100"/>
              <a:buFont typeface="Arial"/>
              <a:buNone/>
            </a:pPr>
            <a:r>
              <a:rPr lang="en" sz="800" dirty="0">
                <a:solidFill>
                  <a:srgbClr val="0070C0"/>
                </a:solidFill>
              </a:rPr>
              <a:t>Code des marchés publics</a:t>
            </a:r>
          </a:p>
        </p:txBody>
      </p:sp>
      <p:sp>
        <p:nvSpPr>
          <p:cNvPr id="2302" name="Google Shape;2302;p8"/>
          <p:cNvSpPr txBox="1"/>
          <p:nvPr/>
        </p:nvSpPr>
        <p:spPr>
          <a:xfrm>
            <a:off x="3108700" y="1468213"/>
            <a:ext cx="487500" cy="527700"/>
          </a:xfrm>
          <a:prstGeom prst="rect">
            <a:avLst/>
          </a:prstGeom>
          <a:solidFill>
            <a:srgbClr val="8EDA9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a:solidFill>
                  <a:schemeClr val="accent1"/>
                </a:solidFill>
                <a:latin typeface="Space Grotesk Medium"/>
                <a:ea typeface="Space Grotesk Medium"/>
                <a:cs typeface="Space Grotesk Medium"/>
                <a:sym typeface="Space Grotesk Medium"/>
              </a:rPr>
              <a:t>P</a:t>
            </a:r>
            <a:endParaRPr sz="3300" b="1" i="0" u="none" strike="noStrike" cap="none">
              <a:solidFill>
                <a:schemeClr val="accent1"/>
              </a:solidFill>
              <a:latin typeface="Space Grotesk Medium"/>
              <a:ea typeface="Space Grotesk Medium"/>
              <a:cs typeface="Space Grotesk Medium"/>
              <a:sym typeface="Space Grotesk Medium"/>
            </a:endParaRPr>
          </a:p>
        </p:txBody>
      </p:sp>
      <p:sp>
        <p:nvSpPr>
          <p:cNvPr id="2303" name="Google Shape;2303;p8"/>
          <p:cNvSpPr txBox="1"/>
          <p:nvPr/>
        </p:nvSpPr>
        <p:spPr>
          <a:xfrm>
            <a:off x="5537300" y="1468213"/>
            <a:ext cx="487500" cy="527700"/>
          </a:xfrm>
          <a:prstGeom prst="rect">
            <a:avLst/>
          </a:prstGeom>
          <a:solidFill>
            <a:srgbClr val="8EDA9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a:solidFill>
                  <a:schemeClr val="accent1"/>
                </a:solidFill>
                <a:latin typeface="Space Grotesk Medium"/>
                <a:ea typeface="Space Grotesk Medium"/>
                <a:cs typeface="Space Grotesk Medium"/>
                <a:sym typeface="Space Grotesk Medium"/>
              </a:rPr>
              <a:t>E</a:t>
            </a:r>
            <a:endParaRPr sz="3300" b="1" i="0" u="none" strike="noStrike" cap="none">
              <a:solidFill>
                <a:schemeClr val="accent1"/>
              </a:solidFill>
              <a:latin typeface="Space Grotesk Medium"/>
              <a:ea typeface="Space Grotesk Medium"/>
              <a:cs typeface="Space Grotesk Medium"/>
              <a:sym typeface="Space Grotesk Medium"/>
            </a:endParaRPr>
          </a:p>
        </p:txBody>
      </p:sp>
      <p:sp>
        <p:nvSpPr>
          <p:cNvPr id="2304" name="Google Shape;2304;p8"/>
          <p:cNvSpPr txBox="1"/>
          <p:nvPr/>
        </p:nvSpPr>
        <p:spPr>
          <a:xfrm>
            <a:off x="3111638" y="2598363"/>
            <a:ext cx="487500" cy="527700"/>
          </a:xfrm>
          <a:prstGeom prst="rect">
            <a:avLst/>
          </a:prstGeom>
          <a:solidFill>
            <a:srgbClr val="8EDA9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a:solidFill>
                  <a:schemeClr val="accent1"/>
                </a:solidFill>
                <a:latin typeface="Space Grotesk Medium"/>
                <a:ea typeface="Space Grotesk Medium"/>
                <a:cs typeface="Space Grotesk Medium"/>
                <a:sym typeface="Space Grotesk Medium"/>
              </a:rPr>
              <a:t>S</a:t>
            </a:r>
            <a:endParaRPr sz="3300" b="1" i="0" u="none" strike="noStrike" cap="none">
              <a:solidFill>
                <a:schemeClr val="accent1"/>
              </a:solidFill>
              <a:latin typeface="Space Grotesk Medium"/>
              <a:ea typeface="Space Grotesk Medium"/>
              <a:cs typeface="Space Grotesk Medium"/>
              <a:sym typeface="Space Grotesk Medium"/>
            </a:endParaRPr>
          </a:p>
        </p:txBody>
      </p:sp>
      <p:sp>
        <p:nvSpPr>
          <p:cNvPr id="2305" name="Google Shape;2305;p8"/>
          <p:cNvSpPr txBox="1"/>
          <p:nvPr/>
        </p:nvSpPr>
        <p:spPr>
          <a:xfrm>
            <a:off x="5540238" y="2598363"/>
            <a:ext cx="487500" cy="527700"/>
          </a:xfrm>
          <a:prstGeom prst="rect">
            <a:avLst/>
          </a:prstGeom>
          <a:solidFill>
            <a:srgbClr val="8EDA9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a:solidFill>
                  <a:schemeClr val="accent1"/>
                </a:solidFill>
                <a:latin typeface="Space Grotesk Medium"/>
                <a:ea typeface="Space Grotesk Medium"/>
                <a:cs typeface="Space Grotesk Medium"/>
                <a:sym typeface="Space Grotesk Medium"/>
              </a:rPr>
              <a:t>T</a:t>
            </a:r>
            <a:endParaRPr sz="3300" b="1" i="0" u="none" strike="noStrike" cap="none">
              <a:solidFill>
                <a:schemeClr val="accent1"/>
              </a:solidFill>
              <a:latin typeface="Space Grotesk Medium"/>
              <a:ea typeface="Space Grotesk Medium"/>
              <a:cs typeface="Space Grotesk Medium"/>
              <a:sym typeface="Space Grotesk Medium"/>
            </a:endParaRPr>
          </a:p>
        </p:txBody>
      </p:sp>
      <p:sp>
        <p:nvSpPr>
          <p:cNvPr id="2306" name="Google Shape;2306;p8"/>
          <p:cNvSpPr txBox="1"/>
          <p:nvPr/>
        </p:nvSpPr>
        <p:spPr>
          <a:xfrm>
            <a:off x="3111638" y="3745888"/>
            <a:ext cx="487500" cy="527700"/>
          </a:xfrm>
          <a:prstGeom prst="rect">
            <a:avLst/>
          </a:prstGeom>
          <a:solidFill>
            <a:srgbClr val="8EDA9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a:solidFill>
                  <a:schemeClr val="accent1"/>
                </a:solidFill>
                <a:latin typeface="Space Grotesk Medium"/>
                <a:ea typeface="Space Grotesk Medium"/>
                <a:cs typeface="Space Grotesk Medium"/>
                <a:sym typeface="Space Grotesk Medium"/>
              </a:rPr>
              <a:t>E</a:t>
            </a:r>
            <a:endParaRPr sz="3300" b="1" i="0" u="none" strike="noStrike" cap="none">
              <a:solidFill>
                <a:schemeClr val="accent1"/>
              </a:solidFill>
              <a:latin typeface="Space Grotesk Medium"/>
              <a:ea typeface="Space Grotesk Medium"/>
              <a:cs typeface="Space Grotesk Medium"/>
              <a:sym typeface="Space Grotesk Medium"/>
            </a:endParaRPr>
          </a:p>
        </p:txBody>
      </p:sp>
      <p:sp>
        <p:nvSpPr>
          <p:cNvPr id="2307" name="Google Shape;2307;p8"/>
          <p:cNvSpPr txBox="1"/>
          <p:nvPr/>
        </p:nvSpPr>
        <p:spPr>
          <a:xfrm>
            <a:off x="5540238" y="3745888"/>
            <a:ext cx="487500" cy="527700"/>
          </a:xfrm>
          <a:prstGeom prst="rect">
            <a:avLst/>
          </a:prstGeom>
          <a:solidFill>
            <a:srgbClr val="8EDA9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1" i="0" u="none" strike="noStrike" cap="none">
                <a:solidFill>
                  <a:schemeClr val="accent1"/>
                </a:solidFill>
                <a:latin typeface="Space Grotesk Medium"/>
                <a:ea typeface="Space Grotesk Medium"/>
                <a:cs typeface="Space Grotesk Medium"/>
                <a:sym typeface="Space Grotesk Medium"/>
              </a:rPr>
              <a:t>L</a:t>
            </a:r>
            <a:endParaRPr sz="3300" b="1" i="0" u="none" strike="noStrike" cap="none">
              <a:solidFill>
                <a:schemeClr val="accent1"/>
              </a:solidFill>
              <a:latin typeface="Space Grotesk Medium"/>
              <a:ea typeface="Space Grotesk Medium"/>
              <a:cs typeface="Space Grotesk Medium"/>
              <a:sym typeface="Space Grotesk Medium"/>
            </a:endParaRPr>
          </a:p>
        </p:txBody>
      </p:sp>
      <p:sp>
        <p:nvSpPr>
          <p:cNvPr id="2314" name="Google Shape;2314;p8"/>
          <p:cNvSpPr txBox="1"/>
          <p:nvPr/>
        </p:nvSpPr>
        <p:spPr>
          <a:xfrm>
            <a:off x="3799900" y="2598375"/>
            <a:ext cx="1539600" cy="527700"/>
          </a:xfrm>
          <a:prstGeom prst="rect">
            <a:avLst/>
          </a:prstGeom>
          <a:solidFill>
            <a:srgbClr val="8EDA97"/>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accent1"/>
                </a:solidFill>
                <a:latin typeface="Space Grotesk Medium"/>
                <a:ea typeface="Space Grotesk Medium"/>
                <a:cs typeface="Space Grotesk Medium"/>
                <a:sym typeface="Space Grotesk Medium"/>
              </a:rPr>
              <a:t>PESTEL</a:t>
            </a:r>
            <a:endParaRPr sz="1800" b="0" i="0" u="none" strike="noStrike" cap="none">
              <a:solidFill>
                <a:schemeClr val="accent1"/>
              </a:solidFill>
              <a:latin typeface="Space Grotesk Medium"/>
              <a:ea typeface="Space Grotesk Medium"/>
              <a:cs typeface="Space Grotesk Medium"/>
              <a:sym typeface="Space Grotesk Medium"/>
            </a:endParaRPr>
          </a:p>
        </p:txBody>
      </p:sp>
      <p:pic>
        <p:nvPicPr>
          <p:cNvPr id="22" name="Image 21" descr="Une image contenant Caractère coloré, Graphique, violet, Rectangle&#10;&#10;Description générée automatiquement">
            <a:extLst>
              <a:ext uri="{FF2B5EF4-FFF2-40B4-BE49-F238E27FC236}">
                <a16:creationId xmlns:a16="http://schemas.microsoft.com/office/drawing/2014/main" id="{0348830D-278D-F00D-F76D-E9FCFF67E7E6}"/>
              </a:ext>
            </a:extLst>
          </p:cNvPr>
          <p:cNvPicPr>
            <a:picLocks noChangeAspect="1"/>
          </p:cNvPicPr>
          <p:nvPr/>
        </p:nvPicPr>
        <p:blipFill>
          <a:blip r:embed="rId3"/>
          <a:stretch>
            <a:fillRect/>
          </a:stretch>
        </p:blipFill>
        <p:spPr>
          <a:xfrm>
            <a:off x="623428" y="276000"/>
            <a:ext cx="902210" cy="9022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99">
                                            <p:txEl>
                                              <p:pRg st="0" end="0"/>
                                            </p:txEl>
                                          </p:spTgt>
                                        </p:tgtEl>
                                        <p:attrNameLst>
                                          <p:attrName>style.visibility</p:attrName>
                                        </p:attrNameLst>
                                      </p:cBhvr>
                                      <p:to>
                                        <p:strVal val="visible"/>
                                      </p:to>
                                    </p:set>
                                    <p:animEffect transition="in" filter="fade">
                                      <p:cBhvr>
                                        <p:cTn id="7" dur="500"/>
                                        <p:tgtEl>
                                          <p:spTgt spid="22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99">
                                            <p:txEl>
                                              <p:pRg st="1" end="1"/>
                                            </p:txEl>
                                          </p:spTgt>
                                        </p:tgtEl>
                                        <p:attrNameLst>
                                          <p:attrName>style.visibility</p:attrName>
                                        </p:attrNameLst>
                                      </p:cBhvr>
                                      <p:to>
                                        <p:strVal val="visible"/>
                                      </p:to>
                                    </p:set>
                                    <p:animEffect transition="in" filter="fade">
                                      <p:cBhvr>
                                        <p:cTn id="12" dur="500"/>
                                        <p:tgtEl>
                                          <p:spTgt spid="22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99">
                                            <p:txEl>
                                              <p:pRg st="2" end="2"/>
                                            </p:txEl>
                                          </p:spTgt>
                                        </p:tgtEl>
                                        <p:attrNameLst>
                                          <p:attrName>style.visibility</p:attrName>
                                        </p:attrNameLst>
                                      </p:cBhvr>
                                      <p:to>
                                        <p:strVal val="visible"/>
                                      </p:to>
                                    </p:set>
                                    <p:animEffect transition="in" filter="fade">
                                      <p:cBhvr>
                                        <p:cTn id="17" dur="500"/>
                                        <p:tgtEl>
                                          <p:spTgt spid="22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99">
                                            <p:txEl>
                                              <p:pRg st="3" end="3"/>
                                            </p:txEl>
                                          </p:spTgt>
                                        </p:tgtEl>
                                        <p:attrNameLst>
                                          <p:attrName>style.visibility</p:attrName>
                                        </p:attrNameLst>
                                      </p:cBhvr>
                                      <p:to>
                                        <p:strVal val="visible"/>
                                      </p:to>
                                    </p:set>
                                    <p:animEffect transition="in" filter="fade">
                                      <p:cBhvr>
                                        <p:cTn id="22" dur="500"/>
                                        <p:tgtEl>
                                          <p:spTgt spid="22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08"/>
                                        </p:tgtEl>
                                        <p:attrNameLst>
                                          <p:attrName>style.visibility</p:attrName>
                                        </p:attrNameLst>
                                      </p:cBhvr>
                                      <p:to>
                                        <p:strVal val="visible"/>
                                      </p:to>
                                    </p:set>
                                    <p:animEffect transition="in" filter="fade">
                                      <p:cBhvr>
                                        <p:cTn id="27" dur="500"/>
                                        <p:tgtEl>
                                          <p:spTgt spid="230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09">
                                            <p:txEl>
                                              <p:pRg st="0" end="0"/>
                                            </p:txEl>
                                          </p:spTgt>
                                        </p:tgtEl>
                                        <p:attrNameLst>
                                          <p:attrName>style.visibility</p:attrName>
                                        </p:attrNameLst>
                                      </p:cBhvr>
                                      <p:to>
                                        <p:strVal val="visible"/>
                                      </p:to>
                                    </p:set>
                                    <p:animEffect transition="in" filter="fade">
                                      <p:cBhvr>
                                        <p:cTn id="32" dur="500"/>
                                        <p:tgtEl>
                                          <p:spTgt spid="2309">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09">
                                            <p:txEl>
                                              <p:pRg st="1" end="1"/>
                                            </p:txEl>
                                          </p:spTgt>
                                        </p:tgtEl>
                                        <p:attrNameLst>
                                          <p:attrName>style.visibility</p:attrName>
                                        </p:attrNameLst>
                                      </p:cBhvr>
                                      <p:to>
                                        <p:strVal val="visible"/>
                                      </p:to>
                                    </p:set>
                                    <p:animEffect transition="in" filter="fade">
                                      <p:cBhvr>
                                        <p:cTn id="37" dur="500"/>
                                        <p:tgtEl>
                                          <p:spTgt spid="2309">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09">
                                            <p:txEl>
                                              <p:pRg st="2" end="2"/>
                                            </p:txEl>
                                          </p:spTgt>
                                        </p:tgtEl>
                                        <p:attrNameLst>
                                          <p:attrName>style.visibility</p:attrName>
                                        </p:attrNameLst>
                                      </p:cBhvr>
                                      <p:to>
                                        <p:strVal val="visible"/>
                                      </p:to>
                                    </p:set>
                                    <p:animEffect transition="in" filter="fade">
                                      <p:cBhvr>
                                        <p:cTn id="42" dur="500"/>
                                        <p:tgtEl>
                                          <p:spTgt spid="2309">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09">
                                            <p:txEl>
                                              <p:pRg st="3" end="3"/>
                                            </p:txEl>
                                          </p:spTgt>
                                        </p:tgtEl>
                                        <p:attrNameLst>
                                          <p:attrName>style.visibility</p:attrName>
                                        </p:attrNameLst>
                                      </p:cBhvr>
                                      <p:to>
                                        <p:strVal val="visible"/>
                                      </p:to>
                                    </p:set>
                                    <p:animEffect transition="in" filter="fade">
                                      <p:cBhvr>
                                        <p:cTn id="47" dur="500"/>
                                        <p:tgtEl>
                                          <p:spTgt spid="2309">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09">
                                            <p:txEl>
                                              <p:pRg st="4" end="4"/>
                                            </p:txEl>
                                          </p:spTgt>
                                        </p:tgtEl>
                                        <p:attrNameLst>
                                          <p:attrName>style.visibility</p:attrName>
                                        </p:attrNameLst>
                                      </p:cBhvr>
                                      <p:to>
                                        <p:strVal val="visible"/>
                                      </p:to>
                                    </p:set>
                                    <p:animEffect transition="in" filter="fade">
                                      <p:cBhvr>
                                        <p:cTn id="52" dur="500"/>
                                        <p:tgtEl>
                                          <p:spTgt spid="2309">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97"/>
                                        </p:tgtEl>
                                        <p:attrNameLst>
                                          <p:attrName>style.visibility</p:attrName>
                                        </p:attrNameLst>
                                      </p:cBhvr>
                                      <p:to>
                                        <p:strVal val="visible"/>
                                      </p:to>
                                    </p:set>
                                    <p:animEffect transition="in" filter="fade">
                                      <p:cBhvr>
                                        <p:cTn id="57" dur="500"/>
                                        <p:tgtEl>
                                          <p:spTgt spid="229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298">
                                            <p:txEl>
                                              <p:pRg st="0" end="0"/>
                                            </p:txEl>
                                          </p:spTgt>
                                        </p:tgtEl>
                                        <p:attrNameLst>
                                          <p:attrName>style.visibility</p:attrName>
                                        </p:attrNameLst>
                                      </p:cBhvr>
                                      <p:to>
                                        <p:strVal val="visible"/>
                                      </p:to>
                                    </p:set>
                                    <p:animEffect transition="in" filter="fade">
                                      <p:cBhvr>
                                        <p:cTn id="62" dur="500"/>
                                        <p:tgtEl>
                                          <p:spTgt spid="2298">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298">
                                            <p:txEl>
                                              <p:pRg st="1" end="1"/>
                                            </p:txEl>
                                          </p:spTgt>
                                        </p:tgtEl>
                                        <p:attrNameLst>
                                          <p:attrName>style.visibility</p:attrName>
                                        </p:attrNameLst>
                                      </p:cBhvr>
                                      <p:to>
                                        <p:strVal val="visible"/>
                                      </p:to>
                                    </p:set>
                                    <p:animEffect transition="in" filter="fade">
                                      <p:cBhvr>
                                        <p:cTn id="67" dur="500"/>
                                        <p:tgtEl>
                                          <p:spTgt spid="2298">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298">
                                            <p:txEl>
                                              <p:pRg st="2" end="2"/>
                                            </p:txEl>
                                          </p:spTgt>
                                        </p:tgtEl>
                                        <p:attrNameLst>
                                          <p:attrName>style.visibility</p:attrName>
                                        </p:attrNameLst>
                                      </p:cBhvr>
                                      <p:to>
                                        <p:strVal val="visible"/>
                                      </p:to>
                                    </p:set>
                                    <p:animEffect transition="in" filter="fade">
                                      <p:cBhvr>
                                        <p:cTn id="72" dur="500"/>
                                        <p:tgtEl>
                                          <p:spTgt spid="2298">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298">
                                            <p:txEl>
                                              <p:pRg st="3" end="3"/>
                                            </p:txEl>
                                          </p:spTgt>
                                        </p:tgtEl>
                                        <p:attrNameLst>
                                          <p:attrName>style.visibility</p:attrName>
                                        </p:attrNameLst>
                                      </p:cBhvr>
                                      <p:to>
                                        <p:strVal val="visible"/>
                                      </p:to>
                                    </p:set>
                                    <p:animEffect transition="in" filter="fade">
                                      <p:cBhvr>
                                        <p:cTn id="77" dur="500"/>
                                        <p:tgtEl>
                                          <p:spTgt spid="2298">
                                            <p:txEl>
                                              <p:pRg st="3" end="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310"/>
                                        </p:tgtEl>
                                        <p:attrNameLst>
                                          <p:attrName>style.visibility</p:attrName>
                                        </p:attrNameLst>
                                      </p:cBhvr>
                                      <p:to>
                                        <p:strVal val="visible"/>
                                      </p:to>
                                    </p:set>
                                    <p:animEffect transition="in" filter="fade">
                                      <p:cBhvr>
                                        <p:cTn id="82" dur="500"/>
                                        <p:tgtEl>
                                          <p:spTgt spid="2310"/>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311">
                                            <p:txEl>
                                              <p:pRg st="0" end="0"/>
                                            </p:txEl>
                                          </p:spTgt>
                                        </p:tgtEl>
                                        <p:attrNameLst>
                                          <p:attrName>style.visibility</p:attrName>
                                        </p:attrNameLst>
                                      </p:cBhvr>
                                      <p:to>
                                        <p:strVal val="visible"/>
                                      </p:to>
                                    </p:set>
                                    <p:animEffect transition="in" filter="fade">
                                      <p:cBhvr>
                                        <p:cTn id="87" dur="500"/>
                                        <p:tgtEl>
                                          <p:spTgt spid="2311">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311">
                                            <p:txEl>
                                              <p:pRg st="1" end="1"/>
                                            </p:txEl>
                                          </p:spTgt>
                                        </p:tgtEl>
                                        <p:attrNameLst>
                                          <p:attrName>style.visibility</p:attrName>
                                        </p:attrNameLst>
                                      </p:cBhvr>
                                      <p:to>
                                        <p:strVal val="visible"/>
                                      </p:to>
                                    </p:set>
                                    <p:animEffect transition="in" filter="fade">
                                      <p:cBhvr>
                                        <p:cTn id="92" dur="500"/>
                                        <p:tgtEl>
                                          <p:spTgt spid="2311">
                                            <p:txEl>
                                              <p:pRg st="1" end="1"/>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311">
                                            <p:txEl>
                                              <p:pRg st="2" end="2"/>
                                            </p:txEl>
                                          </p:spTgt>
                                        </p:tgtEl>
                                        <p:attrNameLst>
                                          <p:attrName>style.visibility</p:attrName>
                                        </p:attrNameLst>
                                      </p:cBhvr>
                                      <p:to>
                                        <p:strVal val="visible"/>
                                      </p:to>
                                    </p:set>
                                    <p:animEffect transition="in" filter="fade">
                                      <p:cBhvr>
                                        <p:cTn id="97" dur="500"/>
                                        <p:tgtEl>
                                          <p:spTgt spid="2311">
                                            <p:txEl>
                                              <p:pRg st="2" end="2"/>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311">
                                            <p:txEl>
                                              <p:pRg st="3" end="3"/>
                                            </p:txEl>
                                          </p:spTgt>
                                        </p:tgtEl>
                                        <p:attrNameLst>
                                          <p:attrName>style.visibility</p:attrName>
                                        </p:attrNameLst>
                                      </p:cBhvr>
                                      <p:to>
                                        <p:strVal val="visible"/>
                                      </p:to>
                                    </p:set>
                                    <p:animEffect transition="in" filter="fade">
                                      <p:cBhvr>
                                        <p:cTn id="102" dur="500"/>
                                        <p:tgtEl>
                                          <p:spTgt spid="2311">
                                            <p:txEl>
                                              <p:pRg st="3" end="3"/>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2296"/>
                                        </p:tgtEl>
                                        <p:attrNameLst>
                                          <p:attrName>style.visibility</p:attrName>
                                        </p:attrNameLst>
                                      </p:cBhvr>
                                      <p:to>
                                        <p:strVal val="visible"/>
                                      </p:to>
                                    </p:set>
                                    <p:animEffect transition="in" filter="fade">
                                      <p:cBhvr>
                                        <p:cTn id="107" dur="500"/>
                                        <p:tgtEl>
                                          <p:spTgt spid="2296"/>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295">
                                            <p:txEl>
                                              <p:pRg st="0" end="0"/>
                                            </p:txEl>
                                          </p:spTgt>
                                        </p:tgtEl>
                                        <p:attrNameLst>
                                          <p:attrName>style.visibility</p:attrName>
                                        </p:attrNameLst>
                                      </p:cBhvr>
                                      <p:to>
                                        <p:strVal val="visible"/>
                                      </p:to>
                                    </p:set>
                                    <p:animEffect transition="in" filter="fade">
                                      <p:cBhvr>
                                        <p:cTn id="112" dur="500"/>
                                        <p:tgtEl>
                                          <p:spTgt spid="2295">
                                            <p:txEl>
                                              <p:pRg st="0" end="0"/>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2295">
                                            <p:txEl>
                                              <p:pRg st="1" end="1"/>
                                            </p:txEl>
                                          </p:spTgt>
                                        </p:tgtEl>
                                        <p:attrNameLst>
                                          <p:attrName>style.visibility</p:attrName>
                                        </p:attrNameLst>
                                      </p:cBhvr>
                                      <p:to>
                                        <p:strVal val="visible"/>
                                      </p:to>
                                    </p:set>
                                    <p:animEffect transition="in" filter="fade">
                                      <p:cBhvr>
                                        <p:cTn id="117" dur="500"/>
                                        <p:tgtEl>
                                          <p:spTgt spid="2295">
                                            <p:txEl>
                                              <p:pRg st="1" end="1"/>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295">
                                            <p:txEl>
                                              <p:pRg st="2" end="2"/>
                                            </p:txEl>
                                          </p:spTgt>
                                        </p:tgtEl>
                                        <p:attrNameLst>
                                          <p:attrName>style.visibility</p:attrName>
                                        </p:attrNameLst>
                                      </p:cBhvr>
                                      <p:to>
                                        <p:strVal val="visible"/>
                                      </p:to>
                                    </p:set>
                                    <p:animEffect transition="in" filter="fade">
                                      <p:cBhvr>
                                        <p:cTn id="122" dur="500"/>
                                        <p:tgtEl>
                                          <p:spTgt spid="2295">
                                            <p:txEl>
                                              <p:pRg st="2" end="2"/>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2312"/>
                                        </p:tgtEl>
                                        <p:attrNameLst>
                                          <p:attrName>style.visibility</p:attrName>
                                        </p:attrNameLst>
                                      </p:cBhvr>
                                      <p:to>
                                        <p:strVal val="visible"/>
                                      </p:to>
                                    </p:set>
                                    <p:animEffect transition="in" filter="fade">
                                      <p:cBhvr>
                                        <p:cTn id="127" dur="500"/>
                                        <p:tgtEl>
                                          <p:spTgt spid="2312"/>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2313">
                                            <p:txEl>
                                              <p:pRg st="0" end="0"/>
                                            </p:txEl>
                                          </p:spTgt>
                                        </p:tgtEl>
                                        <p:attrNameLst>
                                          <p:attrName>style.visibility</p:attrName>
                                        </p:attrNameLst>
                                      </p:cBhvr>
                                      <p:to>
                                        <p:strVal val="visible"/>
                                      </p:to>
                                    </p:set>
                                    <p:animEffect transition="in" filter="fade">
                                      <p:cBhvr>
                                        <p:cTn id="132" dur="500"/>
                                        <p:tgtEl>
                                          <p:spTgt spid="2313">
                                            <p:txEl>
                                              <p:pRg st="0" end="0"/>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2313">
                                            <p:txEl>
                                              <p:pRg st="1" end="1"/>
                                            </p:txEl>
                                          </p:spTgt>
                                        </p:tgtEl>
                                        <p:attrNameLst>
                                          <p:attrName>style.visibility</p:attrName>
                                        </p:attrNameLst>
                                      </p:cBhvr>
                                      <p:to>
                                        <p:strVal val="visible"/>
                                      </p:to>
                                    </p:set>
                                    <p:animEffect transition="in" filter="fade">
                                      <p:cBhvr>
                                        <p:cTn id="137" dur="500"/>
                                        <p:tgtEl>
                                          <p:spTgt spid="23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9" grpId="0" build="p"/>
      <p:bldP spid="2297" grpId="0"/>
      <p:bldP spid="2298" grpId="0" build="p"/>
      <p:bldP spid="2296" grpId="0"/>
      <p:bldP spid="2295" grpId="0" build="p"/>
      <p:bldP spid="2308" grpId="0"/>
      <p:bldP spid="2309" grpId="0" build="p"/>
      <p:bldP spid="2310" grpId="0"/>
      <p:bldP spid="2311" grpId="0" build="p"/>
      <p:bldP spid="2312" grpId="0"/>
      <p:bldP spid="231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19"/>
        <p:cNvGrpSpPr/>
        <p:nvPr/>
      </p:nvGrpSpPr>
      <p:grpSpPr>
        <a:xfrm>
          <a:off x="0" y="0"/>
          <a:ext cx="0" cy="0"/>
          <a:chOff x="0" y="0"/>
          <a:chExt cx="0" cy="0"/>
        </a:xfrm>
      </p:grpSpPr>
      <p:sp>
        <p:nvSpPr>
          <p:cNvPr id="2320" name="Google Shape;2320;p9"/>
          <p:cNvSpPr txBox="1">
            <a:spLocks noGrp="1"/>
          </p:cNvSpPr>
          <p:nvPr>
            <p:ph type="title"/>
          </p:nvPr>
        </p:nvSpPr>
        <p:spPr>
          <a:xfrm>
            <a:off x="3655038" y="1696814"/>
            <a:ext cx="29988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200" dirty="0"/>
              <a:t>Analyses des tendances actuelles</a:t>
            </a:r>
            <a:endParaRPr dirty="0"/>
          </a:p>
        </p:txBody>
      </p:sp>
      <p:sp>
        <p:nvSpPr>
          <p:cNvPr id="2321" name="Google Shape;2321;p9"/>
          <p:cNvSpPr txBox="1">
            <a:spLocks noGrp="1"/>
          </p:cNvSpPr>
          <p:nvPr>
            <p:ph type="title" idx="2"/>
          </p:nvPr>
        </p:nvSpPr>
        <p:spPr>
          <a:xfrm>
            <a:off x="1214729" y="1696814"/>
            <a:ext cx="2015700" cy="1402500"/>
          </a:xfrm>
          <a:prstGeom prst="rect">
            <a:avLst/>
          </a:prstGeom>
          <a:solidFill>
            <a:srgbClr val="8EDA97"/>
          </a:solidFill>
          <a:ln w="9525" cap="flat" cmpd="sng">
            <a:no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dirty="0"/>
              <a:t>03</a:t>
            </a:r>
            <a:endParaRPr sz="10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26" name="Google Shape;2326;p10"/>
          <p:cNvSpPr txBox="1">
            <a:spLocks noGrp="1"/>
          </p:cNvSpPr>
          <p:nvPr>
            <p:ph type="title"/>
          </p:nvPr>
        </p:nvSpPr>
        <p:spPr>
          <a:xfrm>
            <a:off x="1873250" y="336060"/>
            <a:ext cx="6525750" cy="109592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b="1" dirty="0"/>
              <a:t>Tendances </a:t>
            </a:r>
            <a:br>
              <a:rPr lang="en" b="1" dirty="0"/>
            </a:br>
            <a:r>
              <a:rPr lang="en" b="1" dirty="0"/>
              <a:t>actuelles</a:t>
            </a:r>
            <a:endParaRPr b="1" dirty="0"/>
          </a:p>
        </p:txBody>
      </p:sp>
      <p:sp>
        <p:nvSpPr>
          <p:cNvPr id="2" name="ZoneTexte 1">
            <a:extLst>
              <a:ext uri="{FF2B5EF4-FFF2-40B4-BE49-F238E27FC236}">
                <a16:creationId xmlns:a16="http://schemas.microsoft.com/office/drawing/2014/main" id="{12D2DFD3-59C4-D23F-251F-7F1798EF017F}"/>
              </a:ext>
            </a:extLst>
          </p:cNvPr>
          <p:cNvSpPr txBox="1"/>
          <p:nvPr/>
        </p:nvSpPr>
        <p:spPr>
          <a:xfrm>
            <a:off x="3295625" y="2742588"/>
            <a:ext cx="3041650" cy="369332"/>
          </a:xfrm>
          <a:prstGeom prst="rect">
            <a:avLst/>
          </a:prstGeom>
          <a:noFill/>
        </p:spPr>
        <p:txBody>
          <a:bodyPr wrap="square" rtlCol="0">
            <a:spAutoFit/>
          </a:bodyPr>
          <a:lstStyle/>
          <a:p>
            <a:pPr marL="285750" indent="-285750">
              <a:buFont typeface="Wingdings" panose="05000000000000000000" pitchFamily="2" charset="2"/>
              <a:buChar char="§"/>
            </a:pPr>
            <a:r>
              <a:rPr lang="fr-FR" dirty="0"/>
              <a:t>les pénalités</a:t>
            </a:r>
          </a:p>
        </p:txBody>
      </p:sp>
      <p:sp>
        <p:nvSpPr>
          <p:cNvPr id="3" name="ZoneTexte 2">
            <a:extLst>
              <a:ext uri="{FF2B5EF4-FFF2-40B4-BE49-F238E27FC236}">
                <a16:creationId xmlns:a16="http://schemas.microsoft.com/office/drawing/2014/main" id="{98D53E7A-AE6E-47BC-F29D-FE4E4CF0D8B5}"/>
              </a:ext>
            </a:extLst>
          </p:cNvPr>
          <p:cNvSpPr txBox="1"/>
          <p:nvPr/>
        </p:nvSpPr>
        <p:spPr>
          <a:xfrm>
            <a:off x="3295625" y="3400021"/>
            <a:ext cx="3041650" cy="369332"/>
          </a:xfrm>
          <a:prstGeom prst="rect">
            <a:avLst/>
          </a:prstGeom>
          <a:noFill/>
        </p:spPr>
        <p:txBody>
          <a:bodyPr wrap="square" rtlCol="0">
            <a:spAutoFit/>
          </a:bodyPr>
          <a:lstStyle/>
          <a:p>
            <a:pPr marL="285750" indent="-285750">
              <a:buFont typeface="Wingdings" panose="05000000000000000000" pitchFamily="2" charset="2"/>
              <a:buChar char="§"/>
            </a:pPr>
            <a:r>
              <a:rPr lang="fr-FR" dirty="0"/>
              <a:t>les réserves</a:t>
            </a:r>
          </a:p>
        </p:txBody>
      </p:sp>
      <p:sp>
        <p:nvSpPr>
          <p:cNvPr id="4" name="ZoneTexte 3">
            <a:extLst>
              <a:ext uri="{FF2B5EF4-FFF2-40B4-BE49-F238E27FC236}">
                <a16:creationId xmlns:a16="http://schemas.microsoft.com/office/drawing/2014/main" id="{EA40C321-3D6C-3532-E4E5-7990643632A7}"/>
              </a:ext>
            </a:extLst>
          </p:cNvPr>
          <p:cNvSpPr txBox="1"/>
          <p:nvPr/>
        </p:nvSpPr>
        <p:spPr>
          <a:xfrm>
            <a:off x="3295625" y="2085155"/>
            <a:ext cx="3041650" cy="369332"/>
          </a:xfrm>
          <a:prstGeom prst="rect">
            <a:avLst/>
          </a:prstGeom>
          <a:noFill/>
        </p:spPr>
        <p:txBody>
          <a:bodyPr wrap="square" rtlCol="0">
            <a:spAutoFit/>
          </a:bodyPr>
          <a:lstStyle/>
          <a:p>
            <a:pPr marL="285750" indent="-285750">
              <a:buFont typeface="Wingdings" panose="05000000000000000000" pitchFamily="2" charset="2"/>
              <a:buChar char="§"/>
            </a:pPr>
            <a:r>
              <a:rPr lang="fr-FR" dirty="0"/>
              <a:t>Le CA et la marge</a:t>
            </a:r>
          </a:p>
        </p:txBody>
      </p:sp>
      <p:pic>
        <p:nvPicPr>
          <p:cNvPr id="8" name="Image 7" descr="Une image contenant capture d’écran, Caractère coloré, bleu, Rectangle&#10;&#10;Description générée automatiquement">
            <a:extLst>
              <a:ext uri="{FF2B5EF4-FFF2-40B4-BE49-F238E27FC236}">
                <a16:creationId xmlns:a16="http://schemas.microsoft.com/office/drawing/2014/main" id="{527BEBBD-BE5F-F135-4CF5-18B4CC9F059D}"/>
              </a:ext>
            </a:extLst>
          </p:cNvPr>
          <p:cNvPicPr>
            <a:picLocks noChangeAspect="1"/>
          </p:cNvPicPr>
          <p:nvPr/>
        </p:nvPicPr>
        <p:blipFill>
          <a:blip r:embed="rId3"/>
          <a:stretch>
            <a:fillRect/>
          </a:stretch>
        </p:blipFill>
        <p:spPr>
          <a:xfrm>
            <a:off x="749045" y="413508"/>
            <a:ext cx="902210" cy="902210"/>
          </a:xfrm>
          <a:prstGeom prst="rect">
            <a:avLst/>
          </a:prstGeom>
        </p:spPr>
      </p:pic>
      <p:sp>
        <p:nvSpPr>
          <p:cNvPr id="5" name="ZoneTexte 4">
            <a:extLst>
              <a:ext uri="{FF2B5EF4-FFF2-40B4-BE49-F238E27FC236}">
                <a16:creationId xmlns:a16="http://schemas.microsoft.com/office/drawing/2014/main" id="{6B983187-6F8A-ABD8-956B-E30E31E45AEA}"/>
              </a:ext>
            </a:extLst>
          </p:cNvPr>
          <p:cNvSpPr txBox="1"/>
          <p:nvPr/>
        </p:nvSpPr>
        <p:spPr>
          <a:xfrm>
            <a:off x="3295625" y="4057454"/>
            <a:ext cx="3041650" cy="369332"/>
          </a:xfrm>
          <a:prstGeom prst="rect">
            <a:avLst/>
          </a:prstGeom>
          <a:noFill/>
        </p:spPr>
        <p:txBody>
          <a:bodyPr wrap="square" rtlCol="0">
            <a:spAutoFit/>
          </a:bodyPr>
          <a:lstStyle/>
          <a:p>
            <a:pPr marL="285750" indent="-285750">
              <a:buFont typeface="Wingdings" panose="05000000000000000000" pitchFamily="2" charset="2"/>
              <a:buChar char="§"/>
            </a:pPr>
            <a:r>
              <a:rPr lang="fr-FR" dirty="0"/>
              <a:t>les réfactions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25">
          <a:extLst>
            <a:ext uri="{FF2B5EF4-FFF2-40B4-BE49-F238E27FC236}">
              <a16:creationId xmlns:a16="http://schemas.microsoft.com/office/drawing/2014/main" id="{106FD8FA-0753-6C36-1580-4445E8B88510}"/>
            </a:ext>
          </a:extLst>
        </p:cNvPr>
        <p:cNvGrpSpPr/>
        <p:nvPr/>
      </p:nvGrpSpPr>
      <p:grpSpPr>
        <a:xfrm>
          <a:off x="0" y="0"/>
          <a:ext cx="0" cy="0"/>
          <a:chOff x="0" y="0"/>
          <a:chExt cx="0" cy="0"/>
        </a:xfrm>
      </p:grpSpPr>
      <p:grpSp>
        <p:nvGrpSpPr>
          <p:cNvPr id="8" name="Groupe 7">
            <a:extLst>
              <a:ext uri="{FF2B5EF4-FFF2-40B4-BE49-F238E27FC236}">
                <a16:creationId xmlns:a16="http://schemas.microsoft.com/office/drawing/2014/main" id="{693024A5-81A8-24B9-C212-B4F280AC5526}"/>
              </a:ext>
            </a:extLst>
          </p:cNvPr>
          <p:cNvGrpSpPr/>
          <p:nvPr/>
        </p:nvGrpSpPr>
        <p:grpSpPr>
          <a:xfrm>
            <a:off x="947750" y="1312716"/>
            <a:ext cx="3495675" cy="2772405"/>
            <a:chOff x="949325" y="1120145"/>
            <a:chExt cx="3495675" cy="2772405"/>
          </a:xfrm>
        </p:grpSpPr>
        <p:graphicFrame>
          <p:nvGraphicFramePr>
            <p:cNvPr id="5" name="Graphique 4">
              <a:extLst>
                <a:ext uri="{FF2B5EF4-FFF2-40B4-BE49-F238E27FC236}">
                  <a16:creationId xmlns:a16="http://schemas.microsoft.com/office/drawing/2014/main" id="{E2AE5E26-81A7-4C62-B9E5-F4FE2661FCE5}"/>
                </a:ext>
              </a:extLst>
            </p:cNvPr>
            <p:cNvGraphicFramePr>
              <a:graphicFrameLocks/>
            </p:cNvGraphicFramePr>
            <p:nvPr>
              <p:extLst>
                <p:ext uri="{D42A27DB-BD31-4B8C-83A1-F6EECF244321}">
                  <p14:modId xmlns:p14="http://schemas.microsoft.com/office/powerpoint/2010/main" val="3800680703"/>
                </p:ext>
              </p:extLst>
            </p:nvPr>
          </p:nvGraphicFramePr>
          <p:xfrm>
            <a:off x="949325" y="1397000"/>
            <a:ext cx="3495675" cy="2495550"/>
          </p:xfrm>
          <a:graphic>
            <a:graphicData uri="http://schemas.openxmlformats.org/drawingml/2006/chart">
              <c:chart xmlns:c="http://schemas.openxmlformats.org/drawingml/2006/chart" xmlns:r="http://schemas.openxmlformats.org/officeDocument/2006/relationships" r:id="rId3"/>
            </a:graphicData>
          </a:graphic>
        </p:graphicFrame>
        <p:sp>
          <p:nvSpPr>
            <p:cNvPr id="6" name="ZoneTexte 5">
              <a:extLst>
                <a:ext uri="{FF2B5EF4-FFF2-40B4-BE49-F238E27FC236}">
                  <a16:creationId xmlns:a16="http://schemas.microsoft.com/office/drawing/2014/main" id="{6A8D61A3-37D0-01CF-D243-C54B81A7E148}"/>
                </a:ext>
              </a:extLst>
            </p:cNvPr>
            <p:cNvSpPr txBox="1"/>
            <p:nvPr/>
          </p:nvSpPr>
          <p:spPr>
            <a:xfrm>
              <a:off x="1797050" y="1120145"/>
              <a:ext cx="1695450" cy="261610"/>
            </a:xfrm>
            <a:prstGeom prst="rect">
              <a:avLst/>
            </a:prstGeom>
            <a:noFill/>
          </p:spPr>
          <p:txBody>
            <a:bodyPr wrap="square" rtlCol="0">
              <a:spAutoFit/>
            </a:bodyPr>
            <a:lstStyle/>
            <a:p>
              <a:pPr algn="ctr"/>
              <a:r>
                <a:rPr lang="fr-FR" sz="1100" b="1" dirty="0">
                  <a:solidFill>
                    <a:schemeClr val="tx1">
                      <a:lumMod val="65000"/>
                      <a:lumOff val="35000"/>
                    </a:schemeClr>
                  </a:solidFill>
                </a:rPr>
                <a:t>CA &amp; marge</a:t>
              </a:r>
            </a:p>
          </p:txBody>
        </p:sp>
      </p:grpSp>
      <p:grpSp>
        <p:nvGrpSpPr>
          <p:cNvPr id="26" name="Groupe 25">
            <a:extLst>
              <a:ext uri="{FF2B5EF4-FFF2-40B4-BE49-F238E27FC236}">
                <a16:creationId xmlns:a16="http://schemas.microsoft.com/office/drawing/2014/main" id="{048B7C8F-D375-8DF4-FC6D-4EF850EAE6E1}"/>
              </a:ext>
            </a:extLst>
          </p:cNvPr>
          <p:cNvGrpSpPr/>
          <p:nvPr/>
        </p:nvGrpSpPr>
        <p:grpSpPr>
          <a:xfrm>
            <a:off x="5257885" y="1308873"/>
            <a:ext cx="3428813" cy="2776248"/>
            <a:chOff x="5226236" y="1116302"/>
            <a:chExt cx="3428813" cy="2776248"/>
          </a:xfrm>
        </p:grpSpPr>
        <p:graphicFrame>
          <p:nvGraphicFramePr>
            <p:cNvPr id="7" name="Graphique 6">
              <a:extLst>
                <a:ext uri="{FF2B5EF4-FFF2-40B4-BE49-F238E27FC236}">
                  <a16:creationId xmlns:a16="http://schemas.microsoft.com/office/drawing/2014/main" id="{24DC6C71-D069-E5A1-B265-3E172BC1F462}"/>
                </a:ext>
              </a:extLst>
            </p:cNvPr>
            <p:cNvGraphicFramePr>
              <a:graphicFrameLocks/>
            </p:cNvGraphicFramePr>
            <p:nvPr>
              <p:extLst>
                <p:ext uri="{D42A27DB-BD31-4B8C-83A1-F6EECF244321}">
                  <p14:modId xmlns:p14="http://schemas.microsoft.com/office/powerpoint/2010/main" val="48856590"/>
                </p:ext>
              </p:extLst>
            </p:nvPr>
          </p:nvGraphicFramePr>
          <p:xfrm>
            <a:off x="5226236" y="1397000"/>
            <a:ext cx="3428813" cy="2495550"/>
          </p:xfrm>
          <a:graphic>
            <a:graphicData uri="http://schemas.openxmlformats.org/drawingml/2006/chart">
              <c:chart xmlns:c="http://schemas.openxmlformats.org/drawingml/2006/chart" xmlns:r="http://schemas.openxmlformats.org/officeDocument/2006/relationships" r:id="rId4"/>
            </a:graphicData>
          </a:graphic>
        </p:graphicFrame>
        <p:sp>
          <p:nvSpPr>
            <p:cNvPr id="9" name="ZoneTexte 8">
              <a:extLst>
                <a:ext uri="{FF2B5EF4-FFF2-40B4-BE49-F238E27FC236}">
                  <a16:creationId xmlns:a16="http://schemas.microsoft.com/office/drawing/2014/main" id="{CA4AB6F3-7175-E3CB-5738-D0E9D15FF4B3}"/>
                </a:ext>
              </a:extLst>
            </p:cNvPr>
            <p:cNvSpPr txBox="1"/>
            <p:nvPr/>
          </p:nvSpPr>
          <p:spPr>
            <a:xfrm>
              <a:off x="6146903" y="1116302"/>
              <a:ext cx="1695450" cy="261610"/>
            </a:xfrm>
            <a:prstGeom prst="rect">
              <a:avLst/>
            </a:prstGeom>
            <a:noFill/>
          </p:spPr>
          <p:txBody>
            <a:bodyPr wrap="square" rtlCol="0">
              <a:spAutoFit/>
            </a:bodyPr>
            <a:lstStyle/>
            <a:p>
              <a:pPr algn="ctr"/>
              <a:r>
                <a:rPr lang="fr-FR" sz="1100" b="1" dirty="0">
                  <a:solidFill>
                    <a:schemeClr val="tx1">
                      <a:lumMod val="65000"/>
                      <a:lumOff val="35000"/>
                    </a:schemeClr>
                  </a:solidFill>
                </a:rPr>
                <a:t>Rentabilité</a:t>
              </a:r>
            </a:p>
          </p:txBody>
        </p:sp>
      </p:grpSp>
      <p:sp>
        <p:nvSpPr>
          <p:cNvPr id="10" name="ZoneTexte 9">
            <a:extLst>
              <a:ext uri="{FF2B5EF4-FFF2-40B4-BE49-F238E27FC236}">
                <a16:creationId xmlns:a16="http://schemas.microsoft.com/office/drawing/2014/main" id="{4A39DC5C-6498-3D7F-C2A6-889E7F104115}"/>
              </a:ext>
            </a:extLst>
          </p:cNvPr>
          <p:cNvSpPr txBox="1"/>
          <p:nvPr/>
        </p:nvSpPr>
        <p:spPr>
          <a:xfrm>
            <a:off x="2717800" y="4379035"/>
            <a:ext cx="1136650" cy="261610"/>
          </a:xfrm>
          <a:prstGeom prst="rect">
            <a:avLst/>
          </a:prstGeom>
          <a:noFill/>
        </p:spPr>
        <p:txBody>
          <a:bodyPr wrap="square" rtlCol="0">
            <a:spAutoFit/>
          </a:bodyPr>
          <a:lstStyle/>
          <a:p>
            <a:r>
              <a:rPr lang="fr-FR" sz="1100" dirty="0"/>
              <a:t>CA volatile</a:t>
            </a:r>
          </a:p>
        </p:txBody>
      </p:sp>
      <p:pic>
        <p:nvPicPr>
          <p:cNvPr id="14" name="Image 13" descr="Une image contenant cercle, jaune, frisbee, rond&#10;&#10;Description générée automatiquement">
            <a:extLst>
              <a:ext uri="{FF2B5EF4-FFF2-40B4-BE49-F238E27FC236}">
                <a16:creationId xmlns:a16="http://schemas.microsoft.com/office/drawing/2014/main" id="{764F1D9C-FE0F-C1C1-FC54-487A7D7A40F5}"/>
              </a:ext>
            </a:extLst>
          </p:cNvPr>
          <p:cNvPicPr>
            <a:picLocks noChangeAspect="1"/>
          </p:cNvPicPr>
          <p:nvPr/>
        </p:nvPicPr>
        <p:blipFill>
          <a:blip r:embed="rId5"/>
          <a:stretch>
            <a:fillRect/>
          </a:stretch>
        </p:blipFill>
        <p:spPr>
          <a:xfrm>
            <a:off x="2425776" y="4370833"/>
            <a:ext cx="269812" cy="269812"/>
          </a:xfrm>
          <a:prstGeom prst="rect">
            <a:avLst/>
          </a:prstGeom>
        </p:spPr>
      </p:pic>
      <p:sp>
        <p:nvSpPr>
          <p:cNvPr id="15" name="ZoneTexte 14">
            <a:extLst>
              <a:ext uri="{FF2B5EF4-FFF2-40B4-BE49-F238E27FC236}">
                <a16:creationId xmlns:a16="http://schemas.microsoft.com/office/drawing/2014/main" id="{6846AB8B-ED58-E653-115A-81B056CD49FF}"/>
              </a:ext>
            </a:extLst>
          </p:cNvPr>
          <p:cNvSpPr txBox="1"/>
          <p:nvPr/>
        </p:nvSpPr>
        <p:spPr>
          <a:xfrm>
            <a:off x="2717800" y="4678821"/>
            <a:ext cx="5156202" cy="261610"/>
          </a:xfrm>
          <a:prstGeom prst="rect">
            <a:avLst/>
          </a:prstGeom>
          <a:noFill/>
        </p:spPr>
        <p:txBody>
          <a:bodyPr wrap="square" rtlCol="0">
            <a:spAutoFit/>
          </a:bodyPr>
          <a:lstStyle/>
          <a:p>
            <a:r>
              <a:rPr lang="fr-FR" sz="1100" dirty="0"/>
              <a:t>Rentabilité en hausse depuis 2015 mais en baisse depuis 2023 → </a:t>
            </a:r>
            <a:r>
              <a:rPr lang="fr-FR" sz="1100" dirty="0">
                <a:solidFill>
                  <a:srgbClr val="FF0000"/>
                </a:solidFill>
              </a:rPr>
              <a:t>- 19%</a:t>
            </a:r>
          </a:p>
        </p:txBody>
      </p:sp>
      <p:pic>
        <p:nvPicPr>
          <p:cNvPr id="19" name="Image 18" descr="Une image contenant cercle&#10;&#10;Description générée automatiquement">
            <a:extLst>
              <a:ext uri="{FF2B5EF4-FFF2-40B4-BE49-F238E27FC236}">
                <a16:creationId xmlns:a16="http://schemas.microsoft.com/office/drawing/2014/main" id="{B951955D-2518-5F50-54FE-33A4B5E56FC3}"/>
              </a:ext>
            </a:extLst>
          </p:cNvPr>
          <p:cNvPicPr>
            <a:picLocks noChangeAspect="1"/>
          </p:cNvPicPr>
          <p:nvPr/>
        </p:nvPicPr>
        <p:blipFill>
          <a:blip r:embed="rId6"/>
          <a:stretch>
            <a:fillRect/>
          </a:stretch>
        </p:blipFill>
        <p:spPr>
          <a:xfrm>
            <a:off x="2447989" y="4678821"/>
            <a:ext cx="247599" cy="247599"/>
          </a:xfrm>
          <a:prstGeom prst="rect">
            <a:avLst/>
          </a:prstGeom>
        </p:spPr>
      </p:pic>
      <p:sp>
        <p:nvSpPr>
          <p:cNvPr id="23" name="ZoneTexte 22">
            <a:extLst>
              <a:ext uri="{FF2B5EF4-FFF2-40B4-BE49-F238E27FC236}">
                <a16:creationId xmlns:a16="http://schemas.microsoft.com/office/drawing/2014/main" id="{30E82DD0-BF12-E786-BDF0-05F8B2B160BF}"/>
              </a:ext>
            </a:extLst>
          </p:cNvPr>
          <p:cNvSpPr txBox="1"/>
          <p:nvPr/>
        </p:nvSpPr>
        <p:spPr>
          <a:xfrm>
            <a:off x="949325" y="339470"/>
            <a:ext cx="4308560" cy="584775"/>
          </a:xfrm>
          <a:prstGeom prst="rect">
            <a:avLst/>
          </a:prstGeom>
          <a:noFill/>
        </p:spPr>
        <p:txBody>
          <a:bodyPr wrap="square">
            <a:spAutoFit/>
          </a:bodyPr>
          <a:lstStyle/>
          <a:p>
            <a:r>
              <a:rPr lang="fr-FR" sz="1600" b="1" dirty="0"/>
              <a:t>Tendance </a:t>
            </a:r>
          </a:p>
          <a:p>
            <a:r>
              <a:rPr lang="fr-FR" sz="1600" b="1" dirty="0"/>
              <a:t>sur le CA bute et la marge brute</a:t>
            </a:r>
          </a:p>
        </p:txBody>
      </p:sp>
      <p:pic>
        <p:nvPicPr>
          <p:cNvPr id="25" name="Image 24" descr="Une image contenant capture d’écran, ligne, Graphique, Caractère coloré&#10;&#10;Description générée automatiquement">
            <a:extLst>
              <a:ext uri="{FF2B5EF4-FFF2-40B4-BE49-F238E27FC236}">
                <a16:creationId xmlns:a16="http://schemas.microsoft.com/office/drawing/2014/main" id="{34A3609D-22EF-5422-C386-2AC30CF3D4E1}"/>
              </a:ext>
            </a:extLst>
          </p:cNvPr>
          <p:cNvPicPr>
            <a:picLocks noChangeAspect="1"/>
          </p:cNvPicPr>
          <p:nvPr/>
        </p:nvPicPr>
        <p:blipFill>
          <a:blip r:embed="rId7"/>
          <a:stretch>
            <a:fillRect/>
          </a:stretch>
        </p:blipFill>
        <p:spPr>
          <a:xfrm>
            <a:off x="695259" y="273160"/>
            <a:ext cx="726135" cy="785219"/>
          </a:xfrm>
          <a:prstGeom prst="rect">
            <a:avLst/>
          </a:prstGeom>
        </p:spPr>
      </p:pic>
      <p:pic>
        <p:nvPicPr>
          <p:cNvPr id="4" name="Image 3">
            <a:extLst>
              <a:ext uri="{FF2B5EF4-FFF2-40B4-BE49-F238E27FC236}">
                <a16:creationId xmlns:a16="http://schemas.microsoft.com/office/drawing/2014/main" id="{392457FA-256B-685D-4DF9-ED42BC1A5AEF}"/>
              </a:ext>
            </a:extLst>
          </p:cNvPr>
          <p:cNvPicPr>
            <a:picLocks noChangeAspect="1"/>
          </p:cNvPicPr>
          <p:nvPr/>
        </p:nvPicPr>
        <p:blipFill>
          <a:blip r:embed="rId8"/>
          <a:stretch>
            <a:fillRect/>
          </a:stretch>
        </p:blipFill>
        <p:spPr>
          <a:xfrm>
            <a:off x="8467845" y="66300"/>
            <a:ext cx="584775" cy="584775"/>
          </a:xfrm>
          <a:prstGeom prst="rect">
            <a:avLst/>
          </a:prstGeom>
        </p:spPr>
      </p:pic>
    </p:spTree>
    <p:extLst>
      <p:ext uri="{BB962C8B-B14F-4D97-AF65-F5344CB8AC3E}">
        <p14:creationId xmlns:p14="http://schemas.microsoft.com/office/powerpoint/2010/main" val="26631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52">
          <a:extLst>
            <a:ext uri="{FF2B5EF4-FFF2-40B4-BE49-F238E27FC236}">
              <a16:creationId xmlns:a16="http://schemas.microsoft.com/office/drawing/2014/main" id="{8B7888BA-8C1F-7DA5-CA83-7D947F39AAE7}"/>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71D03B1B-E43D-8AFC-17CA-51F7A80FFEF6}"/>
              </a:ext>
            </a:extLst>
          </p:cNvPr>
          <p:cNvSpPr txBox="1"/>
          <p:nvPr/>
        </p:nvSpPr>
        <p:spPr>
          <a:xfrm>
            <a:off x="883277" y="152856"/>
            <a:ext cx="2427547" cy="646331"/>
          </a:xfrm>
          <a:prstGeom prst="rect">
            <a:avLst/>
          </a:prstGeom>
          <a:noFill/>
        </p:spPr>
        <p:txBody>
          <a:bodyPr wrap="square">
            <a:spAutoFit/>
          </a:bodyPr>
          <a:lstStyle/>
          <a:p>
            <a:r>
              <a:rPr lang="fr-FR" b="1" dirty="0"/>
              <a:t>Tendance </a:t>
            </a:r>
          </a:p>
          <a:p>
            <a:r>
              <a:rPr lang="fr-FR" b="1" dirty="0"/>
              <a:t>sur les pénalités ?</a:t>
            </a:r>
          </a:p>
        </p:txBody>
      </p:sp>
      <p:graphicFrame>
        <p:nvGraphicFramePr>
          <p:cNvPr id="24" name="Graphique 23">
            <a:extLst>
              <a:ext uri="{FF2B5EF4-FFF2-40B4-BE49-F238E27FC236}">
                <a16:creationId xmlns:a16="http://schemas.microsoft.com/office/drawing/2014/main" id="{1932D00F-A3A5-7E35-69B1-6E1582D72B2D}"/>
              </a:ext>
            </a:extLst>
          </p:cNvPr>
          <p:cNvGraphicFramePr>
            <a:graphicFrameLocks/>
          </p:cNvGraphicFramePr>
          <p:nvPr>
            <p:extLst>
              <p:ext uri="{D42A27DB-BD31-4B8C-83A1-F6EECF244321}">
                <p14:modId xmlns:p14="http://schemas.microsoft.com/office/powerpoint/2010/main" val="1144184047"/>
              </p:ext>
            </p:extLst>
          </p:nvPr>
        </p:nvGraphicFramePr>
        <p:xfrm>
          <a:off x="218353" y="1035112"/>
          <a:ext cx="2754674" cy="3117055"/>
        </p:xfrm>
        <a:graphic>
          <a:graphicData uri="http://schemas.openxmlformats.org/drawingml/2006/chart">
            <c:chart xmlns:c="http://schemas.openxmlformats.org/drawingml/2006/chart" xmlns:r="http://schemas.openxmlformats.org/officeDocument/2006/relationships" r:id="rId3"/>
          </a:graphicData>
        </a:graphic>
      </p:graphicFrame>
      <p:sp>
        <p:nvSpPr>
          <p:cNvPr id="3" name="ZoneTexte 2">
            <a:extLst>
              <a:ext uri="{FF2B5EF4-FFF2-40B4-BE49-F238E27FC236}">
                <a16:creationId xmlns:a16="http://schemas.microsoft.com/office/drawing/2014/main" id="{D4602646-B205-F4CC-6000-ADE0C765FE29}"/>
              </a:ext>
            </a:extLst>
          </p:cNvPr>
          <p:cNvSpPr txBox="1"/>
          <p:nvPr/>
        </p:nvSpPr>
        <p:spPr>
          <a:xfrm>
            <a:off x="1079882" y="4376008"/>
            <a:ext cx="2074607" cy="307777"/>
          </a:xfrm>
          <a:prstGeom prst="rect">
            <a:avLst/>
          </a:prstGeom>
          <a:noFill/>
        </p:spPr>
        <p:txBody>
          <a:bodyPr wrap="square" rtlCol="0">
            <a:spAutoFit/>
          </a:bodyPr>
          <a:lstStyle/>
          <a:p>
            <a:r>
              <a:rPr lang="fr-FR" sz="700" dirty="0"/>
              <a:t>Les pénalités représentent une petite partie du </a:t>
            </a:r>
            <a:r>
              <a:rPr lang="fr-FR" sz="700" b="1" dirty="0"/>
              <a:t>chiffre d’affaires brut</a:t>
            </a:r>
          </a:p>
        </p:txBody>
      </p:sp>
      <p:sp>
        <p:nvSpPr>
          <p:cNvPr id="4" name="ZoneTexte 3">
            <a:extLst>
              <a:ext uri="{FF2B5EF4-FFF2-40B4-BE49-F238E27FC236}">
                <a16:creationId xmlns:a16="http://schemas.microsoft.com/office/drawing/2014/main" id="{BF351BBD-2841-F0E9-18C8-6ADAF5E12310}"/>
              </a:ext>
            </a:extLst>
          </p:cNvPr>
          <p:cNvSpPr txBox="1"/>
          <p:nvPr/>
        </p:nvSpPr>
        <p:spPr>
          <a:xfrm>
            <a:off x="6851039" y="3923762"/>
            <a:ext cx="2074606" cy="707886"/>
          </a:xfrm>
          <a:prstGeom prst="rect">
            <a:avLst/>
          </a:prstGeom>
          <a:noFill/>
        </p:spPr>
        <p:txBody>
          <a:bodyPr wrap="square" rtlCol="0">
            <a:spAutoFit/>
          </a:bodyPr>
          <a:lstStyle/>
          <a:p>
            <a:r>
              <a:rPr lang="fr-FR" sz="800" dirty="0"/>
              <a:t>• Le taux d’impact sur la marge brute est &lt; 0,3 % depuis 2016</a:t>
            </a:r>
          </a:p>
          <a:p>
            <a:endParaRPr lang="fr-FR" sz="800" dirty="0"/>
          </a:p>
          <a:p>
            <a:r>
              <a:rPr lang="fr-FR" sz="800" dirty="0"/>
              <a:t>• tendance haussière entre 2022 et 2024 mais 2025 montre de très bons résultats</a:t>
            </a:r>
          </a:p>
        </p:txBody>
      </p:sp>
      <p:cxnSp>
        <p:nvCxnSpPr>
          <p:cNvPr id="9" name="Connecteur : en angle 8">
            <a:extLst>
              <a:ext uri="{FF2B5EF4-FFF2-40B4-BE49-F238E27FC236}">
                <a16:creationId xmlns:a16="http://schemas.microsoft.com/office/drawing/2014/main" id="{F3E69C99-95BE-A429-CC94-1D50FF7BE85E}"/>
              </a:ext>
            </a:extLst>
          </p:cNvPr>
          <p:cNvCxnSpPr>
            <a:cxnSpLocks/>
            <a:stCxn id="24" idx="3"/>
            <a:endCxn id="98" idx="1"/>
          </p:cNvCxnSpPr>
          <p:nvPr/>
        </p:nvCxnSpPr>
        <p:spPr>
          <a:xfrm>
            <a:off x="2973027" y="2593639"/>
            <a:ext cx="538524" cy="2"/>
          </a:xfrm>
          <a:prstGeom prst="bentConnector3">
            <a:avLst>
              <a:gd name="adj1" fmla="val 50000"/>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Connecteur : en angle 11">
            <a:extLst>
              <a:ext uri="{FF2B5EF4-FFF2-40B4-BE49-F238E27FC236}">
                <a16:creationId xmlns:a16="http://schemas.microsoft.com/office/drawing/2014/main" id="{24CF6D84-06C2-9468-B907-7900FCAFC18D}"/>
              </a:ext>
            </a:extLst>
          </p:cNvPr>
          <p:cNvCxnSpPr>
            <a:cxnSpLocks/>
            <a:stCxn id="24" idx="3"/>
            <a:endCxn id="111" idx="1"/>
          </p:cNvCxnSpPr>
          <p:nvPr/>
        </p:nvCxnSpPr>
        <p:spPr>
          <a:xfrm flipV="1">
            <a:off x="2973027" y="1023500"/>
            <a:ext cx="538523" cy="1570139"/>
          </a:xfrm>
          <a:prstGeom prst="bentConnector3">
            <a:avLst>
              <a:gd name="adj1" fmla="val 50000"/>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Connecteur : en angle 47">
            <a:extLst>
              <a:ext uri="{FF2B5EF4-FFF2-40B4-BE49-F238E27FC236}">
                <a16:creationId xmlns:a16="http://schemas.microsoft.com/office/drawing/2014/main" id="{E01124AD-1228-4D7F-0933-CB80D8329865}"/>
              </a:ext>
            </a:extLst>
          </p:cNvPr>
          <p:cNvCxnSpPr>
            <a:cxnSpLocks/>
            <a:stCxn id="24" idx="3"/>
            <a:endCxn id="132" idx="1"/>
          </p:cNvCxnSpPr>
          <p:nvPr/>
        </p:nvCxnSpPr>
        <p:spPr>
          <a:xfrm>
            <a:off x="2973027" y="2593639"/>
            <a:ext cx="538522" cy="1664729"/>
          </a:xfrm>
          <a:prstGeom prst="bentConnector3">
            <a:avLst>
              <a:gd name="adj1" fmla="val 50000"/>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6" name="ZoneTexte 55">
            <a:extLst>
              <a:ext uri="{FF2B5EF4-FFF2-40B4-BE49-F238E27FC236}">
                <a16:creationId xmlns:a16="http://schemas.microsoft.com/office/drawing/2014/main" id="{E29EC068-D7B4-B4F4-C065-CFD8FC502FBC}"/>
              </a:ext>
            </a:extLst>
          </p:cNvPr>
          <p:cNvSpPr txBox="1"/>
          <p:nvPr/>
        </p:nvSpPr>
        <p:spPr>
          <a:xfrm>
            <a:off x="6851038" y="2279362"/>
            <a:ext cx="2074607" cy="707886"/>
          </a:xfrm>
          <a:prstGeom prst="rect">
            <a:avLst/>
          </a:prstGeom>
          <a:noFill/>
        </p:spPr>
        <p:txBody>
          <a:bodyPr wrap="square" rtlCol="0">
            <a:spAutoFit/>
          </a:bodyPr>
          <a:lstStyle/>
          <a:p>
            <a:r>
              <a:rPr lang="fr-FR" sz="800" dirty="0"/>
              <a:t>• Nombre de pénalités  en hausse</a:t>
            </a:r>
          </a:p>
          <a:p>
            <a:r>
              <a:rPr lang="fr-FR" sz="800" dirty="0"/>
              <a:t>Chaque pénalité alourdit le temps de traitement d’un bon de commande, </a:t>
            </a:r>
          </a:p>
          <a:p>
            <a:r>
              <a:rPr lang="fr-FR" sz="800" b="1" dirty="0">
                <a:solidFill>
                  <a:srgbClr val="FF0000"/>
                </a:solidFill>
              </a:rPr>
              <a:t>↑</a:t>
            </a:r>
            <a:r>
              <a:rPr lang="fr-FR" sz="800" dirty="0"/>
              <a:t> cout interne (RH) </a:t>
            </a:r>
          </a:p>
          <a:p>
            <a:r>
              <a:rPr lang="fr-FR" sz="800" b="1" dirty="0">
                <a:solidFill>
                  <a:srgbClr val="FF0000"/>
                </a:solidFill>
              </a:rPr>
              <a:t>↓ </a:t>
            </a:r>
            <a:r>
              <a:rPr lang="fr-FR" sz="800" dirty="0"/>
              <a:t>marge semi-nette.</a:t>
            </a:r>
          </a:p>
        </p:txBody>
      </p:sp>
      <p:sp>
        <p:nvSpPr>
          <p:cNvPr id="57" name="ZoneTexte 56">
            <a:extLst>
              <a:ext uri="{FF2B5EF4-FFF2-40B4-BE49-F238E27FC236}">
                <a16:creationId xmlns:a16="http://schemas.microsoft.com/office/drawing/2014/main" id="{D6997186-6AB8-32AA-4EDE-9D38C3308C62}"/>
              </a:ext>
            </a:extLst>
          </p:cNvPr>
          <p:cNvSpPr txBox="1"/>
          <p:nvPr/>
        </p:nvSpPr>
        <p:spPr>
          <a:xfrm>
            <a:off x="6851040" y="1099346"/>
            <a:ext cx="2074607" cy="338554"/>
          </a:xfrm>
          <a:prstGeom prst="rect">
            <a:avLst/>
          </a:prstGeom>
          <a:noFill/>
        </p:spPr>
        <p:txBody>
          <a:bodyPr wrap="square" rtlCol="0">
            <a:spAutoFit/>
          </a:bodyPr>
          <a:lstStyle/>
          <a:p>
            <a:r>
              <a:rPr lang="fr-FR" sz="800" dirty="0"/>
              <a:t>• </a:t>
            </a:r>
            <a:r>
              <a:rPr lang="fr-FR" sz="800" b="1" dirty="0"/>
              <a:t>stable</a:t>
            </a:r>
            <a:r>
              <a:rPr lang="fr-FR" sz="800" b="1" dirty="0">
                <a:solidFill>
                  <a:srgbClr val="00B050"/>
                </a:solidFill>
              </a:rPr>
              <a:t> </a:t>
            </a:r>
            <a:r>
              <a:rPr lang="fr-FR" sz="800" dirty="0"/>
              <a:t>depuis 2016. </a:t>
            </a:r>
          </a:p>
          <a:p>
            <a:r>
              <a:rPr lang="fr-FR" sz="800" dirty="0"/>
              <a:t>• année 2020 atypique (COVID)</a:t>
            </a:r>
          </a:p>
        </p:txBody>
      </p:sp>
      <p:pic>
        <p:nvPicPr>
          <p:cNvPr id="62" name="Image 61" descr="Une image contenant vert, Caractère coloré, Graphique, Rectangle&#10;&#10;Description générée automatiquement">
            <a:extLst>
              <a:ext uri="{FF2B5EF4-FFF2-40B4-BE49-F238E27FC236}">
                <a16:creationId xmlns:a16="http://schemas.microsoft.com/office/drawing/2014/main" id="{7569316B-F86E-7213-286C-B264C63443F0}"/>
              </a:ext>
            </a:extLst>
          </p:cNvPr>
          <p:cNvPicPr>
            <a:picLocks noChangeAspect="1"/>
          </p:cNvPicPr>
          <p:nvPr/>
        </p:nvPicPr>
        <p:blipFill>
          <a:blip r:embed="rId4"/>
          <a:stretch>
            <a:fillRect/>
          </a:stretch>
        </p:blipFill>
        <p:spPr>
          <a:xfrm>
            <a:off x="6632097" y="1150145"/>
            <a:ext cx="196605" cy="196605"/>
          </a:xfrm>
          <a:prstGeom prst="rect">
            <a:avLst/>
          </a:prstGeom>
        </p:spPr>
      </p:pic>
      <p:pic>
        <p:nvPicPr>
          <p:cNvPr id="76" name="Image 75" descr="Une image contenant vert, Caractère coloré, Graphique, Rectangle&#10;&#10;Description générée automatiquement">
            <a:extLst>
              <a:ext uri="{FF2B5EF4-FFF2-40B4-BE49-F238E27FC236}">
                <a16:creationId xmlns:a16="http://schemas.microsoft.com/office/drawing/2014/main" id="{559FFAB1-9ECD-F10B-3DC4-1C48E63A84B0}"/>
              </a:ext>
            </a:extLst>
          </p:cNvPr>
          <p:cNvPicPr>
            <a:picLocks noChangeAspect="1"/>
          </p:cNvPicPr>
          <p:nvPr/>
        </p:nvPicPr>
        <p:blipFill>
          <a:blip r:embed="rId4"/>
          <a:stretch>
            <a:fillRect/>
          </a:stretch>
        </p:blipFill>
        <p:spPr>
          <a:xfrm>
            <a:off x="883277" y="4431593"/>
            <a:ext cx="196605" cy="196605"/>
          </a:xfrm>
          <a:prstGeom prst="rect">
            <a:avLst/>
          </a:prstGeom>
        </p:spPr>
      </p:pic>
      <p:graphicFrame>
        <p:nvGraphicFramePr>
          <p:cNvPr id="98" name="Graphique 97">
            <a:extLst>
              <a:ext uri="{FF2B5EF4-FFF2-40B4-BE49-F238E27FC236}">
                <a16:creationId xmlns:a16="http://schemas.microsoft.com/office/drawing/2014/main" id="{426D8B22-0297-4A35-8B99-0CFDD853C406}"/>
              </a:ext>
            </a:extLst>
          </p:cNvPr>
          <p:cNvGraphicFramePr>
            <a:graphicFrameLocks/>
          </p:cNvGraphicFramePr>
          <p:nvPr>
            <p:extLst>
              <p:ext uri="{D42A27DB-BD31-4B8C-83A1-F6EECF244321}">
                <p14:modId xmlns:p14="http://schemas.microsoft.com/office/powerpoint/2010/main" val="3714695192"/>
              </p:ext>
            </p:extLst>
          </p:nvPr>
        </p:nvGraphicFramePr>
        <p:xfrm>
          <a:off x="3511551" y="1876154"/>
          <a:ext cx="2944576" cy="14349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1" name="Graphique 110">
            <a:extLst>
              <a:ext uri="{FF2B5EF4-FFF2-40B4-BE49-F238E27FC236}">
                <a16:creationId xmlns:a16="http://schemas.microsoft.com/office/drawing/2014/main" id="{FD6847F2-6B8E-4A3D-84E9-244B353AA4E4}"/>
              </a:ext>
            </a:extLst>
          </p:cNvPr>
          <p:cNvGraphicFramePr>
            <a:graphicFrameLocks/>
          </p:cNvGraphicFramePr>
          <p:nvPr>
            <p:extLst>
              <p:ext uri="{D42A27DB-BD31-4B8C-83A1-F6EECF244321}">
                <p14:modId xmlns:p14="http://schemas.microsoft.com/office/powerpoint/2010/main" val="3901049805"/>
              </p:ext>
            </p:extLst>
          </p:nvPr>
        </p:nvGraphicFramePr>
        <p:xfrm>
          <a:off x="3511550" y="306013"/>
          <a:ext cx="2944575" cy="1434974"/>
        </p:xfrm>
        <a:graphic>
          <a:graphicData uri="http://schemas.openxmlformats.org/drawingml/2006/chart">
            <c:chart xmlns:c="http://schemas.openxmlformats.org/drawingml/2006/chart" xmlns:r="http://schemas.openxmlformats.org/officeDocument/2006/relationships" r:id="rId6"/>
          </a:graphicData>
        </a:graphic>
      </p:graphicFrame>
      <p:pic>
        <p:nvPicPr>
          <p:cNvPr id="113" name="Image 112">
            <a:extLst>
              <a:ext uri="{FF2B5EF4-FFF2-40B4-BE49-F238E27FC236}">
                <a16:creationId xmlns:a16="http://schemas.microsoft.com/office/drawing/2014/main" id="{BD46C760-5415-225A-A7D3-5B7821FC71EB}"/>
              </a:ext>
            </a:extLst>
          </p:cNvPr>
          <p:cNvPicPr>
            <a:picLocks noChangeAspect="1"/>
          </p:cNvPicPr>
          <p:nvPr/>
        </p:nvPicPr>
        <p:blipFill>
          <a:blip r:embed="rId7"/>
          <a:stretch>
            <a:fillRect/>
          </a:stretch>
        </p:blipFill>
        <p:spPr>
          <a:xfrm>
            <a:off x="6629032" y="2495337"/>
            <a:ext cx="196607" cy="196607"/>
          </a:xfrm>
          <a:prstGeom prst="rect">
            <a:avLst/>
          </a:prstGeom>
        </p:spPr>
      </p:pic>
      <p:pic>
        <p:nvPicPr>
          <p:cNvPr id="114" name="Image 113" descr="Une image contenant vert, Caractère coloré, Graphique, Rectangle&#10;&#10;Description générée automatiquement">
            <a:extLst>
              <a:ext uri="{FF2B5EF4-FFF2-40B4-BE49-F238E27FC236}">
                <a16:creationId xmlns:a16="http://schemas.microsoft.com/office/drawing/2014/main" id="{1EE8C85F-4218-0CE8-92F5-C4B4FCEDF980}"/>
              </a:ext>
            </a:extLst>
          </p:cNvPr>
          <p:cNvPicPr>
            <a:picLocks noChangeAspect="1"/>
          </p:cNvPicPr>
          <p:nvPr/>
        </p:nvPicPr>
        <p:blipFill>
          <a:blip r:embed="rId4"/>
          <a:stretch>
            <a:fillRect/>
          </a:stretch>
        </p:blipFill>
        <p:spPr>
          <a:xfrm>
            <a:off x="6629032" y="4179403"/>
            <a:ext cx="196605" cy="196605"/>
          </a:xfrm>
          <a:prstGeom prst="rect">
            <a:avLst/>
          </a:prstGeom>
        </p:spPr>
      </p:pic>
      <p:graphicFrame>
        <p:nvGraphicFramePr>
          <p:cNvPr id="132" name="Graphique 131">
            <a:extLst>
              <a:ext uri="{FF2B5EF4-FFF2-40B4-BE49-F238E27FC236}">
                <a16:creationId xmlns:a16="http://schemas.microsoft.com/office/drawing/2014/main" id="{4F719E33-9C73-45FC-A575-A75B42A47E1F}"/>
              </a:ext>
            </a:extLst>
          </p:cNvPr>
          <p:cNvGraphicFramePr>
            <a:graphicFrameLocks/>
          </p:cNvGraphicFramePr>
          <p:nvPr>
            <p:extLst>
              <p:ext uri="{D42A27DB-BD31-4B8C-83A1-F6EECF244321}">
                <p14:modId xmlns:p14="http://schemas.microsoft.com/office/powerpoint/2010/main" val="838016851"/>
              </p:ext>
            </p:extLst>
          </p:nvPr>
        </p:nvGraphicFramePr>
        <p:xfrm>
          <a:off x="3511549" y="3481641"/>
          <a:ext cx="2944575" cy="1553455"/>
        </p:xfrm>
        <a:graphic>
          <a:graphicData uri="http://schemas.openxmlformats.org/drawingml/2006/chart">
            <c:chart xmlns:c="http://schemas.openxmlformats.org/drawingml/2006/chart" xmlns:r="http://schemas.openxmlformats.org/officeDocument/2006/relationships" r:id="rId8"/>
          </a:graphicData>
        </a:graphic>
      </p:graphicFrame>
      <p:pic>
        <p:nvPicPr>
          <p:cNvPr id="144" name="Image 143" descr="Une image contenant capture d’écran, ligne, Graphique, Caractère coloré&#10;&#10;Description générée automatiquement">
            <a:extLst>
              <a:ext uri="{FF2B5EF4-FFF2-40B4-BE49-F238E27FC236}">
                <a16:creationId xmlns:a16="http://schemas.microsoft.com/office/drawing/2014/main" id="{D0A9037A-8FDF-35BD-2764-C80198D182B7}"/>
              </a:ext>
            </a:extLst>
          </p:cNvPr>
          <p:cNvPicPr>
            <a:picLocks noChangeAspect="1"/>
          </p:cNvPicPr>
          <p:nvPr/>
        </p:nvPicPr>
        <p:blipFill>
          <a:blip r:embed="rId9"/>
          <a:stretch>
            <a:fillRect/>
          </a:stretch>
        </p:blipFill>
        <p:spPr>
          <a:xfrm>
            <a:off x="701609" y="200582"/>
            <a:ext cx="697997" cy="754791"/>
          </a:xfrm>
          <a:prstGeom prst="rect">
            <a:avLst/>
          </a:prstGeom>
        </p:spPr>
      </p:pic>
      <p:pic>
        <p:nvPicPr>
          <p:cNvPr id="2" name="Image 1">
            <a:extLst>
              <a:ext uri="{FF2B5EF4-FFF2-40B4-BE49-F238E27FC236}">
                <a16:creationId xmlns:a16="http://schemas.microsoft.com/office/drawing/2014/main" id="{947F2AE1-144F-933A-8192-D6A5EB0E0C3E}"/>
              </a:ext>
            </a:extLst>
          </p:cNvPr>
          <p:cNvPicPr>
            <a:picLocks noChangeAspect="1"/>
          </p:cNvPicPr>
          <p:nvPr/>
        </p:nvPicPr>
        <p:blipFill>
          <a:blip r:embed="rId10"/>
          <a:stretch>
            <a:fillRect/>
          </a:stretch>
        </p:blipFill>
        <p:spPr>
          <a:xfrm>
            <a:off x="8539057" y="66300"/>
            <a:ext cx="513563" cy="513563"/>
          </a:xfrm>
          <a:prstGeom prst="rect">
            <a:avLst/>
          </a:prstGeom>
        </p:spPr>
      </p:pic>
    </p:spTree>
    <p:extLst>
      <p:ext uri="{BB962C8B-B14F-4D97-AF65-F5344CB8AC3E}">
        <p14:creationId xmlns:p14="http://schemas.microsoft.com/office/powerpoint/2010/main" val="2818268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fade">
                                      <p:cBhvr>
                                        <p:cTn id="10" dur="500"/>
                                        <p:tgtEl>
                                          <p:spTgt spid="1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500"/>
                                        <p:tgtEl>
                                          <p:spTgt spid="6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8"/>
                                        </p:tgtEl>
                                        <p:attrNameLst>
                                          <p:attrName>style.visibility</p:attrName>
                                        </p:attrNameLst>
                                      </p:cBhvr>
                                      <p:to>
                                        <p:strVal val="visible"/>
                                      </p:to>
                                    </p:set>
                                    <p:animEffect transition="in" filter="fade">
                                      <p:cBhvr>
                                        <p:cTn id="26" dur="500"/>
                                        <p:tgtEl>
                                          <p:spTgt spid="9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3"/>
                                        </p:tgtEl>
                                        <p:attrNameLst>
                                          <p:attrName>style.visibility</p:attrName>
                                        </p:attrNameLst>
                                      </p:cBhvr>
                                      <p:to>
                                        <p:strVal val="visible"/>
                                      </p:to>
                                    </p:set>
                                    <p:animEffect transition="in" filter="fade">
                                      <p:cBhvr>
                                        <p:cTn id="31" dur="500"/>
                                        <p:tgtEl>
                                          <p:spTgt spid="1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500"/>
                                        <p:tgtEl>
                                          <p:spTgt spid="5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fade">
                                      <p:cBhvr>
                                        <p:cTn id="39" dur="500"/>
                                        <p:tgtEl>
                                          <p:spTgt spid="4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2"/>
                                        </p:tgtEl>
                                        <p:attrNameLst>
                                          <p:attrName>style.visibility</p:attrName>
                                        </p:attrNameLst>
                                      </p:cBhvr>
                                      <p:to>
                                        <p:strVal val="visible"/>
                                      </p:to>
                                    </p:set>
                                    <p:animEffect transition="in" filter="fade">
                                      <p:cBhvr>
                                        <p:cTn id="42" dur="500"/>
                                        <p:tgtEl>
                                          <p:spTgt spid="1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4"/>
                                        </p:tgtEl>
                                        <p:attrNameLst>
                                          <p:attrName>style.visibility</p:attrName>
                                        </p:attrNameLst>
                                      </p:cBhvr>
                                      <p:to>
                                        <p:strVal val="visible"/>
                                      </p:to>
                                    </p:set>
                                    <p:animEffect transition="in" filter="fade">
                                      <p:cBhvr>
                                        <p:cTn id="47" dur="500"/>
                                        <p:tgtEl>
                                          <p:spTgt spid="1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6" grpId="0"/>
      <p:bldP spid="57" grpId="0"/>
      <p:bldGraphic spid="98" grpId="0">
        <p:bldAsOne/>
      </p:bldGraphic>
      <p:bldGraphic spid="111" grpId="0">
        <p:bldAsOne/>
      </p:bldGraphic>
      <p:bldGraphic spid="132"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52">
          <a:extLst>
            <a:ext uri="{FF2B5EF4-FFF2-40B4-BE49-F238E27FC236}">
              <a16:creationId xmlns:a16="http://schemas.microsoft.com/office/drawing/2014/main" id="{4E1ACD15-A5D4-14C3-FD03-6120841B401E}"/>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AD339D01-F32A-F268-AA6E-9AA25C4150A3}"/>
              </a:ext>
            </a:extLst>
          </p:cNvPr>
          <p:cNvSpPr txBox="1"/>
          <p:nvPr/>
        </p:nvSpPr>
        <p:spPr>
          <a:xfrm>
            <a:off x="3220445" y="492113"/>
            <a:ext cx="5671984" cy="307777"/>
          </a:xfrm>
          <a:prstGeom prst="rect">
            <a:avLst/>
          </a:prstGeom>
          <a:noFill/>
        </p:spPr>
        <p:txBody>
          <a:bodyPr wrap="square">
            <a:spAutoFit/>
          </a:bodyPr>
          <a:lstStyle/>
          <a:p>
            <a:r>
              <a:rPr lang="fr-FR" sz="1400" b="1" dirty="0"/>
              <a:t>Quel est l’impact des pénalités ?</a:t>
            </a:r>
          </a:p>
        </p:txBody>
      </p:sp>
      <p:graphicFrame>
        <p:nvGraphicFramePr>
          <p:cNvPr id="11" name="Graphique 10">
            <a:extLst>
              <a:ext uri="{FF2B5EF4-FFF2-40B4-BE49-F238E27FC236}">
                <a16:creationId xmlns:a16="http://schemas.microsoft.com/office/drawing/2014/main" id="{30EAC697-37C5-E2F0-AE51-509AE57D0DAB}"/>
              </a:ext>
            </a:extLst>
          </p:cNvPr>
          <p:cNvGraphicFramePr>
            <a:graphicFrameLocks/>
          </p:cNvGraphicFramePr>
          <p:nvPr>
            <p:extLst>
              <p:ext uri="{D42A27DB-BD31-4B8C-83A1-F6EECF244321}">
                <p14:modId xmlns:p14="http://schemas.microsoft.com/office/powerpoint/2010/main" val="995516163"/>
              </p:ext>
            </p:extLst>
          </p:nvPr>
        </p:nvGraphicFramePr>
        <p:xfrm>
          <a:off x="535858" y="1375343"/>
          <a:ext cx="5109292" cy="3245998"/>
        </p:xfrm>
        <a:graphic>
          <a:graphicData uri="http://schemas.openxmlformats.org/drawingml/2006/chart">
            <c:chart xmlns:c="http://schemas.openxmlformats.org/drawingml/2006/chart" xmlns:r="http://schemas.openxmlformats.org/officeDocument/2006/relationships" r:id="rId3"/>
          </a:graphicData>
        </a:graphic>
      </p:graphicFrame>
      <p:sp>
        <p:nvSpPr>
          <p:cNvPr id="12" name="ZoneTexte 11">
            <a:extLst>
              <a:ext uri="{FF2B5EF4-FFF2-40B4-BE49-F238E27FC236}">
                <a16:creationId xmlns:a16="http://schemas.microsoft.com/office/drawing/2014/main" id="{76FDA123-4F14-EC25-C229-723B75725AEF}"/>
              </a:ext>
            </a:extLst>
          </p:cNvPr>
          <p:cNvSpPr txBox="1"/>
          <p:nvPr/>
        </p:nvSpPr>
        <p:spPr>
          <a:xfrm>
            <a:off x="6110596" y="2340917"/>
            <a:ext cx="2625214" cy="461665"/>
          </a:xfrm>
          <a:prstGeom prst="rect">
            <a:avLst/>
          </a:prstGeom>
          <a:noFill/>
        </p:spPr>
        <p:txBody>
          <a:bodyPr wrap="square" rtlCol="0">
            <a:spAutoFit/>
          </a:bodyPr>
          <a:lstStyle/>
          <a:p>
            <a:r>
              <a:rPr lang="fr-FR" sz="800" dirty="0"/>
              <a:t>Une analyse sur les montants des pénalités vient montrer qu’il s’agit en majorité de « petits » montants mais qu’ils sont nombreux.</a:t>
            </a:r>
          </a:p>
        </p:txBody>
      </p:sp>
      <p:pic>
        <p:nvPicPr>
          <p:cNvPr id="18" name="Image 17" descr="Une image contenant cercle, Caractère coloré&#10;&#10;Description générée automatiquement">
            <a:extLst>
              <a:ext uri="{FF2B5EF4-FFF2-40B4-BE49-F238E27FC236}">
                <a16:creationId xmlns:a16="http://schemas.microsoft.com/office/drawing/2014/main" id="{69392C85-8749-1219-9C3F-AD724560A97F}"/>
              </a:ext>
            </a:extLst>
          </p:cNvPr>
          <p:cNvPicPr>
            <a:picLocks noChangeAspect="1"/>
          </p:cNvPicPr>
          <p:nvPr/>
        </p:nvPicPr>
        <p:blipFill>
          <a:blip r:embed="rId4"/>
          <a:stretch>
            <a:fillRect/>
          </a:stretch>
        </p:blipFill>
        <p:spPr>
          <a:xfrm>
            <a:off x="5810097" y="2400401"/>
            <a:ext cx="246340" cy="246340"/>
          </a:xfrm>
          <a:prstGeom prst="rect">
            <a:avLst/>
          </a:prstGeom>
        </p:spPr>
      </p:pic>
      <p:sp>
        <p:nvSpPr>
          <p:cNvPr id="13" name="ZoneTexte 12">
            <a:extLst>
              <a:ext uri="{FF2B5EF4-FFF2-40B4-BE49-F238E27FC236}">
                <a16:creationId xmlns:a16="http://schemas.microsoft.com/office/drawing/2014/main" id="{278F252B-08B8-5F62-EB3D-AC3DD1784460}"/>
              </a:ext>
            </a:extLst>
          </p:cNvPr>
          <p:cNvSpPr txBox="1"/>
          <p:nvPr/>
        </p:nvSpPr>
        <p:spPr>
          <a:xfrm>
            <a:off x="1646060" y="1054667"/>
            <a:ext cx="3257088" cy="261610"/>
          </a:xfrm>
          <a:prstGeom prst="rect">
            <a:avLst/>
          </a:prstGeom>
          <a:noFill/>
        </p:spPr>
        <p:txBody>
          <a:bodyPr wrap="square" rtlCol="0">
            <a:spAutoFit/>
          </a:bodyPr>
          <a:lstStyle/>
          <a:p>
            <a:r>
              <a:rPr lang="fr-FR" sz="1100" b="1" dirty="0"/>
              <a:t>Fréquence et gravité des pénalités</a:t>
            </a:r>
          </a:p>
        </p:txBody>
      </p:sp>
      <p:pic>
        <p:nvPicPr>
          <p:cNvPr id="3" name="Image 2">
            <a:extLst>
              <a:ext uri="{FF2B5EF4-FFF2-40B4-BE49-F238E27FC236}">
                <a16:creationId xmlns:a16="http://schemas.microsoft.com/office/drawing/2014/main" id="{D1A26860-7149-6FAB-0E6D-F50DD57002EA}"/>
              </a:ext>
            </a:extLst>
          </p:cNvPr>
          <p:cNvPicPr>
            <a:picLocks noChangeAspect="1"/>
          </p:cNvPicPr>
          <p:nvPr/>
        </p:nvPicPr>
        <p:blipFill>
          <a:blip r:embed="rId5"/>
          <a:stretch>
            <a:fillRect/>
          </a:stretch>
        </p:blipFill>
        <p:spPr>
          <a:xfrm>
            <a:off x="8556702" y="66301"/>
            <a:ext cx="495918" cy="495918"/>
          </a:xfrm>
          <a:prstGeom prst="rect">
            <a:avLst/>
          </a:prstGeom>
        </p:spPr>
      </p:pic>
    </p:spTree>
    <p:extLst>
      <p:ext uri="{BB962C8B-B14F-4D97-AF65-F5344CB8AC3E}">
        <p14:creationId xmlns:p14="http://schemas.microsoft.com/office/powerpoint/2010/main" val="181508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2">
          <a:extLst>
            <a:ext uri="{FF2B5EF4-FFF2-40B4-BE49-F238E27FC236}">
              <a16:creationId xmlns:a16="http://schemas.microsoft.com/office/drawing/2014/main" id="{78798C39-E5DE-36ED-7133-BED706774C92}"/>
            </a:ext>
          </a:extLst>
        </p:cNvPr>
        <p:cNvGrpSpPr/>
        <p:nvPr/>
      </p:nvGrpSpPr>
      <p:grpSpPr>
        <a:xfrm>
          <a:off x="0" y="0"/>
          <a:ext cx="0" cy="0"/>
          <a:chOff x="0" y="0"/>
          <a:chExt cx="0" cy="0"/>
        </a:xfrm>
      </p:grpSpPr>
      <p:pic>
        <p:nvPicPr>
          <p:cNvPr id="3" name="Image 2" descr="Une image contenant capture d’écran, ligne, Graphique, Caractère coloré&#10;&#10;Description générée automatiquement">
            <a:extLst>
              <a:ext uri="{FF2B5EF4-FFF2-40B4-BE49-F238E27FC236}">
                <a16:creationId xmlns:a16="http://schemas.microsoft.com/office/drawing/2014/main" id="{C0FE542F-8A7E-02EA-29F8-36194F4E1A28}"/>
              </a:ext>
            </a:extLst>
          </p:cNvPr>
          <p:cNvPicPr>
            <a:picLocks noChangeAspect="1"/>
          </p:cNvPicPr>
          <p:nvPr/>
        </p:nvPicPr>
        <p:blipFill>
          <a:blip r:embed="rId3"/>
          <a:stretch>
            <a:fillRect/>
          </a:stretch>
        </p:blipFill>
        <p:spPr>
          <a:xfrm>
            <a:off x="695259" y="273160"/>
            <a:ext cx="726135" cy="785219"/>
          </a:xfrm>
          <a:prstGeom prst="rect">
            <a:avLst/>
          </a:prstGeom>
        </p:spPr>
      </p:pic>
      <p:sp>
        <p:nvSpPr>
          <p:cNvPr id="4" name="ZoneTexte 3">
            <a:extLst>
              <a:ext uri="{FF2B5EF4-FFF2-40B4-BE49-F238E27FC236}">
                <a16:creationId xmlns:a16="http://schemas.microsoft.com/office/drawing/2014/main" id="{EC778C67-43AF-914E-1932-9141D014C49C}"/>
              </a:ext>
            </a:extLst>
          </p:cNvPr>
          <p:cNvSpPr txBox="1"/>
          <p:nvPr/>
        </p:nvSpPr>
        <p:spPr>
          <a:xfrm>
            <a:off x="908677" y="222706"/>
            <a:ext cx="2427547" cy="646331"/>
          </a:xfrm>
          <a:prstGeom prst="rect">
            <a:avLst/>
          </a:prstGeom>
          <a:noFill/>
        </p:spPr>
        <p:txBody>
          <a:bodyPr wrap="square">
            <a:spAutoFit/>
          </a:bodyPr>
          <a:lstStyle/>
          <a:p>
            <a:r>
              <a:rPr lang="fr-FR" b="1" dirty="0"/>
              <a:t>Tendance </a:t>
            </a:r>
          </a:p>
          <a:p>
            <a:r>
              <a:rPr lang="fr-FR" b="1" dirty="0"/>
              <a:t>sur les réserves</a:t>
            </a:r>
          </a:p>
        </p:txBody>
      </p:sp>
      <p:graphicFrame>
        <p:nvGraphicFramePr>
          <p:cNvPr id="8" name="Graphique 7">
            <a:extLst>
              <a:ext uri="{FF2B5EF4-FFF2-40B4-BE49-F238E27FC236}">
                <a16:creationId xmlns:a16="http://schemas.microsoft.com/office/drawing/2014/main" id="{B7BDB707-D3A8-47B7-A56D-CC074168AD17}"/>
              </a:ext>
            </a:extLst>
          </p:cNvPr>
          <p:cNvGraphicFramePr>
            <a:graphicFrameLocks/>
          </p:cNvGraphicFramePr>
          <p:nvPr>
            <p:extLst>
              <p:ext uri="{D42A27DB-BD31-4B8C-83A1-F6EECF244321}">
                <p14:modId xmlns:p14="http://schemas.microsoft.com/office/powerpoint/2010/main" val="1410131897"/>
              </p:ext>
            </p:extLst>
          </p:nvPr>
        </p:nvGraphicFramePr>
        <p:xfrm>
          <a:off x="695259" y="1521363"/>
          <a:ext cx="2803591" cy="295658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aphique 9">
            <a:extLst>
              <a:ext uri="{FF2B5EF4-FFF2-40B4-BE49-F238E27FC236}">
                <a16:creationId xmlns:a16="http://schemas.microsoft.com/office/drawing/2014/main" id="{2103BAF7-91DC-BC22-AC31-23D4177A56A5}"/>
              </a:ext>
            </a:extLst>
          </p:cNvPr>
          <p:cNvGraphicFramePr>
            <a:graphicFrameLocks/>
          </p:cNvGraphicFramePr>
          <p:nvPr>
            <p:extLst>
              <p:ext uri="{D42A27DB-BD31-4B8C-83A1-F6EECF244321}">
                <p14:modId xmlns:p14="http://schemas.microsoft.com/office/powerpoint/2010/main" val="1402206096"/>
              </p:ext>
            </p:extLst>
          </p:nvPr>
        </p:nvGraphicFramePr>
        <p:xfrm>
          <a:off x="3905068" y="3454400"/>
          <a:ext cx="2874212" cy="1601876"/>
        </p:xfrm>
        <a:graphic>
          <a:graphicData uri="http://schemas.openxmlformats.org/drawingml/2006/chart">
            <c:chart xmlns:c="http://schemas.openxmlformats.org/drawingml/2006/chart" xmlns:r="http://schemas.openxmlformats.org/officeDocument/2006/relationships" r:id="rId5"/>
          </a:graphicData>
        </a:graphic>
      </p:graphicFrame>
      <p:cxnSp>
        <p:nvCxnSpPr>
          <p:cNvPr id="12" name="Connecteur : en angle 11">
            <a:extLst>
              <a:ext uri="{FF2B5EF4-FFF2-40B4-BE49-F238E27FC236}">
                <a16:creationId xmlns:a16="http://schemas.microsoft.com/office/drawing/2014/main" id="{83FF4E7B-8125-DC95-EAB7-B1C6078EB5D2}"/>
              </a:ext>
            </a:extLst>
          </p:cNvPr>
          <p:cNvCxnSpPr>
            <a:cxnSpLocks/>
            <a:stCxn id="8" idx="3"/>
            <a:endCxn id="30" idx="1"/>
          </p:cNvCxnSpPr>
          <p:nvPr/>
        </p:nvCxnSpPr>
        <p:spPr>
          <a:xfrm flipV="1">
            <a:off x="3498850" y="961188"/>
            <a:ext cx="406218" cy="2038469"/>
          </a:xfrm>
          <a:prstGeom prst="bentConnector3">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30" name="Graphique 29">
            <a:extLst>
              <a:ext uri="{FF2B5EF4-FFF2-40B4-BE49-F238E27FC236}">
                <a16:creationId xmlns:a16="http://schemas.microsoft.com/office/drawing/2014/main" id="{CD946A58-0DBD-476B-9BE9-0661F34C3DFD}"/>
              </a:ext>
            </a:extLst>
          </p:cNvPr>
          <p:cNvGraphicFramePr>
            <a:graphicFrameLocks/>
          </p:cNvGraphicFramePr>
          <p:nvPr>
            <p:extLst>
              <p:ext uri="{D42A27DB-BD31-4B8C-83A1-F6EECF244321}">
                <p14:modId xmlns:p14="http://schemas.microsoft.com/office/powerpoint/2010/main" val="35110602"/>
              </p:ext>
            </p:extLst>
          </p:nvPr>
        </p:nvGraphicFramePr>
        <p:xfrm>
          <a:off x="3905068" y="121954"/>
          <a:ext cx="2874214" cy="1678468"/>
        </p:xfrm>
        <a:graphic>
          <a:graphicData uri="http://schemas.openxmlformats.org/drawingml/2006/chart">
            <c:chart xmlns:c="http://schemas.openxmlformats.org/drawingml/2006/chart" xmlns:r="http://schemas.openxmlformats.org/officeDocument/2006/relationships" r:id="rId6"/>
          </a:graphicData>
        </a:graphic>
      </p:graphicFrame>
      <p:cxnSp>
        <p:nvCxnSpPr>
          <p:cNvPr id="34" name="Connecteur : en angle 33">
            <a:extLst>
              <a:ext uri="{FF2B5EF4-FFF2-40B4-BE49-F238E27FC236}">
                <a16:creationId xmlns:a16="http://schemas.microsoft.com/office/drawing/2014/main" id="{71A4F50F-57B3-DB8C-FC97-722A0D4B4DE0}"/>
              </a:ext>
            </a:extLst>
          </p:cNvPr>
          <p:cNvCxnSpPr>
            <a:cxnSpLocks/>
            <a:stCxn id="8" idx="3"/>
            <a:endCxn id="10" idx="1"/>
          </p:cNvCxnSpPr>
          <p:nvPr/>
        </p:nvCxnSpPr>
        <p:spPr>
          <a:xfrm>
            <a:off x="3498850" y="2999657"/>
            <a:ext cx="406218" cy="1255681"/>
          </a:xfrm>
          <a:prstGeom prst="bentConnector3">
            <a:avLst>
              <a:gd name="adj1" fmla="val 50000"/>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73" name="Graphique 72">
            <a:extLst>
              <a:ext uri="{FF2B5EF4-FFF2-40B4-BE49-F238E27FC236}">
                <a16:creationId xmlns:a16="http://schemas.microsoft.com/office/drawing/2014/main" id="{6AA661F5-AF0B-4D9A-9F47-C7E1AD91F391}"/>
              </a:ext>
            </a:extLst>
          </p:cNvPr>
          <p:cNvGraphicFramePr>
            <a:graphicFrameLocks/>
          </p:cNvGraphicFramePr>
          <p:nvPr>
            <p:extLst>
              <p:ext uri="{D42A27DB-BD31-4B8C-83A1-F6EECF244321}">
                <p14:modId xmlns:p14="http://schemas.microsoft.com/office/powerpoint/2010/main" val="1994111787"/>
              </p:ext>
            </p:extLst>
          </p:nvPr>
        </p:nvGraphicFramePr>
        <p:xfrm>
          <a:off x="3905067" y="1889251"/>
          <a:ext cx="2874213" cy="1472877"/>
        </p:xfrm>
        <a:graphic>
          <a:graphicData uri="http://schemas.openxmlformats.org/drawingml/2006/chart">
            <c:chart xmlns:c="http://schemas.openxmlformats.org/drawingml/2006/chart" xmlns:r="http://schemas.openxmlformats.org/officeDocument/2006/relationships" r:id="rId7"/>
          </a:graphicData>
        </a:graphic>
      </p:graphicFrame>
      <p:sp>
        <p:nvSpPr>
          <p:cNvPr id="77" name="ZoneTexte 76">
            <a:extLst>
              <a:ext uri="{FF2B5EF4-FFF2-40B4-BE49-F238E27FC236}">
                <a16:creationId xmlns:a16="http://schemas.microsoft.com/office/drawing/2014/main" id="{2FF9B6FC-4C80-C5B0-7C8D-641339F95819}"/>
              </a:ext>
            </a:extLst>
          </p:cNvPr>
          <p:cNvSpPr txBox="1"/>
          <p:nvPr/>
        </p:nvSpPr>
        <p:spPr>
          <a:xfrm>
            <a:off x="6826250" y="719825"/>
            <a:ext cx="2203450" cy="461665"/>
          </a:xfrm>
          <a:prstGeom prst="rect">
            <a:avLst/>
          </a:prstGeom>
          <a:noFill/>
        </p:spPr>
        <p:txBody>
          <a:bodyPr wrap="square" rtlCol="0">
            <a:spAutoFit/>
          </a:bodyPr>
          <a:lstStyle/>
          <a:p>
            <a:r>
              <a:rPr lang="fr-FR" sz="800" dirty="0"/>
              <a:t>• Facturation client retardée (Income)</a:t>
            </a:r>
          </a:p>
          <a:p>
            <a:r>
              <a:rPr lang="fr-FR" sz="800" dirty="0"/>
              <a:t>• Facturation fournisseurs à régler (Outcome)</a:t>
            </a:r>
          </a:p>
          <a:p>
            <a:r>
              <a:rPr lang="fr-FR" sz="800" dirty="0"/>
              <a:t>= Décalage dans la trésorerie</a:t>
            </a:r>
          </a:p>
        </p:txBody>
      </p:sp>
      <p:sp>
        <p:nvSpPr>
          <p:cNvPr id="78" name="ZoneTexte 77">
            <a:extLst>
              <a:ext uri="{FF2B5EF4-FFF2-40B4-BE49-F238E27FC236}">
                <a16:creationId xmlns:a16="http://schemas.microsoft.com/office/drawing/2014/main" id="{88C484BB-B94E-F9A5-AA0B-EBA0EC30E0B7}"/>
              </a:ext>
            </a:extLst>
          </p:cNvPr>
          <p:cNvSpPr txBox="1"/>
          <p:nvPr/>
        </p:nvSpPr>
        <p:spPr>
          <a:xfrm>
            <a:off x="6826250" y="2178629"/>
            <a:ext cx="2203450" cy="784830"/>
          </a:xfrm>
          <a:prstGeom prst="rect">
            <a:avLst/>
          </a:prstGeom>
          <a:noFill/>
        </p:spPr>
        <p:txBody>
          <a:bodyPr wrap="square" rtlCol="0">
            <a:spAutoFit/>
          </a:bodyPr>
          <a:lstStyle/>
          <a:p>
            <a:r>
              <a:rPr lang="fr-FR" sz="800" dirty="0"/>
              <a:t>• Nb de réserves impacte les couts internes te donc la marge semi-nette.</a:t>
            </a:r>
          </a:p>
          <a:p>
            <a:endParaRPr lang="fr-FR" sz="800" dirty="0"/>
          </a:p>
          <a:p>
            <a:pPr marL="171450" indent="-171450">
              <a:buFont typeface="Wingdings" panose="05000000000000000000" pitchFamily="2" charset="2"/>
              <a:buChar char="q"/>
            </a:pPr>
            <a:r>
              <a:rPr lang="fr-FR" sz="700" dirty="0"/>
              <a:t>Dossiers de levée de réserve à créer</a:t>
            </a:r>
          </a:p>
          <a:p>
            <a:pPr marL="171450" indent="-171450">
              <a:buFont typeface="Wingdings" panose="05000000000000000000" pitchFamily="2" charset="2"/>
              <a:buChar char="q"/>
            </a:pPr>
            <a:r>
              <a:rPr lang="fr-FR" sz="700" dirty="0"/>
              <a:t>Facture de levée de réserve à rédiger</a:t>
            </a:r>
          </a:p>
          <a:p>
            <a:pPr marL="171450" indent="-171450">
              <a:buFont typeface="Wingdings" panose="05000000000000000000" pitchFamily="2" charset="2"/>
              <a:buChar char="q"/>
            </a:pPr>
            <a:r>
              <a:rPr lang="fr-FR" sz="700" dirty="0"/>
              <a:t>Factures à valider par la comptabilité</a:t>
            </a:r>
          </a:p>
        </p:txBody>
      </p:sp>
      <p:sp>
        <p:nvSpPr>
          <p:cNvPr id="79" name="ZoneTexte 78">
            <a:extLst>
              <a:ext uri="{FF2B5EF4-FFF2-40B4-BE49-F238E27FC236}">
                <a16:creationId xmlns:a16="http://schemas.microsoft.com/office/drawing/2014/main" id="{711580AB-1E30-F809-8C42-E211F433AF50}"/>
              </a:ext>
            </a:extLst>
          </p:cNvPr>
          <p:cNvSpPr txBox="1"/>
          <p:nvPr/>
        </p:nvSpPr>
        <p:spPr>
          <a:xfrm>
            <a:off x="6826250" y="4101449"/>
            <a:ext cx="2413000" cy="307777"/>
          </a:xfrm>
          <a:prstGeom prst="rect">
            <a:avLst/>
          </a:prstGeom>
          <a:noFill/>
        </p:spPr>
        <p:txBody>
          <a:bodyPr wrap="square" rtlCol="0">
            <a:spAutoFit/>
          </a:bodyPr>
          <a:lstStyle/>
          <a:p>
            <a:pPr marL="171450" indent="-171450">
              <a:buFont typeface="Wingdings" panose="05000000000000000000" pitchFamily="2" charset="2"/>
              <a:buChar char="q"/>
            </a:pPr>
            <a:r>
              <a:rPr lang="fr-FR" sz="700" dirty="0"/>
              <a:t>Stable &lt; 4%</a:t>
            </a:r>
          </a:p>
          <a:p>
            <a:pPr marL="171450" indent="-171450">
              <a:buFont typeface="Wingdings" panose="05000000000000000000" pitchFamily="2" charset="2"/>
              <a:buChar char="q"/>
            </a:pPr>
            <a:r>
              <a:rPr lang="fr-FR" sz="700" dirty="0"/>
              <a:t>Pas de dégradation mais pas d’amélioration non plus</a:t>
            </a:r>
          </a:p>
        </p:txBody>
      </p:sp>
      <p:pic>
        <p:nvPicPr>
          <p:cNvPr id="80" name="Image 79">
            <a:extLst>
              <a:ext uri="{FF2B5EF4-FFF2-40B4-BE49-F238E27FC236}">
                <a16:creationId xmlns:a16="http://schemas.microsoft.com/office/drawing/2014/main" id="{1B587839-540C-3514-516A-A146B584C6A2}"/>
              </a:ext>
            </a:extLst>
          </p:cNvPr>
          <p:cNvPicPr>
            <a:picLocks noChangeAspect="1"/>
          </p:cNvPicPr>
          <p:nvPr/>
        </p:nvPicPr>
        <p:blipFill>
          <a:blip r:embed="rId8"/>
          <a:stretch>
            <a:fillRect/>
          </a:stretch>
        </p:blipFill>
        <p:spPr>
          <a:xfrm>
            <a:off x="7599406" y="523218"/>
            <a:ext cx="196607" cy="196607"/>
          </a:xfrm>
          <a:prstGeom prst="rect">
            <a:avLst/>
          </a:prstGeom>
        </p:spPr>
      </p:pic>
      <p:pic>
        <p:nvPicPr>
          <p:cNvPr id="81" name="Image 80">
            <a:extLst>
              <a:ext uri="{FF2B5EF4-FFF2-40B4-BE49-F238E27FC236}">
                <a16:creationId xmlns:a16="http://schemas.microsoft.com/office/drawing/2014/main" id="{3A3D14DE-72D9-C5EC-29E6-1289DDA00EAB}"/>
              </a:ext>
            </a:extLst>
          </p:cNvPr>
          <p:cNvPicPr>
            <a:picLocks noChangeAspect="1"/>
          </p:cNvPicPr>
          <p:nvPr/>
        </p:nvPicPr>
        <p:blipFill>
          <a:blip r:embed="rId8"/>
          <a:stretch>
            <a:fillRect/>
          </a:stretch>
        </p:blipFill>
        <p:spPr>
          <a:xfrm>
            <a:off x="7599406" y="1984866"/>
            <a:ext cx="196607" cy="196607"/>
          </a:xfrm>
          <a:prstGeom prst="rect">
            <a:avLst/>
          </a:prstGeom>
        </p:spPr>
      </p:pic>
      <p:pic>
        <p:nvPicPr>
          <p:cNvPr id="2" name="Image 1">
            <a:extLst>
              <a:ext uri="{FF2B5EF4-FFF2-40B4-BE49-F238E27FC236}">
                <a16:creationId xmlns:a16="http://schemas.microsoft.com/office/drawing/2014/main" id="{8F3639EB-2F75-A1AE-777C-9B0B1470343B}"/>
              </a:ext>
            </a:extLst>
          </p:cNvPr>
          <p:cNvPicPr>
            <a:picLocks noChangeAspect="1"/>
          </p:cNvPicPr>
          <p:nvPr/>
        </p:nvPicPr>
        <p:blipFill>
          <a:blip r:embed="rId9"/>
          <a:stretch>
            <a:fillRect/>
          </a:stretch>
        </p:blipFill>
        <p:spPr>
          <a:xfrm>
            <a:off x="8593873" y="66300"/>
            <a:ext cx="458747" cy="458747"/>
          </a:xfrm>
          <a:prstGeom prst="rect">
            <a:avLst/>
          </a:prstGeom>
        </p:spPr>
      </p:pic>
    </p:spTree>
    <p:extLst>
      <p:ext uri="{BB962C8B-B14F-4D97-AF65-F5344CB8AC3E}">
        <p14:creationId xmlns:p14="http://schemas.microsoft.com/office/powerpoint/2010/main" val="119063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7"/>
                                        </p:tgtEl>
                                        <p:attrNameLst>
                                          <p:attrName>style.visibility</p:attrName>
                                        </p:attrNameLst>
                                      </p:cBhvr>
                                      <p:to>
                                        <p:strVal val="visible"/>
                                      </p:to>
                                    </p:set>
                                    <p:animEffect transition="in" filter="fade">
                                      <p:cBhvr>
                                        <p:cTn id="18" dur="500"/>
                                        <p:tgtEl>
                                          <p:spTgt spid="7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fade">
                                      <p:cBhvr>
                                        <p:cTn id="23" dur="500"/>
                                        <p:tgtEl>
                                          <p:spTgt spid="7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1"/>
                                        </p:tgtEl>
                                        <p:attrNameLst>
                                          <p:attrName>style.visibility</p:attrName>
                                        </p:attrNameLst>
                                      </p:cBhvr>
                                      <p:to>
                                        <p:strVal val="visible"/>
                                      </p:to>
                                    </p:set>
                                    <p:animEffect transition="in" filter="fade">
                                      <p:cBhvr>
                                        <p:cTn id="28" dur="500"/>
                                        <p:tgtEl>
                                          <p:spTgt spid="8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8"/>
                                        </p:tgtEl>
                                        <p:attrNameLst>
                                          <p:attrName>style.visibility</p:attrName>
                                        </p:attrNameLst>
                                      </p:cBhvr>
                                      <p:to>
                                        <p:strVal val="visible"/>
                                      </p:to>
                                    </p:set>
                                    <p:animEffect transition="in" filter="fade">
                                      <p:cBhvr>
                                        <p:cTn id="31" dur="500"/>
                                        <p:tgtEl>
                                          <p:spTgt spid="7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79"/>
                                        </p:tgtEl>
                                        <p:attrNameLst>
                                          <p:attrName>style.visibility</p:attrName>
                                        </p:attrNameLst>
                                      </p:cBhvr>
                                      <p:to>
                                        <p:strVal val="visible"/>
                                      </p:to>
                                    </p:set>
                                    <p:animEffect transition="in" filter="fade">
                                      <p:cBhvr>
                                        <p:cTn id="44"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Graphic spid="30" grpId="0">
        <p:bldAsOne/>
      </p:bldGraphic>
      <p:bldGraphic spid="73" grpId="0">
        <p:bldAsOne/>
      </p:bldGraphic>
      <p:bldP spid="77" grpId="0"/>
      <p:bldP spid="78" grpId="0"/>
      <p:bldP spid="7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2">
          <a:extLst>
            <a:ext uri="{FF2B5EF4-FFF2-40B4-BE49-F238E27FC236}">
              <a16:creationId xmlns:a16="http://schemas.microsoft.com/office/drawing/2014/main" id="{2B9754A6-47A8-F387-46CC-6FE29DE664EF}"/>
            </a:ext>
          </a:extLst>
        </p:cNvPr>
        <p:cNvGrpSpPr/>
        <p:nvPr/>
      </p:nvGrpSpPr>
      <p:grpSpPr>
        <a:xfrm>
          <a:off x="0" y="0"/>
          <a:ext cx="0" cy="0"/>
          <a:chOff x="0" y="0"/>
          <a:chExt cx="0" cy="0"/>
        </a:xfrm>
      </p:grpSpPr>
      <p:pic>
        <p:nvPicPr>
          <p:cNvPr id="3" name="Image 2" descr="Une image contenant capture d’écran, ligne, Graphique, Caractère coloré&#10;&#10;Description générée automatiquement">
            <a:extLst>
              <a:ext uri="{FF2B5EF4-FFF2-40B4-BE49-F238E27FC236}">
                <a16:creationId xmlns:a16="http://schemas.microsoft.com/office/drawing/2014/main" id="{DD5996CD-ECD9-E992-9264-1972B7546DAF}"/>
              </a:ext>
            </a:extLst>
          </p:cNvPr>
          <p:cNvPicPr>
            <a:picLocks noChangeAspect="1"/>
          </p:cNvPicPr>
          <p:nvPr/>
        </p:nvPicPr>
        <p:blipFill>
          <a:blip r:embed="rId3"/>
          <a:stretch>
            <a:fillRect/>
          </a:stretch>
        </p:blipFill>
        <p:spPr>
          <a:xfrm>
            <a:off x="695259" y="273160"/>
            <a:ext cx="726135" cy="785219"/>
          </a:xfrm>
          <a:prstGeom prst="rect">
            <a:avLst/>
          </a:prstGeom>
        </p:spPr>
      </p:pic>
      <p:sp>
        <p:nvSpPr>
          <p:cNvPr id="4" name="ZoneTexte 3">
            <a:extLst>
              <a:ext uri="{FF2B5EF4-FFF2-40B4-BE49-F238E27FC236}">
                <a16:creationId xmlns:a16="http://schemas.microsoft.com/office/drawing/2014/main" id="{1E702031-F553-41DD-1FB3-50273599C2C3}"/>
              </a:ext>
            </a:extLst>
          </p:cNvPr>
          <p:cNvSpPr txBox="1"/>
          <p:nvPr/>
        </p:nvSpPr>
        <p:spPr>
          <a:xfrm>
            <a:off x="908677" y="222706"/>
            <a:ext cx="2427547" cy="646331"/>
          </a:xfrm>
          <a:prstGeom prst="rect">
            <a:avLst/>
          </a:prstGeom>
          <a:noFill/>
        </p:spPr>
        <p:txBody>
          <a:bodyPr wrap="square">
            <a:spAutoFit/>
          </a:bodyPr>
          <a:lstStyle/>
          <a:p>
            <a:r>
              <a:rPr lang="fr-FR" b="1" dirty="0"/>
              <a:t>Tendance </a:t>
            </a:r>
          </a:p>
          <a:p>
            <a:r>
              <a:rPr lang="fr-FR" b="1" dirty="0"/>
              <a:t>sur les réserves</a:t>
            </a:r>
          </a:p>
        </p:txBody>
      </p:sp>
      <p:graphicFrame>
        <p:nvGraphicFramePr>
          <p:cNvPr id="2" name="Graphique 1">
            <a:extLst>
              <a:ext uri="{FF2B5EF4-FFF2-40B4-BE49-F238E27FC236}">
                <a16:creationId xmlns:a16="http://schemas.microsoft.com/office/drawing/2014/main" id="{0EBF62CA-D99C-40EE-BFEA-F9C5E6C05044}"/>
              </a:ext>
            </a:extLst>
          </p:cNvPr>
          <p:cNvGraphicFramePr>
            <a:graphicFrameLocks/>
          </p:cNvGraphicFramePr>
          <p:nvPr>
            <p:extLst>
              <p:ext uri="{D42A27DB-BD31-4B8C-83A1-F6EECF244321}">
                <p14:modId xmlns:p14="http://schemas.microsoft.com/office/powerpoint/2010/main" val="2532491315"/>
              </p:ext>
            </p:extLst>
          </p:nvPr>
        </p:nvGraphicFramePr>
        <p:xfrm>
          <a:off x="695259" y="1631950"/>
          <a:ext cx="2740091" cy="195152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Graphique 4">
            <a:extLst>
              <a:ext uri="{FF2B5EF4-FFF2-40B4-BE49-F238E27FC236}">
                <a16:creationId xmlns:a16="http://schemas.microsoft.com/office/drawing/2014/main" id="{CD946A58-0DBD-476B-9BE9-0661F34C3DFD}"/>
              </a:ext>
            </a:extLst>
          </p:cNvPr>
          <p:cNvGraphicFramePr>
            <a:graphicFrameLocks/>
          </p:cNvGraphicFramePr>
          <p:nvPr>
            <p:extLst>
              <p:ext uri="{D42A27DB-BD31-4B8C-83A1-F6EECF244321}">
                <p14:modId xmlns:p14="http://schemas.microsoft.com/office/powerpoint/2010/main" val="1593856879"/>
              </p:ext>
            </p:extLst>
          </p:nvPr>
        </p:nvGraphicFramePr>
        <p:xfrm>
          <a:off x="3689349" y="197762"/>
          <a:ext cx="3327401" cy="225379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 name="Graphique 5">
            <a:extLst>
              <a:ext uri="{FF2B5EF4-FFF2-40B4-BE49-F238E27FC236}">
                <a16:creationId xmlns:a16="http://schemas.microsoft.com/office/drawing/2014/main" id="{4C7A70DE-763B-443F-94C7-0CADDA2E9F39}"/>
              </a:ext>
            </a:extLst>
          </p:cNvPr>
          <p:cNvGraphicFramePr>
            <a:graphicFrameLocks/>
          </p:cNvGraphicFramePr>
          <p:nvPr>
            <p:extLst>
              <p:ext uri="{D42A27DB-BD31-4B8C-83A1-F6EECF244321}">
                <p14:modId xmlns:p14="http://schemas.microsoft.com/office/powerpoint/2010/main" val="2459122160"/>
              </p:ext>
            </p:extLst>
          </p:nvPr>
        </p:nvGraphicFramePr>
        <p:xfrm>
          <a:off x="3689349" y="2691943"/>
          <a:ext cx="3327401" cy="2047228"/>
        </p:xfrm>
        <a:graphic>
          <a:graphicData uri="http://schemas.openxmlformats.org/drawingml/2006/chart">
            <c:chart xmlns:c="http://schemas.openxmlformats.org/drawingml/2006/chart" xmlns:r="http://schemas.openxmlformats.org/officeDocument/2006/relationships" r:id="rId6"/>
          </a:graphicData>
        </a:graphic>
      </p:graphicFrame>
      <p:sp>
        <p:nvSpPr>
          <p:cNvPr id="7" name="ZoneTexte 6">
            <a:extLst>
              <a:ext uri="{FF2B5EF4-FFF2-40B4-BE49-F238E27FC236}">
                <a16:creationId xmlns:a16="http://schemas.microsoft.com/office/drawing/2014/main" id="{27FDD937-38D3-9974-A1FB-5EDA5DE1AA39}"/>
              </a:ext>
            </a:extLst>
          </p:cNvPr>
          <p:cNvSpPr txBox="1"/>
          <p:nvPr/>
        </p:nvSpPr>
        <p:spPr>
          <a:xfrm>
            <a:off x="7563245" y="776915"/>
            <a:ext cx="1498600" cy="338554"/>
          </a:xfrm>
          <a:prstGeom prst="rect">
            <a:avLst/>
          </a:prstGeom>
          <a:noFill/>
        </p:spPr>
        <p:txBody>
          <a:bodyPr wrap="square" rtlCol="0">
            <a:spAutoFit/>
          </a:bodyPr>
          <a:lstStyle/>
          <a:p>
            <a:r>
              <a:rPr lang="fr-FR" sz="800" dirty="0"/>
              <a:t>Entre 2015 et 2019, toutes les réserves étaient levées</a:t>
            </a:r>
          </a:p>
        </p:txBody>
      </p:sp>
      <p:sp>
        <p:nvSpPr>
          <p:cNvPr id="9" name="ZoneTexte 8">
            <a:extLst>
              <a:ext uri="{FF2B5EF4-FFF2-40B4-BE49-F238E27FC236}">
                <a16:creationId xmlns:a16="http://schemas.microsoft.com/office/drawing/2014/main" id="{4304DC1A-A035-67F7-7332-AA89E0309A41}"/>
              </a:ext>
            </a:extLst>
          </p:cNvPr>
          <p:cNvSpPr txBox="1"/>
          <p:nvPr/>
        </p:nvSpPr>
        <p:spPr>
          <a:xfrm>
            <a:off x="7563245" y="1263830"/>
            <a:ext cx="1498600" cy="338554"/>
          </a:xfrm>
          <a:prstGeom prst="rect">
            <a:avLst/>
          </a:prstGeom>
          <a:noFill/>
        </p:spPr>
        <p:txBody>
          <a:bodyPr wrap="square" rtlCol="0">
            <a:spAutoFit/>
          </a:bodyPr>
          <a:lstStyle/>
          <a:p>
            <a:r>
              <a:rPr lang="fr-FR" sz="800" dirty="0"/>
              <a:t>Point de bascule en 2020</a:t>
            </a:r>
          </a:p>
          <a:p>
            <a:r>
              <a:rPr lang="fr-FR" sz="800" dirty="0"/>
              <a:t>+ année 2021 atypique</a:t>
            </a:r>
          </a:p>
        </p:txBody>
      </p:sp>
      <p:sp>
        <p:nvSpPr>
          <p:cNvPr id="11" name="ZoneTexte 10">
            <a:extLst>
              <a:ext uri="{FF2B5EF4-FFF2-40B4-BE49-F238E27FC236}">
                <a16:creationId xmlns:a16="http://schemas.microsoft.com/office/drawing/2014/main" id="{F98AFE0D-3ED5-B6C0-41CD-2AF518526857}"/>
              </a:ext>
            </a:extLst>
          </p:cNvPr>
          <p:cNvSpPr txBox="1"/>
          <p:nvPr/>
        </p:nvSpPr>
        <p:spPr>
          <a:xfrm>
            <a:off x="7563245" y="1789500"/>
            <a:ext cx="1498600" cy="461665"/>
          </a:xfrm>
          <a:prstGeom prst="rect">
            <a:avLst/>
          </a:prstGeom>
          <a:noFill/>
        </p:spPr>
        <p:txBody>
          <a:bodyPr wrap="square" rtlCol="0">
            <a:spAutoFit/>
          </a:bodyPr>
          <a:lstStyle/>
          <a:p>
            <a:r>
              <a:rPr lang="fr-FR" sz="800" dirty="0"/>
              <a:t>Mieux entre 2022 et 2025 mais 100% des réserves ne parviennent pas à être levées.</a:t>
            </a:r>
          </a:p>
        </p:txBody>
      </p:sp>
      <p:sp>
        <p:nvSpPr>
          <p:cNvPr id="13" name="ZoneTexte 12">
            <a:extLst>
              <a:ext uri="{FF2B5EF4-FFF2-40B4-BE49-F238E27FC236}">
                <a16:creationId xmlns:a16="http://schemas.microsoft.com/office/drawing/2014/main" id="{232B763D-8452-725D-0654-C78F40F78F94}"/>
              </a:ext>
            </a:extLst>
          </p:cNvPr>
          <p:cNvSpPr txBox="1"/>
          <p:nvPr/>
        </p:nvSpPr>
        <p:spPr>
          <a:xfrm>
            <a:off x="7563245" y="3471021"/>
            <a:ext cx="1498600" cy="584775"/>
          </a:xfrm>
          <a:prstGeom prst="rect">
            <a:avLst/>
          </a:prstGeom>
          <a:noFill/>
        </p:spPr>
        <p:txBody>
          <a:bodyPr wrap="square" rtlCol="0">
            <a:spAutoFit/>
          </a:bodyPr>
          <a:lstStyle/>
          <a:p>
            <a:r>
              <a:rPr lang="fr-FR" sz="800" dirty="0"/>
              <a:t>Perte progressive et continue de la capacité des équipes à lever les réserves émises par le client depuis 2024.</a:t>
            </a:r>
          </a:p>
        </p:txBody>
      </p:sp>
      <p:sp>
        <p:nvSpPr>
          <p:cNvPr id="16" name="ZoneTexte 15">
            <a:extLst>
              <a:ext uri="{FF2B5EF4-FFF2-40B4-BE49-F238E27FC236}">
                <a16:creationId xmlns:a16="http://schemas.microsoft.com/office/drawing/2014/main" id="{560BF9FC-D528-13AE-43FF-5E92018C3DB8}"/>
              </a:ext>
            </a:extLst>
          </p:cNvPr>
          <p:cNvSpPr txBox="1"/>
          <p:nvPr/>
        </p:nvSpPr>
        <p:spPr>
          <a:xfrm>
            <a:off x="1421394" y="3824963"/>
            <a:ext cx="1498600" cy="461665"/>
          </a:xfrm>
          <a:prstGeom prst="rect">
            <a:avLst/>
          </a:prstGeom>
          <a:noFill/>
        </p:spPr>
        <p:txBody>
          <a:bodyPr wrap="square" rtlCol="0">
            <a:spAutoFit/>
          </a:bodyPr>
          <a:lstStyle/>
          <a:p>
            <a:r>
              <a:rPr lang="fr-FR" sz="800" dirty="0"/>
              <a:t>Une vision globale montre que 86 % des réserves émises par le Client ont été levées.</a:t>
            </a:r>
          </a:p>
        </p:txBody>
      </p:sp>
      <p:pic>
        <p:nvPicPr>
          <p:cNvPr id="18" name="Image 17">
            <a:extLst>
              <a:ext uri="{FF2B5EF4-FFF2-40B4-BE49-F238E27FC236}">
                <a16:creationId xmlns:a16="http://schemas.microsoft.com/office/drawing/2014/main" id="{8141FD05-3609-AC18-25AA-7FC59FB6BBAA}"/>
              </a:ext>
            </a:extLst>
          </p:cNvPr>
          <p:cNvPicPr>
            <a:picLocks noChangeAspect="1"/>
          </p:cNvPicPr>
          <p:nvPr/>
        </p:nvPicPr>
        <p:blipFill>
          <a:blip r:embed="rId7"/>
          <a:stretch>
            <a:fillRect/>
          </a:stretch>
        </p:blipFill>
        <p:spPr>
          <a:xfrm>
            <a:off x="7270749" y="1328854"/>
            <a:ext cx="222251" cy="222251"/>
          </a:xfrm>
          <a:prstGeom prst="rect">
            <a:avLst/>
          </a:prstGeom>
        </p:spPr>
      </p:pic>
      <p:pic>
        <p:nvPicPr>
          <p:cNvPr id="20" name="Image 19" descr="Une image contenant jaune&#10;&#10;Description générée automatiquement avec une confiance moyenne">
            <a:extLst>
              <a:ext uri="{FF2B5EF4-FFF2-40B4-BE49-F238E27FC236}">
                <a16:creationId xmlns:a16="http://schemas.microsoft.com/office/drawing/2014/main" id="{9E0E5811-5F2B-030B-57BD-0322F725C556}"/>
              </a:ext>
            </a:extLst>
          </p:cNvPr>
          <p:cNvPicPr>
            <a:picLocks noChangeAspect="1"/>
          </p:cNvPicPr>
          <p:nvPr/>
        </p:nvPicPr>
        <p:blipFill>
          <a:blip r:embed="rId8"/>
          <a:stretch>
            <a:fillRect/>
          </a:stretch>
        </p:blipFill>
        <p:spPr>
          <a:xfrm>
            <a:off x="1006520" y="3824963"/>
            <a:ext cx="414874" cy="414874"/>
          </a:xfrm>
          <a:prstGeom prst="rect">
            <a:avLst/>
          </a:prstGeom>
        </p:spPr>
      </p:pic>
      <p:pic>
        <p:nvPicPr>
          <p:cNvPr id="22" name="Image 21" descr="Une image contenant vert, Caractère coloré, Graphique, Rectangle&#10;&#10;Description générée automatiquement">
            <a:extLst>
              <a:ext uri="{FF2B5EF4-FFF2-40B4-BE49-F238E27FC236}">
                <a16:creationId xmlns:a16="http://schemas.microsoft.com/office/drawing/2014/main" id="{0FBA671B-B441-0F3B-1CA3-3B71EF0AA68F}"/>
              </a:ext>
            </a:extLst>
          </p:cNvPr>
          <p:cNvPicPr>
            <a:picLocks noChangeAspect="1"/>
          </p:cNvPicPr>
          <p:nvPr/>
        </p:nvPicPr>
        <p:blipFill>
          <a:blip r:embed="rId9"/>
          <a:stretch>
            <a:fillRect/>
          </a:stretch>
        </p:blipFill>
        <p:spPr>
          <a:xfrm>
            <a:off x="7270749" y="847889"/>
            <a:ext cx="196605" cy="196605"/>
          </a:xfrm>
          <a:prstGeom prst="rect">
            <a:avLst/>
          </a:prstGeom>
        </p:spPr>
      </p:pic>
      <p:pic>
        <p:nvPicPr>
          <p:cNvPr id="23" name="Image 22">
            <a:extLst>
              <a:ext uri="{FF2B5EF4-FFF2-40B4-BE49-F238E27FC236}">
                <a16:creationId xmlns:a16="http://schemas.microsoft.com/office/drawing/2014/main" id="{502C97A7-5B65-E5F6-583D-338B63734FFE}"/>
              </a:ext>
            </a:extLst>
          </p:cNvPr>
          <p:cNvPicPr>
            <a:picLocks noChangeAspect="1"/>
          </p:cNvPicPr>
          <p:nvPr/>
        </p:nvPicPr>
        <p:blipFill>
          <a:blip r:embed="rId10"/>
          <a:stretch>
            <a:fillRect/>
          </a:stretch>
        </p:blipFill>
        <p:spPr>
          <a:xfrm>
            <a:off x="7296393" y="3618081"/>
            <a:ext cx="196607" cy="196607"/>
          </a:xfrm>
          <a:prstGeom prst="rect">
            <a:avLst/>
          </a:prstGeom>
        </p:spPr>
      </p:pic>
      <p:pic>
        <p:nvPicPr>
          <p:cNvPr id="8" name="Image 7">
            <a:extLst>
              <a:ext uri="{FF2B5EF4-FFF2-40B4-BE49-F238E27FC236}">
                <a16:creationId xmlns:a16="http://schemas.microsoft.com/office/drawing/2014/main" id="{1ED906CF-F4D7-BDFE-86AF-F2B2B42C840D}"/>
              </a:ext>
            </a:extLst>
          </p:cNvPr>
          <p:cNvPicPr>
            <a:picLocks noChangeAspect="1"/>
          </p:cNvPicPr>
          <p:nvPr/>
        </p:nvPicPr>
        <p:blipFill>
          <a:blip r:embed="rId11"/>
          <a:stretch>
            <a:fillRect/>
          </a:stretch>
        </p:blipFill>
        <p:spPr>
          <a:xfrm>
            <a:off x="8593873" y="66300"/>
            <a:ext cx="458747" cy="458747"/>
          </a:xfrm>
          <a:prstGeom prst="rect">
            <a:avLst/>
          </a:prstGeom>
        </p:spPr>
      </p:pic>
    </p:spTree>
    <p:extLst>
      <p:ext uri="{BB962C8B-B14F-4D97-AF65-F5344CB8AC3E}">
        <p14:creationId xmlns:p14="http://schemas.microsoft.com/office/powerpoint/2010/main" val="2171129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52">
          <a:extLst>
            <a:ext uri="{FF2B5EF4-FFF2-40B4-BE49-F238E27FC236}">
              <a16:creationId xmlns:a16="http://schemas.microsoft.com/office/drawing/2014/main" id="{E50E561E-10EE-83C1-8B0D-959626254DDA}"/>
            </a:ext>
          </a:extLst>
        </p:cNvPr>
        <p:cNvGrpSpPr/>
        <p:nvPr/>
      </p:nvGrpSpPr>
      <p:grpSpPr>
        <a:xfrm>
          <a:off x="0" y="0"/>
          <a:ext cx="0" cy="0"/>
          <a:chOff x="0" y="0"/>
          <a:chExt cx="0" cy="0"/>
        </a:xfrm>
      </p:grpSpPr>
      <p:pic>
        <p:nvPicPr>
          <p:cNvPr id="3" name="Image 2" descr="Une image contenant capture d’écran, ligne, Graphique, Caractère coloré&#10;&#10;Description générée automatiquement">
            <a:extLst>
              <a:ext uri="{FF2B5EF4-FFF2-40B4-BE49-F238E27FC236}">
                <a16:creationId xmlns:a16="http://schemas.microsoft.com/office/drawing/2014/main" id="{A8AAC718-D22A-34CA-46F2-2803D81AED43}"/>
              </a:ext>
            </a:extLst>
          </p:cNvPr>
          <p:cNvPicPr>
            <a:picLocks noChangeAspect="1"/>
          </p:cNvPicPr>
          <p:nvPr/>
        </p:nvPicPr>
        <p:blipFill>
          <a:blip r:embed="rId3"/>
          <a:stretch>
            <a:fillRect/>
          </a:stretch>
        </p:blipFill>
        <p:spPr>
          <a:xfrm>
            <a:off x="695259" y="273160"/>
            <a:ext cx="726135" cy="785219"/>
          </a:xfrm>
          <a:prstGeom prst="rect">
            <a:avLst/>
          </a:prstGeom>
        </p:spPr>
      </p:pic>
      <p:sp>
        <p:nvSpPr>
          <p:cNvPr id="4" name="ZoneTexte 3">
            <a:extLst>
              <a:ext uri="{FF2B5EF4-FFF2-40B4-BE49-F238E27FC236}">
                <a16:creationId xmlns:a16="http://schemas.microsoft.com/office/drawing/2014/main" id="{4E399639-46DC-BB61-0964-A28F681F4C05}"/>
              </a:ext>
            </a:extLst>
          </p:cNvPr>
          <p:cNvSpPr txBox="1"/>
          <p:nvPr/>
        </p:nvSpPr>
        <p:spPr>
          <a:xfrm>
            <a:off x="908677" y="222706"/>
            <a:ext cx="2427547" cy="646331"/>
          </a:xfrm>
          <a:prstGeom prst="rect">
            <a:avLst/>
          </a:prstGeom>
          <a:noFill/>
        </p:spPr>
        <p:txBody>
          <a:bodyPr wrap="square">
            <a:spAutoFit/>
          </a:bodyPr>
          <a:lstStyle/>
          <a:p>
            <a:r>
              <a:rPr lang="fr-FR" b="1" dirty="0"/>
              <a:t>Tendance </a:t>
            </a:r>
          </a:p>
          <a:p>
            <a:r>
              <a:rPr lang="fr-FR" b="1" dirty="0"/>
              <a:t>sur les réfactions</a:t>
            </a:r>
          </a:p>
        </p:txBody>
      </p:sp>
      <p:graphicFrame>
        <p:nvGraphicFramePr>
          <p:cNvPr id="8" name="Graphique 7">
            <a:extLst>
              <a:ext uri="{FF2B5EF4-FFF2-40B4-BE49-F238E27FC236}">
                <a16:creationId xmlns:a16="http://schemas.microsoft.com/office/drawing/2014/main" id="{00FB8625-163E-4AE7-B692-4B9E65AF187F}"/>
              </a:ext>
            </a:extLst>
          </p:cNvPr>
          <p:cNvGraphicFramePr>
            <a:graphicFrameLocks/>
          </p:cNvGraphicFramePr>
          <p:nvPr>
            <p:extLst>
              <p:ext uri="{D42A27DB-BD31-4B8C-83A1-F6EECF244321}">
                <p14:modId xmlns:p14="http://schemas.microsoft.com/office/powerpoint/2010/main" val="807478230"/>
              </p:ext>
            </p:extLst>
          </p:nvPr>
        </p:nvGraphicFramePr>
        <p:xfrm>
          <a:off x="695259" y="1378787"/>
          <a:ext cx="2857017" cy="227881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Graphique 9">
            <a:extLst>
              <a:ext uri="{FF2B5EF4-FFF2-40B4-BE49-F238E27FC236}">
                <a16:creationId xmlns:a16="http://schemas.microsoft.com/office/drawing/2014/main" id="{A9F937E7-8407-42A8-8D55-6F2A9AFB5E02}"/>
              </a:ext>
            </a:extLst>
          </p:cNvPr>
          <p:cNvGraphicFramePr>
            <a:graphicFrameLocks/>
          </p:cNvGraphicFramePr>
          <p:nvPr>
            <p:extLst>
              <p:ext uri="{D42A27DB-BD31-4B8C-83A1-F6EECF244321}">
                <p14:modId xmlns:p14="http://schemas.microsoft.com/office/powerpoint/2010/main" val="3615929315"/>
              </p:ext>
            </p:extLst>
          </p:nvPr>
        </p:nvGraphicFramePr>
        <p:xfrm>
          <a:off x="3829947" y="273160"/>
          <a:ext cx="2977785" cy="2146299"/>
        </p:xfrm>
        <a:graphic>
          <a:graphicData uri="http://schemas.openxmlformats.org/drawingml/2006/chart">
            <c:chart xmlns:c="http://schemas.openxmlformats.org/drawingml/2006/chart" xmlns:r="http://schemas.openxmlformats.org/officeDocument/2006/relationships" r:id="rId5"/>
          </a:graphicData>
        </a:graphic>
      </p:graphicFrame>
      <p:cxnSp>
        <p:nvCxnSpPr>
          <p:cNvPr id="12" name="Connecteur : en angle 11">
            <a:extLst>
              <a:ext uri="{FF2B5EF4-FFF2-40B4-BE49-F238E27FC236}">
                <a16:creationId xmlns:a16="http://schemas.microsoft.com/office/drawing/2014/main" id="{14EFC3FF-383B-3CDD-7E1D-774FECC6BE4D}"/>
              </a:ext>
            </a:extLst>
          </p:cNvPr>
          <p:cNvCxnSpPr>
            <a:cxnSpLocks/>
            <a:stCxn id="8" idx="3"/>
            <a:endCxn id="10" idx="1"/>
          </p:cNvCxnSpPr>
          <p:nvPr/>
        </p:nvCxnSpPr>
        <p:spPr>
          <a:xfrm flipV="1">
            <a:off x="3552276" y="1346309"/>
            <a:ext cx="277671" cy="1171887"/>
          </a:xfrm>
          <a:prstGeom prst="bentConnector3">
            <a:avLst>
              <a:gd name="adj1" fmla="val 50000"/>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eur : en angle 20">
            <a:extLst>
              <a:ext uri="{FF2B5EF4-FFF2-40B4-BE49-F238E27FC236}">
                <a16:creationId xmlns:a16="http://schemas.microsoft.com/office/drawing/2014/main" id="{EF79E775-341F-4FA8-A5F4-6A7399FE9FD2}"/>
              </a:ext>
            </a:extLst>
          </p:cNvPr>
          <p:cNvCxnSpPr>
            <a:cxnSpLocks/>
            <a:stCxn id="8" idx="3"/>
            <a:endCxn id="29" idx="1"/>
          </p:cNvCxnSpPr>
          <p:nvPr/>
        </p:nvCxnSpPr>
        <p:spPr>
          <a:xfrm>
            <a:off x="3552276" y="2518196"/>
            <a:ext cx="277673" cy="1126702"/>
          </a:xfrm>
          <a:prstGeom prst="bentConnector3">
            <a:avLst>
              <a:gd name="adj1" fmla="val 50000"/>
            </a:avLst>
          </a:prstGeom>
          <a:ln>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8AD1B190-BEE3-5A7C-C5EA-63E1FC9ACE70}"/>
              </a:ext>
            </a:extLst>
          </p:cNvPr>
          <p:cNvSpPr txBox="1"/>
          <p:nvPr/>
        </p:nvSpPr>
        <p:spPr>
          <a:xfrm>
            <a:off x="7191201" y="972206"/>
            <a:ext cx="1498600" cy="215444"/>
          </a:xfrm>
          <a:prstGeom prst="rect">
            <a:avLst/>
          </a:prstGeom>
          <a:noFill/>
        </p:spPr>
        <p:txBody>
          <a:bodyPr wrap="square" rtlCol="0">
            <a:spAutoFit/>
          </a:bodyPr>
          <a:lstStyle/>
          <a:p>
            <a:r>
              <a:rPr lang="fr-FR" sz="800" b="1" dirty="0"/>
              <a:t>Taux &lt; 1,5 % du CA brut</a:t>
            </a:r>
          </a:p>
        </p:txBody>
      </p:sp>
      <p:graphicFrame>
        <p:nvGraphicFramePr>
          <p:cNvPr id="29" name="Graphique 28">
            <a:extLst>
              <a:ext uri="{FF2B5EF4-FFF2-40B4-BE49-F238E27FC236}">
                <a16:creationId xmlns:a16="http://schemas.microsoft.com/office/drawing/2014/main" id="{C05A5A52-F307-4C9A-965B-3E4A5417C185}"/>
              </a:ext>
            </a:extLst>
          </p:cNvPr>
          <p:cNvGraphicFramePr>
            <a:graphicFrameLocks/>
          </p:cNvGraphicFramePr>
          <p:nvPr>
            <p:extLst>
              <p:ext uri="{D42A27DB-BD31-4B8C-83A1-F6EECF244321}">
                <p14:modId xmlns:p14="http://schemas.microsoft.com/office/powerpoint/2010/main" val="1385394349"/>
              </p:ext>
            </p:extLst>
          </p:nvPr>
        </p:nvGraphicFramePr>
        <p:xfrm>
          <a:off x="3829949" y="2571749"/>
          <a:ext cx="2987358" cy="2146299"/>
        </p:xfrm>
        <a:graphic>
          <a:graphicData uri="http://schemas.openxmlformats.org/drawingml/2006/chart">
            <c:chart xmlns:c="http://schemas.openxmlformats.org/drawingml/2006/chart" xmlns:r="http://schemas.openxmlformats.org/officeDocument/2006/relationships" r:id="rId6"/>
          </a:graphicData>
        </a:graphic>
      </p:graphicFrame>
      <p:sp>
        <p:nvSpPr>
          <p:cNvPr id="41" name="ZoneTexte 40">
            <a:extLst>
              <a:ext uri="{FF2B5EF4-FFF2-40B4-BE49-F238E27FC236}">
                <a16:creationId xmlns:a16="http://schemas.microsoft.com/office/drawing/2014/main" id="{3C23E3B6-AD0A-49CA-AD6B-9C24C7CEFC3E}"/>
              </a:ext>
            </a:extLst>
          </p:cNvPr>
          <p:cNvSpPr txBox="1"/>
          <p:nvPr/>
        </p:nvSpPr>
        <p:spPr>
          <a:xfrm>
            <a:off x="7202731" y="3233679"/>
            <a:ext cx="1749771" cy="215444"/>
          </a:xfrm>
          <a:prstGeom prst="rect">
            <a:avLst/>
          </a:prstGeom>
          <a:noFill/>
        </p:spPr>
        <p:txBody>
          <a:bodyPr wrap="square" rtlCol="0">
            <a:spAutoFit/>
          </a:bodyPr>
          <a:lstStyle/>
          <a:p>
            <a:r>
              <a:rPr lang="fr-FR" sz="800" b="1" dirty="0"/>
              <a:t>1,7 M de réfractions depuis 2015</a:t>
            </a:r>
          </a:p>
        </p:txBody>
      </p:sp>
      <p:sp>
        <p:nvSpPr>
          <p:cNvPr id="42" name="ZoneTexte 41">
            <a:extLst>
              <a:ext uri="{FF2B5EF4-FFF2-40B4-BE49-F238E27FC236}">
                <a16:creationId xmlns:a16="http://schemas.microsoft.com/office/drawing/2014/main" id="{6313B9DE-D585-4A84-6F25-5F06AB87D5EF}"/>
              </a:ext>
            </a:extLst>
          </p:cNvPr>
          <p:cNvSpPr txBox="1"/>
          <p:nvPr/>
        </p:nvSpPr>
        <p:spPr>
          <a:xfrm>
            <a:off x="7191201" y="1263874"/>
            <a:ext cx="1498600" cy="215444"/>
          </a:xfrm>
          <a:prstGeom prst="rect">
            <a:avLst/>
          </a:prstGeom>
          <a:noFill/>
        </p:spPr>
        <p:txBody>
          <a:bodyPr wrap="square" rtlCol="0">
            <a:spAutoFit/>
          </a:bodyPr>
          <a:lstStyle/>
          <a:p>
            <a:r>
              <a:rPr lang="fr-FR" sz="800" b="1" dirty="0"/>
              <a:t>Tendance haussière</a:t>
            </a:r>
          </a:p>
        </p:txBody>
      </p:sp>
      <p:sp>
        <p:nvSpPr>
          <p:cNvPr id="44" name="ZoneTexte 43">
            <a:extLst>
              <a:ext uri="{FF2B5EF4-FFF2-40B4-BE49-F238E27FC236}">
                <a16:creationId xmlns:a16="http://schemas.microsoft.com/office/drawing/2014/main" id="{5F2C843E-6E19-0446-2E37-BA73582CF175}"/>
              </a:ext>
            </a:extLst>
          </p:cNvPr>
          <p:cNvSpPr txBox="1"/>
          <p:nvPr/>
        </p:nvSpPr>
        <p:spPr>
          <a:xfrm>
            <a:off x="7202732" y="3664183"/>
            <a:ext cx="1749770" cy="215444"/>
          </a:xfrm>
          <a:prstGeom prst="rect">
            <a:avLst/>
          </a:prstGeom>
          <a:noFill/>
        </p:spPr>
        <p:txBody>
          <a:bodyPr wrap="square">
            <a:spAutoFit/>
          </a:bodyPr>
          <a:lstStyle/>
          <a:p>
            <a:r>
              <a:rPr lang="fr-FR" sz="800" b="1" dirty="0"/>
              <a:t>-172 K€ par an en moyenne</a:t>
            </a:r>
          </a:p>
        </p:txBody>
      </p:sp>
      <p:pic>
        <p:nvPicPr>
          <p:cNvPr id="48" name="Image 47">
            <a:extLst>
              <a:ext uri="{FF2B5EF4-FFF2-40B4-BE49-F238E27FC236}">
                <a16:creationId xmlns:a16="http://schemas.microsoft.com/office/drawing/2014/main" id="{57D6D844-36BF-2255-6D87-02C8427F1A21}"/>
              </a:ext>
            </a:extLst>
          </p:cNvPr>
          <p:cNvPicPr>
            <a:picLocks noChangeAspect="1"/>
          </p:cNvPicPr>
          <p:nvPr/>
        </p:nvPicPr>
        <p:blipFill>
          <a:blip r:embed="rId7"/>
          <a:stretch>
            <a:fillRect/>
          </a:stretch>
        </p:blipFill>
        <p:spPr>
          <a:xfrm>
            <a:off x="7006125" y="986848"/>
            <a:ext cx="185076" cy="185076"/>
          </a:xfrm>
          <a:prstGeom prst="rect">
            <a:avLst/>
          </a:prstGeom>
        </p:spPr>
      </p:pic>
      <p:pic>
        <p:nvPicPr>
          <p:cNvPr id="49" name="Image 48">
            <a:extLst>
              <a:ext uri="{FF2B5EF4-FFF2-40B4-BE49-F238E27FC236}">
                <a16:creationId xmlns:a16="http://schemas.microsoft.com/office/drawing/2014/main" id="{61F40B9E-799D-7972-7C12-7274D099861E}"/>
              </a:ext>
            </a:extLst>
          </p:cNvPr>
          <p:cNvPicPr>
            <a:picLocks noChangeAspect="1"/>
          </p:cNvPicPr>
          <p:nvPr/>
        </p:nvPicPr>
        <p:blipFill>
          <a:blip r:embed="rId8"/>
          <a:stretch>
            <a:fillRect/>
          </a:stretch>
        </p:blipFill>
        <p:spPr>
          <a:xfrm>
            <a:off x="7006125" y="1263874"/>
            <a:ext cx="196607" cy="196607"/>
          </a:xfrm>
          <a:prstGeom prst="rect">
            <a:avLst/>
          </a:prstGeom>
        </p:spPr>
      </p:pic>
      <p:pic>
        <p:nvPicPr>
          <p:cNvPr id="50" name="Image 49" descr="Une image contenant cercle, jaune, frisbee, rond&#10;&#10;Description générée automatiquement">
            <a:extLst>
              <a:ext uri="{FF2B5EF4-FFF2-40B4-BE49-F238E27FC236}">
                <a16:creationId xmlns:a16="http://schemas.microsoft.com/office/drawing/2014/main" id="{5935C68E-6AE9-6618-2DD5-5AB7EBB0BC42}"/>
              </a:ext>
            </a:extLst>
          </p:cNvPr>
          <p:cNvPicPr>
            <a:picLocks noChangeAspect="1"/>
          </p:cNvPicPr>
          <p:nvPr/>
        </p:nvPicPr>
        <p:blipFill>
          <a:blip r:embed="rId9"/>
          <a:stretch>
            <a:fillRect/>
          </a:stretch>
        </p:blipFill>
        <p:spPr>
          <a:xfrm>
            <a:off x="7030091" y="3267064"/>
            <a:ext cx="148673" cy="148673"/>
          </a:xfrm>
          <a:prstGeom prst="rect">
            <a:avLst/>
          </a:prstGeom>
        </p:spPr>
      </p:pic>
      <p:pic>
        <p:nvPicPr>
          <p:cNvPr id="51" name="Image 50" descr="Une image contenant cercle, jaune, frisbee, rond&#10;&#10;Description générée automatiquement">
            <a:extLst>
              <a:ext uri="{FF2B5EF4-FFF2-40B4-BE49-F238E27FC236}">
                <a16:creationId xmlns:a16="http://schemas.microsoft.com/office/drawing/2014/main" id="{3BECFAB1-9E1C-FEF4-B230-C5EDDDD5C3A9}"/>
              </a:ext>
            </a:extLst>
          </p:cNvPr>
          <p:cNvPicPr>
            <a:picLocks noChangeAspect="1"/>
          </p:cNvPicPr>
          <p:nvPr/>
        </p:nvPicPr>
        <p:blipFill>
          <a:blip r:embed="rId9"/>
          <a:stretch>
            <a:fillRect/>
          </a:stretch>
        </p:blipFill>
        <p:spPr>
          <a:xfrm>
            <a:off x="7030090" y="3730953"/>
            <a:ext cx="148673" cy="148673"/>
          </a:xfrm>
          <a:prstGeom prst="rect">
            <a:avLst/>
          </a:prstGeom>
        </p:spPr>
      </p:pic>
      <p:pic>
        <p:nvPicPr>
          <p:cNvPr id="2" name="Image 1">
            <a:extLst>
              <a:ext uri="{FF2B5EF4-FFF2-40B4-BE49-F238E27FC236}">
                <a16:creationId xmlns:a16="http://schemas.microsoft.com/office/drawing/2014/main" id="{279FBA85-9DC2-C173-23B7-9FE2B233D745}"/>
              </a:ext>
            </a:extLst>
          </p:cNvPr>
          <p:cNvPicPr>
            <a:picLocks noChangeAspect="1"/>
          </p:cNvPicPr>
          <p:nvPr/>
        </p:nvPicPr>
        <p:blipFill>
          <a:blip r:embed="rId10"/>
          <a:stretch>
            <a:fillRect/>
          </a:stretch>
        </p:blipFill>
        <p:spPr>
          <a:xfrm>
            <a:off x="8593873" y="66300"/>
            <a:ext cx="458747" cy="458747"/>
          </a:xfrm>
          <a:prstGeom prst="rect">
            <a:avLst/>
          </a:prstGeom>
        </p:spPr>
      </p:pic>
    </p:spTree>
    <p:extLst>
      <p:ext uri="{BB962C8B-B14F-4D97-AF65-F5344CB8AC3E}">
        <p14:creationId xmlns:p14="http://schemas.microsoft.com/office/powerpoint/2010/main" val="339817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500" fill="hold"/>
                                        <p:tgtEl>
                                          <p:spTgt spid="50"/>
                                        </p:tgtEl>
                                        <p:attrNameLst>
                                          <p:attrName>ppt_x</p:attrName>
                                        </p:attrNameLst>
                                      </p:cBhvr>
                                      <p:tavLst>
                                        <p:tav tm="0">
                                          <p:val>
                                            <p:strVal val="#ppt_x"/>
                                          </p:val>
                                        </p:tav>
                                        <p:tav tm="100000">
                                          <p:val>
                                            <p:strVal val="#ppt_x"/>
                                          </p:val>
                                        </p:tav>
                                      </p:tavLst>
                                    </p:anim>
                                    <p:anim calcmode="lin" valueType="num">
                                      <p:cBhvr additive="base">
                                        <p:cTn id="36" dur="500" fill="hold"/>
                                        <p:tgtEl>
                                          <p:spTgt spid="5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 calcmode="lin" valueType="num">
                                      <p:cBhvr additive="base">
                                        <p:cTn id="39" dur="500" fill="hold"/>
                                        <p:tgtEl>
                                          <p:spTgt spid="41"/>
                                        </p:tgtEl>
                                        <p:attrNameLst>
                                          <p:attrName>ppt_x</p:attrName>
                                        </p:attrNameLst>
                                      </p:cBhvr>
                                      <p:tavLst>
                                        <p:tav tm="0">
                                          <p:val>
                                            <p:strVal val="#ppt_x"/>
                                          </p:val>
                                        </p:tav>
                                        <p:tav tm="100000">
                                          <p:val>
                                            <p:strVal val="#ppt_x"/>
                                          </p:val>
                                        </p:tav>
                                      </p:tavLst>
                                    </p:anim>
                                    <p:anim calcmode="lin" valueType="num">
                                      <p:cBhvr additive="base">
                                        <p:cTn id="4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51"/>
                                        </p:tgtEl>
                                        <p:attrNameLst>
                                          <p:attrName>style.visibility</p:attrName>
                                        </p:attrNameLst>
                                      </p:cBhvr>
                                      <p:to>
                                        <p:strVal val="visible"/>
                                      </p:to>
                                    </p:set>
                                    <p:anim calcmode="lin" valueType="num">
                                      <p:cBhvr additive="base">
                                        <p:cTn id="45" dur="500" fill="hold"/>
                                        <p:tgtEl>
                                          <p:spTgt spid="51"/>
                                        </p:tgtEl>
                                        <p:attrNameLst>
                                          <p:attrName>ppt_x</p:attrName>
                                        </p:attrNameLst>
                                      </p:cBhvr>
                                      <p:tavLst>
                                        <p:tav tm="0">
                                          <p:val>
                                            <p:strVal val="#ppt_x"/>
                                          </p:val>
                                        </p:tav>
                                        <p:tav tm="100000">
                                          <p:val>
                                            <p:strVal val="#ppt_x"/>
                                          </p:val>
                                        </p:tav>
                                      </p:tavLst>
                                    </p:anim>
                                    <p:anim calcmode="lin" valueType="num">
                                      <p:cBhvr additive="base">
                                        <p:cTn id="46" dur="500" fill="hold"/>
                                        <p:tgtEl>
                                          <p:spTgt spid="51"/>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anim calcmode="lin" valueType="num">
                                      <p:cBhvr additive="base">
                                        <p:cTn id="49" dur="500" fill="hold"/>
                                        <p:tgtEl>
                                          <p:spTgt spid="44"/>
                                        </p:tgtEl>
                                        <p:attrNameLst>
                                          <p:attrName>ppt_x</p:attrName>
                                        </p:attrNameLst>
                                      </p:cBhvr>
                                      <p:tavLst>
                                        <p:tav tm="0">
                                          <p:val>
                                            <p:strVal val="#ppt_x"/>
                                          </p:val>
                                        </p:tav>
                                        <p:tav tm="100000">
                                          <p:val>
                                            <p:strVal val="#ppt_x"/>
                                          </p:val>
                                        </p:tav>
                                      </p:tavLst>
                                    </p:anim>
                                    <p:anim calcmode="lin" valueType="num">
                                      <p:cBhvr additive="base">
                                        <p:cTn id="5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P spid="28" grpId="0"/>
      <p:bldGraphic spid="29" grpId="0">
        <p:bldAsOne/>
      </p:bldGraphic>
      <p:bldP spid="41" grpId="0"/>
      <p:bldP spid="42" grpId="0"/>
      <p:bldP spid="4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1"/>
        <p:cNvGrpSpPr/>
        <p:nvPr/>
      </p:nvGrpSpPr>
      <p:grpSpPr>
        <a:xfrm>
          <a:off x="0" y="0"/>
          <a:ext cx="0" cy="0"/>
          <a:chOff x="0" y="0"/>
          <a:chExt cx="0" cy="0"/>
        </a:xfrm>
      </p:grpSpPr>
      <p:sp>
        <p:nvSpPr>
          <p:cNvPr id="2332" name="Google Shape;2332;p11"/>
          <p:cNvSpPr txBox="1">
            <a:spLocks noGrp="1"/>
          </p:cNvSpPr>
          <p:nvPr>
            <p:ph type="title"/>
          </p:nvPr>
        </p:nvSpPr>
        <p:spPr>
          <a:xfrm>
            <a:off x="4338174" y="1580600"/>
            <a:ext cx="3116725"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200"/>
              <a:t>Les futures tendances et perspectives</a:t>
            </a:r>
            <a:endParaRPr/>
          </a:p>
        </p:txBody>
      </p:sp>
      <p:sp>
        <p:nvSpPr>
          <p:cNvPr id="2333" name="Google Shape;2333;p11"/>
          <p:cNvSpPr txBox="1">
            <a:spLocks noGrp="1"/>
          </p:cNvSpPr>
          <p:nvPr>
            <p:ph type="title" idx="2"/>
          </p:nvPr>
        </p:nvSpPr>
        <p:spPr>
          <a:xfrm>
            <a:off x="1949075" y="1580600"/>
            <a:ext cx="2015700" cy="1402500"/>
          </a:xfrm>
          <a:prstGeom prst="rect">
            <a:avLst/>
          </a:prstGeom>
          <a:solidFill>
            <a:srgbClr val="8EDA97"/>
          </a:solidFill>
          <a:ln w="9525" cap="flat" cmpd="sng">
            <a:no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dirty="0"/>
              <a:t>04</a:t>
            </a:r>
            <a:endParaRPr sz="10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7"/>
        <p:cNvGrpSpPr/>
        <p:nvPr/>
      </p:nvGrpSpPr>
      <p:grpSpPr>
        <a:xfrm>
          <a:off x="0" y="0"/>
          <a:ext cx="0" cy="0"/>
          <a:chOff x="0" y="0"/>
          <a:chExt cx="0" cy="0"/>
        </a:xfrm>
      </p:grpSpPr>
      <p:sp>
        <p:nvSpPr>
          <p:cNvPr id="2338" name="Google Shape;2338;p12"/>
          <p:cNvSpPr txBox="1">
            <a:spLocks noGrp="1"/>
          </p:cNvSpPr>
          <p:nvPr>
            <p:ph type="title"/>
          </p:nvPr>
        </p:nvSpPr>
        <p:spPr>
          <a:xfrm>
            <a:off x="2235199" y="539500"/>
            <a:ext cx="6195525"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b="1" dirty="0"/>
              <a:t>Tendances futures</a:t>
            </a:r>
            <a:endParaRPr b="1" dirty="0"/>
          </a:p>
        </p:txBody>
      </p:sp>
      <p:pic>
        <p:nvPicPr>
          <p:cNvPr id="16" name="Image 15" descr="Une image contenant Caractère coloré, Graphique, ligne, capture d’écran&#10;&#10;Description générée automatiquement">
            <a:extLst>
              <a:ext uri="{FF2B5EF4-FFF2-40B4-BE49-F238E27FC236}">
                <a16:creationId xmlns:a16="http://schemas.microsoft.com/office/drawing/2014/main" id="{9A3F86F0-97B8-EE14-19C4-52B074C069F8}"/>
              </a:ext>
            </a:extLst>
          </p:cNvPr>
          <p:cNvPicPr>
            <a:picLocks noChangeAspect="1"/>
          </p:cNvPicPr>
          <p:nvPr/>
        </p:nvPicPr>
        <p:blipFill>
          <a:blip r:embed="rId3"/>
          <a:stretch>
            <a:fillRect/>
          </a:stretch>
        </p:blipFill>
        <p:spPr>
          <a:xfrm>
            <a:off x="844765" y="417699"/>
            <a:ext cx="902210" cy="902210"/>
          </a:xfrm>
          <a:prstGeom prst="rect">
            <a:avLst/>
          </a:prstGeom>
        </p:spPr>
      </p:pic>
      <p:graphicFrame>
        <p:nvGraphicFramePr>
          <p:cNvPr id="11" name="Tableau 10">
            <a:extLst>
              <a:ext uri="{FF2B5EF4-FFF2-40B4-BE49-F238E27FC236}">
                <a16:creationId xmlns:a16="http://schemas.microsoft.com/office/drawing/2014/main" id="{8F28AA20-6CEB-5676-BD0D-0AE5A93004A8}"/>
              </a:ext>
            </a:extLst>
          </p:cNvPr>
          <p:cNvGraphicFramePr>
            <a:graphicFrameLocks noGrp="1"/>
          </p:cNvGraphicFramePr>
          <p:nvPr>
            <p:extLst>
              <p:ext uri="{D42A27DB-BD31-4B8C-83A1-F6EECF244321}">
                <p14:modId xmlns:p14="http://schemas.microsoft.com/office/powerpoint/2010/main" val="155720437"/>
              </p:ext>
            </p:extLst>
          </p:nvPr>
        </p:nvGraphicFramePr>
        <p:xfrm>
          <a:off x="844765" y="1919761"/>
          <a:ext cx="6341174" cy="2114277"/>
        </p:xfrm>
        <a:graphic>
          <a:graphicData uri="http://schemas.openxmlformats.org/drawingml/2006/table">
            <a:tbl>
              <a:tblPr firstRow="1" bandRow="1">
                <a:tableStyleId>{40272DF2-5866-4BD9-90D9-472611E76D45}</a:tableStyleId>
              </a:tblPr>
              <a:tblGrid>
                <a:gridCol w="4410454">
                  <a:extLst>
                    <a:ext uri="{9D8B030D-6E8A-4147-A177-3AD203B41FA5}">
                      <a16:colId xmlns:a16="http://schemas.microsoft.com/office/drawing/2014/main" val="4231142606"/>
                    </a:ext>
                  </a:extLst>
                </a:gridCol>
                <a:gridCol w="1930720">
                  <a:extLst>
                    <a:ext uri="{9D8B030D-6E8A-4147-A177-3AD203B41FA5}">
                      <a16:colId xmlns:a16="http://schemas.microsoft.com/office/drawing/2014/main" val="4195675985"/>
                    </a:ext>
                  </a:extLst>
                </a:gridCol>
              </a:tblGrid>
              <a:tr h="366757">
                <a:tc>
                  <a:txBody>
                    <a:bodyPr/>
                    <a:lstStyle/>
                    <a:p>
                      <a:r>
                        <a:rPr lang="fr-FR" sz="900" dirty="0"/>
                        <a:t>Tendances futures</a:t>
                      </a:r>
                    </a:p>
                  </a:txBody>
                  <a:tcPr>
                    <a:solidFill>
                      <a:srgbClr val="8EDA97"/>
                    </a:solidFill>
                  </a:tcPr>
                </a:tc>
                <a:tc>
                  <a:txBody>
                    <a:bodyPr/>
                    <a:lstStyle/>
                    <a:p>
                      <a:r>
                        <a:rPr lang="fr-FR" sz="900" dirty="0"/>
                        <a:t>Perte si inaction (2026)</a:t>
                      </a:r>
                    </a:p>
                  </a:txBody>
                  <a:tcPr>
                    <a:solidFill>
                      <a:srgbClr val="8EDA97"/>
                    </a:solidFill>
                  </a:tcPr>
                </a:tc>
                <a:extLst>
                  <a:ext uri="{0D108BD9-81ED-4DB2-BD59-A6C34878D82A}">
                    <a16:rowId xmlns:a16="http://schemas.microsoft.com/office/drawing/2014/main" val="1279249652"/>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900" b="1" dirty="0"/>
                        <a:t>CA</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900" b="0" dirty="0"/>
                        <a:t>CA estimé en 2026 </a:t>
                      </a:r>
                      <a:r>
                        <a:rPr lang="fr-FR" sz="900" dirty="0"/>
                        <a:t>12 à 20 Millions d’euros</a:t>
                      </a:r>
                    </a:p>
                  </a:txBody>
                  <a:tcPr/>
                </a:tc>
                <a:tc>
                  <a:txBody>
                    <a:bodyPr/>
                    <a:lstStyle/>
                    <a:p>
                      <a:endParaRPr lang="fr-FR" sz="900" dirty="0"/>
                    </a:p>
                  </a:txBody>
                  <a:tcPr/>
                </a:tc>
                <a:extLst>
                  <a:ext uri="{0D108BD9-81ED-4DB2-BD59-A6C34878D82A}">
                    <a16:rowId xmlns:a16="http://schemas.microsoft.com/office/drawing/2014/main" val="4102753395"/>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900" b="1" dirty="0"/>
                        <a:t>Pénalités</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900" b="0" dirty="0"/>
                        <a:t>Taux de pénalité - années avec ATM (grand chantier) = 0,10 %</a:t>
                      </a:r>
                    </a:p>
                  </a:txBody>
                  <a:tcPr/>
                </a:tc>
                <a:tc>
                  <a:txBody>
                    <a:bodyPr/>
                    <a:lstStyle/>
                    <a:p>
                      <a:endParaRPr lang="fr-FR" sz="900" dirty="0"/>
                    </a:p>
                    <a:p>
                      <a:r>
                        <a:rPr lang="fr-FR" sz="900" dirty="0"/>
                        <a:t> 10 à 20 K€</a:t>
                      </a:r>
                    </a:p>
                  </a:txBody>
                  <a:tcPr/>
                </a:tc>
                <a:extLst>
                  <a:ext uri="{0D108BD9-81ED-4DB2-BD59-A6C34878D82A}">
                    <a16:rowId xmlns:a16="http://schemas.microsoft.com/office/drawing/2014/main" val="2986875822"/>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900" b="1" dirty="0"/>
                        <a:t>Réserves</a:t>
                      </a:r>
                    </a:p>
                    <a:p>
                      <a:pPr marL="0" marR="0" lvl="0" indent="0" algn="l" defTabSz="685800" rtl="0" eaLnBrk="1" fontAlgn="auto" latinLnBrk="0" hangingPunct="1">
                        <a:lnSpc>
                          <a:spcPct val="100000"/>
                        </a:lnSpc>
                        <a:spcBef>
                          <a:spcPts val="0"/>
                        </a:spcBef>
                        <a:spcAft>
                          <a:spcPts val="0"/>
                        </a:spcAft>
                        <a:buClrTx/>
                        <a:buSzTx/>
                        <a:buFontTx/>
                        <a:buNone/>
                        <a:tabLst/>
                        <a:defRPr/>
                      </a:pPr>
                      <a:r>
                        <a:rPr lang="fr-FR" sz="900" dirty="0"/>
                        <a:t>Les réserves s’élèvent en moyenne à 38 K€ / mois depuis 2020.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900" dirty="0"/>
                        <a:t>- 38 K € / mois de retard dans les encaissements.</a:t>
                      </a:r>
                    </a:p>
                    <a:p>
                      <a:endParaRPr lang="fr-FR" sz="900" dirty="0"/>
                    </a:p>
                  </a:txBody>
                  <a:tcPr/>
                </a:tc>
                <a:extLst>
                  <a:ext uri="{0D108BD9-81ED-4DB2-BD59-A6C34878D82A}">
                    <a16:rowId xmlns:a16="http://schemas.microsoft.com/office/drawing/2014/main" val="2741014488"/>
                  </a:ext>
                </a:extLst>
              </a:tr>
              <a:tr h="370840">
                <a:tc>
                  <a:txBody>
                    <a:bodyPr/>
                    <a:lstStyle/>
                    <a:p>
                      <a:r>
                        <a:rPr lang="fr-FR" sz="900" b="1" dirty="0"/>
                        <a:t>Réfactions</a:t>
                      </a:r>
                    </a:p>
                    <a:p>
                      <a:r>
                        <a:rPr lang="fr-FR" sz="900" dirty="0"/>
                        <a:t>Ces travaux non réalisés sont autant de CA non capté.</a:t>
                      </a:r>
                    </a:p>
                    <a:p>
                      <a:r>
                        <a:rPr lang="fr-FR" sz="900" dirty="0"/>
                        <a:t>Si on se base sur le dernier taux de réfaction qui est de 1,42% du CA.</a:t>
                      </a:r>
                    </a:p>
                  </a:txBody>
                  <a:tcPr/>
                </a:tc>
                <a:tc>
                  <a:txBody>
                    <a:bodyPr/>
                    <a:lstStyle/>
                    <a:p>
                      <a:endParaRPr lang="fr-FR" sz="900" dirty="0"/>
                    </a:p>
                    <a:p>
                      <a:r>
                        <a:rPr lang="fr-FR" sz="900" dirty="0"/>
                        <a:t>- 172 K€</a:t>
                      </a:r>
                    </a:p>
                  </a:txBody>
                  <a:tcPr/>
                </a:tc>
                <a:extLst>
                  <a:ext uri="{0D108BD9-81ED-4DB2-BD59-A6C34878D82A}">
                    <a16:rowId xmlns:a16="http://schemas.microsoft.com/office/drawing/2014/main" val="380549031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sp>
        <p:nvSpPr>
          <p:cNvPr id="2344" name="Google Shape;2344;p13"/>
          <p:cNvSpPr txBox="1">
            <a:spLocks noGrp="1"/>
          </p:cNvSpPr>
          <p:nvPr>
            <p:ph type="title"/>
          </p:nvPr>
        </p:nvSpPr>
        <p:spPr>
          <a:xfrm>
            <a:off x="3931808" y="1620378"/>
            <a:ext cx="29988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200" dirty="0"/>
              <a:t>Analyses du ou des segment(s)</a:t>
            </a:r>
            <a:endParaRPr dirty="0"/>
          </a:p>
        </p:txBody>
      </p:sp>
      <p:sp>
        <p:nvSpPr>
          <p:cNvPr id="2345" name="Google Shape;2345;p13"/>
          <p:cNvSpPr txBox="1">
            <a:spLocks noGrp="1"/>
          </p:cNvSpPr>
          <p:nvPr>
            <p:ph type="title" idx="2"/>
          </p:nvPr>
        </p:nvSpPr>
        <p:spPr>
          <a:xfrm>
            <a:off x="1630412" y="1597722"/>
            <a:ext cx="2015700" cy="1402500"/>
          </a:xfrm>
          <a:prstGeom prst="rect">
            <a:avLst/>
          </a:prstGeom>
          <a:solidFill>
            <a:srgbClr val="8EDA97"/>
          </a:solidFill>
          <a:ln w="9525" cap="flat" cmpd="sng">
            <a:no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dirty="0"/>
              <a:t>05</a:t>
            </a:r>
            <a:endParaRPr sz="10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9"/>
        <p:cNvGrpSpPr/>
        <p:nvPr/>
      </p:nvGrpSpPr>
      <p:grpSpPr>
        <a:xfrm>
          <a:off x="0" y="0"/>
          <a:ext cx="0" cy="0"/>
          <a:chOff x="0" y="0"/>
          <a:chExt cx="0" cy="0"/>
        </a:xfrm>
      </p:grpSpPr>
      <p:sp>
        <p:nvSpPr>
          <p:cNvPr id="2350" name="Google Shape;2350;p14"/>
          <p:cNvSpPr txBox="1">
            <a:spLocks noGrp="1"/>
          </p:cNvSpPr>
          <p:nvPr>
            <p:ph type="title"/>
          </p:nvPr>
        </p:nvSpPr>
        <p:spPr>
          <a:xfrm>
            <a:off x="901148" y="296207"/>
            <a:ext cx="3805662" cy="3653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sz="1400" b="1" dirty="0"/>
              <a:t>CA brute </a:t>
            </a:r>
            <a:br>
              <a:rPr lang="en" sz="1400" b="1" dirty="0"/>
            </a:br>
            <a:r>
              <a:rPr lang="en" sz="1400" b="1" dirty="0"/>
              <a:t>et marge brute</a:t>
            </a:r>
            <a:endParaRPr sz="1400" b="1" dirty="0"/>
          </a:p>
        </p:txBody>
      </p:sp>
      <p:graphicFrame>
        <p:nvGraphicFramePr>
          <p:cNvPr id="18" name="Graphique 17">
            <a:extLst>
              <a:ext uri="{FF2B5EF4-FFF2-40B4-BE49-F238E27FC236}">
                <a16:creationId xmlns:a16="http://schemas.microsoft.com/office/drawing/2014/main" id="{B7B74D14-5FE0-4A92-B54E-E17D4F8844F6}"/>
              </a:ext>
            </a:extLst>
          </p:cNvPr>
          <p:cNvGraphicFramePr>
            <a:graphicFrameLocks/>
          </p:cNvGraphicFramePr>
          <p:nvPr>
            <p:extLst>
              <p:ext uri="{D42A27DB-BD31-4B8C-83A1-F6EECF244321}">
                <p14:modId xmlns:p14="http://schemas.microsoft.com/office/powerpoint/2010/main" val="1594586596"/>
              </p:ext>
            </p:extLst>
          </p:nvPr>
        </p:nvGraphicFramePr>
        <p:xfrm>
          <a:off x="848279" y="1474531"/>
          <a:ext cx="7687509" cy="2905972"/>
        </p:xfrm>
        <a:graphic>
          <a:graphicData uri="http://schemas.openxmlformats.org/drawingml/2006/chart">
            <c:chart xmlns:c="http://schemas.openxmlformats.org/drawingml/2006/chart" xmlns:r="http://schemas.openxmlformats.org/officeDocument/2006/relationships" r:id="rId3"/>
          </a:graphicData>
        </a:graphic>
      </p:graphicFrame>
      <p:pic>
        <p:nvPicPr>
          <p:cNvPr id="21" name="Image 20" descr="Une image contenant capture d’écran, ligne, Graphique, Caractère coloré&#10;&#10;Description générée automatiquement">
            <a:extLst>
              <a:ext uri="{FF2B5EF4-FFF2-40B4-BE49-F238E27FC236}">
                <a16:creationId xmlns:a16="http://schemas.microsoft.com/office/drawing/2014/main" id="{1A5B1D67-F335-3069-5871-ECA76B891158}"/>
              </a:ext>
            </a:extLst>
          </p:cNvPr>
          <p:cNvPicPr>
            <a:picLocks noChangeAspect="1"/>
          </p:cNvPicPr>
          <p:nvPr/>
        </p:nvPicPr>
        <p:blipFill>
          <a:blip r:embed="rId4"/>
          <a:stretch>
            <a:fillRect/>
          </a:stretch>
        </p:blipFill>
        <p:spPr>
          <a:xfrm>
            <a:off x="661776" y="268922"/>
            <a:ext cx="726135" cy="785219"/>
          </a:xfrm>
          <a:prstGeom prst="rect">
            <a:avLst/>
          </a:prstGeom>
        </p:spPr>
      </p:pic>
      <p:pic>
        <p:nvPicPr>
          <p:cNvPr id="2" name="Image 1">
            <a:extLst>
              <a:ext uri="{FF2B5EF4-FFF2-40B4-BE49-F238E27FC236}">
                <a16:creationId xmlns:a16="http://schemas.microsoft.com/office/drawing/2014/main" id="{2F55FDE4-218A-EBD5-A533-2E11FDFBD40E}"/>
              </a:ext>
            </a:extLst>
          </p:cNvPr>
          <p:cNvPicPr>
            <a:picLocks noChangeAspect="1"/>
          </p:cNvPicPr>
          <p:nvPr/>
        </p:nvPicPr>
        <p:blipFill>
          <a:blip r:embed="rId5"/>
          <a:stretch>
            <a:fillRect/>
          </a:stretch>
        </p:blipFill>
        <p:spPr>
          <a:xfrm>
            <a:off x="8593873" y="66300"/>
            <a:ext cx="458747" cy="45874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49">
          <a:extLst>
            <a:ext uri="{FF2B5EF4-FFF2-40B4-BE49-F238E27FC236}">
              <a16:creationId xmlns:a16="http://schemas.microsoft.com/office/drawing/2014/main" id="{A4201BA3-1F52-AF95-95C7-2535A75AFD3B}"/>
            </a:ext>
          </a:extLst>
        </p:cNvPr>
        <p:cNvGrpSpPr/>
        <p:nvPr/>
      </p:nvGrpSpPr>
      <p:grpSpPr>
        <a:xfrm>
          <a:off x="0" y="0"/>
          <a:ext cx="0" cy="0"/>
          <a:chOff x="0" y="0"/>
          <a:chExt cx="0" cy="0"/>
        </a:xfrm>
      </p:grpSpPr>
      <p:sp>
        <p:nvSpPr>
          <p:cNvPr id="2350" name="Google Shape;2350;p14">
            <a:extLst>
              <a:ext uri="{FF2B5EF4-FFF2-40B4-BE49-F238E27FC236}">
                <a16:creationId xmlns:a16="http://schemas.microsoft.com/office/drawing/2014/main" id="{27DF748E-7D09-1C23-654B-CCD99F32D23E}"/>
              </a:ext>
            </a:extLst>
          </p:cNvPr>
          <p:cNvSpPr txBox="1">
            <a:spLocks noGrp="1"/>
          </p:cNvSpPr>
          <p:nvPr>
            <p:ph type="title"/>
          </p:nvPr>
        </p:nvSpPr>
        <p:spPr>
          <a:xfrm>
            <a:off x="460585" y="138807"/>
            <a:ext cx="2866681" cy="496171"/>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sz="1400" b="1" dirty="0"/>
              <a:t>Fréquence </a:t>
            </a:r>
            <a:br>
              <a:rPr lang="en" sz="1400" b="1" dirty="0"/>
            </a:br>
            <a:r>
              <a:rPr lang="en" sz="1400" b="1" dirty="0"/>
              <a:t>des non-qualités </a:t>
            </a:r>
            <a:br>
              <a:rPr lang="en" sz="1400" b="1" dirty="0"/>
            </a:br>
            <a:endParaRPr sz="1400" b="1" dirty="0"/>
          </a:p>
        </p:txBody>
      </p:sp>
      <p:grpSp>
        <p:nvGrpSpPr>
          <p:cNvPr id="4" name="Groupe 3">
            <a:extLst>
              <a:ext uri="{FF2B5EF4-FFF2-40B4-BE49-F238E27FC236}">
                <a16:creationId xmlns:a16="http://schemas.microsoft.com/office/drawing/2014/main" id="{C5C24D16-6D00-C2DB-B305-7C34790F2508}"/>
              </a:ext>
            </a:extLst>
          </p:cNvPr>
          <p:cNvGrpSpPr/>
          <p:nvPr/>
        </p:nvGrpSpPr>
        <p:grpSpPr>
          <a:xfrm>
            <a:off x="330615" y="1089561"/>
            <a:ext cx="2715487" cy="1482189"/>
            <a:chOff x="1147972" y="591623"/>
            <a:chExt cx="2715487" cy="1482189"/>
          </a:xfrm>
        </p:grpSpPr>
        <p:sp>
          <p:nvSpPr>
            <p:cNvPr id="13" name="ZoneTexte 12">
              <a:extLst>
                <a:ext uri="{FF2B5EF4-FFF2-40B4-BE49-F238E27FC236}">
                  <a16:creationId xmlns:a16="http://schemas.microsoft.com/office/drawing/2014/main" id="{BBC05236-E8F4-0543-DAB2-9A32B45AB609}"/>
                </a:ext>
              </a:extLst>
            </p:cNvPr>
            <p:cNvSpPr txBox="1"/>
            <p:nvPr/>
          </p:nvSpPr>
          <p:spPr>
            <a:xfrm>
              <a:off x="1349510" y="1873757"/>
              <a:ext cx="2143896" cy="200055"/>
            </a:xfrm>
            <a:prstGeom prst="rect">
              <a:avLst/>
            </a:prstGeom>
            <a:noFill/>
          </p:spPr>
          <p:txBody>
            <a:bodyPr wrap="square" rtlCol="0">
              <a:spAutoFit/>
            </a:bodyPr>
            <a:lstStyle/>
            <a:p>
              <a:pPr algn="ctr"/>
              <a:r>
                <a:rPr lang="fr-FR" sz="700" dirty="0"/>
                <a:t>Beaucoup de réserves (en nb) sur BB21 et PG23</a:t>
              </a:r>
            </a:p>
          </p:txBody>
        </p:sp>
        <p:grpSp>
          <p:nvGrpSpPr>
            <p:cNvPr id="9" name="Groupe 8">
              <a:extLst>
                <a:ext uri="{FF2B5EF4-FFF2-40B4-BE49-F238E27FC236}">
                  <a16:creationId xmlns:a16="http://schemas.microsoft.com/office/drawing/2014/main" id="{7E982836-0FDA-BD8D-0A88-E38E85A5D9F9}"/>
                </a:ext>
              </a:extLst>
            </p:cNvPr>
            <p:cNvGrpSpPr/>
            <p:nvPr/>
          </p:nvGrpSpPr>
          <p:grpSpPr>
            <a:xfrm>
              <a:off x="1147972" y="591623"/>
              <a:ext cx="2715487" cy="1282134"/>
              <a:chOff x="713225" y="1538344"/>
              <a:chExt cx="3255456" cy="1912627"/>
            </a:xfrm>
          </p:grpSpPr>
          <p:graphicFrame>
            <p:nvGraphicFramePr>
              <p:cNvPr id="5" name="Graphique 4">
                <a:extLst>
                  <a:ext uri="{FF2B5EF4-FFF2-40B4-BE49-F238E27FC236}">
                    <a16:creationId xmlns:a16="http://schemas.microsoft.com/office/drawing/2014/main" id="{C6D97C7C-A2AD-36D1-66A6-D981F5E2680B}"/>
                  </a:ext>
                </a:extLst>
              </p:cNvPr>
              <p:cNvGraphicFramePr>
                <a:graphicFrameLocks/>
              </p:cNvGraphicFramePr>
              <p:nvPr>
                <p:extLst>
                  <p:ext uri="{D42A27DB-BD31-4B8C-83A1-F6EECF244321}">
                    <p14:modId xmlns:p14="http://schemas.microsoft.com/office/powerpoint/2010/main" val="81050957"/>
                  </p:ext>
                </p:extLst>
              </p:nvPr>
            </p:nvGraphicFramePr>
            <p:xfrm>
              <a:off x="713225" y="1538344"/>
              <a:ext cx="3255456" cy="1912627"/>
            </p:xfrm>
            <a:graphic>
              <a:graphicData uri="http://schemas.openxmlformats.org/drawingml/2006/chart">
                <c:chart xmlns:c="http://schemas.openxmlformats.org/drawingml/2006/chart" xmlns:r="http://schemas.openxmlformats.org/officeDocument/2006/relationships" r:id="rId3"/>
              </a:graphicData>
            </a:graphic>
          </p:graphicFrame>
          <p:sp>
            <p:nvSpPr>
              <p:cNvPr id="6" name="ZoneTexte 5">
                <a:extLst>
                  <a:ext uri="{FF2B5EF4-FFF2-40B4-BE49-F238E27FC236}">
                    <a16:creationId xmlns:a16="http://schemas.microsoft.com/office/drawing/2014/main" id="{0BF2F717-B354-B75C-275B-62E3FDE0AA71}"/>
                  </a:ext>
                </a:extLst>
              </p:cNvPr>
              <p:cNvSpPr txBox="1"/>
              <p:nvPr/>
            </p:nvSpPr>
            <p:spPr>
              <a:xfrm>
                <a:off x="1431444" y="1602830"/>
                <a:ext cx="2403291" cy="230832"/>
              </a:xfrm>
              <a:prstGeom prst="rect">
                <a:avLst/>
              </a:prstGeom>
              <a:noFill/>
            </p:spPr>
            <p:txBody>
              <a:bodyPr wrap="square">
                <a:spAutoFit/>
              </a:bodyPr>
              <a:lstStyle/>
              <a:p>
                <a:r>
                  <a:rPr lang="fr-FR" sz="900" b="1" dirty="0">
                    <a:solidFill>
                      <a:srgbClr val="0070C0"/>
                    </a:solidFill>
                  </a:rPr>
                  <a:t>Fréquence des réserves</a:t>
                </a:r>
              </a:p>
            </p:txBody>
          </p:sp>
        </p:grpSp>
      </p:grpSp>
      <p:grpSp>
        <p:nvGrpSpPr>
          <p:cNvPr id="7" name="Groupe 6">
            <a:extLst>
              <a:ext uri="{FF2B5EF4-FFF2-40B4-BE49-F238E27FC236}">
                <a16:creationId xmlns:a16="http://schemas.microsoft.com/office/drawing/2014/main" id="{18102B25-5DC9-6638-7EE5-7D59B1893D0C}"/>
              </a:ext>
            </a:extLst>
          </p:cNvPr>
          <p:cNvGrpSpPr/>
          <p:nvPr/>
        </p:nvGrpSpPr>
        <p:grpSpPr>
          <a:xfrm>
            <a:off x="3255992" y="1089561"/>
            <a:ext cx="2715487" cy="1482188"/>
            <a:chOff x="1147972" y="2130430"/>
            <a:chExt cx="2715487" cy="1482188"/>
          </a:xfrm>
        </p:grpSpPr>
        <p:graphicFrame>
          <p:nvGraphicFramePr>
            <p:cNvPr id="8" name="Graphique 7">
              <a:extLst>
                <a:ext uri="{FF2B5EF4-FFF2-40B4-BE49-F238E27FC236}">
                  <a16:creationId xmlns:a16="http://schemas.microsoft.com/office/drawing/2014/main" id="{0746BE3E-C35A-64F9-0F0C-C0474F443422}"/>
                </a:ext>
              </a:extLst>
            </p:cNvPr>
            <p:cNvGraphicFramePr>
              <a:graphicFrameLocks/>
            </p:cNvGraphicFramePr>
            <p:nvPr>
              <p:extLst>
                <p:ext uri="{D42A27DB-BD31-4B8C-83A1-F6EECF244321}">
                  <p14:modId xmlns:p14="http://schemas.microsoft.com/office/powerpoint/2010/main" val="4099386526"/>
                </p:ext>
              </p:extLst>
            </p:nvPr>
          </p:nvGraphicFramePr>
          <p:xfrm>
            <a:off x="1147972" y="2130430"/>
            <a:ext cx="2715487" cy="1282134"/>
          </p:xfrm>
          <a:graphic>
            <a:graphicData uri="http://schemas.openxmlformats.org/drawingml/2006/chart">
              <c:chart xmlns:c="http://schemas.openxmlformats.org/drawingml/2006/chart" xmlns:r="http://schemas.openxmlformats.org/officeDocument/2006/relationships" r:id="rId4"/>
            </a:graphicData>
          </a:graphic>
        </p:graphicFrame>
        <p:sp>
          <p:nvSpPr>
            <p:cNvPr id="10" name="ZoneTexte 9">
              <a:extLst>
                <a:ext uri="{FF2B5EF4-FFF2-40B4-BE49-F238E27FC236}">
                  <a16:creationId xmlns:a16="http://schemas.microsoft.com/office/drawing/2014/main" id="{3C351CF7-E2C7-0AA8-2EB2-933881C2ADF9}"/>
                </a:ext>
              </a:extLst>
            </p:cNvPr>
            <p:cNvSpPr txBox="1"/>
            <p:nvPr/>
          </p:nvSpPr>
          <p:spPr>
            <a:xfrm>
              <a:off x="1616074" y="3412563"/>
              <a:ext cx="2090086" cy="200055"/>
            </a:xfrm>
            <a:prstGeom prst="rect">
              <a:avLst/>
            </a:prstGeom>
            <a:noFill/>
          </p:spPr>
          <p:txBody>
            <a:bodyPr wrap="square" rtlCol="0">
              <a:spAutoFit/>
            </a:bodyPr>
            <a:lstStyle/>
            <a:p>
              <a:r>
                <a:rPr lang="fr-FR" sz="700" dirty="0"/>
                <a:t>Beaucoup de pénalités (en nb) sur ED17</a:t>
              </a:r>
            </a:p>
          </p:txBody>
        </p:sp>
      </p:grpSp>
      <p:grpSp>
        <p:nvGrpSpPr>
          <p:cNvPr id="11" name="Groupe 10">
            <a:extLst>
              <a:ext uri="{FF2B5EF4-FFF2-40B4-BE49-F238E27FC236}">
                <a16:creationId xmlns:a16="http://schemas.microsoft.com/office/drawing/2014/main" id="{33938893-8B5B-9BBD-7090-CC64CB616024}"/>
              </a:ext>
            </a:extLst>
          </p:cNvPr>
          <p:cNvGrpSpPr/>
          <p:nvPr/>
        </p:nvGrpSpPr>
        <p:grpSpPr>
          <a:xfrm>
            <a:off x="6160416" y="1089561"/>
            <a:ext cx="2715487" cy="1482190"/>
            <a:chOff x="1147972" y="3580747"/>
            <a:chExt cx="2715487" cy="1482190"/>
          </a:xfrm>
        </p:grpSpPr>
        <p:graphicFrame>
          <p:nvGraphicFramePr>
            <p:cNvPr id="12" name="Graphique 11">
              <a:extLst>
                <a:ext uri="{FF2B5EF4-FFF2-40B4-BE49-F238E27FC236}">
                  <a16:creationId xmlns:a16="http://schemas.microsoft.com/office/drawing/2014/main" id="{9A158FE1-B6D2-C2C9-12BD-BA4688650CF8}"/>
                </a:ext>
              </a:extLst>
            </p:cNvPr>
            <p:cNvGraphicFramePr>
              <a:graphicFrameLocks/>
            </p:cNvGraphicFramePr>
            <p:nvPr>
              <p:extLst>
                <p:ext uri="{D42A27DB-BD31-4B8C-83A1-F6EECF244321}">
                  <p14:modId xmlns:p14="http://schemas.microsoft.com/office/powerpoint/2010/main" val="2538304063"/>
                </p:ext>
              </p:extLst>
            </p:nvPr>
          </p:nvGraphicFramePr>
          <p:xfrm>
            <a:off x="1147972" y="3580747"/>
            <a:ext cx="2715487" cy="1282135"/>
          </p:xfrm>
          <a:graphic>
            <a:graphicData uri="http://schemas.openxmlformats.org/drawingml/2006/chart">
              <c:chart xmlns:c="http://schemas.openxmlformats.org/drawingml/2006/chart" xmlns:r="http://schemas.openxmlformats.org/officeDocument/2006/relationships" r:id="rId5"/>
            </a:graphicData>
          </a:graphic>
        </p:graphicFrame>
        <p:sp>
          <p:nvSpPr>
            <p:cNvPr id="17" name="ZoneTexte 16">
              <a:extLst>
                <a:ext uri="{FF2B5EF4-FFF2-40B4-BE49-F238E27FC236}">
                  <a16:creationId xmlns:a16="http://schemas.microsoft.com/office/drawing/2014/main" id="{1DC6B523-DCC7-2EF1-E77C-A4D427CFAE4F}"/>
                </a:ext>
              </a:extLst>
            </p:cNvPr>
            <p:cNvSpPr txBox="1"/>
            <p:nvPr/>
          </p:nvSpPr>
          <p:spPr>
            <a:xfrm>
              <a:off x="1661644" y="4862882"/>
              <a:ext cx="2090086" cy="200055"/>
            </a:xfrm>
            <a:prstGeom prst="rect">
              <a:avLst/>
            </a:prstGeom>
            <a:noFill/>
          </p:spPr>
          <p:txBody>
            <a:bodyPr wrap="square" rtlCol="0">
              <a:spAutoFit/>
            </a:bodyPr>
            <a:lstStyle/>
            <a:p>
              <a:r>
                <a:rPr lang="fr-FR" sz="700" dirty="0"/>
                <a:t>Beaucoup de réfactions (en nb) sur ED17</a:t>
              </a:r>
            </a:p>
          </p:txBody>
        </p:sp>
      </p:grpSp>
      <p:pic>
        <p:nvPicPr>
          <p:cNvPr id="2" name="Image 1" descr="Une image contenant capture d’écran, ligne, Graphique, Caractère coloré&#10;&#10;Description générée automatiquement">
            <a:extLst>
              <a:ext uri="{FF2B5EF4-FFF2-40B4-BE49-F238E27FC236}">
                <a16:creationId xmlns:a16="http://schemas.microsoft.com/office/drawing/2014/main" id="{B201D982-9C64-565D-B528-F9368F842BC5}"/>
              </a:ext>
            </a:extLst>
          </p:cNvPr>
          <p:cNvPicPr>
            <a:picLocks noChangeAspect="1"/>
          </p:cNvPicPr>
          <p:nvPr/>
        </p:nvPicPr>
        <p:blipFill>
          <a:blip r:embed="rId6"/>
          <a:stretch>
            <a:fillRect/>
          </a:stretch>
        </p:blipFill>
        <p:spPr>
          <a:xfrm>
            <a:off x="311443" y="171590"/>
            <a:ext cx="618263" cy="668570"/>
          </a:xfrm>
          <a:prstGeom prst="rect">
            <a:avLst/>
          </a:prstGeom>
        </p:spPr>
      </p:pic>
      <p:cxnSp>
        <p:nvCxnSpPr>
          <p:cNvPr id="22" name="Connecteur : en angle 21">
            <a:extLst>
              <a:ext uri="{FF2B5EF4-FFF2-40B4-BE49-F238E27FC236}">
                <a16:creationId xmlns:a16="http://schemas.microsoft.com/office/drawing/2014/main" id="{66DBAC91-3122-175B-FBE1-83E118FCEEC6}"/>
              </a:ext>
            </a:extLst>
          </p:cNvPr>
          <p:cNvCxnSpPr>
            <a:stCxn id="10" idx="2"/>
            <a:endCxn id="19" idx="0"/>
          </p:cNvCxnSpPr>
          <p:nvPr/>
        </p:nvCxnSpPr>
        <p:spPr>
          <a:xfrm rot="16200000" flipH="1">
            <a:off x="5295827" y="2045058"/>
            <a:ext cx="467135" cy="1520515"/>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23" name="Connecteur : en angle 22">
            <a:extLst>
              <a:ext uri="{FF2B5EF4-FFF2-40B4-BE49-F238E27FC236}">
                <a16:creationId xmlns:a16="http://schemas.microsoft.com/office/drawing/2014/main" id="{3A0500BD-0348-3A1E-C312-AB2F4BA8B8FC}"/>
              </a:ext>
            </a:extLst>
          </p:cNvPr>
          <p:cNvCxnSpPr>
            <a:cxnSpLocks/>
            <a:stCxn id="17" idx="2"/>
            <a:endCxn id="19" idx="0"/>
          </p:cNvCxnSpPr>
          <p:nvPr/>
        </p:nvCxnSpPr>
        <p:spPr>
          <a:xfrm rot="5400000">
            <a:off x="6770826" y="2090578"/>
            <a:ext cx="467133" cy="142947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grpSp>
        <p:nvGrpSpPr>
          <p:cNvPr id="30" name="Groupe 29">
            <a:extLst>
              <a:ext uri="{FF2B5EF4-FFF2-40B4-BE49-F238E27FC236}">
                <a16:creationId xmlns:a16="http://schemas.microsoft.com/office/drawing/2014/main" id="{B1373A6C-7970-5A76-016E-B2BB5334085C}"/>
              </a:ext>
            </a:extLst>
          </p:cNvPr>
          <p:cNvGrpSpPr/>
          <p:nvPr/>
        </p:nvGrpSpPr>
        <p:grpSpPr>
          <a:xfrm>
            <a:off x="4931908" y="3038884"/>
            <a:ext cx="2715487" cy="1484224"/>
            <a:chOff x="4931908" y="3038884"/>
            <a:chExt cx="2715487" cy="1484224"/>
          </a:xfrm>
        </p:grpSpPr>
        <p:pic>
          <p:nvPicPr>
            <p:cNvPr id="19" name="Image 18">
              <a:extLst>
                <a:ext uri="{FF2B5EF4-FFF2-40B4-BE49-F238E27FC236}">
                  <a16:creationId xmlns:a16="http://schemas.microsoft.com/office/drawing/2014/main" id="{5CB8567B-993D-05FF-79E7-434B6E10B63B}"/>
                </a:ext>
              </a:extLst>
            </p:cNvPr>
            <p:cNvPicPr>
              <a:picLocks noChangeAspect="1"/>
            </p:cNvPicPr>
            <p:nvPr/>
          </p:nvPicPr>
          <p:blipFill>
            <a:blip r:embed="rId7"/>
            <a:stretch>
              <a:fillRect/>
            </a:stretch>
          </p:blipFill>
          <p:spPr>
            <a:xfrm>
              <a:off x="4931908" y="3038884"/>
              <a:ext cx="2715487" cy="1484224"/>
            </a:xfrm>
            <a:prstGeom prst="rect">
              <a:avLst/>
            </a:prstGeom>
            <a:ln>
              <a:noFill/>
            </a:ln>
            <a:effectLst>
              <a:outerShdw blurRad="292100" dist="139700" dir="2700000" algn="tl" rotWithShape="0">
                <a:srgbClr val="333333">
                  <a:alpha val="65000"/>
                </a:srgbClr>
              </a:outerShdw>
            </a:effectLst>
          </p:spPr>
        </p:pic>
        <p:sp>
          <p:nvSpPr>
            <p:cNvPr id="28" name="Rectangle : coins arrondis 27">
              <a:extLst>
                <a:ext uri="{FF2B5EF4-FFF2-40B4-BE49-F238E27FC236}">
                  <a16:creationId xmlns:a16="http://schemas.microsoft.com/office/drawing/2014/main" id="{F85B2D45-028E-43D6-829C-277975E7AF9D}"/>
                </a:ext>
              </a:extLst>
            </p:cNvPr>
            <p:cNvSpPr/>
            <p:nvPr/>
          </p:nvSpPr>
          <p:spPr>
            <a:xfrm>
              <a:off x="4931908" y="3038884"/>
              <a:ext cx="2715487" cy="254871"/>
            </a:xfrm>
            <a:prstGeom prst="roundRect">
              <a:avLst/>
            </a:prstGeom>
            <a:solidFill>
              <a:srgbClr val="FF0000">
                <a:alpha val="3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29" name="ZoneTexte 28">
            <a:extLst>
              <a:ext uri="{FF2B5EF4-FFF2-40B4-BE49-F238E27FC236}">
                <a16:creationId xmlns:a16="http://schemas.microsoft.com/office/drawing/2014/main" id="{63DAEFBD-C3D1-A2D0-BA0C-95AE35EF16E3}"/>
              </a:ext>
            </a:extLst>
          </p:cNvPr>
          <p:cNvSpPr txBox="1"/>
          <p:nvPr/>
        </p:nvSpPr>
        <p:spPr>
          <a:xfrm>
            <a:off x="1120133" y="3293755"/>
            <a:ext cx="3111832" cy="784830"/>
          </a:xfrm>
          <a:prstGeom prst="rect">
            <a:avLst/>
          </a:prstGeom>
          <a:noFill/>
        </p:spPr>
        <p:txBody>
          <a:bodyPr wrap="square" rtlCol="0">
            <a:spAutoFit/>
          </a:bodyPr>
          <a:lstStyle/>
          <a:p>
            <a:r>
              <a:rPr lang="fr-FR" sz="900" dirty="0"/>
              <a:t>Le marché ED17 qui n’est que 8</a:t>
            </a:r>
            <a:r>
              <a:rPr lang="fr-FR" sz="900" baseline="30000" dirty="0"/>
              <a:t>ème</a:t>
            </a:r>
            <a:r>
              <a:rPr lang="fr-FR" sz="900" dirty="0"/>
              <a:t> en termes de CA est 1</a:t>
            </a:r>
            <a:r>
              <a:rPr lang="fr-FR" sz="900" baseline="30000" dirty="0"/>
              <a:t>er</a:t>
            </a:r>
            <a:r>
              <a:rPr lang="fr-FR" sz="900" dirty="0"/>
              <a:t> en nb de pénalités et en nombre de réfactions.</a:t>
            </a:r>
          </a:p>
          <a:p>
            <a:endParaRPr lang="fr-FR" sz="900" dirty="0"/>
          </a:p>
          <a:p>
            <a:r>
              <a:rPr lang="fr-FR" sz="900" dirty="0"/>
              <a:t>• </a:t>
            </a:r>
            <a:r>
              <a:rPr lang="fr-FR" sz="900" dirty="0">
                <a:solidFill>
                  <a:srgbClr val="0070C0"/>
                </a:solidFill>
              </a:rPr>
              <a:t>problèmes documentaires </a:t>
            </a:r>
            <a:r>
              <a:rPr lang="fr-FR" sz="900" dirty="0"/>
              <a:t>→ pénalités</a:t>
            </a:r>
          </a:p>
          <a:p>
            <a:r>
              <a:rPr lang="fr-FR" sz="900" dirty="0"/>
              <a:t>•</a:t>
            </a:r>
            <a:r>
              <a:rPr lang="fr-FR" sz="900" dirty="0">
                <a:solidFill>
                  <a:srgbClr val="0070C0"/>
                </a:solidFill>
              </a:rPr>
              <a:t> prestations non réalisées </a:t>
            </a:r>
            <a:r>
              <a:rPr lang="fr-FR" sz="900" dirty="0"/>
              <a:t>→ réfactions</a:t>
            </a:r>
          </a:p>
        </p:txBody>
      </p:sp>
      <p:pic>
        <p:nvPicPr>
          <p:cNvPr id="31" name="Image 30">
            <a:extLst>
              <a:ext uri="{FF2B5EF4-FFF2-40B4-BE49-F238E27FC236}">
                <a16:creationId xmlns:a16="http://schemas.microsoft.com/office/drawing/2014/main" id="{0A294A3B-79EA-1534-9E3B-2B8DBE4DAC99}"/>
              </a:ext>
            </a:extLst>
          </p:cNvPr>
          <p:cNvPicPr>
            <a:picLocks noChangeAspect="1"/>
          </p:cNvPicPr>
          <p:nvPr/>
        </p:nvPicPr>
        <p:blipFill>
          <a:blip r:embed="rId8"/>
          <a:stretch>
            <a:fillRect/>
          </a:stretch>
        </p:blipFill>
        <p:spPr>
          <a:xfrm>
            <a:off x="929706" y="3363324"/>
            <a:ext cx="185076" cy="185076"/>
          </a:xfrm>
          <a:prstGeom prst="rect">
            <a:avLst/>
          </a:prstGeom>
        </p:spPr>
      </p:pic>
      <p:pic>
        <p:nvPicPr>
          <p:cNvPr id="3" name="Image 2">
            <a:extLst>
              <a:ext uri="{FF2B5EF4-FFF2-40B4-BE49-F238E27FC236}">
                <a16:creationId xmlns:a16="http://schemas.microsoft.com/office/drawing/2014/main" id="{1FAA31F0-537D-4FEA-6E8E-2410048BEFDE}"/>
              </a:ext>
            </a:extLst>
          </p:cNvPr>
          <p:cNvPicPr>
            <a:picLocks noChangeAspect="1"/>
          </p:cNvPicPr>
          <p:nvPr/>
        </p:nvPicPr>
        <p:blipFill>
          <a:blip r:embed="rId9"/>
          <a:stretch>
            <a:fillRect/>
          </a:stretch>
        </p:blipFill>
        <p:spPr>
          <a:xfrm>
            <a:off x="8593873" y="66300"/>
            <a:ext cx="458747" cy="458747"/>
          </a:xfrm>
          <a:prstGeom prst="rect">
            <a:avLst/>
          </a:prstGeom>
        </p:spPr>
      </p:pic>
    </p:spTree>
    <p:extLst>
      <p:ext uri="{BB962C8B-B14F-4D97-AF65-F5344CB8AC3E}">
        <p14:creationId xmlns:p14="http://schemas.microsoft.com/office/powerpoint/2010/main" val="16122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par>
                                <p:cTn id="34" presetID="10" presetClass="entr" presetSubtype="0" fill="hold"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aphique 1">
            <a:extLst>
              <a:ext uri="{FF2B5EF4-FFF2-40B4-BE49-F238E27FC236}">
                <a16:creationId xmlns:a16="http://schemas.microsoft.com/office/drawing/2014/main" id="{6B3C5596-3B4C-69FB-15F8-0A205870CBE6}"/>
              </a:ext>
            </a:extLst>
          </p:cNvPr>
          <p:cNvGraphicFramePr>
            <a:graphicFrameLocks/>
          </p:cNvGraphicFramePr>
          <p:nvPr>
            <p:extLst>
              <p:ext uri="{D42A27DB-BD31-4B8C-83A1-F6EECF244321}">
                <p14:modId xmlns:p14="http://schemas.microsoft.com/office/powerpoint/2010/main" val="984343075"/>
              </p:ext>
            </p:extLst>
          </p:nvPr>
        </p:nvGraphicFramePr>
        <p:xfrm>
          <a:off x="598095" y="1622939"/>
          <a:ext cx="5247363" cy="2690540"/>
        </p:xfrm>
        <a:graphic>
          <a:graphicData uri="http://schemas.openxmlformats.org/drawingml/2006/chart">
            <c:chart xmlns:c="http://schemas.openxmlformats.org/drawingml/2006/chart" xmlns:r="http://schemas.openxmlformats.org/officeDocument/2006/relationships" r:id="rId2"/>
          </a:graphicData>
        </a:graphic>
      </p:graphicFrame>
      <p:sp>
        <p:nvSpPr>
          <p:cNvPr id="7" name="ZoneTexte 6">
            <a:extLst>
              <a:ext uri="{FF2B5EF4-FFF2-40B4-BE49-F238E27FC236}">
                <a16:creationId xmlns:a16="http://schemas.microsoft.com/office/drawing/2014/main" id="{16F6B72B-2F6E-3FA8-0AE6-8AAF58B99353}"/>
              </a:ext>
            </a:extLst>
          </p:cNvPr>
          <p:cNvSpPr txBox="1"/>
          <p:nvPr/>
        </p:nvSpPr>
        <p:spPr>
          <a:xfrm>
            <a:off x="6553997" y="2571750"/>
            <a:ext cx="2424422" cy="230832"/>
          </a:xfrm>
          <a:prstGeom prst="rect">
            <a:avLst/>
          </a:prstGeom>
          <a:noFill/>
        </p:spPr>
        <p:txBody>
          <a:bodyPr wrap="square" rtlCol="0">
            <a:spAutoFit/>
          </a:bodyPr>
          <a:lstStyle/>
          <a:p>
            <a:r>
              <a:rPr lang="fr-FR" sz="900" dirty="0"/>
              <a:t>33 % → Problème documentaire</a:t>
            </a:r>
          </a:p>
        </p:txBody>
      </p:sp>
      <p:sp>
        <p:nvSpPr>
          <p:cNvPr id="8" name="ZoneTexte 7">
            <a:extLst>
              <a:ext uri="{FF2B5EF4-FFF2-40B4-BE49-F238E27FC236}">
                <a16:creationId xmlns:a16="http://schemas.microsoft.com/office/drawing/2014/main" id="{3AE19B54-95E7-3629-8026-4BD13016C3B1}"/>
              </a:ext>
            </a:extLst>
          </p:cNvPr>
          <p:cNvSpPr txBox="1"/>
          <p:nvPr/>
        </p:nvSpPr>
        <p:spPr>
          <a:xfrm>
            <a:off x="6553997" y="2802582"/>
            <a:ext cx="2424422" cy="230832"/>
          </a:xfrm>
          <a:prstGeom prst="rect">
            <a:avLst/>
          </a:prstGeom>
          <a:noFill/>
        </p:spPr>
        <p:txBody>
          <a:bodyPr wrap="square" rtlCol="0">
            <a:spAutoFit/>
          </a:bodyPr>
          <a:lstStyle/>
          <a:p>
            <a:r>
              <a:rPr lang="fr-FR" sz="900" dirty="0"/>
              <a:t>22 % → Prestation non réalisée</a:t>
            </a:r>
          </a:p>
        </p:txBody>
      </p:sp>
      <p:sp>
        <p:nvSpPr>
          <p:cNvPr id="10" name="ZoneTexte 9">
            <a:extLst>
              <a:ext uri="{FF2B5EF4-FFF2-40B4-BE49-F238E27FC236}">
                <a16:creationId xmlns:a16="http://schemas.microsoft.com/office/drawing/2014/main" id="{0A507149-6D5D-2427-2D73-050CF617C59A}"/>
              </a:ext>
            </a:extLst>
          </p:cNvPr>
          <p:cNvSpPr txBox="1"/>
          <p:nvPr/>
        </p:nvSpPr>
        <p:spPr>
          <a:xfrm>
            <a:off x="717780" y="392824"/>
            <a:ext cx="1734883" cy="430887"/>
          </a:xfrm>
          <a:prstGeom prst="rect">
            <a:avLst/>
          </a:prstGeom>
          <a:noFill/>
        </p:spPr>
        <p:txBody>
          <a:bodyPr wrap="square">
            <a:spAutoFit/>
          </a:bodyPr>
          <a:lstStyle/>
          <a:p>
            <a:r>
              <a:rPr lang="fr-FR" sz="1100" b="1" dirty="0"/>
              <a:t>Analyse globale </a:t>
            </a:r>
          </a:p>
          <a:p>
            <a:r>
              <a:rPr lang="fr-FR" sz="1100" b="1" dirty="0"/>
              <a:t>motifs des réserves</a:t>
            </a:r>
          </a:p>
        </p:txBody>
      </p:sp>
      <p:pic>
        <p:nvPicPr>
          <p:cNvPr id="11" name="Image 10" descr="Une image contenant capture d’écran, ligne, Graphique, Caractère coloré&#10;&#10;Description générée automatiquement">
            <a:extLst>
              <a:ext uri="{FF2B5EF4-FFF2-40B4-BE49-F238E27FC236}">
                <a16:creationId xmlns:a16="http://schemas.microsoft.com/office/drawing/2014/main" id="{9F3491F8-4B88-01F2-5FD7-F70A717F4967}"/>
              </a:ext>
            </a:extLst>
          </p:cNvPr>
          <p:cNvPicPr>
            <a:picLocks noChangeAspect="1"/>
          </p:cNvPicPr>
          <p:nvPr/>
        </p:nvPicPr>
        <p:blipFill>
          <a:blip r:embed="rId3"/>
          <a:stretch>
            <a:fillRect/>
          </a:stretch>
        </p:blipFill>
        <p:spPr>
          <a:xfrm>
            <a:off x="535858" y="298536"/>
            <a:ext cx="726135" cy="785219"/>
          </a:xfrm>
          <a:prstGeom prst="rect">
            <a:avLst/>
          </a:prstGeom>
        </p:spPr>
      </p:pic>
      <p:pic>
        <p:nvPicPr>
          <p:cNvPr id="3" name="Image 2">
            <a:extLst>
              <a:ext uri="{FF2B5EF4-FFF2-40B4-BE49-F238E27FC236}">
                <a16:creationId xmlns:a16="http://schemas.microsoft.com/office/drawing/2014/main" id="{2C39211D-9F9B-2582-C1CA-1C4D0748900D}"/>
              </a:ext>
            </a:extLst>
          </p:cNvPr>
          <p:cNvPicPr>
            <a:picLocks noChangeAspect="1"/>
          </p:cNvPicPr>
          <p:nvPr/>
        </p:nvPicPr>
        <p:blipFill>
          <a:blip r:embed="rId4"/>
          <a:stretch>
            <a:fillRect/>
          </a:stretch>
        </p:blipFill>
        <p:spPr>
          <a:xfrm>
            <a:off x="8593873" y="66300"/>
            <a:ext cx="458747" cy="458747"/>
          </a:xfrm>
          <a:prstGeom prst="rect">
            <a:avLst/>
          </a:prstGeom>
        </p:spPr>
      </p:pic>
    </p:spTree>
    <p:extLst>
      <p:ext uri="{BB962C8B-B14F-4D97-AF65-F5344CB8AC3E}">
        <p14:creationId xmlns:p14="http://schemas.microsoft.com/office/powerpoint/2010/main" val="2121050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1F228-EF95-A761-3C37-2293EB170B54}"/>
            </a:ext>
          </a:extLst>
        </p:cNvPr>
        <p:cNvGrpSpPr/>
        <p:nvPr/>
      </p:nvGrpSpPr>
      <p:grpSpPr>
        <a:xfrm>
          <a:off x="0" y="0"/>
          <a:ext cx="0" cy="0"/>
          <a:chOff x="0" y="0"/>
          <a:chExt cx="0" cy="0"/>
        </a:xfrm>
      </p:grpSpPr>
      <p:grpSp>
        <p:nvGrpSpPr>
          <p:cNvPr id="9" name="Groupe 8">
            <a:extLst>
              <a:ext uri="{FF2B5EF4-FFF2-40B4-BE49-F238E27FC236}">
                <a16:creationId xmlns:a16="http://schemas.microsoft.com/office/drawing/2014/main" id="{790CE4ED-E66A-1D3C-AFF4-B71349C3D327}"/>
              </a:ext>
            </a:extLst>
          </p:cNvPr>
          <p:cNvGrpSpPr/>
          <p:nvPr/>
        </p:nvGrpSpPr>
        <p:grpSpPr>
          <a:xfrm>
            <a:off x="511921" y="1406761"/>
            <a:ext cx="5422490" cy="3343915"/>
            <a:chOff x="1530421" y="1179152"/>
            <a:chExt cx="5422490" cy="3343915"/>
          </a:xfrm>
        </p:grpSpPr>
        <p:graphicFrame>
          <p:nvGraphicFramePr>
            <p:cNvPr id="3" name="Graphique 2">
              <a:extLst>
                <a:ext uri="{FF2B5EF4-FFF2-40B4-BE49-F238E27FC236}">
                  <a16:creationId xmlns:a16="http://schemas.microsoft.com/office/drawing/2014/main" id="{00068761-FB90-5630-955A-BE6932923B90}"/>
                </a:ext>
              </a:extLst>
            </p:cNvPr>
            <p:cNvGraphicFramePr>
              <a:graphicFrameLocks/>
            </p:cNvGraphicFramePr>
            <p:nvPr>
              <p:extLst>
                <p:ext uri="{D42A27DB-BD31-4B8C-83A1-F6EECF244321}">
                  <p14:modId xmlns:p14="http://schemas.microsoft.com/office/powerpoint/2010/main" val="2333442511"/>
                </p:ext>
              </p:extLst>
            </p:nvPr>
          </p:nvGraphicFramePr>
          <p:xfrm>
            <a:off x="1530421" y="1179152"/>
            <a:ext cx="5422490" cy="3343915"/>
          </p:xfrm>
          <a:graphic>
            <a:graphicData uri="http://schemas.openxmlformats.org/drawingml/2006/chart">
              <c:chart xmlns:c="http://schemas.openxmlformats.org/drawingml/2006/chart" xmlns:r="http://schemas.openxmlformats.org/officeDocument/2006/relationships" r:id="rId2"/>
            </a:graphicData>
          </a:graphic>
        </p:graphicFrame>
        <p:sp>
          <p:nvSpPr>
            <p:cNvPr id="8" name="ZoneTexte 7">
              <a:extLst>
                <a:ext uri="{FF2B5EF4-FFF2-40B4-BE49-F238E27FC236}">
                  <a16:creationId xmlns:a16="http://schemas.microsoft.com/office/drawing/2014/main" id="{89B53E17-66F9-00EC-9D64-47FA463EA38D}"/>
                </a:ext>
              </a:extLst>
            </p:cNvPr>
            <p:cNvSpPr txBox="1"/>
            <p:nvPr/>
          </p:nvSpPr>
          <p:spPr>
            <a:xfrm>
              <a:off x="3485251" y="1273459"/>
              <a:ext cx="1512829" cy="261610"/>
            </a:xfrm>
            <a:prstGeom prst="rect">
              <a:avLst/>
            </a:prstGeom>
            <a:noFill/>
          </p:spPr>
          <p:txBody>
            <a:bodyPr wrap="square" rtlCol="0">
              <a:spAutoFit/>
            </a:bodyPr>
            <a:lstStyle/>
            <a:p>
              <a:r>
                <a:rPr lang="fr-FR" sz="1050" b="1" dirty="0">
                  <a:solidFill>
                    <a:srgbClr val="0070C0"/>
                  </a:solidFill>
                </a:rPr>
                <a:t>Motifs des réserves</a:t>
              </a:r>
            </a:p>
          </p:txBody>
        </p:sp>
      </p:grpSp>
      <p:sp>
        <p:nvSpPr>
          <p:cNvPr id="10" name="ZoneTexte 9">
            <a:extLst>
              <a:ext uri="{FF2B5EF4-FFF2-40B4-BE49-F238E27FC236}">
                <a16:creationId xmlns:a16="http://schemas.microsoft.com/office/drawing/2014/main" id="{849DF7CA-22E5-CD9C-7536-DC18B8447C72}"/>
              </a:ext>
            </a:extLst>
          </p:cNvPr>
          <p:cNvSpPr txBox="1"/>
          <p:nvPr/>
        </p:nvSpPr>
        <p:spPr>
          <a:xfrm>
            <a:off x="717780" y="392824"/>
            <a:ext cx="1734883" cy="430887"/>
          </a:xfrm>
          <a:prstGeom prst="rect">
            <a:avLst/>
          </a:prstGeom>
          <a:noFill/>
        </p:spPr>
        <p:txBody>
          <a:bodyPr wrap="square">
            <a:spAutoFit/>
          </a:bodyPr>
          <a:lstStyle/>
          <a:p>
            <a:r>
              <a:rPr lang="fr-FR" sz="1100" b="1" dirty="0"/>
              <a:t>Zoom sur les problèmes documentaires</a:t>
            </a:r>
          </a:p>
        </p:txBody>
      </p:sp>
      <p:pic>
        <p:nvPicPr>
          <p:cNvPr id="11" name="Image 10" descr="Une image contenant capture d’écran, ligne, Graphique, Caractère coloré&#10;&#10;Description générée automatiquement">
            <a:extLst>
              <a:ext uri="{FF2B5EF4-FFF2-40B4-BE49-F238E27FC236}">
                <a16:creationId xmlns:a16="http://schemas.microsoft.com/office/drawing/2014/main" id="{A8616970-C3E9-A696-42A4-B9C122EA53CA}"/>
              </a:ext>
            </a:extLst>
          </p:cNvPr>
          <p:cNvPicPr>
            <a:picLocks noChangeAspect="1"/>
          </p:cNvPicPr>
          <p:nvPr/>
        </p:nvPicPr>
        <p:blipFill>
          <a:blip r:embed="rId3"/>
          <a:stretch>
            <a:fillRect/>
          </a:stretch>
        </p:blipFill>
        <p:spPr>
          <a:xfrm>
            <a:off x="511921" y="279386"/>
            <a:ext cx="726135" cy="785219"/>
          </a:xfrm>
          <a:prstGeom prst="rect">
            <a:avLst/>
          </a:prstGeom>
        </p:spPr>
      </p:pic>
      <p:sp>
        <p:nvSpPr>
          <p:cNvPr id="12" name="ZoneTexte 11">
            <a:extLst>
              <a:ext uri="{FF2B5EF4-FFF2-40B4-BE49-F238E27FC236}">
                <a16:creationId xmlns:a16="http://schemas.microsoft.com/office/drawing/2014/main" id="{3ABAF00F-A01E-B388-7DEC-19519E1F3C67}"/>
              </a:ext>
            </a:extLst>
          </p:cNvPr>
          <p:cNvSpPr txBox="1"/>
          <p:nvPr/>
        </p:nvSpPr>
        <p:spPr>
          <a:xfrm>
            <a:off x="6664109" y="1424124"/>
            <a:ext cx="1723477" cy="415498"/>
          </a:xfrm>
          <a:prstGeom prst="rect">
            <a:avLst/>
          </a:prstGeom>
          <a:noFill/>
        </p:spPr>
        <p:txBody>
          <a:bodyPr wrap="square" rtlCol="0">
            <a:spAutoFit/>
          </a:bodyPr>
          <a:lstStyle/>
          <a:p>
            <a:r>
              <a:rPr lang="fr-FR" sz="700" dirty="0"/>
              <a:t>Il n’est pas toujours précisé clairement dans les commentaires le document manquant.</a:t>
            </a:r>
          </a:p>
        </p:txBody>
      </p:sp>
      <p:pic>
        <p:nvPicPr>
          <p:cNvPr id="13" name="Image 12">
            <a:extLst>
              <a:ext uri="{FF2B5EF4-FFF2-40B4-BE49-F238E27FC236}">
                <a16:creationId xmlns:a16="http://schemas.microsoft.com/office/drawing/2014/main" id="{DE6B9888-1DE5-C208-BEDC-D3DA85B5880A}"/>
              </a:ext>
            </a:extLst>
          </p:cNvPr>
          <p:cNvPicPr>
            <a:picLocks noChangeAspect="1"/>
          </p:cNvPicPr>
          <p:nvPr/>
        </p:nvPicPr>
        <p:blipFill>
          <a:blip r:embed="rId4"/>
          <a:stretch>
            <a:fillRect/>
          </a:stretch>
        </p:blipFill>
        <p:spPr>
          <a:xfrm>
            <a:off x="6467502" y="1501068"/>
            <a:ext cx="196607" cy="196607"/>
          </a:xfrm>
          <a:prstGeom prst="rect">
            <a:avLst/>
          </a:prstGeom>
        </p:spPr>
      </p:pic>
      <p:sp>
        <p:nvSpPr>
          <p:cNvPr id="14" name="ZoneTexte 13">
            <a:extLst>
              <a:ext uri="{FF2B5EF4-FFF2-40B4-BE49-F238E27FC236}">
                <a16:creationId xmlns:a16="http://schemas.microsoft.com/office/drawing/2014/main" id="{F2475BE2-9532-57AD-CD0F-5EDC17978F6C}"/>
              </a:ext>
            </a:extLst>
          </p:cNvPr>
          <p:cNvSpPr txBox="1"/>
          <p:nvPr/>
        </p:nvSpPr>
        <p:spPr>
          <a:xfrm>
            <a:off x="6664109" y="2160591"/>
            <a:ext cx="1723477" cy="738664"/>
          </a:xfrm>
          <a:prstGeom prst="rect">
            <a:avLst/>
          </a:prstGeom>
          <a:noFill/>
        </p:spPr>
        <p:txBody>
          <a:bodyPr wrap="square" rtlCol="0">
            <a:spAutoFit/>
          </a:bodyPr>
          <a:lstStyle/>
          <a:p>
            <a:r>
              <a:rPr lang="fr-FR" sz="700" dirty="0"/>
              <a:t>Les comptes-rendus de CNN CO (« ERQ ») manquent régulièrement de :</a:t>
            </a:r>
          </a:p>
          <a:p>
            <a:endParaRPr lang="fr-FR" sz="700" dirty="0"/>
          </a:p>
          <a:p>
            <a:r>
              <a:rPr lang="fr-FR" sz="700" dirty="0"/>
              <a:t>• certificat ou attestations</a:t>
            </a:r>
          </a:p>
          <a:p>
            <a:r>
              <a:rPr lang="fr-FR" sz="700" dirty="0"/>
              <a:t>• Compte-rendu du sous-traitant</a:t>
            </a:r>
          </a:p>
          <a:p>
            <a:r>
              <a:rPr lang="fr-FR" sz="700" dirty="0"/>
              <a:t>• ERQ imprécis</a:t>
            </a:r>
          </a:p>
        </p:txBody>
      </p:sp>
      <p:pic>
        <p:nvPicPr>
          <p:cNvPr id="16" name="Image 15">
            <a:extLst>
              <a:ext uri="{FF2B5EF4-FFF2-40B4-BE49-F238E27FC236}">
                <a16:creationId xmlns:a16="http://schemas.microsoft.com/office/drawing/2014/main" id="{CCC775D5-D53B-5C87-6B12-905CD453996D}"/>
              </a:ext>
            </a:extLst>
          </p:cNvPr>
          <p:cNvPicPr>
            <a:picLocks noChangeAspect="1"/>
          </p:cNvPicPr>
          <p:nvPr/>
        </p:nvPicPr>
        <p:blipFill>
          <a:blip r:embed="rId5"/>
          <a:stretch>
            <a:fillRect/>
          </a:stretch>
        </p:blipFill>
        <p:spPr>
          <a:xfrm>
            <a:off x="6468560" y="2207006"/>
            <a:ext cx="195549" cy="195549"/>
          </a:xfrm>
          <a:prstGeom prst="rect">
            <a:avLst/>
          </a:prstGeom>
        </p:spPr>
      </p:pic>
      <p:pic>
        <p:nvPicPr>
          <p:cNvPr id="2" name="Image 1">
            <a:extLst>
              <a:ext uri="{FF2B5EF4-FFF2-40B4-BE49-F238E27FC236}">
                <a16:creationId xmlns:a16="http://schemas.microsoft.com/office/drawing/2014/main" id="{64AC092A-5F93-9E60-E720-7C5260AB8D96}"/>
              </a:ext>
            </a:extLst>
          </p:cNvPr>
          <p:cNvPicPr>
            <a:picLocks noChangeAspect="1"/>
          </p:cNvPicPr>
          <p:nvPr/>
        </p:nvPicPr>
        <p:blipFill>
          <a:blip r:embed="rId6"/>
          <a:stretch>
            <a:fillRect/>
          </a:stretch>
        </p:blipFill>
        <p:spPr>
          <a:xfrm>
            <a:off x="8593873" y="66300"/>
            <a:ext cx="458747" cy="458747"/>
          </a:xfrm>
          <a:prstGeom prst="rect">
            <a:avLst/>
          </a:prstGeom>
        </p:spPr>
      </p:pic>
    </p:spTree>
    <p:extLst>
      <p:ext uri="{BB962C8B-B14F-4D97-AF65-F5344CB8AC3E}">
        <p14:creationId xmlns:p14="http://schemas.microsoft.com/office/powerpoint/2010/main" val="23601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15"/>
          <p:cNvSpPr txBox="1">
            <a:spLocks noGrp="1"/>
          </p:cNvSpPr>
          <p:nvPr>
            <p:ph type="title"/>
          </p:nvPr>
        </p:nvSpPr>
        <p:spPr>
          <a:xfrm>
            <a:off x="4343528" y="1583141"/>
            <a:ext cx="34617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2800" dirty="0"/>
              <a:t>Recommandations stratégiques</a:t>
            </a:r>
            <a:endParaRPr dirty="0"/>
          </a:p>
        </p:txBody>
      </p:sp>
      <p:sp>
        <p:nvSpPr>
          <p:cNvPr id="2357" name="Google Shape;2357;p15"/>
          <p:cNvSpPr txBox="1">
            <a:spLocks noGrp="1"/>
          </p:cNvSpPr>
          <p:nvPr>
            <p:ph type="title" idx="2"/>
          </p:nvPr>
        </p:nvSpPr>
        <p:spPr>
          <a:xfrm>
            <a:off x="1850634" y="1593575"/>
            <a:ext cx="2015700" cy="1402500"/>
          </a:xfrm>
          <a:prstGeom prst="rect">
            <a:avLst/>
          </a:prstGeom>
          <a:solidFill>
            <a:srgbClr val="8EDA97"/>
          </a:solidFill>
          <a:ln w="9525" cap="flat" cmpd="sng">
            <a:no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dirty="0"/>
              <a:t>06</a:t>
            </a:r>
            <a:endParaRPr sz="10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1"/>
        <p:cNvGrpSpPr/>
        <p:nvPr/>
      </p:nvGrpSpPr>
      <p:grpSpPr>
        <a:xfrm>
          <a:off x="0" y="0"/>
          <a:ext cx="0" cy="0"/>
          <a:chOff x="0" y="0"/>
          <a:chExt cx="0" cy="0"/>
        </a:xfrm>
      </p:grpSpPr>
      <p:sp>
        <p:nvSpPr>
          <p:cNvPr id="2362" name="Google Shape;2362;p16"/>
          <p:cNvSpPr txBox="1">
            <a:spLocks noGrp="1"/>
          </p:cNvSpPr>
          <p:nvPr>
            <p:ph type="title"/>
          </p:nvPr>
        </p:nvSpPr>
        <p:spPr>
          <a:xfrm>
            <a:off x="1301749" y="213987"/>
            <a:ext cx="6168283"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b="1" dirty="0"/>
              <a:t>Recommendations</a:t>
            </a:r>
            <a:endParaRPr b="1" dirty="0"/>
          </a:p>
        </p:txBody>
      </p:sp>
      <p:pic>
        <p:nvPicPr>
          <p:cNvPr id="18" name="Image 17" descr="Une image contenant Caractère coloré, Graphique, capture d’écran, ligne&#10;&#10;Description générée automatiquement">
            <a:extLst>
              <a:ext uri="{FF2B5EF4-FFF2-40B4-BE49-F238E27FC236}">
                <a16:creationId xmlns:a16="http://schemas.microsoft.com/office/drawing/2014/main" id="{959F3630-CEA5-7194-95D3-450B6F87E1D5}"/>
              </a:ext>
            </a:extLst>
          </p:cNvPr>
          <p:cNvPicPr>
            <a:picLocks noChangeAspect="1"/>
          </p:cNvPicPr>
          <p:nvPr/>
        </p:nvPicPr>
        <p:blipFill>
          <a:blip r:embed="rId3"/>
          <a:stretch>
            <a:fillRect/>
          </a:stretch>
        </p:blipFill>
        <p:spPr>
          <a:xfrm>
            <a:off x="411472" y="225567"/>
            <a:ext cx="649750" cy="649750"/>
          </a:xfrm>
          <a:prstGeom prst="rect">
            <a:avLst/>
          </a:prstGeom>
        </p:spPr>
      </p:pic>
      <p:sp>
        <p:nvSpPr>
          <p:cNvPr id="11" name="ZoneTexte 10">
            <a:extLst>
              <a:ext uri="{FF2B5EF4-FFF2-40B4-BE49-F238E27FC236}">
                <a16:creationId xmlns:a16="http://schemas.microsoft.com/office/drawing/2014/main" id="{07E68AB9-700E-DD6B-7E5A-F95D58214151}"/>
              </a:ext>
            </a:extLst>
          </p:cNvPr>
          <p:cNvSpPr txBox="1"/>
          <p:nvPr/>
        </p:nvSpPr>
        <p:spPr>
          <a:xfrm>
            <a:off x="1043226" y="1273166"/>
            <a:ext cx="3119294" cy="461665"/>
          </a:xfrm>
          <a:prstGeom prst="rect">
            <a:avLst/>
          </a:prstGeom>
          <a:noFill/>
        </p:spPr>
        <p:txBody>
          <a:bodyPr wrap="square" rtlCol="0">
            <a:spAutoFit/>
          </a:bodyPr>
          <a:lstStyle/>
          <a:p>
            <a:r>
              <a:rPr lang="fr-FR" sz="800" dirty="0"/>
              <a:t>Faire une analyse terrain sur les chantiers pour savoir pourquoi il y a de tels </a:t>
            </a:r>
            <a:r>
              <a:rPr lang="fr-FR" sz="800" b="1" dirty="0"/>
              <a:t>écarts documentaires </a:t>
            </a:r>
            <a:r>
              <a:rPr lang="fr-FR" sz="800" dirty="0"/>
              <a:t>sur les livrables afin de diminuer les réserves. </a:t>
            </a:r>
          </a:p>
        </p:txBody>
      </p:sp>
      <p:sp>
        <p:nvSpPr>
          <p:cNvPr id="12" name="ZoneTexte 11">
            <a:extLst>
              <a:ext uri="{FF2B5EF4-FFF2-40B4-BE49-F238E27FC236}">
                <a16:creationId xmlns:a16="http://schemas.microsoft.com/office/drawing/2014/main" id="{232816CA-696C-1F86-9A84-0BB8408B4740}"/>
              </a:ext>
            </a:extLst>
          </p:cNvPr>
          <p:cNvSpPr txBox="1"/>
          <p:nvPr/>
        </p:nvSpPr>
        <p:spPr>
          <a:xfrm>
            <a:off x="1043226" y="2214089"/>
            <a:ext cx="3119294" cy="461665"/>
          </a:xfrm>
          <a:prstGeom prst="rect">
            <a:avLst/>
          </a:prstGeom>
          <a:noFill/>
        </p:spPr>
        <p:txBody>
          <a:bodyPr wrap="square" rtlCol="0">
            <a:spAutoFit/>
          </a:bodyPr>
          <a:lstStyle/>
          <a:p>
            <a:r>
              <a:rPr lang="fr-FR" sz="800" dirty="0"/>
              <a:t>Intégrer le responsable Qualité afin qu’il conduise des </a:t>
            </a:r>
            <a:r>
              <a:rPr lang="fr-FR" sz="800" b="1" dirty="0"/>
              <a:t>évaluations fournisseurs </a:t>
            </a:r>
            <a:r>
              <a:rPr lang="fr-FR" sz="800" dirty="0"/>
              <a:t>auprès des sous-traitants afin de gérer les problèmes de conformité.</a:t>
            </a:r>
          </a:p>
        </p:txBody>
      </p:sp>
      <p:sp>
        <p:nvSpPr>
          <p:cNvPr id="13" name="ZoneTexte 12">
            <a:extLst>
              <a:ext uri="{FF2B5EF4-FFF2-40B4-BE49-F238E27FC236}">
                <a16:creationId xmlns:a16="http://schemas.microsoft.com/office/drawing/2014/main" id="{BD318B7E-B5F2-3F5E-F8B5-37CCFEB4D9C2}"/>
              </a:ext>
            </a:extLst>
          </p:cNvPr>
          <p:cNvSpPr txBox="1"/>
          <p:nvPr/>
        </p:nvSpPr>
        <p:spPr>
          <a:xfrm>
            <a:off x="1043226" y="3233271"/>
            <a:ext cx="3452175" cy="584775"/>
          </a:xfrm>
          <a:prstGeom prst="rect">
            <a:avLst/>
          </a:prstGeom>
          <a:noFill/>
        </p:spPr>
        <p:txBody>
          <a:bodyPr wrap="square" rtlCol="0">
            <a:spAutoFit/>
          </a:bodyPr>
          <a:lstStyle/>
          <a:p>
            <a:r>
              <a:rPr lang="fr-FR" sz="800" b="1" dirty="0"/>
              <a:t>Réaliser un audit interne </a:t>
            </a:r>
          </a:p>
          <a:p>
            <a:r>
              <a:rPr lang="fr-FR" sz="800" dirty="0"/>
              <a:t>Pourquoi les travaux sont souvent non terminés ? </a:t>
            </a:r>
          </a:p>
          <a:p>
            <a:r>
              <a:rPr lang="fr-FR" sz="800" dirty="0"/>
              <a:t>Pourquoi les travaux sont présentés comme terminés alors qu’ils ne le sont pas ? Manque de méthode ? Formation ? </a:t>
            </a:r>
          </a:p>
        </p:txBody>
      </p:sp>
      <p:sp>
        <p:nvSpPr>
          <p:cNvPr id="15" name="ZoneTexte 14">
            <a:extLst>
              <a:ext uri="{FF2B5EF4-FFF2-40B4-BE49-F238E27FC236}">
                <a16:creationId xmlns:a16="http://schemas.microsoft.com/office/drawing/2014/main" id="{A5D31760-A68D-B690-86A8-366AA9E7B19A}"/>
              </a:ext>
            </a:extLst>
          </p:cNvPr>
          <p:cNvSpPr txBox="1"/>
          <p:nvPr/>
        </p:nvSpPr>
        <p:spPr>
          <a:xfrm>
            <a:off x="379823" y="946298"/>
            <a:ext cx="419100" cy="1107996"/>
          </a:xfrm>
          <a:prstGeom prst="rect">
            <a:avLst/>
          </a:prstGeom>
          <a:noFill/>
        </p:spPr>
        <p:txBody>
          <a:bodyPr wrap="square" rtlCol="0">
            <a:spAutoFit/>
          </a:bodyPr>
          <a:lstStyle/>
          <a:p>
            <a:r>
              <a:rPr lang="fr-FR" sz="6600" dirty="0"/>
              <a:t>1</a:t>
            </a:r>
          </a:p>
        </p:txBody>
      </p:sp>
      <p:sp>
        <p:nvSpPr>
          <p:cNvPr id="17" name="ZoneTexte 16">
            <a:extLst>
              <a:ext uri="{FF2B5EF4-FFF2-40B4-BE49-F238E27FC236}">
                <a16:creationId xmlns:a16="http://schemas.microsoft.com/office/drawing/2014/main" id="{38378D9D-7AFF-3E48-290A-80ECF4F056AB}"/>
              </a:ext>
            </a:extLst>
          </p:cNvPr>
          <p:cNvSpPr txBox="1"/>
          <p:nvPr/>
        </p:nvSpPr>
        <p:spPr>
          <a:xfrm>
            <a:off x="411472" y="1899625"/>
            <a:ext cx="419100" cy="1107996"/>
          </a:xfrm>
          <a:prstGeom prst="rect">
            <a:avLst/>
          </a:prstGeom>
          <a:noFill/>
        </p:spPr>
        <p:txBody>
          <a:bodyPr wrap="square" rtlCol="0">
            <a:spAutoFit/>
          </a:bodyPr>
          <a:lstStyle/>
          <a:p>
            <a:r>
              <a:rPr lang="fr-FR" sz="6600" dirty="0"/>
              <a:t>2</a:t>
            </a:r>
          </a:p>
        </p:txBody>
      </p:sp>
      <p:sp>
        <p:nvSpPr>
          <p:cNvPr id="14" name="ZoneTexte 13">
            <a:extLst>
              <a:ext uri="{FF2B5EF4-FFF2-40B4-BE49-F238E27FC236}">
                <a16:creationId xmlns:a16="http://schemas.microsoft.com/office/drawing/2014/main" id="{17FDF602-5A75-1FF8-3473-83C63FCCA1B4}"/>
              </a:ext>
            </a:extLst>
          </p:cNvPr>
          <p:cNvSpPr txBox="1"/>
          <p:nvPr/>
        </p:nvSpPr>
        <p:spPr>
          <a:xfrm>
            <a:off x="411472" y="2927508"/>
            <a:ext cx="419100" cy="1107996"/>
          </a:xfrm>
          <a:prstGeom prst="rect">
            <a:avLst/>
          </a:prstGeom>
          <a:noFill/>
        </p:spPr>
        <p:txBody>
          <a:bodyPr wrap="square" rtlCol="0">
            <a:spAutoFit/>
          </a:bodyPr>
          <a:lstStyle/>
          <a:p>
            <a:r>
              <a:rPr lang="fr-FR" sz="6600" dirty="0"/>
              <a:t>3</a:t>
            </a:r>
          </a:p>
        </p:txBody>
      </p:sp>
      <p:sp>
        <p:nvSpPr>
          <p:cNvPr id="16" name="ZoneTexte 15">
            <a:extLst>
              <a:ext uri="{FF2B5EF4-FFF2-40B4-BE49-F238E27FC236}">
                <a16:creationId xmlns:a16="http://schemas.microsoft.com/office/drawing/2014/main" id="{989C322C-8959-4E90-9CC7-036A5F32B73D}"/>
              </a:ext>
            </a:extLst>
          </p:cNvPr>
          <p:cNvSpPr txBox="1"/>
          <p:nvPr/>
        </p:nvSpPr>
        <p:spPr>
          <a:xfrm>
            <a:off x="5339809" y="1181080"/>
            <a:ext cx="2997369" cy="461665"/>
          </a:xfrm>
          <a:prstGeom prst="rect">
            <a:avLst/>
          </a:prstGeom>
          <a:noFill/>
        </p:spPr>
        <p:txBody>
          <a:bodyPr wrap="square" rtlCol="0">
            <a:spAutoFit/>
          </a:bodyPr>
          <a:lstStyle/>
          <a:p>
            <a:r>
              <a:rPr lang="fr-FR" sz="800" dirty="0"/>
              <a:t>Intégrer la lecture de ces indicateurs dans les </a:t>
            </a:r>
            <a:r>
              <a:rPr lang="fr-FR" sz="800" b="1" dirty="0"/>
              <a:t>revues de projets </a:t>
            </a:r>
            <a:r>
              <a:rPr lang="fr-FR" sz="800" dirty="0"/>
              <a:t>et dans le </a:t>
            </a:r>
            <a:r>
              <a:rPr lang="fr-FR" sz="800" b="1" dirty="0"/>
              <a:t>plan de management de la Qualité</a:t>
            </a:r>
            <a:r>
              <a:rPr lang="fr-FR" sz="800" dirty="0"/>
              <a:t>. </a:t>
            </a:r>
          </a:p>
          <a:p>
            <a:r>
              <a:rPr lang="fr-FR" sz="800" dirty="0"/>
              <a:t>Supervision / contrôle par le responsable Qualité</a:t>
            </a:r>
          </a:p>
        </p:txBody>
      </p:sp>
      <p:sp>
        <p:nvSpPr>
          <p:cNvPr id="19" name="ZoneTexte 18">
            <a:extLst>
              <a:ext uri="{FF2B5EF4-FFF2-40B4-BE49-F238E27FC236}">
                <a16:creationId xmlns:a16="http://schemas.microsoft.com/office/drawing/2014/main" id="{EDC7CF85-75AA-4531-A07A-DD74BFF9CE88}"/>
              </a:ext>
            </a:extLst>
          </p:cNvPr>
          <p:cNvSpPr txBox="1"/>
          <p:nvPr/>
        </p:nvSpPr>
        <p:spPr>
          <a:xfrm>
            <a:off x="4708055" y="875317"/>
            <a:ext cx="419100" cy="1107996"/>
          </a:xfrm>
          <a:prstGeom prst="rect">
            <a:avLst/>
          </a:prstGeom>
          <a:noFill/>
        </p:spPr>
        <p:txBody>
          <a:bodyPr wrap="square" rtlCol="0">
            <a:spAutoFit/>
          </a:bodyPr>
          <a:lstStyle/>
          <a:p>
            <a:r>
              <a:rPr lang="fr-FR" sz="6600" dirty="0"/>
              <a:t>4</a:t>
            </a:r>
          </a:p>
        </p:txBody>
      </p:sp>
      <p:sp>
        <p:nvSpPr>
          <p:cNvPr id="20" name="ZoneTexte 19">
            <a:extLst>
              <a:ext uri="{FF2B5EF4-FFF2-40B4-BE49-F238E27FC236}">
                <a16:creationId xmlns:a16="http://schemas.microsoft.com/office/drawing/2014/main" id="{443D6B33-0EC1-9D89-BE20-C433A300E6C8}"/>
              </a:ext>
            </a:extLst>
          </p:cNvPr>
          <p:cNvSpPr txBox="1"/>
          <p:nvPr/>
        </p:nvSpPr>
        <p:spPr>
          <a:xfrm>
            <a:off x="5339809" y="2182151"/>
            <a:ext cx="2997369" cy="461665"/>
          </a:xfrm>
          <a:prstGeom prst="rect">
            <a:avLst/>
          </a:prstGeom>
          <a:noFill/>
        </p:spPr>
        <p:txBody>
          <a:bodyPr wrap="square" rtlCol="0">
            <a:spAutoFit/>
          </a:bodyPr>
          <a:lstStyle/>
          <a:p>
            <a:r>
              <a:rPr lang="fr-FR" sz="800" dirty="0"/>
              <a:t>Etendre le </a:t>
            </a:r>
            <a:r>
              <a:rPr lang="fr-FR" sz="800" b="1" dirty="0"/>
              <a:t>contrôle de gestion </a:t>
            </a:r>
            <a:r>
              <a:rPr lang="fr-FR" sz="800" dirty="0"/>
              <a:t>à la colonne « Motifs » des réserves, réfactions et pénalités afin d‘améliorer l’exhaustivité des données</a:t>
            </a:r>
          </a:p>
        </p:txBody>
      </p:sp>
      <p:sp>
        <p:nvSpPr>
          <p:cNvPr id="21" name="ZoneTexte 20">
            <a:extLst>
              <a:ext uri="{FF2B5EF4-FFF2-40B4-BE49-F238E27FC236}">
                <a16:creationId xmlns:a16="http://schemas.microsoft.com/office/drawing/2014/main" id="{A08BE31A-6B26-073B-596F-8B5A30555522}"/>
              </a:ext>
            </a:extLst>
          </p:cNvPr>
          <p:cNvSpPr txBox="1"/>
          <p:nvPr/>
        </p:nvSpPr>
        <p:spPr>
          <a:xfrm>
            <a:off x="4708055" y="1876388"/>
            <a:ext cx="419100" cy="1107996"/>
          </a:xfrm>
          <a:prstGeom prst="rect">
            <a:avLst/>
          </a:prstGeom>
          <a:noFill/>
        </p:spPr>
        <p:txBody>
          <a:bodyPr wrap="square" rtlCol="0">
            <a:spAutoFit/>
          </a:bodyPr>
          <a:lstStyle/>
          <a:p>
            <a:r>
              <a:rPr lang="fr-FR" sz="6600" dirty="0"/>
              <a:t>5</a:t>
            </a:r>
          </a:p>
        </p:txBody>
      </p:sp>
      <p:sp>
        <p:nvSpPr>
          <p:cNvPr id="22" name="ZoneTexte 21">
            <a:extLst>
              <a:ext uri="{FF2B5EF4-FFF2-40B4-BE49-F238E27FC236}">
                <a16:creationId xmlns:a16="http://schemas.microsoft.com/office/drawing/2014/main" id="{4D042769-6AA4-3DE7-2A93-742401AF2C35}"/>
              </a:ext>
            </a:extLst>
          </p:cNvPr>
          <p:cNvSpPr txBox="1"/>
          <p:nvPr/>
        </p:nvSpPr>
        <p:spPr>
          <a:xfrm>
            <a:off x="5339809" y="3233271"/>
            <a:ext cx="2997369" cy="338554"/>
          </a:xfrm>
          <a:prstGeom prst="rect">
            <a:avLst/>
          </a:prstGeom>
          <a:noFill/>
        </p:spPr>
        <p:txBody>
          <a:bodyPr wrap="square" rtlCol="0">
            <a:spAutoFit/>
          </a:bodyPr>
          <a:lstStyle/>
          <a:p>
            <a:r>
              <a:rPr lang="fr-FR" sz="800" dirty="0"/>
              <a:t>Objectiver les chargés d’affaires sur les indicateurs de non-qualité.</a:t>
            </a:r>
          </a:p>
        </p:txBody>
      </p:sp>
      <p:sp>
        <p:nvSpPr>
          <p:cNvPr id="23" name="ZoneTexte 22">
            <a:extLst>
              <a:ext uri="{FF2B5EF4-FFF2-40B4-BE49-F238E27FC236}">
                <a16:creationId xmlns:a16="http://schemas.microsoft.com/office/drawing/2014/main" id="{80E51BE3-3167-1B24-C18A-1FD199285D9D}"/>
              </a:ext>
            </a:extLst>
          </p:cNvPr>
          <p:cNvSpPr txBox="1"/>
          <p:nvPr/>
        </p:nvSpPr>
        <p:spPr>
          <a:xfrm>
            <a:off x="4708055" y="2927508"/>
            <a:ext cx="419100" cy="1107996"/>
          </a:xfrm>
          <a:prstGeom prst="rect">
            <a:avLst/>
          </a:prstGeom>
          <a:noFill/>
        </p:spPr>
        <p:txBody>
          <a:bodyPr wrap="square" rtlCol="0">
            <a:spAutoFit/>
          </a:bodyPr>
          <a:lstStyle/>
          <a:p>
            <a:r>
              <a:rPr lang="fr-FR" sz="6600" dirty="0"/>
              <a:t>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2"/>
        <p:cNvGrpSpPr/>
        <p:nvPr/>
      </p:nvGrpSpPr>
      <p:grpSpPr>
        <a:xfrm>
          <a:off x="0" y="0"/>
          <a:ext cx="0" cy="0"/>
          <a:chOff x="0" y="0"/>
          <a:chExt cx="0" cy="0"/>
        </a:xfrm>
      </p:grpSpPr>
      <p:sp>
        <p:nvSpPr>
          <p:cNvPr id="2373" name="Google Shape;2373;p18"/>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a:t>Strategic </a:t>
            </a:r>
            <a:r>
              <a:rPr lang="en" b="1"/>
              <a:t>planning project plan</a:t>
            </a:r>
            <a:endParaRPr b="1"/>
          </a:p>
        </p:txBody>
      </p:sp>
      <p:graphicFrame>
        <p:nvGraphicFramePr>
          <p:cNvPr id="2374" name="Google Shape;2374;p18"/>
          <p:cNvGraphicFramePr/>
          <p:nvPr>
            <p:extLst>
              <p:ext uri="{D42A27DB-BD31-4B8C-83A1-F6EECF244321}">
                <p14:modId xmlns:p14="http://schemas.microsoft.com/office/powerpoint/2010/main" val="3535007619"/>
              </p:ext>
            </p:extLst>
          </p:nvPr>
        </p:nvGraphicFramePr>
        <p:xfrm>
          <a:off x="790338" y="1244750"/>
          <a:ext cx="7563275" cy="2574905"/>
        </p:xfrm>
        <a:graphic>
          <a:graphicData uri="http://schemas.openxmlformats.org/drawingml/2006/table">
            <a:tbl>
              <a:tblPr>
                <a:noFill/>
                <a:tableStyleId>{40272DF2-5866-4BD9-90D9-472611E76D45}</a:tableStyleId>
              </a:tblPr>
              <a:tblGrid>
                <a:gridCol w="2206125">
                  <a:extLst>
                    <a:ext uri="{9D8B030D-6E8A-4147-A177-3AD203B41FA5}">
                      <a16:colId xmlns:a16="http://schemas.microsoft.com/office/drawing/2014/main" val="20000"/>
                    </a:ext>
                  </a:extLst>
                </a:gridCol>
                <a:gridCol w="694450">
                  <a:extLst>
                    <a:ext uri="{9D8B030D-6E8A-4147-A177-3AD203B41FA5}">
                      <a16:colId xmlns:a16="http://schemas.microsoft.com/office/drawing/2014/main" val="20001"/>
                    </a:ext>
                  </a:extLst>
                </a:gridCol>
                <a:gridCol w="399025">
                  <a:extLst>
                    <a:ext uri="{9D8B030D-6E8A-4147-A177-3AD203B41FA5}">
                      <a16:colId xmlns:a16="http://schemas.microsoft.com/office/drawing/2014/main" val="20002"/>
                    </a:ext>
                  </a:extLst>
                </a:gridCol>
                <a:gridCol w="399025">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6225">
                  <a:extLst>
                    <a:ext uri="{9D8B030D-6E8A-4147-A177-3AD203B41FA5}">
                      <a16:colId xmlns:a16="http://schemas.microsoft.com/office/drawing/2014/main" val="20005"/>
                    </a:ext>
                  </a:extLst>
                </a:gridCol>
                <a:gridCol w="398850">
                  <a:extLst>
                    <a:ext uri="{9D8B030D-6E8A-4147-A177-3AD203B41FA5}">
                      <a16:colId xmlns:a16="http://schemas.microsoft.com/office/drawing/2014/main" val="20006"/>
                    </a:ext>
                  </a:extLst>
                </a:gridCol>
                <a:gridCol w="386200">
                  <a:extLst>
                    <a:ext uri="{9D8B030D-6E8A-4147-A177-3AD203B41FA5}">
                      <a16:colId xmlns:a16="http://schemas.microsoft.com/office/drawing/2014/main" val="20007"/>
                    </a:ext>
                  </a:extLst>
                </a:gridCol>
                <a:gridCol w="386200">
                  <a:extLst>
                    <a:ext uri="{9D8B030D-6E8A-4147-A177-3AD203B41FA5}">
                      <a16:colId xmlns:a16="http://schemas.microsoft.com/office/drawing/2014/main" val="20008"/>
                    </a:ext>
                  </a:extLst>
                </a:gridCol>
                <a:gridCol w="386200">
                  <a:extLst>
                    <a:ext uri="{9D8B030D-6E8A-4147-A177-3AD203B41FA5}">
                      <a16:colId xmlns:a16="http://schemas.microsoft.com/office/drawing/2014/main" val="20009"/>
                    </a:ext>
                  </a:extLst>
                </a:gridCol>
                <a:gridCol w="382850">
                  <a:extLst>
                    <a:ext uri="{9D8B030D-6E8A-4147-A177-3AD203B41FA5}">
                      <a16:colId xmlns:a16="http://schemas.microsoft.com/office/drawing/2014/main" val="20010"/>
                    </a:ext>
                  </a:extLst>
                </a:gridCol>
                <a:gridCol w="386200">
                  <a:extLst>
                    <a:ext uri="{9D8B030D-6E8A-4147-A177-3AD203B41FA5}">
                      <a16:colId xmlns:a16="http://schemas.microsoft.com/office/drawing/2014/main" val="20011"/>
                    </a:ext>
                  </a:extLst>
                </a:gridCol>
                <a:gridCol w="386225">
                  <a:extLst>
                    <a:ext uri="{9D8B030D-6E8A-4147-A177-3AD203B41FA5}">
                      <a16:colId xmlns:a16="http://schemas.microsoft.com/office/drawing/2014/main" val="20012"/>
                    </a:ext>
                  </a:extLst>
                </a:gridCol>
                <a:gridCol w="382850">
                  <a:extLst>
                    <a:ext uri="{9D8B030D-6E8A-4147-A177-3AD203B41FA5}">
                      <a16:colId xmlns:a16="http://schemas.microsoft.com/office/drawing/2014/main" val="20013"/>
                    </a:ext>
                  </a:extLst>
                </a:gridCol>
              </a:tblGrid>
              <a:tr h="365725">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STEP</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Week</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1</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a:solidFill>
                            <a:schemeClr val="lt1"/>
                          </a:solidFill>
                          <a:latin typeface="Space Grotesk Medium"/>
                          <a:ea typeface="Space Grotesk Medium"/>
                          <a:cs typeface="Space Grotesk Medium"/>
                          <a:sym typeface="Space Grotesk Medium"/>
                        </a:rPr>
                        <a:t>2</a:t>
                      </a:r>
                      <a:endParaRPr sz="1200" u="none" strike="noStrike" cap="none">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3</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4</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a:solidFill>
                            <a:schemeClr val="lt1"/>
                          </a:solidFill>
                          <a:latin typeface="Space Grotesk Medium"/>
                          <a:ea typeface="Space Grotesk Medium"/>
                          <a:cs typeface="Space Grotesk Medium"/>
                          <a:sym typeface="Space Grotesk Medium"/>
                        </a:rPr>
                        <a:t>5</a:t>
                      </a:r>
                      <a:endParaRPr sz="1200" u="none" strike="noStrike" cap="none">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6</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7</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a:solidFill>
                            <a:schemeClr val="lt1"/>
                          </a:solidFill>
                          <a:latin typeface="Space Grotesk Medium"/>
                          <a:ea typeface="Space Grotesk Medium"/>
                          <a:cs typeface="Space Grotesk Medium"/>
                          <a:sym typeface="Space Grotesk Medium"/>
                        </a:rPr>
                        <a:t>8</a:t>
                      </a:r>
                      <a:endParaRPr sz="1200" u="none" strike="noStrike" cap="none">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9</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10</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11</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200" u="none" strike="noStrike" cap="none" dirty="0">
                          <a:solidFill>
                            <a:schemeClr val="lt1"/>
                          </a:solidFill>
                          <a:latin typeface="Space Grotesk Medium"/>
                          <a:ea typeface="Space Grotesk Medium"/>
                          <a:cs typeface="Space Grotesk Medium"/>
                          <a:sym typeface="Space Grotesk Medium"/>
                        </a:rPr>
                        <a:t>12</a:t>
                      </a:r>
                      <a:endParaRPr sz="1200" u="none" strike="noStrike" cap="none" dirty="0">
                        <a:solidFill>
                          <a:schemeClr val="lt1"/>
                        </a:solidFill>
                        <a:latin typeface="Space Grotesk Medium"/>
                        <a:ea typeface="Space Grotesk Medium"/>
                        <a:cs typeface="Space Grotesk Medium"/>
                        <a:sym typeface="Space Grotesk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extLst>
                  <a:ext uri="{0D108BD9-81ED-4DB2-BD59-A6C34878D82A}">
                    <a16:rowId xmlns:a16="http://schemas.microsoft.com/office/drawing/2014/main" val="10000"/>
                  </a:ext>
                </a:extLst>
              </a:tr>
              <a:tr h="3657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lt1"/>
                          </a:solidFill>
                          <a:latin typeface="Dosis"/>
                          <a:ea typeface="Dosis"/>
                          <a:cs typeface="Dosis"/>
                          <a:sym typeface="Dosis"/>
                        </a:rPr>
                        <a:t>1- Présentation de l’analyse</a:t>
                      </a:r>
                      <a:endParaRPr sz="1200" u="none" strike="noStrike" cap="none" dirty="0">
                        <a:solidFill>
                          <a:schemeClr val="lt1"/>
                        </a:solidFill>
                        <a:latin typeface="Dosis"/>
                        <a:ea typeface="Dosis"/>
                        <a:cs typeface="Dosis"/>
                        <a:sym typeface="Dosi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3657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lt1"/>
                          </a:solidFill>
                          <a:latin typeface="Dosis"/>
                          <a:ea typeface="Dosis"/>
                          <a:cs typeface="Dosis"/>
                          <a:sym typeface="Dosis"/>
                        </a:rPr>
                        <a:t>2-Plan d’actions avec resp. QHSE</a:t>
                      </a:r>
                      <a:endParaRPr sz="1200" u="none" strike="noStrike" cap="none" dirty="0">
                        <a:solidFill>
                          <a:schemeClr val="lt1"/>
                        </a:solidFill>
                        <a:latin typeface="Dosis"/>
                        <a:ea typeface="Dosis"/>
                        <a:cs typeface="Dosis"/>
                        <a:sym typeface="Dosi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3657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lt1"/>
                          </a:solidFill>
                          <a:latin typeface="Dosis"/>
                          <a:ea typeface="Dosis"/>
                          <a:cs typeface="Dosis"/>
                          <a:sym typeface="Dosis"/>
                        </a:rPr>
                        <a:t>3-Mise en place KPI</a:t>
                      </a:r>
                      <a:endParaRPr sz="1200" u="none" strike="noStrike" cap="none" dirty="0">
                        <a:solidFill>
                          <a:schemeClr val="lt1"/>
                        </a:solidFill>
                        <a:latin typeface="Dosis"/>
                        <a:ea typeface="Dosis"/>
                        <a:cs typeface="Dosis"/>
                        <a:sym typeface="Dosi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bg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380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lt1"/>
                          </a:solidFill>
                          <a:latin typeface="Dosis"/>
                          <a:ea typeface="Dosis"/>
                          <a:cs typeface="Dosis"/>
                          <a:sym typeface="Dosis"/>
                        </a:rPr>
                        <a:t>4-</a:t>
                      </a:r>
                      <a:r>
                        <a:rPr lang="fr-FR" sz="1200" u="none" strike="noStrike" cap="none" dirty="0">
                          <a:solidFill>
                            <a:schemeClr val="lt1"/>
                          </a:solidFill>
                          <a:latin typeface="Dosis"/>
                          <a:ea typeface="Dosis"/>
                          <a:cs typeface="Dosis"/>
                          <a:sym typeface="Dosis"/>
                        </a:rPr>
                        <a:t>Etude terrain</a:t>
                      </a:r>
                      <a:endParaRPr sz="1200" u="none" strike="noStrike" cap="none" dirty="0">
                        <a:solidFill>
                          <a:schemeClr val="lt1"/>
                        </a:solidFill>
                        <a:latin typeface="Dosis"/>
                        <a:ea typeface="Dosis"/>
                        <a:cs typeface="Dosis"/>
                        <a:sym typeface="Dosi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r h="3657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lt1"/>
                          </a:solidFill>
                          <a:latin typeface="Dosis"/>
                          <a:ea typeface="Dosis"/>
                          <a:cs typeface="Dosis"/>
                          <a:sym typeface="Dosis"/>
                        </a:rPr>
                        <a:t>5-Debriefing étude terrain</a:t>
                      </a:r>
                      <a:endParaRPr sz="1200" u="none" strike="noStrike" cap="none" dirty="0">
                        <a:solidFill>
                          <a:schemeClr val="lt1"/>
                        </a:solidFill>
                        <a:latin typeface="Dosis"/>
                        <a:ea typeface="Dosis"/>
                        <a:cs typeface="Dosis"/>
                        <a:sym typeface="Dosi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r h="3657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dirty="0">
                          <a:solidFill>
                            <a:schemeClr val="lt1"/>
                          </a:solidFill>
                          <a:latin typeface="Dosis"/>
                          <a:ea typeface="Dosis"/>
                          <a:cs typeface="Dosis"/>
                          <a:sym typeface="Dosis"/>
                        </a:rPr>
                        <a:t>6-Plan d’actions N°2 selon retex</a:t>
                      </a:r>
                      <a:endParaRPr sz="1200" u="none" strike="noStrike" cap="none" dirty="0">
                        <a:solidFill>
                          <a:schemeClr val="lt1"/>
                        </a:solidFill>
                        <a:latin typeface="Dosis"/>
                        <a:ea typeface="Dosis"/>
                        <a:cs typeface="Dosis"/>
                        <a:sym typeface="Dosi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8EDA97"/>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solidFill>
                          <a:schemeClr val="lt1"/>
                        </a:solidFill>
                        <a:latin typeface="Quattrocento"/>
                        <a:ea typeface="Quattrocento"/>
                        <a:cs typeface="Quattrocento"/>
                        <a:sym typeface="Quattrocento"/>
                      </a:endParaRPr>
                    </a:p>
                  </a:txBody>
                  <a:tcPr marL="91425" marR="91425" marT="91425" marB="91425">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375" name="Google Shape;2375;p18"/>
          <p:cNvSpPr txBox="1"/>
          <p:nvPr/>
        </p:nvSpPr>
        <p:spPr>
          <a:xfrm>
            <a:off x="3686137" y="1614262"/>
            <a:ext cx="407120" cy="346242"/>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400" b="0" i="0" u="none" strike="noStrike" cap="none" dirty="0">
              <a:solidFill>
                <a:schemeClr val="dk1"/>
              </a:solidFill>
              <a:latin typeface="Dosis"/>
              <a:ea typeface="Dosis"/>
              <a:cs typeface="Dosis"/>
              <a:sym typeface="Dosis"/>
            </a:endParaRPr>
          </a:p>
        </p:txBody>
      </p:sp>
      <p:sp>
        <p:nvSpPr>
          <p:cNvPr id="2" name="Google Shape;2375;p18">
            <a:extLst>
              <a:ext uri="{FF2B5EF4-FFF2-40B4-BE49-F238E27FC236}">
                <a16:creationId xmlns:a16="http://schemas.microsoft.com/office/drawing/2014/main" id="{E965BE43-297E-EEC5-781E-E2B1CEED6CAE}"/>
              </a:ext>
            </a:extLst>
          </p:cNvPr>
          <p:cNvSpPr txBox="1"/>
          <p:nvPr/>
        </p:nvSpPr>
        <p:spPr>
          <a:xfrm>
            <a:off x="4093446" y="1970078"/>
            <a:ext cx="407119" cy="348726"/>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400" b="0" i="0" u="none" strike="noStrike" cap="none" dirty="0">
              <a:solidFill>
                <a:schemeClr val="dk1"/>
              </a:solidFill>
              <a:latin typeface="Dosis"/>
              <a:ea typeface="Dosis"/>
              <a:cs typeface="Dosis"/>
              <a:sym typeface="Dosis"/>
            </a:endParaRPr>
          </a:p>
        </p:txBody>
      </p:sp>
      <p:sp>
        <p:nvSpPr>
          <p:cNvPr id="3" name="Google Shape;2375;p18">
            <a:extLst>
              <a:ext uri="{FF2B5EF4-FFF2-40B4-BE49-F238E27FC236}">
                <a16:creationId xmlns:a16="http://schemas.microsoft.com/office/drawing/2014/main" id="{5493A208-FFAB-BCE4-2FF1-75B217EC7861}"/>
              </a:ext>
            </a:extLst>
          </p:cNvPr>
          <p:cNvSpPr txBox="1"/>
          <p:nvPr/>
        </p:nvSpPr>
        <p:spPr>
          <a:xfrm>
            <a:off x="4505352" y="2332026"/>
            <a:ext cx="757483" cy="346235"/>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400" b="0" i="0" u="none" strike="noStrike" cap="none" dirty="0">
              <a:solidFill>
                <a:schemeClr val="dk1"/>
              </a:solidFill>
              <a:latin typeface="Dosis"/>
              <a:ea typeface="Dosis"/>
              <a:cs typeface="Dosis"/>
              <a:sym typeface="Dosis"/>
            </a:endParaRPr>
          </a:p>
        </p:txBody>
      </p:sp>
      <p:sp>
        <p:nvSpPr>
          <p:cNvPr id="4" name="Google Shape;2375;p18">
            <a:extLst>
              <a:ext uri="{FF2B5EF4-FFF2-40B4-BE49-F238E27FC236}">
                <a16:creationId xmlns:a16="http://schemas.microsoft.com/office/drawing/2014/main" id="{BF8C2F05-557C-D22C-E247-78C5BF6EEECD}"/>
              </a:ext>
            </a:extLst>
          </p:cNvPr>
          <p:cNvSpPr txBox="1"/>
          <p:nvPr/>
        </p:nvSpPr>
        <p:spPr>
          <a:xfrm>
            <a:off x="4505352" y="2691483"/>
            <a:ext cx="757472" cy="346235"/>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400" b="0" i="0" u="none" strike="noStrike" cap="none" dirty="0">
              <a:solidFill>
                <a:schemeClr val="dk1"/>
              </a:solidFill>
              <a:latin typeface="Dosis"/>
              <a:ea typeface="Dosis"/>
              <a:cs typeface="Dosis"/>
              <a:sym typeface="Dosis"/>
            </a:endParaRPr>
          </a:p>
        </p:txBody>
      </p:sp>
      <p:sp>
        <p:nvSpPr>
          <p:cNvPr id="5" name="Google Shape;2375;p18">
            <a:extLst>
              <a:ext uri="{FF2B5EF4-FFF2-40B4-BE49-F238E27FC236}">
                <a16:creationId xmlns:a16="http://schemas.microsoft.com/office/drawing/2014/main" id="{2FD994B4-A7FA-414E-426C-380A50454553}"/>
              </a:ext>
            </a:extLst>
          </p:cNvPr>
          <p:cNvSpPr txBox="1"/>
          <p:nvPr/>
        </p:nvSpPr>
        <p:spPr>
          <a:xfrm>
            <a:off x="5258038" y="3065301"/>
            <a:ext cx="168902" cy="346235"/>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400" b="0" i="0" u="none" strike="noStrike" cap="none" dirty="0">
              <a:solidFill>
                <a:schemeClr val="dk1"/>
              </a:solidFill>
              <a:latin typeface="Dosis"/>
              <a:ea typeface="Dosis"/>
              <a:cs typeface="Dosis"/>
              <a:sym typeface="Dosis"/>
            </a:endParaRPr>
          </a:p>
        </p:txBody>
      </p:sp>
      <p:sp>
        <p:nvSpPr>
          <p:cNvPr id="6" name="Google Shape;2375;p18">
            <a:extLst>
              <a:ext uri="{FF2B5EF4-FFF2-40B4-BE49-F238E27FC236}">
                <a16:creationId xmlns:a16="http://schemas.microsoft.com/office/drawing/2014/main" id="{11C00115-2DD9-BAE3-2BBF-DDBDF7BB707E}"/>
              </a:ext>
            </a:extLst>
          </p:cNvPr>
          <p:cNvSpPr txBox="1"/>
          <p:nvPr/>
        </p:nvSpPr>
        <p:spPr>
          <a:xfrm>
            <a:off x="5431727" y="3430684"/>
            <a:ext cx="590861" cy="346235"/>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400"/>
              <a:buFont typeface="Arial"/>
              <a:buNone/>
            </a:pPr>
            <a:endParaRPr sz="400" b="0" i="0" u="none" strike="noStrike" cap="none" dirty="0">
              <a:solidFill>
                <a:schemeClr val="dk1"/>
              </a:solidFill>
              <a:latin typeface="Dosis"/>
              <a:ea typeface="Dosis"/>
              <a:cs typeface="Dosis"/>
              <a:sym typeface="Dosis"/>
            </a:endParaRP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6882</TotalTime>
  <Words>1310</Words>
  <Application>Microsoft Office PowerPoint</Application>
  <PresentationFormat>Affichage à l'écran (16:9)</PresentationFormat>
  <Paragraphs>253</Paragraphs>
  <Slides>25</Slides>
  <Notes>23</Notes>
  <HiddenSlides>0</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25</vt:i4>
      </vt:variant>
    </vt:vector>
  </HeadingPairs>
  <TitlesOfParts>
    <vt:vector size="37" baseType="lpstr">
      <vt:lpstr>Montserrat</vt:lpstr>
      <vt:lpstr>Wingdings</vt:lpstr>
      <vt:lpstr>Space Grotesk</vt:lpstr>
      <vt:lpstr>Inter</vt:lpstr>
      <vt:lpstr>Aptos</vt:lpstr>
      <vt:lpstr>Space Grotesk Medium</vt:lpstr>
      <vt:lpstr>Dosis</vt:lpstr>
      <vt:lpstr>Arial</vt:lpstr>
      <vt:lpstr>Space Grotesk Light</vt:lpstr>
      <vt:lpstr>Quattrocento</vt:lpstr>
      <vt:lpstr>Aptos Display</vt:lpstr>
      <vt:lpstr>Thème Office</vt:lpstr>
      <vt:lpstr>Analysez une demande business et identifiez les segments du marché les plus pertinents pour votre client</vt:lpstr>
      <vt:lpstr>Le contexte</vt:lpstr>
      <vt:lpstr>Le contexte</vt:lpstr>
      <vt:lpstr>Contexte</vt:lpstr>
      <vt:lpstr>SWOT / PESTEL</vt:lpstr>
      <vt:lpstr>Matrice SWOT</vt:lpstr>
      <vt:lpstr>Politique</vt:lpstr>
      <vt:lpstr>Analyses des tendances actuelles</vt:lpstr>
      <vt:lpstr>Tendances  actuelles</vt:lpstr>
      <vt:lpstr>Présentation PowerPoint</vt:lpstr>
      <vt:lpstr>Présentation PowerPoint</vt:lpstr>
      <vt:lpstr>Présentation PowerPoint</vt:lpstr>
      <vt:lpstr>Présentation PowerPoint</vt:lpstr>
      <vt:lpstr>Présentation PowerPoint</vt:lpstr>
      <vt:lpstr>Présentation PowerPoint</vt:lpstr>
      <vt:lpstr>Les futures tendances et perspectives</vt:lpstr>
      <vt:lpstr>Tendances futures</vt:lpstr>
      <vt:lpstr>Analyses du ou des segment(s)</vt:lpstr>
      <vt:lpstr>CA brute  et marge brute</vt:lpstr>
      <vt:lpstr>Fréquence  des non-qualités  </vt:lpstr>
      <vt:lpstr>Présentation PowerPoint</vt:lpstr>
      <vt:lpstr>Présentation PowerPoint</vt:lpstr>
      <vt:lpstr>Recommandations stratégiques</vt:lpstr>
      <vt:lpstr>Recommendations</vt:lpstr>
      <vt:lpstr>Strategic planning project plan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Jeremy</dc:creator>
  <cp:lastModifiedBy>Thomas SECQUEVILLE</cp:lastModifiedBy>
  <cp:revision>59</cp:revision>
  <dcterms:modified xsi:type="dcterms:W3CDTF">2026-06-20T08:00:41Z</dcterms:modified>
</cp:coreProperties>
</file>
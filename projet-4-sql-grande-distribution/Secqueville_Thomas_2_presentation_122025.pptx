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3" r:id="rId5"/>
    <p:sldId id="259" r:id="rId6"/>
    <p:sldId id="262" r:id="rId7"/>
    <p:sldId id="261" r:id="rId8"/>
    <p:sldId id="260" r:id="rId9"/>
    <p:sldId id="264" r:id="rId10"/>
    <p:sldId id="270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320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B6F86-024D-47FD-8579-4EDBD14B8708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952B3-F3A0-4982-9485-C532963773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197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952B3-F3A0-4982-9485-C5329637735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42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3ECE59-C11A-A67D-2EFC-390AD9DD7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16A295-E663-B300-3CCD-61CE4A7AC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9E0B01-DC24-1C08-5867-90D6A256A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4E3F9B-63CF-E560-8A83-35F51520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373E8-DACD-0DD8-102E-1235797C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24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00BE3C-918D-4B74-4806-F6D9FC8E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97B16E-6999-BA87-1E53-C3D28AAC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264407-296F-F156-BAB3-19DDA24F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CBCF6B-03E7-CD34-6AF0-04352E0C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EDE82C-ECC2-6E6A-4FE0-F8C0312E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903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0B525C-3EE5-E6A4-B520-89E5FE94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95CABA-DCFC-A4C8-D919-4C8276B46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2E39BC-3BDE-CAC8-DDC5-FD8B1E06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3290BF-A63C-E2F9-7B98-A85DBD9B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B614B1-35F7-7EFD-9D7B-3816A083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37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44EE41-6BCC-E4AD-2F0A-46F10D00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F2244C-5D1F-65E0-55D7-188A996DC6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0CE827-4474-AB04-9B65-909DA4FE4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682535-D760-FCC4-CF1F-1EDF6B25A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898417-9525-99BA-04B1-B1B66666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FF8482-1FA6-5B3B-EFB2-6ED0C1ED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44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D0F851-0C84-732F-848E-24B5A4F6A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13270B-DB95-2126-9B07-E4F09D9A5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B21F6B-DF55-6B23-05FA-EAB9256C7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DD98929-0701-073E-0D57-82475AA12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9B3D03-E237-1E82-83F1-DA1BD7864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E6822B-5F98-F813-4AB8-40777BF9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4BBC719-8151-4871-9177-1A1EEF1B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30DE1D8-D022-7BAD-3130-367C3A54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49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AA9466-B941-3E4B-D06F-6240DFA7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266FFB2-1BB3-CDD3-0E8F-54516AC8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BDDC1E-98C0-8B17-8BBF-2F09C419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9C1803-2222-AF5B-5633-F430AE2B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81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D374F6-677F-92C4-9DCA-FD1A5F71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C71884-FA2C-34B5-8F05-65BD9E35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B12857-352F-E5FE-36F5-511B27D3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11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4DDF0-3F5A-57BB-02C2-6ABED7B3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A924BC-BF1D-4BCE-EA10-B0ABCD330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93B57B-EFF5-A3FA-AC9F-3AFB5B525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2BCD44-025D-1886-A318-D55AB0520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06D42C-1A8B-FE0F-16DC-10BF84E1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6A0C88-D782-FDE1-77C2-2D86B3B9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89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1C4ED-FC52-A36B-DC04-5AFB6410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5F6BD52-6212-990F-6D24-467F8E1C4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B7027B-1EA0-4817-FCCA-CB140C9A0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CF67D0-EB99-B227-2C0A-5F034586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5A373C-66C0-16D9-98B7-18A6F080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BD99B5-608D-EB40-0776-0114E5AC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1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84DA51-B42C-675D-BD89-62642003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300217-FFA4-03FD-5F35-EEEFF861A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A9D584-9EFD-F6BF-42FE-58BD6F6A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9624A9-6CBB-479C-E9A2-B8B96BDF3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E58041-F6F0-F5F3-72C9-E4C77E22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52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16408CF-B94C-F9E1-7184-66747642E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ACB71A-25B1-2511-8D6B-28A6432AE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9BB5D3-B6B7-9F7C-1A6E-1E4AB164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B41CDD-7E1B-3186-276F-F8AD2E77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E14439-0BEA-F34F-B21E-A94DB837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34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A98E22C-8A6E-8D0B-334F-B72FDB317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7D2B09-6A5F-E108-433F-0DC6E0AA0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7ED312-43EA-639C-C76A-B4BA90EFB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B7C9F-37BD-4AD3-A834-88F4EB6BA862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F3B3E5-19AB-9B8C-8968-33D45D08E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6FEA48-7EB7-CFB1-534B-2D2092C73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F3C93-DE79-4067-B8ED-D723803440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45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2EEE18C-B796-3115-64E3-6A42369AE99A}"/>
              </a:ext>
            </a:extLst>
          </p:cNvPr>
          <p:cNvSpPr txBox="1"/>
          <p:nvPr/>
        </p:nvSpPr>
        <p:spPr>
          <a:xfrm>
            <a:off x="839772" y="809108"/>
            <a:ext cx="4137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</a:t>
            </a:r>
            <a:r>
              <a:rPr lang="fr-FR" b="1" dirty="0"/>
              <a:t>ontexte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8FD5115-BFE1-52A8-CD7C-A93EF5CCB579}"/>
              </a:ext>
            </a:extLst>
          </p:cNvPr>
          <p:cNvSpPr txBox="1"/>
          <p:nvPr/>
        </p:nvSpPr>
        <p:spPr>
          <a:xfrm>
            <a:off x="839772" y="1463114"/>
            <a:ext cx="4137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B</a:t>
            </a:r>
            <a:r>
              <a:rPr lang="fr-FR" b="1" dirty="0"/>
              <a:t>onnes pratiques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702DD89-F65A-2A6E-775A-4B5E66D43AD3}"/>
              </a:ext>
            </a:extLst>
          </p:cNvPr>
          <p:cNvSpPr txBox="1"/>
          <p:nvPr/>
        </p:nvSpPr>
        <p:spPr>
          <a:xfrm>
            <a:off x="839772" y="2145695"/>
            <a:ext cx="4137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</a:t>
            </a:r>
            <a:r>
              <a:rPr lang="fr-FR" b="1" dirty="0"/>
              <a:t>éthodologie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02A2082-92CC-2D54-B9D6-6EF003D308DC}"/>
              </a:ext>
            </a:extLst>
          </p:cNvPr>
          <p:cNvSpPr txBox="1"/>
          <p:nvPr/>
        </p:nvSpPr>
        <p:spPr>
          <a:xfrm>
            <a:off x="839772" y="2828276"/>
            <a:ext cx="4137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</a:t>
            </a:r>
            <a:r>
              <a:rPr lang="fr-FR" b="1" dirty="0"/>
              <a:t>aptures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22721D6-2077-A794-9F56-5D4A7B245FBB}"/>
              </a:ext>
            </a:extLst>
          </p:cNvPr>
          <p:cNvSpPr txBox="1"/>
          <p:nvPr/>
        </p:nvSpPr>
        <p:spPr>
          <a:xfrm>
            <a:off x="1138710" y="3318216"/>
            <a:ext cx="413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i="1" dirty="0"/>
              <a:t>Base de données extraite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2DD6FB-9EC6-0883-EEE4-3863A2554E9F}"/>
              </a:ext>
            </a:extLst>
          </p:cNvPr>
          <p:cNvSpPr txBox="1"/>
          <p:nvPr/>
        </p:nvSpPr>
        <p:spPr>
          <a:xfrm>
            <a:off x="1138710" y="3687548"/>
            <a:ext cx="413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i="1" dirty="0"/>
              <a:t>Dictionnaire de données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781D6D3-6343-847F-F107-707B496A3333}"/>
              </a:ext>
            </a:extLst>
          </p:cNvPr>
          <p:cNvSpPr txBox="1"/>
          <p:nvPr/>
        </p:nvSpPr>
        <p:spPr>
          <a:xfrm>
            <a:off x="1138710" y="4056880"/>
            <a:ext cx="413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i="1" dirty="0"/>
              <a:t>Schéma relationnel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5237928-285A-D04F-4A27-58C100A39A4D}"/>
              </a:ext>
            </a:extLst>
          </p:cNvPr>
          <p:cNvSpPr txBox="1"/>
          <p:nvPr/>
        </p:nvSpPr>
        <p:spPr>
          <a:xfrm>
            <a:off x="1138710" y="4426212"/>
            <a:ext cx="413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i="1" dirty="0"/>
              <a:t>Table du SGBDD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C967077-3BD1-8E8B-2E16-536736EEB134}"/>
              </a:ext>
            </a:extLst>
          </p:cNvPr>
          <p:cNvSpPr txBox="1"/>
          <p:nvPr/>
        </p:nvSpPr>
        <p:spPr>
          <a:xfrm>
            <a:off x="1138710" y="4795544"/>
            <a:ext cx="4137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i="1" dirty="0"/>
              <a:t>Requêtes SQL et leurs résultats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60D4F0E-5DC0-97C4-801D-4960BA29F50C}"/>
              </a:ext>
            </a:extLst>
          </p:cNvPr>
          <p:cNvSpPr txBox="1"/>
          <p:nvPr/>
        </p:nvSpPr>
        <p:spPr>
          <a:xfrm>
            <a:off x="839772" y="5534208"/>
            <a:ext cx="4137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</a:t>
            </a:r>
            <a:r>
              <a:rPr lang="fr-FR" b="1" dirty="0"/>
              <a:t>ohérence ce des données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88C16C6-9DF7-CC65-4B67-5661A32B5AE9}"/>
              </a:ext>
            </a:extLst>
          </p:cNvPr>
          <p:cNvCxnSpPr/>
          <p:nvPr/>
        </p:nvCxnSpPr>
        <p:spPr>
          <a:xfrm>
            <a:off x="5731084" y="981802"/>
            <a:ext cx="0" cy="50421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612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50B623-17C2-A9E8-6574-6613BE01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904CC74-9411-5182-90EB-B773FAA3B59C}"/>
              </a:ext>
            </a:extLst>
          </p:cNvPr>
          <p:cNvSpPr txBox="1"/>
          <p:nvPr/>
        </p:nvSpPr>
        <p:spPr>
          <a:xfrm>
            <a:off x="1703510" y="2228700"/>
            <a:ext cx="6097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i="1" dirty="0">
                <a:solidFill>
                  <a:srgbClr val="262626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L’équipe du Service Client rencontre des difficultés à exploiter les retours clients au vu des différentes sources de feedback. </a:t>
            </a:r>
            <a:endParaRPr lang="fr-FR" sz="14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fr-FR" sz="1800" i="1" dirty="0">
                <a:solidFill>
                  <a:srgbClr val="262626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 </a:t>
            </a:r>
            <a:endParaRPr lang="fr-FR" sz="14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fr-FR" sz="1800" i="1" dirty="0">
                <a:solidFill>
                  <a:srgbClr val="262626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Le projet RetailInsight360 est lancé afin d’analyser le feedback Clients pour comprendre comment l’expérience Client peut être améliorée.</a:t>
            </a:r>
            <a:endParaRPr lang="fr-FR" sz="14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38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46DB-655C-B362-620E-66302A82F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4E7CEE-266D-D96B-77B0-F548B05E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Bonnes pratiques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882DB8A-4E03-CA1C-1BCD-64BD940AD87C}"/>
              </a:ext>
            </a:extLst>
          </p:cNvPr>
          <p:cNvSpPr txBox="1"/>
          <p:nvPr/>
        </p:nvSpPr>
        <p:spPr>
          <a:xfrm>
            <a:off x="1307856" y="2008892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i="1" dirty="0">
                <a:solidFill>
                  <a:srgbClr val="262626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Stratégie de sauvegarde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2060EFF-B1BF-B161-4FFE-419312B752E1}"/>
              </a:ext>
            </a:extLst>
          </p:cNvPr>
          <p:cNvSpPr txBox="1"/>
          <p:nvPr/>
        </p:nvSpPr>
        <p:spPr>
          <a:xfrm>
            <a:off x="1307856" y="3154822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i="1" dirty="0">
                <a:solidFill>
                  <a:srgbClr val="262626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Stockage</a:t>
            </a:r>
            <a:endParaRPr lang="fr-FR" sz="1400" b="1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62B581-C099-1D00-8CD5-BAC916FA8CBA}"/>
              </a:ext>
            </a:extLst>
          </p:cNvPr>
          <p:cNvSpPr txBox="1"/>
          <p:nvPr/>
        </p:nvSpPr>
        <p:spPr>
          <a:xfrm>
            <a:off x="1307856" y="4300752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i="1" dirty="0">
                <a:solidFill>
                  <a:srgbClr val="262626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Accès aux données</a:t>
            </a:r>
            <a:endParaRPr lang="fr-FR" sz="1400" b="1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7889D4-FC12-4681-7CC5-AC84F3F6E533}"/>
              </a:ext>
            </a:extLst>
          </p:cNvPr>
          <p:cNvSpPr txBox="1"/>
          <p:nvPr/>
        </p:nvSpPr>
        <p:spPr>
          <a:xfrm>
            <a:off x="1307856" y="4670084"/>
            <a:ext cx="8003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i="1" dirty="0">
                <a:solidFill>
                  <a:srgbClr val="262626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Respecter la règlementation RGPD – anonymiser les données</a:t>
            </a:r>
          </a:p>
          <a:p>
            <a:pPr>
              <a:buNone/>
            </a:pPr>
            <a:r>
              <a:rPr lang="fr-FR" sz="1400" i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(limitation des données, anonymisation,…)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6A12C79-00FB-8A9B-8D19-6E14A3160444}"/>
              </a:ext>
            </a:extLst>
          </p:cNvPr>
          <p:cNvSpPr txBox="1"/>
          <p:nvPr/>
        </p:nvSpPr>
        <p:spPr>
          <a:xfrm>
            <a:off x="1307856" y="2440293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i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Faire des sauvegardes régulières de la base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843BC3F-003E-3C76-A186-C0AA794016FC}"/>
              </a:ext>
            </a:extLst>
          </p:cNvPr>
          <p:cNvSpPr txBox="1"/>
          <p:nvPr/>
        </p:nvSpPr>
        <p:spPr>
          <a:xfrm>
            <a:off x="1307856" y="3510915"/>
            <a:ext cx="8003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i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Ne pas stocker sur un seul disque les données.</a:t>
            </a:r>
          </a:p>
          <a:p>
            <a:pPr>
              <a:buNone/>
            </a:pPr>
            <a:r>
              <a:rPr lang="fr-FR" sz="1400" i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Ne pas stocker des données personnelles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06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F2FB-CA30-D3C0-F7A5-77543A3B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82737-6DFF-F877-2232-81BA7CAD3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6860"/>
          </a:xfrm>
        </p:spPr>
        <p:txBody>
          <a:bodyPr>
            <a:normAutofit fontScale="90000"/>
          </a:bodyPr>
          <a:lstStyle/>
          <a:p>
            <a:r>
              <a:rPr lang="fr-FR" dirty="0"/>
              <a:t>Méthodologie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F032DE6-687B-625E-D382-71B2C6E29F57}"/>
              </a:ext>
            </a:extLst>
          </p:cNvPr>
          <p:cNvSpPr txBox="1"/>
          <p:nvPr/>
        </p:nvSpPr>
        <p:spPr>
          <a:xfrm>
            <a:off x="1444867" y="1545368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Base de données (vide) créée via SQLITE STUDIO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4C61C37-DDCC-A190-9FD0-EF1E82E343E4}"/>
              </a:ext>
            </a:extLst>
          </p:cNvPr>
          <p:cNvSpPr txBox="1"/>
          <p:nvPr/>
        </p:nvSpPr>
        <p:spPr>
          <a:xfrm>
            <a:off x="1444867" y="1237591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Création d’une base de données</a:t>
            </a:r>
            <a:endParaRPr lang="fr-FR" sz="1100" b="1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id="{DD70D73F-2674-52D7-F525-975F16261837}"/>
              </a:ext>
            </a:extLst>
          </p:cNvPr>
          <p:cNvSpPr/>
          <p:nvPr/>
        </p:nvSpPr>
        <p:spPr>
          <a:xfrm rot="5400000">
            <a:off x="1041965" y="1301930"/>
            <a:ext cx="237393" cy="179098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4DACDC-3D4E-D0EC-74FE-BA942FD9281C}"/>
              </a:ext>
            </a:extLst>
          </p:cNvPr>
          <p:cNvSpPr txBox="1"/>
          <p:nvPr/>
        </p:nvSpPr>
        <p:spPr>
          <a:xfrm>
            <a:off x="1444864" y="2635837"/>
            <a:ext cx="8692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Fichier .</a:t>
            </a:r>
            <a:r>
              <a:rPr lang="fr-FR" sz="1400" dirty="0" err="1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sql</a:t>
            </a: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 contenant tables + données, </a:t>
            </a:r>
            <a:r>
              <a:rPr lang="fr-FR" sz="1400" dirty="0" err="1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executé</a:t>
            </a: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 dans le Client SQL (</a:t>
            </a:r>
            <a:r>
              <a:rPr lang="fr-FR" sz="1400" dirty="0" err="1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Dbeaver</a:t>
            </a: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) 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921DE98-7BEF-167F-A5B4-0CC76644D2BB}"/>
              </a:ext>
            </a:extLst>
          </p:cNvPr>
          <p:cNvSpPr txBox="1"/>
          <p:nvPr/>
        </p:nvSpPr>
        <p:spPr>
          <a:xfrm>
            <a:off x="1444865" y="2328060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Création des tables et import des données</a:t>
            </a:r>
            <a:endParaRPr lang="fr-FR" sz="1100" b="1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63C57B-6112-58EB-2916-7519AC9E9513}"/>
              </a:ext>
            </a:extLst>
          </p:cNvPr>
          <p:cNvSpPr txBox="1"/>
          <p:nvPr/>
        </p:nvSpPr>
        <p:spPr>
          <a:xfrm>
            <a:off x="1444867" y="4596209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Création du schéma relationnel afin de l’intégrer à la documentation 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1CBD971-DC41-C1FF-A51A-E31D4ABBA9EC}"/>
              </a:ext>
            </a:extLst>
          </p:cNvPr>
          <p:cNvSpPr txBox="1"/>
          <p:nvPr/>
        </p:nvSpPr>
        <p:spPr>
          <a:xfrm>
            <a:off x="1444867" y="4288432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Création d’un schéma relationnel</a:t>
            </a:r>
            <a:endParaRPr lang="fr-FR" sz="1100" b="1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26A704-FCD4-DB43-1102-AB0371BF33CA}"/>
              </a:ext>
            </a:extLst>
          </p:cNvPr>
          <p:cNvSpPr txBox="1"/>
          <p:nvPr/>
        </p:nvSpPr>
        <p:spPr>
          <a:xfrm>
            <a:off x="1444867" y="4903986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Mise à jour du dictionnaire de données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384EDE6-9CBE-0D8E-6CD8-7BF3B9C289B7}"/>
              </a:ext>
            </a:extLst>
          </p:cNvPr>
          <p:cNvSpPr txBox="1"/>
          <p:nvPr/>
        </p:nvSpPr>
        <p:spPr>
          <a:xfrm>
            <a:off x="1444865" y="2956193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Ajout d’une table magasins :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4233E9A-B746-F4A5-064C-898A8055B028}"/>
              </a:ext>
            </a:extLst>
          </p:cNvPr>
          <p:cNvSpPr txBox="1"/>
          <p:nvPr/>
        </p:nvSpPr>
        <p:spPr>
          <a:xfrm>
            <a:off x="1780803" y="3672878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Import des données de la table magasins contenues dans le .csv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04B6CC6-926F-6EA5-B499-5ACF735C4632}"/>
              </a:ext>
            </a:extLst>
          </p:cNvPr>
          <p:cNvSpPr txBox="1"/>
          <p:nvPr/>
        </p:nvSpPr>
        <p:spPr>
          <a:xfrm>
            <a:off x="1444867" y="5508044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Analyses de la base</a:t>
            </a:r>
            <a:endParaRPr lang="fr-FR" sz="1100" b="1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EBFE761-A49A-B652-A60C-E95B57EF2D50}"/>
              </a:ext>
            </a:extLst>
          </p:cNvPr>
          <p:cNvSpPr txBox="1"/>
          <p:nvPr/>
        </p:nvSpPr>
        <p:spPr>
          <a:xfrm>
            <a:off x="1444867" y="5815821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Exécutions de scripts SQL sur la base via un Client SQL.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7" name="Triangle isocèle 26">
            <a:extLst>
              <a:ext uri="{FF2B5EF4-FFF2-40B4-BE49-F238E27FC236}">
                <a16:creationId xmlns:a16="http://schemas.microsoft.com/office/drawing/2014/main" id="{AFAEE602-6A4E-091C-454C-00EE59B8931A}"/>
              </a:ext>
            </a:extLst>
          </p:cNvPr>
          <p:cNvSpPr/>
          <p:nvPr/>
        </p:nvSpPr>
        <p:spPr>
          <a:xfrm rot="5400000">
            <a:off x="1041963" y="2401843"/>
            <a:ext cx="237393" cy="179098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riangle isocèle 27">
            <a:extLst>
              <a:ext uri="{FF2B5EF4-FFF2-40B4-BE49-F238E27FC236}">
                <a16:creationId xmlns:a16="http://schemas.microsoft.com/office/drawing/2014/main" id="{721E3E89-D756-AEFF-26BC-74C58503C1A0}"/>
              </a:ext>
            </a:extLst>
          </p:cNvPr>
          <p:cNvSpPr/>
          <p:nvPr/>
        </p:nvSpPr>
        <p:spPr>
          <a:xfrm rot="5400000">
            <a:off x="1041964" y="4317580"/>
            <a:ext cx="237393" cy="179098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riangle isocèle 28">
            <a:extLst>
              <a:ext uri="{FF2B5EF4-FFF2-40B4-BE49-F238E27FC236}">
                <a16:creationId xmlns:a16="http://schemas.microsoft.com/office/drawing/2014/main" id="{BAD56DF2-40F5-142C-420E-7DE8D41007F6}"/>
              </a:ext>
            </a:extLst>
          </p:cNvPr>
          <p:cNvSpPr/>
          <p:nvPr/>
        </p:nvSpPr>
        <p:spPr>
          <a:xfrm rot="5400000">
            <a:off x="1041964" y="5572383"/>
            <a:ext cx="237393" cy="179098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D253C93-B59B-280D-7F2A-234C8CF06779}"/>
              </a:ext>
            </a:extLst>
          </p:cNvPr>
          <p:cNvSpPr txBox="1"/>
          <p:nvPr/>
        </p:nvSpPr>
        <p:spPr>
          <a:xfrm>
            <a:off x="1780803" y="3317216"/>
            <a:ext cx="8003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Création d’une table magasin dans </a:t>
            </a:r>
            <a:r>
              <a:rPr lang="fr-FR" sz="1400" dirty="0" err="1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Dbeaver</a:t>
            </a:r>
            <a:r>
              <a:rPr lang="fr-FR" sz="1400" dirty="0">
                <a:solidFill>
                  <a:srgbClr val="262626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 via script SQL</a:t>
            </a:r>
            <a:endParaRPr lang="fr-FR" sz="1100" dirty="0">
              <a:solidFill>
                <a:srgbClr val="262626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47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C301-D081-3530-349B-2F8C7A65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8CD2A034-8E58-6B7A-92B0-D69438AB0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417" y="1729921"/>
            <a:ext cx="1618537" cy="4204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Image 32" descr="Une image contenant texte, capture d’écran, nombre, menu&#10;&#10;Le contenu généré par l’IA peut être incorrect.">
            <a:extLst>
              <a:ext uri="{FF2B5EF4-FFF2-40B4-BE49-F238E27FC236}">
                <a16:creationId xmlns:a16="http://schemas.microsoft.com/office/drawing/2014/main" id="{4EED1C1C-862D-D3D3-2BD4-921C93CD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831" y="1729921"/>
            <a:ext cx="6038092" cy="42305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3EBB48D4-5C90-40CE-BB8D-6395A27449C6}"/>
              </a:ext>
            </a:extLst>
          </p:cNvPr>
          <p:cNvSpPr/>
          <p:nvPr/>
        </p:nvSpPr>
        <p:spPr>
          <a:xfrm>
            <a:off x="1526447" y="4356457"/>
            <a:ext cx="1416205" cy="1070517"/>
          </a:xfrm>
          <a:prstGeom prst="roundRect">
            <a:avLst>
              <a:gd name="adj" fmla="val 4403"/>
            </a:avLst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>
            <a:extLst>
              <a:ext uri="{FF2B5EF4-FFF2-40B4-BE49-F238E27FC236}">
                <a16:creationId xmlns:a16="http://schemas.microsoft.com/office/drawing/2014/main" id="{CBC181AB-EDD7-1F7C-2130-6581119E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022"/>
          </a:xfrm>
        </p:spPr>
        <p:txBody>
          <a:bodyPr>
            <a:normAutofit fontScale="90000"/>
          </a:bodyPr>
          <a:lstStyle/>
          <a:p>
            <a:r>
              <a:rPr lang="fr-FR" dirty="0"/>
              <a:t>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1213413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5E40-1FEA-5E0D-A12D-3E0F92B3B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E6BA8C30-F188-4713-46F8-4BEFF48A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08" y="1371870"/>
            <a:ext cx="1864269" cy="4843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Image 36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4F816109-8CB8-E085-1734-5CA01C654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549" y="1371870"/>
            <a:ext cx="5458950" cy="49314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1C2F749-DE09-D165-CEF5-414B32ED1EF6}"/>
              </a:ext>
            </a:extLst>
          </p:cNvPr>
          <p:cNvSpPr/>
          <p:nvPr/>
        </p:nvSpPr>
        <p:spPr>
          <a:xfrm>
            <a:off x="1071076" y="3150855"/>
            <a:ext cx="1661532" cy="635619"/>
          </a:xfrm>
          <a:prstGeom prst="roundRect">
            <a:avLst>
              <a:gd name="adj" fmla="val 5797"/>
            </a:avLst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0386D5F-1124-BB1B-BB5B-3DC0B6EC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022"/>
          </a:xfrm>
        </p:spPr>
        <p:txBody>
          <a:bodyPr>
            <a:normAutofit fontScale="90000"/>
          </a:bodyPr>
          <a:lstStyle/>
          <a:p>
            <a:r>
              <a:rPr lang="fr-FR" dirty="0"/>
              <a:t>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43423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DBA9-4814-FBA4-7F55-29E6A245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B2F2989E-58D4-383B-366B-10D3FDD82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56" y="1348720"/>
            <a:ext cx="1864269" cy="4843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 descr="Une image contenant texte, capture d’écran, nombre, menu&#10;&#10;Le contenu généré par l’IA peut être incorrect.">
            <a:extLst>
              <a:ext uri="{FF2B5EF4-FFF2-40B4-BE49-F238E27FC236}">
                <a16:creationId xmlns:a16="http://schemas.microsoft.com/office/drawing/2014/main" id="{1655567D-D0B0-5E8B-623E-D02D155D0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924" y="1348720"/>
            <a:ext cx="6091365" cy="4938115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F77D4D9-D54F-482E-8E52-0CCBCE2538B9}"/>
              </a:ext>
            </a:extLst>
          </p:cNvPr>
          <p:cNvSpPr/>
          <p:nvPr/>
        </p:nvSpPr>
        <p:spPr>
          <a:xfrm>
            <a:off x="1112440" y="1577685"/>
            <a:ext cx="1661532" cy="1025912"/>
          </a:xfrm>
          <a:prstGeom prst="roundRect">
            <a:avLst>
              <a:gd name="adj" fmla="val 5797"/>
            </a:avLst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EDA2D36-8B9A-B683-B5BE-8AA50429A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022"/>
          </a:xfrm>
        </p:spPr>
        <p:txBody>
          <a:bodyPr>
            <a:normAutofit fontScale="90000"/>
          </a:bodyPr>
          <a:lstStyle/>
          <a:p>
            <a:r>
              <a:rPr lang="fr-FR" dirty="0"/>
              <a:t>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4212577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B959-74F3-CBCE-7A97-D43C4799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re 1">
            <a:extLst>
              <a:ext uri="{FF2B5EF4-FFF2-40B4-BE49-F238E27FC236}">
                <a16:creationId xmlns:a16="http://schemas.microsoft.com/office/drawing/2014/main" id="{C9E470D0-3837-462F-BC0D-F74E49E2170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65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Dictionnaire de données</a:t>
            </a:r>
          </a:p>
        </p:txBody>
      </p:sp>
      <p:pic>
        <p:nvPicPr>
          <p:cNvPr id="3" name="Image 2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A4BA7DA1-797F-3B9C-618B-DFCB2A14C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1" y="1014075"/>
            <a:ext cx="1023127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03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B9B2-502C-6B88-17DE-833721E2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re 1">
            <a:extLst>
              <a:ext uri="{FF2B5EF4-FFF2-40B4-BE49-F238E27FC236}">
                <a16:creationId xmlns:a16="http://schemas.microsoft.com/office/drawing/2014/main" id="{3219D5E5-D5FF-D208-76DB-47ED15AABBA5}"/>
              </a:ext>
            </a:extLst>
          </p:cNvPr>
          <p:cNvSpPr txBox="1">
            <a:spLocks/>
          </p:cNvSpPr>
          <p:nvPr/>
        </p:nvSpPr>
        <p:spPr>
          <a:xfrm>
            <a:off x="838200" y="631344"/>
            <a:ext cx="10515600" cy="665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Schéma relationnel</a:t>
            </a:r>
          </a:p>
        </p:txBody>
      </p:sp>
      <p:pic>
        <p:nvPicPr>
          <p:cNvPr id="5" name="Image 4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56A9E1D6-AE65-1CF1-D599-952CDB6D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692" y="2378057"/>
            <a:ext cx="9116697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18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5E49-40C2-163E-5814-B566EB42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re 1">
            <a:extLst>
              <a:ext uri="{FF2B5EF4-FFF2-40B4-BE49-F238E27FC236}">
                <a16:creationId xmlns:a16="http://schemas.microsoft.com/office/drawing/2014/main" id="{86A8C32C-EFEA-B9E9-4440-8CE99615736B}"/>
              </a:ext>
            </a:extLst>
          </p:cNvPr>
          <p:cNvSpPr txBox="1">
            <a:spLocks/>
          </p:cNvSpPr>
          <p:nvPr/>
        </p:nvSpPr>
        <p:spPr>
          <a:xfrm>
            <a:off x="838200" y="631344"/>
            <a:ext cx="10515600" cy="665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Requêtes SQL</a:t>
            </a:r>
          </a:p>
        </p:txBody>
      </p:sp>
      <p:pic>
        <p:nvPicPr>
          <p:cNvPr id="7" name="Image 6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1DE425C8-A53D-5AF9-79BB-38EA6135D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270" y="1661999"/>
            <a:ext cx="2088402" cy="66502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BF4F4D5-1BC7-2190-A1CD-88A7A6D91995}"/>
              </a:ext>
            </a:extLst>
          </p:cNvPr>
          <p:cNvSpPr txBox="1"/>
          <p:nvPr/>
        </p:nvSpPr>
        <p:spPr>
          <a:xfrm>
            <a:off x="838200" y="1625178"/>
            <a:ext cx="60940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05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Compter le nombre de retours clients liés à la catégorie "livraison"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Nb_retours_clients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libelle_categorie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05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'livraison'</a:t>
            </a:r>
            <a:r>
              <a:rPr lang="fr-FR" sz="105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1910DDB-7AC0-3728-FD2F-30EDD808C28C}"/>
              </a:ext>
            </a:extLst>
          </p:cNvPr>
          <p:cNvSpPr txBox="1"/>
          <p:nvPr/>
        </p:nvSpPr>
        <p:spPr>
          <a:xfrm>
            <a:off x="838200" y="3786272"/>
            <a:ext cx="60940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note des clients sur les réseaux sociaux sur les TV ?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libelle_source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'Source'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titre_produit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'Produit'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libelle_categorie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'Catégorie'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'Note'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libelle_source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'réseaux sociaux'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titre_produit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'TV'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libelle_categorie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1" name="Image 20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524A830C-0A3C-0A53-3F90-7F74729C1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270" y="3842704"/>
            <a:ext cx="3958689" cy="80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0A8D-C3A7-1F84-ECE8-0B07FF33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D6F56FF-E5F6-465B-E844-948365EECE94}"/>
              </a:ext>
            </a:extLst>
          </p:cNvPr>
          <p:cNvSpPr txBox="1"/>
          <p:nvPr/>
        </p:nvSpPr>
        <p:spPr>
          <a:xfrm>
            <a:off x="571982" y="635714"/>
            <a:ext cx="609407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Note moyenne pour chaque catégorie de produit ? (Classé de la meilleure à la moins bonne) - typologie du produit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'Note'</a:t>
            </a: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/*, count(rc.cle_retour_client ) as 'Nb de retours'*/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E8A4869E-FC85-7736-D009-E3110FB2B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966" y="635714"/>
            <a:ext cx="2943636" cy="130883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77658CE-38B9-0D6C-6E16-5DF4FEB5A69F}"/>
              </a:ext>
            </a:extLst>
          </p:cNvPr>
          <p:cNvSpPr txBox="1"/>
          <p:nvPr/>
        </p:nvSpPr>
        <p:spPr>
          <a:xfrm>
            <a:off x="571982" y="4468379"/>
            <a:ext cx="609407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Magasins avec plus de 12 feedbacks sur le drive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- 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libelle_de_commune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("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'Nb de feedbacks'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magasins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libelle_categorie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fr-FR" sz="1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'drive'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HAVING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0" name="Image 1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2224F3D-FC16-BBA6-8B2E-D5DC16C2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966" y="2686777"/>
            <a:ext cx="2861946" cy="1138911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0E440F2B-6C59-0E49-E2DC-2BB963CDF1F4}"/>
              </a:ext>
            </a:extLst>
          </p:cNvPr>
          <p:cNvSpPr txBox="1"/>
          <p:nvPr/>
        </p:nvSpPr>
        <p:spPr>
          <a:xfrm>
            <a:off x="571982" y="2389621"/>
            <a:ext cx="609487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05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Note moyenne pour les 5 meilleurs magasins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- "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libelle_de_commune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("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'Note'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/*, count(rc.cle_retour_client ) as 'Nb de retours'*/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magasins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4" name="Image 2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504A3AD3-2472-B791-CBCA-35F4471E3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966" y="4689882"/>
            <a:ext cx="2861946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06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D6B7-5D85-C7C8-334B-83A93618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B7D89D3-0A0C-56F2-83DC-5CBE0C61CDD1}"/>
              </a:ext>
            </a:extLst>
          </p:cNvPr>
          <p:cNvSpPr txBox="1"/>
          <p:nvPr/>
        </p:nvSpPr>
        <p:spPr>
          <a:xfrm>
            <a:off x="442733" y="818198"/>
            <a:ext cx="6094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2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Meilleurs départements par note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2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'Note'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magasins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12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769C56C-DFEE-B1E8-13F6-A27D92B5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808" y="589005"/>
            <a:ext cx="2314898" cy="175284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F7546B7-2E54-EDF7-9715-E1A8E3409A27}"/>
              </a:ext>
            </a:extLst>
          </p:cNvPr>
          <p:cNvSpPr txBox="1"/>
          <p:nvPr/>
        </p:nvSpPr>
        <p:spPr>
          <a:xfrm>
            <a:off x="442733" y="2719156"/>
            <a:ext cx="60979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typologie qui apporte le meilleur service après-vente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'Note'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libelle_categorie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fr-FR" sz="1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'service après-vente'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Image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A1CACCBD-2E19-699F-A0E5-1FE61259B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941" y="3203711"/>
            <a:ext cx="2314899" cy="4858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DCFD735-0411-DA66-C844-E70D462E90EE}"/>
              </a:ext>
            </a:extLst>
          </p:cNvPr>
          <p:cNvSpPr txBox="1"/>
          <p:nvPr/>
        </p:nvSpPr>
        <p:spPr>
          <a:xfrm>
            <a:off x="442733" y="4823471"/>
            <a:ext cx="609407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note moyenne sur l'ensemble des boissons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'Boissons'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'Note'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titre_produit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'%boisson%'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titre_produit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'Sodas'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12FEDFF-9EE5-31C8-1D88-94A9AA499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941" y="5189656"/>
            <a:ext cx="2162477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32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AED8D-A746-FAA3-2C40-3DEFC8E2D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AF99AF6-DFFC-F1BF-8B74-FB48BEC80C20}"/>
              </a:ext>
            </a:extLst>
          </p:cNvPr>
          <p:cNvSpPr txBox="1"/>
          <p:nvPr/>
        </p:nvSpPr>
        <p:spPr>
          <a:xfrm>
            <a:off x="803476" y="572073"/>
            <a:ext cx="609407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9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jours de la semaine où l'expérience client est la meilleure en magasin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CAST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9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'%w'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9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9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date_achat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'dimanche'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'lundi'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'mardi'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'mercredi'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'jeudi'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'vendredi'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'samedi'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jour_semaine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9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9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9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9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9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'Note'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jour_semaine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9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9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9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FC38599-F69E-4C55-C86A-053F67034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820" y="733461"/>
            <a:ext cx="2725522" cy="184704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8741490-6060-E98F-E125-99E5CB2A894A}"/>
              </a:ext>
            </a:extLst>
          </p:cNvPr>
          <p:cNvSpPr txBox="1"/>
          <p:nvPr/>
        </p:nvSpPr>
        <p:spPr>
          <a:xfrm>
            <a:off x="799642" y="3233534"/>
            <a:ext cx="609790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0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mois ou il y a le plus de retour client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'%m'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date_achat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'janvier'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'février'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'mars'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'avril'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'mai'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'juin'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'juillet'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'août'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'septembre'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'octobre'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'novembre'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'décembre'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mois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nombre_retours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</a:p>
          <a:p>
            <a:pPr marL="0" marR="0">
              <a:buNone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lang="fr-FR" sz="1000" i="1" dirty="0">
                <a:solidFill>
                  <a:srgbClr val="8E00C6"/>
                </a:solidFill>
                <a:latin typeface="Consolas" panose="020B0609020204030204" pitchFamily="49" charset="0"/>
              </a:rPr>
              <a:t> </a:t>
            </a:r>
            <a:r>
              <a:rPr lang="fr-FR" sz="1000" i="1" dirty="0" err="1">
                <a:solidFill>
                  <a:srgbClr val="8E00C6"/>
                </a:solidFill>
                <a:latin typeface="Consolas" panose="020B0609020204030204" pitchFamily="49" charset="0"/>
              </a:rPr>
              <a:t>rc.note</a:t>
            </a:r>
            <a:r>
              <a:rPr lang="fr-FR" sz="1000" i="1" dirty="0">
                <a:solidFill>
                  <a:srgbClr val="8E00C6"/>
                </a:solidFill>
                <a:latin typeface="Consolas" panose="020B0609020204030204" pitchFamily="49" charset="0"/>
              </a:rPr>
              <a:t> </a:t>
            </a:r>
            <a:r>
              <a:rPr lang="fr-FR" sz="1000" i="1" dirty="0" err="1">
                <a:solidFill>
                  <a:srgbClr val="8E00C6"/>
                </a:solidFill>
                <a:latin typeface="Consolas" panose="020B0609020204030204" pitchFamily="49" charset="0"/>
              </a:rPr>
              <a:t>is</a:t>
            </a:r>
            <a:r>
              <a:rPr lang="fr-FR" sz="1000" i="1" dirty="0">
                <a:solidFill>
                  <a:srgbClr val="8E00C6"/>
                </a:solidFill>
                <a:latin typeface="Consolas" panose="020B0609020204030204" pitchFamily="49" charset="0"/>
              </a:rPr>
              <a:t> not </a:t>
            </a:r>
            <a:r>
              <a:rPr lang="fr-FR" sz="1000" i="1" dirty="0" err="1">
                <a:solidFill>
                  <a:srgbClr val="8E00C6"/>
                </a:solidFill>
                <a:latin typeface="Consolas" panose="020B0609020204030204" pitchFamily="49" charset="0"/>
              </a:rPr>
              <a:t>null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mois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nombre_retours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Image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5E737EAB-4658-18D3-6479-D0FAF65DB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820" y="3153306"/>
            <a:ext cx="2778562" cy="55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6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AC41-31BC-114D-7850-22C4D839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892CAB0-A2F0-ECC5-1AF9-850A5144F690}"/>
              </a:ext>
            </a:extLst>
          </p:cNvPr>
          <p:cNvSpPr txBox="1"/>
          <p:nvPr/>
        </p:nvSpPr>
        <p:spPr>
          <a:xfrm>
            <a:off x="556260" y="460868"/>
            <a:ext cx="718185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05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Pourcentage de recommandations client ? (nb de feedback ayant répondu "Oui" divisé par Nb de retours total)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 err="1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stats_reco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recommandation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Nb_favorables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recommandation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Nb_defavorables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Nb_favorables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Nb_defavorables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Nb_favorables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NULLIF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Nb_favorables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Nb_defavorables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)||</a:t>
            </a:r>
            <a:r>
              <a:rPr lang="fr-FR" sz="105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'%'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taux_reco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stats_reco</a:t>
            </a:r>
            <a:r>
              <a:rPr lang="fr-FR" sz="105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AF8F53-24B5-97AA-7389-0B1ADF8BE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0" y="1259521"/>
            <a:ext cx="3691890" cy="48589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9152997-9375-92A8-39CA-BEFA2A0A4B9D}"/>
              </a:ext>
            </a:extLst>
          </p:cNvPr>
          <p:cNvSpPr txBox="1"/>
          <p:nvPr/>
        </p:nvSpPr>
        <p:spPr>
          <a:xfrm>
            <a:off x="556260" y="3648142"/>
            <a:ext cx="609407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Magasins avec note inférieure à la moyenne 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moyenne_globale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moyenne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- 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u="sng" dirty="0">
                <a:solidFill>
                  <a:srgbClr val="0066CC"/>
                </a:solidFill>
                <a:effectLst/>
                <a:latin typeface="Consolas" panose="020B0609020204030204" pitchFamily="49" charset="0"/>
              </a:rPr>
              <a:t>libelle_de_commune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("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 err="1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note_du_magasin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moyenne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moyenne_globale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 err="1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note_moyenne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magasins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libelle_de_commune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HAVING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 (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moyenne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moyenne_globale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 err="1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note_du_magasin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Image 10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91F52E5-8CE2-9B13-2B30-C56825989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3608353"/>
            <a:ext cx="3691890" cy="26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32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4CC4-8997-E19A-39F0-A9007C76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69448FE-5806-4FC5-F18E-B87AF7DDA11F}"/>
              </a:ext>
            </a:extLst>
          </p:cNvPr>
          <p:cNvSpPr txBox="1"/>
          <p:nvPr/>
        </p:nvSpPr>
        <p:spPr>
          <a:xfrm>
            <a:off x="303836" y="1607737"/>
            <a:ext cx="69071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2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typologies de produit qui ont amélioré leur moyenne entre 2021T1 et 2021T2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2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rc2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SUBSTR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date_achat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2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'01'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'02'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'03'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note_moyenne_T1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rc3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2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rc3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rc3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SUBSTR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rc3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date_achat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2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'04'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'05'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2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'06'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note_moyenne_T2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typologie_produit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HAVING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note_moyenne_T2</a:t>
            </a:r>
            <a:r>
              <a:rPr lang="fr-F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2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note_moyenne_T1</a:t>
            </a:r>
            <a:r>
              <a:rPr lang="fr-FR" sz="12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E4AC3B13-7E3B-8A69-5412-4B0ED26DA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994" y="2935579"/>
            <a:ext cx="4258269" cy="86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64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8522-464E-2D23-B003-3C2334663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C93D620-3E34-4C22-4C7D-B6EB774E4A46}"/>
              </a:ext>
            </a:extLst>
          </p:cNvPr>
          <p:cNvSpPr txBox="1"/>
          <p:nvPr/>
        </p:nvSpPr>
        <p:spPr>
          <a:xfrm>
            <a:off x="489031" y="337098"/>
            <a:ext cx="60940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NPS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stats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detracteurs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note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passifs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promoteurs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detracteurs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taux_detracteurs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passifs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taux_passifs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promoteurs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taux_promoteurs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(((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promoteurs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 (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detracteurs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NPS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stats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CE89D79B-C5A3-088D-270D-7EA9291F5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53" y="1261165"/>
            <a:ext cx="4553618" cy="4763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96EC21E-B28F-9A8D-3E88-3801528BB619}"/>
              </a:ext>
            </a:extLst>
          </p:cNvPr>
          <p:cNvSpPr txBox="1"/>
          <p:nvPr/>
        </p:nvSpPr>
        <p:spPr>
          <a:xfrm>
            <a:off x="489031" y="3720135"/>
            <a:ext cx="609407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0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NPS par source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stats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libelle_source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detracteurs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note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passifs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promoteurs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libelle_source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detracteurs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taux_detracteurs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passifs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taux_passifs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promoteurs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 err="1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taux_promoteurs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(((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promoteurs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 (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detracteurs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100.0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total_retours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  <a:r>
              <a:rPr lang="fr-FR" sz="1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||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%"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NPS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stats</a:t>
            </a:r>
            <a:r>
              <a:rPr lang="fr-F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Image 8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EFD4BF93-87E1-4B3E-AA5D-DB6DAD7E4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753" y="4399449"/>
            <a:ext cx="4553618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83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BC04-D218-1C8E-57CD-56F9076E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002C3B5-0382-1204-DFFB-4F78925DEAD6}"/>
              </a:ext>
            </a:extLst>
          </p:cNvPr>
          <p:cNvSpPr txBox="1"/>
          <p:nvPr/>
        </p:nvSpPr>
        <p:spPr>
          <a:xfrm>
            <a:off x="708950" y="807350"/>
            <a:ext cx="518256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Nb de retours clients par source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libelle_source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Nb_retours_client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libelle_source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5C92D7C0-DA62-32FA-BD3D-F27D9EAEB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169" y="647243"/>
            <a:ext cx="2715004" cy="1007241"/>
          </a:xfrm>
          <a:prstGeom prst="rect">
            <a:avLst/>
          </a:prstGeom>
        </p:spPr>
      </p:pic>
      <p:pic>
        <p:nvPicPr>
          <p:cNvPr id="15" name="Image 1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31E8C71-4FE2-FD52-E903-4266083E7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933" y="3429000"/>
            <a:ext cx="2907791" cy="121937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95C6CBC-9462-19A1-1C9E-EADF9D835D7B}"/>
              </a:ext>
            </a:extLst>
          </p:cNvPr>
          <p:cNvSpPr txBox="1"/>
          <p:nvPr/>
        </p:nvSpPr>
        <p:spPr>
          <a:xfrm>
            <a:off x="640907" y="3363693"/>
            <a:ext cx="594815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05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-- 5 magasins avec le plus de feedbacks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- "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libelle_de_commune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("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cle_retour_client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Nb_retours_client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magasins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5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5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cle_retour_client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DESC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5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fr-FR" sz="105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5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05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05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867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10C6-EE9F-629C-418A-39E70F4A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EA30BA1-3B04-BA7E-C6C0-89119554E65C}"/>
              </a:ext>
            </a:extLst>
          </p:cNvPr>
          <p:cNvSpPr txBox="1"/>
          <p:nvPr/>
        </p:nvSpPr>
        <p:spPr>
          <a:xfrm>
            <a:off x="781611" y="3429000"/>
            <a:ext cx="60948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--Contrôle des données : notes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 6" descr="Une image contenant texte, capture d’écran, nombre, ligne&#10;&#10;Le contenu généré par l’IA peut être incorrect.">
            <a:extLst>
              <a:ext uri="{FF2B5EF4-FFF2-40B4-BE49-F238E27FC236}">
                <a16:creationId xmlns:a16="http://schemas.microsoft.com/office/drawing/2014/main" id="{E6303FE1-BD55-00A5-26B6-F5DF15D5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53" y="3483416"/>
            <a:ext cx="2247377" cy="1164753"/>
          </a:xfrm>
          <a:prstGeom prst="rect">
            <a:avLst/>
          </a:prstGeom>
        </p:spPr>
      </p:pic>
      <p:pic>
        <p:nvPicPr>
          <p:cNvPr id="12" name="Image 11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C30549F-3E3E-0448-A2DC-6D3A6D50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253" y="5335123"/>
            <a:ext cx="2247377" cy="49941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0F725B7D-3A67-2313-0594-29BCCF7AC7A7}"/>
              </a:ext>
            </a:extLst>
          </p:cNvPr>
          <p:cNvSpPr txBox="1"/>
          <p:nvPr/>
        </p:nvSpPr>
        <p:spPr>
          <a:xfrm>
            <a:off x="680758" y="5318341"/>
            <a:ext cx="69773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0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--Contrôle des données : magasins sans aucun retour client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- "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libelle_de_commune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 ("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fr-FR" sz="10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magasin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magasins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ref_magasin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0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44B8FE2-126E-2B1A-764A-27FD64B2B907}"/>
              </a:ext>
            </a:extLst>
          </p:cNvPr>
          <p:cNvSpPr txBox="1"/>
          <p:nvPr/>
        </p:nvSpPr>
        <p:spPr>
          <a:xfrm>
            <a:off x="782419" y="1034232"/>
            <a:ext cx="609407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top 10 des produits les moins bien notés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titre_produit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>
              <a:buNone/>
            </a:pP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AVG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Alias sans guillemets simples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retour_client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cle_produit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8E00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titre_produit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 HAVING ROUND(AVG(rc.Note), 2) &lt; 8 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i="1" dirty="0">
                <a:solidFill>
                  <a:srgbClr val="006464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ASC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fr-FR" sz="11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LIMIT</a:t>
            </a:r>
            <a:r>
              <a:rPr lang="fr-FR" sz="11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1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1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2" name="Image 21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315F7CE-BC2A-0C70-E383-1E877942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253" y="1034232"/>
            <a:ext cx="2247377" cy="183952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019B0BD-3838-9E99-BC2E-819664BFF664}"/>
              </a:ext>
            </a:extLst>
          </p:cNvPr>
          <p:cNvSpPr txBox="1"/>
          <p:nvPr/>
        </p:nvSpPr>
        <p:spPr>
          <a:xfrm>
            <a:off x="781611" y="424568"/>
            <a:ext cx="3771900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Suggestions d’indicateurs</a:t>
            </a:r>
          </a:p>
        </p:txBody>
      </p:sp>
    </p:spTree>
    <p:extLst>
      <p:ext uri="{BB962C8B-B14F-4D97-AF65-F5344CB8AC3E}">
        <p14:creationId xmlns:p14="http://schemas.microsoft.com/office/powerpoint/2010/main" val="1803775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1905-F7D2-3F02-FA17-716405D8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FC4B4-9A50-F7AF-5878-4FA6A6B149E9}"/>
              </a:ext>
            </a:extLst>
          </p:cNvPr>
          <p:cNvSpPr txBox="1">
            <a:spLocks/>
          </p:cNvSpPr>
          <p:nvPr/>
        </p:nvSpPr>
        <p:spPr>
          <a:xfrm>
            <a:off x="838200" y="631344"/>
            <a:ext cx="10515600" cy="665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Retour sur la cohérence des données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6AB898-2A2A-E41D-0AEF-8E916C92748E}"/>
              </a:ext>
            </a:extLst>
          </p:cNvPr>
          <p:cNvSpPr txBox="1"/>
          <p:nvPr/>
        </p:nvSpPr>
        <p:spPr>
          <a:xfrm>
            <a:off x="928868" y="1943007"/>
            <a:ext cx="9442047" cy="61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Certaines lignes dans la base n’ont pas de recommandation (674), ces données manquantes proviennent toutes des réseaux sociaux.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22AE11-36C9-6539-1FBB-D0D0B7AA8EAF}"/>
              </a:ext>
            </a:extLst>
          </p:cNvPr>
          <p:cNvSpPr txBox="1"/>
          <p:nvPr/>
        </p:nvSpPr>
        <p:spPr>
          <a:xfrm>
            <a:off x="928867" y="3147250"/>
            <a:ext cx="9442047" cy="1811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notes des produits et les recommandations sont deux choses différentes et ne semblent pas liées.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FR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FR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NPS calculé se base sur l’analyse des produits et non  sur les recommandations clients.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FR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029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4827</TotalTime>
  <Words>2290</Words>
  <Application>Microsoft Office PowerPoint</Application>
  <PresentationFormat>Grand écran</PresentationFormat>
  <Paragraphs>250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Montserrat</vt:lpstr>
      <vt:lpstr>Wingdings</vt:lpstr>
      <vt:lpstr>Thème Office</vt:lpstr>
      <vt:lpstr>Présentation PowerPoint</vt:lpstr>
      <vt:lpstr>Contexte</vt:lpstr>
      <vt:lpstr>Bonnes pratiques</vt:lpstr>
      <vt:lpstr>Méthodologie</vt:lpstr>
      <vt:lpstr>Base de données</vt:lpstr>
      <vt:lpstr>Base de données</vt:lpstr>
      <vt:lpstr>Base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SECQUEVILLE</dc:creator>
  <cp:lastModifiedBy>Thomas SECQUEVILLE</cp:lastModifiedBy>
  <cp:revision>26</cp:revision>
  <dcterms:created xsi:type="dcterms:W3CDTF">2025-12-11T21:10:38Z</dcterms:created>
  <dcterms:modified xsi:type="dcterms:W3CDTF">2025-12-15T05:49:27Z</dcterms:modified>
</cp:coreProperties>
</file>